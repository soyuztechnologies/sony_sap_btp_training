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6" r:id="rId2"/>
    <p:sldId id="4122" r:id="rId3"/>
    <p:sldId id="277" r:id="rId4"/>
    <p:sldId id="4787" r:id="rId5"/>
    <p:sldId id="4759" r:id="rId6"/>
    <p:sldId id="4788" r:id="rId7"/>
    <p:sldId id="4789" r:id="rId8"/>
    <p:sldId id="4762" r:id="rId9"/>
    <p:sldId id="4771" r:id="rId10"/>
    <p:sldId id="4785" r:id="rId11"/>
    <p:sldId id="4795" r:id="rId12"/>
    <p:sldId id="4796" r:id="rId13"/>
    <p:sldId id="4797" r:id="rId14"/>
    <p:sldId id="282" r:id="rId15"/>
    <p:sldId id="280" r:id="rId16"/>
    <p:sldId id="4711" r:id="rId17"/>
    <p:sldId id="4786" r:id="rId1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53"/>
    <p:restoredTop sz="95250" autoAdjust="0"/>
  </p:normalViewPr>
  <p:slideViewPr>
    <p:cSldViewPr>
      <p:cViewPr varScale="1">
        <p:scale>
          <a:sx n="97" d="100"/>
          <a:sy n="97" d="100"/>
        </p:scale>
        <p:origin x="344" y="28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4/29/2025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4/29/2025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4/29/2025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soyuztechnologies/SAP_BTP_Training_CLD200/blob/master/Day%203/01%20db/01db/CDSViews.cd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20srv.zip"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srv/tester.http"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srv/CatalogService.js" TargetMode="External"/><Relationship Id="rId2" Type="http://schemas.openxmlformats.org/officeDocument/2006/relationships/hyperlink" Target="https://github.com/soyuztechnologies/SAP_BTP_Training_CLD200/blob/master/Day%203/02srv/CatalogService.cd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hyperlink" Target="http://www.dribbble.com/"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 Id="rId9"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7</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142084" y="1196752"/>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142084" y="2952474"/>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142084" y="4708197"/>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3806770" y="1449765"/>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CDS Views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3806770" y="3205484"/>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Create First Service</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3806770" y="4961207"/>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Create &amp; </a:t>
              </a: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Test OData </a:t>
              </a: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Service</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7</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71F3-7223-6535-6631-0650302FAD8B}"/>
              </a:ext>
            </a:extLst>
          </p:cNvPr>
          <p:cNvSpPr>
            <a:spLocks noGrp="1"/>
          </p:cNvSpPr>
          <p:nvPr>
            <p:ph type="title"/>
          </p:nvPr>
        </p:nvSpPr>
        <p:spPr/>
        <p:txBody>
          <a:bodyPr/>
          <a:lstStyle/>
          <a:p>
            <a:r>
              <a:rPr lang="en-US" dirty="0"/>
              <a:t>Introduction to CDS Views</a:t>
            </a:r>
          </a:p>
        </p:txBody>
      </p:sp>
      <p:sp>
        <p:nvSpPr>
          <p:cNvPr id="4" name="TextBox 3">
            <a:extLst>
              <a:ext uri="{FF2B5EF4-FFF2-40B4-BE49-F238E27FC236}">
                <a16:creationId xmlns:a16="http://schemas.microsoft.com/office/drawing/2014/main" id="{F93B2F40-10EC-C526-D717-5D1C55DAF2E7}"/>
              </a:ext>
            </a:extLst>
          </p:cNvPr>
          <p:cNvSpPr txBox="1"/>
          <p:nvPr/>
        </p:nvSpPr>
        <p:spPr>
          <a:xfrm>
            <a:off x="130881" y="784925"/>
            <a:ext cx="11927061" cy="2862322"/>
          </a:xfrm>
          <a:prstGeom prst="rect">
            <a:avLst/>
          </a:prstGeom>
          <a:noFill/>
        </p:spPr>
        <p:txBody>
          <a:bodyPr wrap="square">
            <a:spAutoFit/>
          </a:bodyPr>
          <a:lstStyle/>
          <a:p>
            <a:r>
              <a:rPr lang="en-US" sz="2000" dirty="0">
                <a:solidFill>
                  <a:schemeClr val="bg1"/>
                </a:solidFill>
              </a:rPr>
              <a:t>1. Usually we have all our data distributed across multiple tables, and if we need to get this data out, we need to write complex queries with joins. It becomes very complex to handle the maintenance of these large queries. Views will simplify the consumption and make it easy to maintenance.</a:t>
            </a:r>
          </a:p>
          <a:p>
            <a:r>
              <a:rPr lang="en-US" sz="2000" dirty="0">
                <a:solidFill>
                  <a:schemeClr val="bg1"/>
                </a:solidFill>
              </a:rPr>
              <a:t>2. We can perform operations like aggregation on the view.</a:t>
            </a:r>
          </a:p>
          <a:p>
            <a:r>
              <a:rPr lang="en-US" sz="2000" dirty="0">
                <a:solidFill>
                  <a:schemeClr val="bg1"/>
                </a:solidFill>
              </a:rPr>
              <a:t>3. Security</a:t>
            </a:r>
          </a:p>
          <a:p>
            <a:r>
              <a:rPr lang="en-US" sz="2000" dirty="0">
                <a:solidFill>
                  <a:schemeClr val="bg1"/>
                </a:solidFill>
              </a:rPr>
              <a:t>4. CDS views are also the contracts for data consumption</a:t>
            </a:r>
          </a:p>
          <a:p>
            <a:r>
              <a:rPr lang="en-US" sz="2000" dirty="0">
                <a:solidFill>
                  <a:schemeClr val="bg1"/>
                </a:solidFill>
              </a:rPr>
              <a:t>5. They include annotations which drive functionality.</a:t>
            </a:r>
          </a:p>
          <a:p>
            <a:r>
              <a:rPr lang="en-US" sz="2000" dirty="0">
                <a:solidFill>
                  <a:schemeClr val="bg1"/>
                </a:solidFill>
              </a:rPr>
              <a:t>6. View provide lose coupling to load data. Whereas when we use queries and joins, they are always tight coupling.</a:t>
            </a:r>
            <a:endParaRPr lang="en-IN" sz="2000" dirty="0">
              <a:solidFill>
                <a:schemeClr val="bg1"/>
              </a:solidFill>
            </a:endParaRPr>
          </a:p>
        </p:txBody>
      </p:sp>
      <p:sp>
        <p:nvSpPr>
          <p:cNvPr id="5" name="Rectangle 4">
            <a:extLst>
              <a:ext uri="{FF2B5EF4-FFF2-40B4-BE49-F238E27FC236}">
                <a16:creationId xmlns:a16="http://schemas.microsoft.com/office/drawing/2014/main" id="{F0D287AE-20B2-4CAD-0046-02C2B69712EA}"/>
              </a:ext>
            </a:extLst>
          </p:cNvPr>
          <p:cNvSpPr/>
          <p:nvPr/>
        </p:nvSpPr>
        <p:spPr>
          <a:xfrm>
            <a:off x="5446340" y="3789040"/>
            <a:ext cx="1800200" cy="2160240"/>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a:t>
            </a:r>
          </a:p>
        </p:txBody>
      </p:sp>
      <p:sp>
        <p:nvSpPr>
          <p:cNvPr id="6" name="Arrow: Right 5">
            <a:extLst>
              <a:ext uri="{FF2B5EF4-FFF2-40B4-BE49-F238E27FC236}">
                <a16:creationId xmlns:a16="http://schemas.microsoft.com/office/drawing/2014/main" id="{2000159E-ACDA-6DBB-DC5F-1AC1515897A5}"/>
              </a:ext>
            </a:extLst>
          </p:cNvPr>
          <p:cNvSpPr/>
          <p:nvPr/>
        </p:nvSpPr>
        <p:spPr>
          <a:xfrm>
            <a:off x="7179342" y="4213674"/>
            <a:ext cx="1944216" cy="936104"/>
          </a:xfrm>
          <a:prstGeom prst="rightArrow">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Load what is needed</a:t>
            </a:r>
          </a:p>
        </p:txBody>
      </p:sp>
      <p:sp>
        <p:nvSpPr>
          <p:cNvPr id="7" name="Rectangle 6">
            <a:extLst>
              <a:ext uri="{FF2B5EF4-FFF2-40B4-BE49-F238E27FC236}">
                <a16:creationId xmlns:a16="http://schemas.microsoft.com/office/drawing/2014/main" id="{F745815F-5E17-7D9A-42DC-0AA3D9422CB3}"/>
              </a:ext>
            </a:extLst>
          </p:cNvPr>
          <p:cNvSpPr/>
          <p:nvPr/>
        </p:nvSpPr>
        <p:spPr>
          <a:xfrm>
            <a:off x="9123558" y="3853634"/>
            <a:ext cx="2664296" cy="1872208"/>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 items</a:t>
            </a:r>
          </a:p>
        </p:txBody>
      </p:sp>
      <p:sp>
        <p:nvSpPr>
          <p:cNvPr id="8" name="Rectangle 7">
            <a:extLst>
              <a:ext uri="{FF2B5EF4-FFF2-40B4-BE49-F238E27FC236}">
                <a16:creationId xmlns:a16="http://schemas.microsoft.com/office/drawing/2014/main" id="{24B7DD77-5F7E-3374-6366-C97D3A0D58E3}"/>
              </a:ext>
            </a:extLst>
          </p:cNvPr>
          <p:cNvSpPr/>
          <p:nvPr/>
        </p:nvSpPr>
        <p:spPr>
          <a:xfrm>
            <a:off x="189756" y="3789040"/>
            <a:ext cx="4968552"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https://github.com/soyuztechnologies/SAP_BTP_Training_CLD200/blob/master/Day%203/01%20db/01db/CDSViews.cds</a:t>
            </a:r>
            <a:endParaRPr lang="en-US" dirty="0"/>
          </a:p>
        </p:txBody>
      </p:sp>
    </p:spTree>
    <p:extLst>
      <p:ext uri="{BB962C8B-B14F-4D97-AF65-F5344CB8AC3E}">
        <p14:creationId xmlns:p14="http://schemas.microsoft.com/office/powerpoint/2010/main" val="383963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Service creation</a:t>
            </a:r>
            <a:endParaRPr lang="en-US" dirty="0"/>
          </a:p>
        </p:txBody>
      </p:sp>
      <p:pic>
        <p:nvPicPr>
          <p:cNvPr id="2050" name="Picture 2" descr="Page 12 | Clean Input Images - Free Download on Freepik">
            <a:extLst>
              <a:ext uri="{FF2B5EF4-FFF2-40B4-BE49-F238E27FC236}">
                <a16:creationId xmlns:a16="http://schemas.microsoft.com/office/drawing/2014/main" id="{BAA36297-F35D-C0B5-2012-493056F98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140" y="2996952"/>
            <a:ext cx="3374505" cy="3374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5E34EB-DCB8-C785-1853-C655B5BF6A95}"/>
              </a:ext>
            </a:extLst>
          </p:cNvPr>
          <p:cNvSpPr txBox="1"/>
          <p:nvPr/>
        </p:nvSpPr>
        <p:spPr>
          <a:xfrm>
            <a:off x="189756" y="980728"/>
            <a:ext cx="11737304" cy="1200329"/>
          </a:xfrm>
          <a:prstGeom prst="rect">
            <a:avLst/>
          </a:prstGeom>
          <a:noFill/>
          <a:ln>
            <a:solidFill>
              <a:schemeClr val="bg1"/>
            </a:solidFill>
          </a:ln>
        </p:spPr>
        <p:txBody>
          <a:bodyPr wrap="square" rtlCol="0">
            <a:spAutoFit/>
          </a:bodyPr>
          <a:lstStyle/>
          <a:p>
            <a:r>
              <a:rPr lang="en-US" dirty="0">
                <a:solidFill>
                  <a:schemeClr val="bg1"/>
                </a:solidFill>
              </a:rPr>
              <a:t>Solution</a:t>
            </a:r>
          </a:p>
          <a:p>
            <a:r>
              <a:rPr lang="en-US" dirty="0">
                <a:solidFill>
                  <a:schemeClr val="bg1"/>
                </a:solidFill>
                <a:hlinkClick r:id="rId3"/>
              </a:rPr>
              <a:t>https://github.com/soyuztechnologies/SAP_BTP_Training_CLD200/blob/master/Day%203/02%20srv.zip</a:t>
            </a:r>
            <a:endParaRPr lang="en-US" dirty="0">
              <a:solidFill>
                <a:schemeClr val="bg1"/>
              </a:solidFill>
            </a:endParaRPr>
          </a:p>
        </p:txBody>
      </p:sp>
    </p:spTree>
    <p:extLst>
      <p:ext uri="{BB962C8B-B14F-4D97-AF65-F5344CB8AC3E}">
        <p14:creationId xmlns:p14="http://schemas.microsoft.com/office/powerpoint/2010/main" val="385308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E1937-8B4B-AB16-1953-F007EE5EF58A}"/>
              </a:ext>
            </a:extLst>
          </p:cNvPr>
          <p:cNvSpPr>
            <a:spLocks noGrp="1"/>
          </p:cNvSpPr>
          <p:nvPr>
            <p:ph type="title"/>
          </p:nvPr>
        </p:nvSpPr>
        <p:spPr/>
        <p:txBody>
          <a:bodyPr/>
          <a:lstStyle/>
          <a:p>
            <a:r>
              <a:rPr lang="en-US" dirty="0"/>
              <a:t>Testing Services in BAS</a:t>
            </a:r>
          </a:p>
        </p:txBody>
      </p:sp>
      <p:pic>
        <p:nvPicPr>
          <p:cNvPr id="1026" name="Picture 2" descr="Web APIs, Web Services, &amp; Microservices: Basics &amp; Differences">
            <a:extLst>
              <a:ext uri="{FF2B5EF4-FFF2-40B4-BE49-F238E27FC236}">
                <a16:creationId xmlns:a16="http://schemas.microsoft.com/office/drawing/2014/main" id="{5863E59F-FEA2-F1F7-81D5-92DF06FB8EA7}"/>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405780" y="1124744"/>
            <a:ext cx="7929352" cy="374441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FFAC21C-5D87-BA73-AE11-24E807D9A8A3}"/>
              </a:ext>
            </a:extLst>
          </p:cNvPr>
          <p:cNvSpPr/>
          <p:nvPr/>
        </p:nvSpPr>
        <p:spPr>
          <a:xfrm>
            <a:off x="4726260" y="4066961"/>
            <a:ext cx="6984776"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3"/>
              </a:rPr>
              <a:t>https://github.com/soyuztechnologies/SAP_BTP_Training_CLD200/blob/master/Day%203/02srv/tester.http</a:t>
            </a:r>
            <a:endParaRPr lang="en-US" dirty="0"/>
          </a:p>
          <a:p>
            <a:endParaRPr lang="en-US" dirty="0"/>
          </a:p>
        </p:txBody>
      </p:sp>
    </p:spTree>
    <p:extLst>
      <p:ext uri="{BB962C8B-B14F-4D97-AF65-F5344CB8AC3E}">
        <p14:creationId xmlns:p14="http://schemas.microsoft.com/office/powerpoint/2010/main" val="1222479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Actions and Functions</a:t>
            </a:r>
            <a:endParaRPr lang="en-US" dirty="0"/>
          </a:p>
        </p:txBody>
      </p:sp>
      <p:sp>
        <p:nvSpPr>
          <p:cNvPr id="3" name="TextBox 2">
            <a:extLst>
              <a:ext uri="{FF2B5EF4-FFF2-40B4-BE49-F238E27FC236}">
                <a16:creationId xmlns:a16="http://schemas.microsoft.com/office/drawing/2014/main" id="{04BDE4C7-3532-C90E-5D17-E90E296EE959}"/>
              </a:ext>
            </a:extLst>
          </p:cNvPr>
          <p:cNvSpPr txBox="1"/>
          <p:nvPr/>
        </p:nvSpPr>
        <p:spPr>
          <a:xfrm>
            <a:off x="164465" y="828579"/>
            <a:ext cx="11809312" cy="2554545"/>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In addition to common CRUD operations, you can declare domain-specific custom operations as shown below. These custom operations always need custom implementations in corresponding events handlers.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Actions vs Functions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The differentiation between Actions and Functions stems from the OData specifications and in essence is as follows: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Actions are meant for operations, which add or modify data in the server; they are called through POST request with the arguments passed in application/</a:t>
            </a:r>
            <a:r>
              <a:rPr kumimoji="0" lang="en-US" sz="1600" b="0" i="0" u="none" strike="noStrike" kern="0" cap="none" spc="0" normalizeH="0" baseline="0" noProof="0" dirty="0" err="1">
                <a:ln>
                  <a:noFill/>
                </a:ln>
                <a:solidFill>
                  <a:schemeClr val="bg1"/>
                </a:solidFill>
                <a:effectLst/>
                <a:uLnTx/>
                <a:uFillTx/>
              </a:rPr>
              <a:t>json</a:t>
            </a:r>
            <a:r>
              <a:rPr kumimoji="0" lang="en-US" sz="1600" b="0" i="0" u="none" strike="noStrike" kern="0" cap="none" spc="0" normalizeH="0" baseline="0" noProof="0" dirty="0">
                <a:ln>
                  <a:noFill/>
                </a:ln>
                <a:solidFill>
                  <a:schemeClr val="bg1"/>
                </a:solidFill>
                <a:effectLst/>
                <a:uLnTx/>
                <a:uFillTx/>
              </a:rPr>
              <a:t> bodies.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Functions are meant for operations, which only retrieve data from the server; they are called through GET requests with the arguments passed in the URL path.</a:t>
            </a:r>
          </a:p>
        </p:txBody>
      </p:sp>
      <p:sp>
        <p:nvSpPr>
          <p:cNvPr id="36" name="Rectangle 35">
            <a:extLst>
              <a:ext uri="{FF2B5EF4-FFF2-40B4-BE49-F238E27FC236}">
                <a16:creationId xmlns:a16="http://schemas.microsoft.com/office/drawing/2014/main" id="{A3FAD8FD-47CF-2DDD-59E9-DBEA7E6B66F9}"/>
              </a:ext>
            </a:extLst>
          </p:cNvPr>
          <p:cNvSpPr/>
          <p:nvPr/>
        </p:nvSpPr>
        <p:spPr>
          <a:xfrm>
            <a:off x="189882" y="3717032"/>
            <a:ext cx="11449272" cy="2201916"/>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https://github.com/soyuztechnologies/SAP_BTP_Training_CLD200/blob/master/Day%203/02srv/CatalogService.cds</a:t>
            </a:r>
            <a:endParaRPr lang="en-US" dirty="0"/>
          </a:p>
          <a:p>
            <a:r>
              <a:rPr lang="en-US" dirty="0">
                <a:hlinkClick r:id="rId3"/>
              </a:rPr>
              <a:t>https://github.com/soyuztechnologies/SAP_BTP_Training_CLD200/blob/master/Day%203/02srv/CatalogService.js</a:t>
            </a:r>
            <a:endParaRPr lang="en-US" dirty="0"/>
          </a:p>
        </p:txBody>
      </p:sp>
    </p:spTree>
    <p:extLst>
      <p:ext uri="{BB962C8B-B14F-4D97-AF65-F5344CB8AC3E}">
        <p14:creationId xmlns:p14="http://schemas.microsoft.com/office/powerpoint/2010/main" val="3529876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Generic Handlers in CAP</a:t>
            </a:r>
            <a:endParaRPr lang="en-US" dirty="0"/>
          </a:p>
        </p:txBody>
      </p:sp>
      <p:sp>
        <p:nvSpPr>
          <p:cNvPr id="3" name="TextBox 2">
            <a:extLst>
              <a:ext uri="{FF2B5EF4-FFF2-40B4-BE49-F238E27FC236}">
                <a16:creationId xmlns:a16="http://schemas.microsoft.com/office/drawing/2014/main" id="{04BDE4C7-3532-C90E-5D17-E90E296EE959}"/>
              </a:ext>
            </a:extLst>
          </p:cNvPr>
          <p:cNvSpPr txBox="1"/>
          <p:nvPr/>
        </p:nvSpPr>
        <p:spPr>
          <a:xfrm>
            <a:off x="164465" y="828579"/>
            <a:ext cx="11809312" cy="2062103"/>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The CAPM framework generates most of the code to perform CURDQ operations on the entity. It does not know what validations to perform on our business data. As a developer, when we want to attach a pre-check (validations) / post-check (post processing code) on an entity operation, we can use generic handlers. All these operations are performed SYNCHRONOUSLY.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At times we want to</a:t>
            </a:r>
          </a:p>
          <a:p>
            <a:pPr marL="457200" marR="0" lvl="0" indent="-457200" defTabSz="914400" eaLnBrk="1" fontAlgn="auto" latinLnBrk="0" hangingPunct="1">
              <a:lnSpc>
                <a:spcPct val="100000"/>
              </a:lnSpc>
              <a:spcBef>
                <a:spcPts val="0"/>
              </a:spcBef>
              <a:spcAft>
                <a:spcPts val="0"/>
              </a:spcAft>
              <a:buClrTx/>
              <a:buSzTx/>
              <a:buFontTx/>
              <a:buAutoNum type="arabicPeriod"/>
              <a:tabLst/>
              <a:defRPr/>
            </a:pPr>
            <a:r>
              <a:rPr kumimoji="0" lang="en-US" sz="1600" b="0" i="0" u="none" strike="noStrike" kern="0" cap="none" spc="0" normalizeH="0" baseline="0" noProof="0" dirty="0">
                <a:ln>
                  <a:noFill/>
                </a:ln>
                <a:solidFill>
                  <a:schemeClr val="bg1"/>
                </a:solidFill>
                <a:effectLst/>
                <a:uLnTx/>
                <a:uFillTx/>
              </a:rPr>
              <a:t>Take full control of our implementation</a:t>
            </a:r>
          </a:p>
          <a:p>
            <a:pPr marL="457200" marR="0" lvl="0" indent="-457200" defTabSz="914400" eaLnBrk="1" fontAlgn="auto" latinLnBrk="0" hangingPunct="1">
              <a:lnSpc>
                <a:spcPct val="100000"/>
              </a:lnSpc>
              <a:spcBef>
                <a:spcPts val="0"/>
              </a:spcBef>
              <a:spcAft>
                <a:spcPts val="0"/>
              </a:spcAft>
              <a:buClrTx/>
              <a:buSzTx/>
              <a:buFontTx/>
              <a:buAutoNum type="arabicPeriod"/>
              <a:tabLst/>
              <a:defRPr/>
            </a:pPr>
            <a:r>
              <a:rPr kumimoji="0" lang="en-US" sz="1600" b="0" i="0" u="none" strike="noStrike" kern="0" cap="none" spc="0" normalizeH="0" baseline="0" noProof="0" dirty="0">
                <a:ln>
                  <a:noFill/>
                </a:ln>
                <a:solidFill>
                  <a:schemeClr val="bg1"/>
                </a:solidFill>
                <a:effectLst/>
                <a:uLnTx/>
                <a:uFillTx/>
              </a:rPr>
              <a:t>We want to add some validation before data is inserted or updated</a:t>
            </a:r>
          </a:p>
          <a:p>
            <a:pPr marL="457200" marR="0" lvl="0" indent="-457200" defTabSz="914400" eaLnBrk="1" fontAlgn="auto" latinLnBrk="0" hangingPunct="1">
              <a:lnSpc>
                <a:spcPct val="100000"/>
              </a:lnSpc>
              <a:spcBef>
                <a:spcPts val="0"/>
              </a:spcBef>
              <a:spcAft>
                <a:spcPts val="0"/>
              </a:spcAft>
              <a:buClrTx/>
              <a:buSzTx/>
              <a:buFontTx/>
              <a:buAutoNum type="arabicPeriod"/>
              <a:tabLst/>
              <a:defRPr/>
            </a:pPr>
            <a:r>
              <a:rPr kumimoji="0" lang="en-US" sz="1600" b="0" i="0" u="none" strike="noStrike" kern="0" cap="none" spc="0" normalizeH="0" baseline="0" noProof="0" dirty="0">
                <a:ln>
                  <a:noFill/>
                </a:ln>
                <a:solidFill>
                  <a:schemeClr val="bg1"/>
                </a:solidFill>
                <a:effectLst/>
                <a:uLnTx/>
                <a:uFillTx/>
              </a:rPr>
              <a:t>We want to change data before insert/update</a:t>
            </a:r>
          </a:p>
          <a:p>
            <a:pPr marL="457200" marR="0" lvl="0" indent="-457200" defTabSz="914400" eaLnBrk="1" fontAlgn="auto" latinLnBrk="0" hangingPunct="1">
              <a:lnSpc>
                <a:spcPct val="100000"/>
              </a:lnSpc>
              <a:spcBef>
                <a:spcPts val="0"/>
              </a:spcBef>
              <a:spcAft>
                <a:spcPts val="0"/>
              </a:spcAft>
              <a:buClrTx/>
              <a:buSzTx/>
              <a:buFontTx/>
              <a:buAutoNum type="arabicPeriod"/>
              <a:tabLst/>
              <a:defRPr/>
            </a:pPr>
            <a:r>
              <a:rPr kumimoji="0" lang="en-US" sz="1600" b="0" i="0" u="none" strike="noStrike" kern="0" cap="none" spc="0" normalizeH="0" baseline="0" noProof="0" dirty="0">
                <a:ln>
                  <a:noFill/>
                </a:ln>
                <a:solidFill>
                  <a:schemeClr val="bg1"/>
                </a:solidFill>
                <a:effectLst/>
                <a:uLnTx/>
                <a:uFillTx/>
              </a:rPr>
              <a:t>Read some extra information while GET calls</a:t>
            </a:r>
            <a:endParaRPr kumimoji="0" lang="en-IN" sz="1600" b="0" i="0" u="none" strike="noStrike" kern="0" cap="none" spc="0" normalizeH="0" baseline="0" noProof="0" dirty="0">
              <a:ln>
                <a:noFill/>
              </a:ln>
              <a:solidFill>
                <a:schemeClr val="bg1"/>
              </a:solidFill>
              <a:effectLst/>
              <a:uLnTx/>
              <a:uFillTx/>
            </a:endParaRPr>
          </a:p>
        </p:txBody>
      </p:sp>
      <p:sp>
        <p:nvSpPr>
          <p:cNvPr id="4" name="Rectangle 3">
            <a:extLst>
              <a:ext uri="{FF2B5EF4-FFF2-40B4-BE49-F238E27FC236}">
                <a16:creationId xmlns:a16="http://schemas.microsoft.com/office/drawing/2014/main" id="{7312BE5B-3322-EB8C-DFE3-7568C3DFF16E}"/>
              </a:ext>
            </a:extLst>
          </p:cNvPr>
          <p:cNvSpPr/>
          <p:nvPr/>
        </p:nvSpPr>
        <p:spPr>
          <a:xfrm>
            <a:off x="1665562" y="3292283"/>
            <a:ext cx="1800193" cy="508672"/>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Segoe UI"/>
                <a:ea typeface="+mn-ea"/>
                <a:cs typeface="+mn-cs"/>
              </a:rPr>
              <a:t>Fiori app</a:t>
            </a:r>
          </a:p>
        </p:txBody>
      </p:sp>
      <p:sp>
        <p:nvSpPr>
          <p:cNvPr id="5" name="Smiley Face 4">
            <a:extLst>
              <a:ext uri="{FF2B5EF4-FFF2-40B4-BE49-F238E27FC236}">
                <a16:creationId xmlns:a16="http://schemas.microsoft.com/office/drawing/2014/main" id="{86EE0801-93EB-545C-C6BF-22763A32108C}"/>
              </a:ext>
            </a:extLst>
          </p:cNvPr>
          <p:cNvSpPr/>
          <p:nvPr/>
        </p:nvSpPr>
        <p:spPr>
          <a:xfrm>
            <a:off x="405780" y="3309096"/>
            <a:ext cx="504056" cy="508672"/>
          </a:xfrm>
          <a:prstGeom prst="smileyFace">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FC03B96A-4E1B-C4CC-1CF3-269AE3DC476D}"/>
              </a:ext>
            </a:extLst>
          </p:cNvPr>
          <p:cNvSpPr/>
          <p:nvPr/>
        </p:nvSpPr>
        <p:spPr>
          <a:xfrm>
            <a:off x="4401866" y="3283905"/>
            <a:ext cx="1800193" cy="508672"/>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Segoe UI"/>
                <a:ea typeface="+mn-ea"/>
                <a:cs typeface="+mn-cs"/>
              </a:rPr>
              <a:t>odata</a:t>
            </a:r>
            <a:endParaRPr kumimoji="0" lang="en-US" sz="1800" b="0" i="0" u="none" strike="noStrike" kern="0" cap="none" spc="0" normalizeH="0" baseline="0" noProof="0" dirty="0">
              <a:ln>
                <a:noFill/>
              </a:ln>
              <a:solidFill>
                <a:schemeClr val="bg1"/>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0863561E-7E9D-7263-1210-A86934C26C57}"/>
              </a:ext>
            </a:extLst>
          </p:cNvPr>
          <p:cNvSpPr/>
          <p:nvPr/>
        </p:nvSpPr>
        <p:spPr>
          <a:xfrm>
            <a:off x="6850139" y="3286813"/>
            <a:ext cx="1408830" cy="508672"/>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Segoe UI"/>
                <a:ea typeface="+mn-ea"/>
                <a:cs typeface="+mn-cs"/>
              </a:rPr>
              <a:t>cap</a:t>
            </a:r>
          </a:p>
        </p:txBody>
      </p:sp>
      <p:sp>
        <p:nvSpPr>
          <p:cNvPr id="8" name="Rectangle 7">
            <a:extLst>
              <a:ext uri="{FF2B5EF4-FFF2-40B4-BE49-F238E27FC236}">
                <a16:creationId xmlns:a16="http://schemas.microsoft.com/office/drawing/2014/main" id="{11F290B8-8898-2E2F-FAE0-A22D3E6CA178}"/>
              </a:ext>
            </a:extLst>
          </p:cNvPr>
          <p:cNvSpPr/>
          <p:nvPr/>
        </p:nvSpPr>
        <p:spPr>
          <a:xfrm>
            <a:off x="10454386" y="3283905"/>
            <a:ext cx="1408829" cy="508672"/>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Segoe UI"/>
                <a:ea typeface="+mn-ea"/>
                <a:cs typeface="+mn-cs"/>
              </a:rPr>
              <a:t>database</a:t>
            </a:r>
          </a:p>
        </p:txBody>
      </p:sp>
      <p:sp>
        <p:nvSpPr>
          <p:cNvPr id="9" name="Rectangle 8">
            <a:extLst>
              <a:ext uri="{FF2B5EF4-FFF2-40B4-BE49-F238E27FC236}">
                <a16:creationId xmlns:a16="http://schemas.microsoft.com/office/drawing/2014/main" id="{731C18D0-EA63-2E20-013F-C56242C58FCC}"/>
              </a:ext>
            </a:extLst>
          </p:cNvPr>
          <p:cNvSpPr/>
          <p:nvPr/>
        </p:nvSpPr>
        <p:spPr>
          <a:xfrm>
            <a:off x="8597834" y="3283905"/>
            <a:ext cx="1492659" cy="508672"/>
          </a:xfrm>
          <a:prstGeom prst="rect">
            <a:avLst/>
          </a:prstGeom>
          <a:solidFill>
            <a:srgbClr val="00B0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latin typeface="Segoe UI"/>
                <a:ea typeface="+mn-ea"/>
                <a:cs typeface="+mn-cs"/>
              </a:rPr>
              <a:t>Generic handlers</a:t>
            </a:r>
          </a:p>
        </p:txBody>
      </p:sp>
      <p:cxnSp>
        <p:nvCxnSpPr>
          <p:cNvPr id="10" name="Straight Connector 9">
            <a:extLst>
              <a:ext uri="{FF2B5EF4-FFF2-40B4-BE49-F238E27FC236}">
                <a16:creationId xmlns:a16="http://schemas.microsoft.com/office/drawing/2014/main" id="{CE0C1784-99C1-7686-5D31-5F923A0052E7}"/>
              </a:ext>
            </a:extLst>
          </p:cNvPr>
          <p:cNvCxnSpPr>
            <a:stCxn id="4" idx="2"/>
          </p:cNvCxnSpPr>
          <p:nvPr/>
        </p:nvCxnSpPr>
        <p:spPr>
          <a:xfrm>
            <a:off x="2565659" y="3800955"/>
            <a:ext cx="25410" cy="2892586"/>
          </a:xfrm>
          <a:prstGeom prst="line">
            <a:avLst/>
          </a:prstGeom>
          <a:noFill/>
          <a:ln w="9525" cap="flat" cmpd="sng" algn="ctr">
            <a:solidFill>
              <a:schemeClr val="bg1"/>
            </a:solidFill>
            <a:prstDash val="solid"/>
          </a:ln>
          <a:effectLst/>
        </p:spPr>
      </p:cxnSp>
      <p:cxnSp>
        <p:nvCxnSpPr>
          <p:cNvPr id="11" name="Straight Connector 10">
            <a:extLst>
              <a:ext uri="{FF2B5EF4-FFF2-40B4-BE49-F238E27FC236}">
                <a16:creationId xmlns:a16="http://schemas.microsoft.com/office/drawing/2014/main" id="{F676315A-A8F2-2641-4ECF-7E7D4E4293B5}"/>
              </a:ext>
            </a:extLst>
          </p:cNvPr>
          <p:cNvCxnSpPr/>
          <p:nvPr/>
        </p:nvCxnSpPr>
        <p:spPr>
          <a:xfrm>
            <a:off x="5276552" y="3809547"/>
            <a:ext cx="25410" cy="2892586"/>
          </a:xfrm>
          <a:prstGeom prst="line">
            <a:avLst/>
          </a:prstGeom>
          <a:noFill/>
          <a:ln w="9525" cap="flat" cmpd="sng" algn="ctr">
            <a:solidFill>
              <a:schemeClr val="bg1"/>
            </a:solidFill>
            <a:prstDash val="solid"/>
          </a:ln>
          <a:effectLst/>
        </p:spPr>
      </p:cxnSp>
      <p:cxnSp>
        <p:nvCxnSpPr>
          <p:cNvPr id="12" name="Straight Connector 11">
            <a:extLst>
              <a:ext uri="{FF2B5EF4-FFF2-40B4-BE49-F238E27FC236}">
                <a16:creationId xmlns:a16="http://schemas.microsoft.com/office/drawing/2014/main" id="{71235C3E-7DED-6F98-B296-639F08ACA2F1}"/>
              </a:ext>
            </a:extLst>
          </p:cNvPr>
          <p:cNvCxnSpPr/>
          <p:nvPr/>
        </p:nvCxnSpPr>
        <p:spPr>
          <a:xfrm>
            <a:off x="7554554" y="3821451"/>
            <a:ext cx="25410" cy="2892586"/>
          </a:xfrm>
          <a:prstGeom prst="line">
            <a:avLst/>
          </a:prstGeom>
          <a:noFill/>
          <a:ln w="9525" cap="flat" cmpd="sng" algn="ctr">
            <a:solidFill>
              <a:schemeClr val="bg1"/>
            </a:solidFill>
            <a:prstDash val="solid"/>
          </a:ln>
          <a:effectLst/>
        </p:spPr>
      </p:cxnSp>
      <p:cxnSp>
        <p:nvCxnSpPr>
          <p:cNvPr id="13" name="Straight Connector 12">
            <a:extLst>
              <a:ext uri="{FF2B5EF4-FFF2-40B4-BE49-F238E27FC236}">
                <a16:creationId xmlns:a16="http://schemas.microsoft.com/office/drawing/2014/main" id="{6402E8EC-0880-8771-6B1B-56CFACF26AD3}"/>
              </a:ext>
            </a:extLst>
          </p:cNvPr>
          <p:cNvCxnSpPr/>
          <p:nvPr/>
        </p:nvCxnSpPr>
        <p:spPr>
          <a:xfrm>
            <a:off x="9361026" y="3776774"/>
            <a:ext cx="25410" cy="2892586"/>
          </a:xfrm>
          <a:prstGeom prst="line">
            <a:avLst/>
          </a:prstGeom>
          <a:noFill/>
          <a:ln w="9525" cap="flat" cmpd="sng" algn="ctr">
            <a:solidFill>
              <a:schemeClr val="bg1"/>
            </a:solidFill>
            <a:prstDash val="solid"/>
          </a:ln>
          <a:effectLst/>
        </p:spPr>
      </p:cxnSp>
      <p:cxnSp>
        <p:nvCxnSpPr>
          <p:cNvPr id="14" name="Straight Connector 13">
            <a:extLst>
              <a:ext uri="{FF2B5EF4-FFF2-40B4-BE49-F238E27FC236}">
                <a16:creationId xmlns:a16="http://schemas.microsoft.com/office/drawing/2014/main" id="{E74A22EB-9410-4FEC-E66B-1246C954DBD8}"/>
              </a:ext>
            </a:extLst>
          </p:cNvPr>
          <p:cNvCxnSpPr/>
          <p:nvPr/>
        </p:nvCxnSpPr>
        <p:spPr>
          <a:xfrm>
            <a:off x="11204084" y="3748672"/>
            <a:ext cx="25410" cy="2892586"/>
          </a:xfrm>
          <a:prstGeom prst="line">
            <a:avLst/>
          </a:prstGeom>
          <a:noFill/>
          <a:ln w="9525" cap="flat" cmpd="sng" algn="ctr">
            <a:solidFill>
              <a:schemeClr val="bg1"/>
            </a:solidFill>
            <a:prstDash val="solid"/>
          </a:ln>
          <a:effectLst/>
        </p:spPr>
      </p:cxnSp>
      <p:cxnSp>
        <p:nvCxnSpPr>
          <p:cNvPr id="15" name="Straight Connector 14">
            <a:extLst>
              <a:ext uri="{FF2B5EF4-FFF2-40B4-BE49-F238E27FC236}">
                <a16:creationId xmlns:a16="http://schemas.microsoft.com/office/drawing/2014/main" id="{DC2D5CB7-7599-096A-E3BB-0A43D5841299}"/>
              </a:ext>
            </a:extLst>
          </p:cNvPr>
          <p:cNvCxnSpPr/>
          <p:nvPr/>
        </p:nvCxnSpPr>
        <p:spPr>
          <a:xfrm>
            <a:off x="657808" y="3783829"/>
            <a:ext cx="25410" cy="2892586"/>
          </a:xfrm>
          <a:prstGeom prst="line">
            <a:avLst/>
          </a:prstGeom>
          <a:noFill/>
          <a:ln w="9525" cap="flat" cmpd="sng" algn="ctr">
            <a:solidFill>
              <a:schemeClr val="bg1"/>
            </a:solidFill>
            <a:prstDash val="solid"/>
          </a:ln>
          <a:effectLst/>
        </p:spPr>
      </p:cxnSp>
      <p:cxnSp>
        <p:nvCxnSpPr>
          <p:cNvPr id="16" name="Straight Arrow Connector 15">
            <a:extLst>
              <a:ext uri="{FF2B5EF4-FFF2-40B4-BE49-F238E27FC236}">
                <a16:creationId xmlns:a16="http://schemas.microsoft.com/office/drawing/2014/main" id="{C280AC8B-C0E5-FEB4-3A4D-B6CCFF743934}"/>
              </a:ext>
            </a:extLst>
          </p:cNvPr>
          <p:cNvCxnSpPr/>
          <p:nvPr/>
        </p:nvCxnSpPr>
        <p:spPr>
          <a:xfrm>
            <a:off x="657808" y="4221088"/>
            <a:ext cx="1907850" cy="0"/>
          </a:xfrm>
          <a:prstGeom prst="straightConnector1">
            <a:avLst/>
          </a:prstGeom>
          <a:noFill/>
          <a:ln w="9525" cap="flat" cmpd="sng" algn="ctr">
            <a:solidFill>
              <a:schemeClr val="bg1"/>
            </a:solidFill>
            <a:prstDash val="solid"/>
            <a:tailEnd type="triangle"/>
          </a:ln>
          <a:effectLst/>
        </p:spPr>
      </p:cxnSp>
      <p:cxnSp>
        <p:nvCxnSpPr>
          <p:cNvPr id="17" name="Straight Arrow Connector 16">
            <a:extLst>
              <a:ext uri="{FF2B5EF4-FFF2-40B4-BE49-F238E27FC236}">
                <a16:creationId xmlns:a16="http://schemas.microsoft.com/office/drawing/2014/main" id="{613B03AC-DED9-ECCD-C70D-35A5CCF6A638}"/>
              </a:ext>
            </a:extLst>
          </p:cNvPr>
          <p:cNvCxnSpPr/>
          <p:nvPr/>
        </p:nvCxnSpPr>
        <p:spPr>
          <a:xfrm>
            <a:off x="2591069" y="4509120"/>
            <a:ext cx="2685483" cy="0"/>
          </a:xfrm>
          <a:prstGeom prst="straightConnector1">
            <a:avLst/>
          </a:prstGeom>
          <a:noFill/>
          <a:ln w="9525" cap="flat" cmpd="sng" algn="ctr">
            <a:solidFill>
              <a:schemeClr val="bg1"/>
            </a:solidFill>
            <a:prstDash val="solid"/>
            <a:tailEnd type="triangle"/>
          </a:ln>
          <a:effectLst/>
        </p:spPr>
      </p:cxnSp>
      <p:cxnSp>
        <p:nvCxnSpPr>
          <p:cNvPr id="18" name="Straight Arrow Connector 17">
            <a:extLst>
              <a:ext uri="{FF2B5EF4-FFF2-40B4-BE49-F238E27FC236}">
                <a16:creationId xmlns:a16="http://schemas.microsoft.com/office/drawing/2014/main" id="{FC894FB4-2D0F-5159-9C3E-8E24E8A37C9D}"/>
              </a:ext>
            </a:extLst>
          </p:cNvPr>
          <p:cNvCxnSpPr/>
          <p:nvPr/>
        </p:nvCxnSpPr>
        <p:spPr>
          <a:xfrm>
            <a:off x="5276552" y="4797152"/>
            <a:ext cx="2290707" cy="0"/>
          </a:xfrm>
          <a:prstGeom prst="straightConnector1">
            <a:avLst/>
          </a:prstGeom>
          <a:noFill/>
          <a:ln w="9525" cap="flat" cmpd="sng" algn="ctr">
            <a:solidFill>
              <a:schemeClr val="bg1"/>
            </a:solidFill>
            <a:prstDash val="solid"/>
            <a:tailEnd type="triangle"/>
          </a:ln>
          <a:effectLst/>
        </p:spPr>
      </p:cxnSp>
      <p:sp>
        <p:nvSpPr>
          <p:cNvPr id="19" name="Rectangle 18">
            <a:extLst>
              <a:ext uri="{FF2B5EF4-FFF2-40B4-BE49-F238E27FC236}">
                <a16:creationId xmlns:a16="http://schemas.microsoft.com/office/drawing/2014/main" id="{130C6D12-8376-6439-8B49-FBD77F2773EF}"/>
              </a:ext>
            </a:extLst>
          </p:cNvPr>
          <p:cNvSpPr/>
          <p:nvPr/>
        </p:nvSpPr>
        <p:spPr>
          <a:xfrm>
            <a:off x="7579964" y="4797152"/>
            <a:ext cx="98624" cy="1670492"/>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Segoe UI"/>
              <a:ea typeface="+mn-ea"/>
              <a:cs typeface="+mn-cs"/>
            </a:endParaRPr>
          </a:p>
        </p:txBody>
      </p:sp>
      <p:cxnSp>
        <p:nvCxnSpPr>
          <p:cNvPr id="20" name="Straight Arrow Connector 19">
            <a:extLst>
              <a:ext uri="{FF2B5EF4-FFF2-40B4-BE49-F238E27FC236}">
                <a16:creationId xmlns:a16="http://schemas.microsoft.com/office/drawing/2014/main" id="{E4C08638-E5C0-63DD-B840-AA79A5D66F09}"/>
              </a:ext>
            </a:extLst>
          </p:cNvPr>
          <p:cNvCxnSpPr/>
          <p:nvPr/>
        </p:nvCxnSpPr>
        <p:spPr>
          <a:xfrm>
            <a:off x="7722714" y="5445224"/>
            <a:ext cx="3436086" cy="0"/>
          </a:xfrm>
          <a:prstGeom prst="straightConnector1">
            <a:avLst/>
          </a:prstGeom>
          <a:noFill/>
          <a:ln w="9525" cap="flat" cmpd="sng" algn="ctr">
            <a:solidFill>
              <a:schemeClr val="bg1"/>
            </a:solidFill>
            <a:prstDash val="solid"/>
            <a:tailEnd type="triangle"/>
          </a:ln>
          <a:effectLst/>
        </p:spPr>
      </p:cxnSp>
      <p:sp>
        <p:nvSpPr>
          <p:cNvPr id="21" name="Rectangle 20">
            <a:extLst>
              <a:ext uri="{FF2B5EF4-FFF2-40B4-BE49-F238E27FC236}">
                <a16:creationId xmlns:a16="http://schemas.microsoft.com/office/drawing/2014/main" id="{8F30A05E-28C9-B3A7-5891-3B244F8B9784}"/>
              </a:ext>
            </a:extLst>
          </p:cNvPr>
          <p:cNvSpPr/>
          <p:nvPr/>
        </p:nvSpPr>
        <p:spPr>
          <a:xfrm>
            <a:off x="11139057" y="5444250"/>
            <a:ext cx="115966" cy="439572"/>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Segoe UI"/>
              <a:ea typeface="+mn-ea"/>
              <a:cs typeface="+mn-cs"/>
            </a:endParaRPr>
          </a:p>
        </p:txBody>
      </p:sp>
      <p:cxnSp>
        <p:nvCxnSpPr>
          <p:cNvPr id="22" name="Straight Arrow Connector 21">
            <a:extLst>
              <a:ext uri="{FF2B5EF4-FFF2-40B4-BE49-F238E27FC236}">
                <a16:creationId xmlns:a16="http://schemas.microsoft.com/office/drawing/2014/main" id="{929E26BD-247D-D4B4-8575-E06620E01B6F}"/>
              </a:ext>
            </a:extLst>
          </p:cNvPr>
          <p:cNvCxnSpPr>
            <a:cxnSpLocks/>
            <a:stCxn id="21" idx="2"/>
          </p:cNvCxnSpPr>
          <p:nvPr/>
        </p:nvCxnSpPr>
        <p:spPr>
          <a:xfrm flipH="1">
            <a:off x="7702971" y="5883822"/>
            <a:ext cx="3494069" cy="0"/>
          </a:xfrm>
          <a:prstGeom prst="straightConnector1">
            <a:avLst/>
          </a:prstGeom>
          <a:noFill/>
          <a:ln w="9525" cap="flat" cmpd="sng" algn="ctr">
            <a:solidFill>
              <a:schemeClr val="bg1"/>
            </a:solidFill>
            <a:prstDash val="solid"/>
            <a:tailEnd type="triangle"/>
          </a:ln>
          <a:effectLst/>
        </p:spPr>
      </p:cxnSp>
      <p:sp>
        <p:nvSpPr>
          <p:cNvPr id="23" name="Rectangle 22">
            <a:extLst>
              <a:ext uri="{FF2B5EF4-FFF2-40B4-BE49-F238E27FC236}">
                <a16:creationId xmlns:a16="http://schemas.microsoft.com/office/drawing/2014/main" id="{36E069B8-9B85-D88A-0E1D-35FE84399F1E}"/>
              </a:ext>
            </a:extLst>
          </p:cNvPr>
          <p:cNvSpPr/>
          <p:nvPr/>
        </p:nvSpPr>
        <p:spPr>
          <a:xfrm>
            <a:off x="9324791" y="4838222"/>
            <a:ext cx="115966" cy="439572"/>
          </a:xfrm>
          <a:prstGeom prst="rect">
            <a:avLst/>
          </a:prstGeom>
          <a:solidFill>
            <a:srgbClr val="38C6C6"/>
          </a:solidFill>
          <a:ln w="38100" cap="flat" cmpd="sng" algn="ctr">
            <a:solidFill>
              <a:schemeClr val="bg1"/>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Segoe UI"/>
              <a:ea typeface="+mn-ea"/>
              <a:cs typeface="+mn-cs"/>
            </a:endParaRPr>
          </a:p>
        </p:txBody>
      </p:sp>
      <p:cxnSp>
        <p:nvCxnSpPr>
          <p:cNvPr id="24" name="Straight Arrow Connector 23">
            <a:extLst>
              <a:ext uri="{FF2B5EF4-FFF2-40B4-BE49-F238E27FC236}">
                <a16:creationId xmlns:a16="http://schemas.microsoft.com/office/drawing/2014/main" id="{8D2C6849-E233-4551-8044-3F3FA038B633}"/>
              </a:ext>
            </a:extLst>
          </p:cNvPr>
          <p:cNvCxnSpPr/>
          <p:nvPr/>
        </p:nvCxnSpPr>
        <p:spPr>
          <a:xfrm>
            <a:off x="7722714" y="4866921"/>
            <a:ext cx="1540050" cy="0"/>
          </a:xfrm>
          <a:prstGeom prst="straightConnector1">
            <a:avLst/>
          </a:prstGeom>
          <a:noFill/>
          <a:ln w="9525" cap="flat" cmpd="sng" algn="ctr">
            <a:solidFill>
              <a:schemeClr val="bg1"/>
            </a:solidFill>
            <a:prstDash val="solid"/>
            <a:tailEnd type="triangle"/>
          </a:ln>
          <a:effectLst/>
        </p:spPr>
      </p:cxnSp>
      <p:cxnSp>
        <p:nvCxnSpPr>
          <p:cNvPr id="25" name="Straight Arrow Connector 24">
            <a:extLst>
              <a:ext uri="{FF2B5EF4-FFF2-40B4-BE49-F238E27FC236}">
                <a16:creationId xmlns:a16="http://schemas.microsoft.com/office/drawing/2014/main" id="{A467B26D-2C8F-7B81-5CB3-F06EAB12B7B6}"/>
              </a:ext>
            </a:extLst>
          </p:cNvPr>
          <p:cNvCxnSpPr>
            <a:cxnSpLocks/>
            <a:stCxn id="23" idx="2"/>
          </p:cNvCxnSpPr>
          <p:nvPr/>
        </p:nvCxnSpPr>
        <p:spPr>
          <a:xfrm flipH="1">
            <a:off x="7722714" y="5277794"/>
            <a:ext cx="1660060" cy="0"/>
          </a:xfrm>
          <a:prstGeom prst="straightConnector1">
            <a:avLst/>
          </a:prstGeom>
          <a:noFill/>
          <a:ln w="9525" cap="flat" cmpd="sng" algn="ctr">
            <a:solidFill>
              <a:schemeClr val="bg1"/>
            </a:solidFill>
            <a:prstDash val="solid"/>
            <a:tailEnd type="triangle"/>
          </a:ln>
          <a:effectLst/>
        </p:spPr>
      </p:cxnSp>
      <p:sp>
        <p:nvSpPr>
          <p:cNvPr id="26" name="TextBox 25">
            <a:extLst>
              <a:ext uri="{FF2B5EF4-FFF2-40B4-BE49-F238E27FC236}">
                <a16:creationId xmlns:a16="http://schemas.microsoft.com/office/drawing/2014/main" id="{21640B9B-16E8-D1FD-717B-FA6272B4D311}"/>
              </a:ext>
            </a:extLst>
          </p:cNvPr>
          <p:cNvSpPr txBox="1"/>
          <p:nvPr/>
        </p:nvSpPr>
        <p:spPr>
          <a:xfrm>
            <a:off x="9550796" y="4797152"/>
            <a:ext cx="898411" cy="338554"/>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bg1"/>
                </a:solidFill>
                <a:effectLst/>
                <a:uLnTx/>
                <a:uFillTx/>
              </a:rPr>
              <a:t>before</a:t>
            </a:r>
          </a:p>
        </p:txBody>
      </p:sp>
      <p:sp>
        <p:nvSpPr>
          <p:cNvPr id="27" name="Explosion: 8 Points 26">
            <a:extLst>
              <a:ext uri="{FF2B5EF4-FFF2-40B4-BE49-F238E27FC236}">
                <a16:creationId xmlns:a16="http://schemas.microsoft.com/office/drawing/2014/main" id="{F4557CA1-B54E-1CBF-9337-533A0361AD25}"/>
              </a:ext>
            </a:extLst>
          </p:cNvPr>
          <p:cNvSpPr/>
          <p:nvPr/>
        </p:nvSpPr>
        <p:spPr>
          <a:xfrm>
            <a:off x="7246540" y="5085184"/>
            <a:ext cx="472512" cy="439571"/>
          </a:xfrm>
          <a:prstGeom prst="irregularSeal1">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chemeClr val="bg1"/>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Segoe UI"/>
              <a:ea typeface="+mn-ea"/>
              <a:cs typeface="+mn-cs"/>
            </a:endParaRPr>
          </a:p>
        </p:txBody>
      </p:sp>
      <p:cxnSp>
        <p:nvCxnSpPr>
          <p:cNvPr id="28" name="Straight Arrow Connector 27">
            <a:extLst>
              <a:ext uri="{FF2B5EF4-FFF2-40B4-BE49-F238E27FC236}">
                <a16:creationId xmlns:a16="http://schemas.microsoft.com/office/drawing/2014/main" id="{1F6B9E1B-73FD-08C3-673B-DDBF88941E4C}"/>
              </a:ext>
            </a:extLst>
          </p:cNvPr>
          <p:cNvCxnSpPr>
            <a:stCxn id="27" idx="1"/>
          </p:cNvCxnSpPr>
          <p:nvPr/>
        </p:nvCxnSpPr>
        <p:spPr>
          <a:xfrm flipH="1">
            <a:off x="2605524" y="5260504"/>
            <a:ext cx="4641016" cy="7240"/>
          </a:xfrm>
          <a:prstGeom prst="straightConnector1">
            <a:avLst/>
          </a:prstGeom>
          <a:noFill/>
          <a:ln w="9525" cap="flat" cmpd="sng" algn="ctr">
            <a:solidFill>
              <a:schemeClr val="bg1"/>
            </a:solidFill>
            <a:prstDash val="solid"/>
            <a:tailEnd type="triangle"/>
          </a:ln>
          <a:effectLst/>
        </p:spPr>
      </p:cxnSp>
      <p:sp>
        <p:nvSpPr>
          <p:cNvPr id="29" name="TextBox 28">
            <a:extLst>
              <a:ext uri="{FF2B5EF4-FFF2-40B4-BE49-F238E27FC236}">
                <a16:creationId xmlns:a16="http://schemas.microsoft.com/office/drawing/2014/main" id="{9D14DC12-03B7-6ECF-C6DC-C7203929F777}"/>
              </a:ext>
            </a:extLst>
          </p:cNvPr>
          <p:cNvSpPr txBox="1"/>
          <p:nvPr/>
        </p:nvSpPr>
        <p:spPr>
          <a:xfrm>
            <a:off x="9861282" y="5492825"/>
            <a:ext cx="898411" cy="338554"/>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bg1"/>
                </a:solidFill>
                <a:effectLst/>
                <a:uLnTx/>
                <a:uFillTx/>
              </a:rPr>
              <a:t>on</a:t>
            </a:r>
          </a:p>
        </p:txBody>
      </p:sp>
      <p:sp>
        <p:nvSpPr>
          <p:cNvPr id="30" name="Rectangle 29">
            <a:extLst>
              <a:ext uri="{FF2B5EF4-FFF2-40B4-BE49-F238E27FC236}">
                <a16:creationId xmlns:a16="http://schemas.microsoft.com/office/drawing/2014/main" id="{8780DC0A-543B-5045-AAEA-41134C6D68DB}"/>
              </a:ext>
            </a:extLst>
          </p:cNvPr>
          <p:cNvSpPr/>
          <p:nvPr/>
        </p:nvSpPr>
        <p:spPr>
          <a:xfrm>
            <a:off x="9303043" y="6006355"/>
            <a:ext cx="115966" cy="439572"/>
          </a:xfrm>
          <a:prstGeom prst="rect">
            <a:avLst/>
          </a:prstGeom>
          <a:solidFill>
            <a:srgbClr val="38C6C6"/>
          </a:solidFill>
          <a:ln w="38100" cap="flat" cmpd="sng" algn="ctr">
            <a:solidFill>
              <a:schemeClr val="bg1"/>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Segoe UI"/>
              <a:ea typeface="+mn-ea"/>
              <a:cs typeface="+mn-cs"/>
            </a:endParaRPr>
          </a:p>
        </p:txBody>
      </p:sp>
      <p:cxnSp>
        <p:nvCxnSpPr>
          <p:cNvPr id="31" name="Straight Arrow Connector 30">
            <a:extLst>
              <a:ext uri="{FF2B5EF4-FFF2-40B4-BE49-F238E27FC236}">
                <a16:creationId xmlns:a16="http://schemas.microsoft.com/office/drawing/2014/main" id="{D158C953-5198-3209-5161-7FEE368655A7}"/>
              </a:ext>
            </a:extLst>
          </p:cNvPr>
          <p:cNvCxnSpPr/>
          <p:nvPr/>
        </p:nvCxnSpPr>
        <p:spPr>
          <a:xfrm>
            <a:off x="7700966" y="6035054"/>
            <a:ext cx="1540050" cy="0"/>
          </a:xfrm>
          <a:prstGeom prst="straightConnector1">
            <a:avLst/>
          </a:prstGeom>
          <a:noFill/>
          <a:ln w="9525" cap="flat" cmpd="sng" algn="ctr">
            <a:solidFill>
              <a:schemeClr val="bg1"/>
            </a:solidFill>
            <a:prstDash val="solid"/>
            <a:tailEnd type="triangle"/>
          </a:ln>
          <a:effectLst/>
        </p:spPr>
      </p:cxnSp>
      <p:cxnSp>
        <p:nvCxnSpPr>
          <p:cNvPr id="32" name="Straight Arrow Connector 31">
            <a:extLst>
              <a:ext uri="{FF2B5EF4-FFF2-40B4-BE49-F238E27FC236}">
                <a16:creationId xmlns:a16="http://schemas.microsoft.com/office/drawing/2014/main" id="{F2BED05D-DEA1-C7F5-FA19-4F0CCE208130}"/>
              </a:ext>
            </a:extLst>
          </p:cNvPr>
          <p:cNvCxnSpPr>
            <a:cxnSpLocks/>
            <a:stCxn id="30" idx="2"/>
          </p:cNvCxnSpPr>
          <p:nvPr/>
        </p:nvCxnSpPr>
        <p:spPr>
          <a:xfrm flipH="1">
            <a:off x="7700966" y="6445927"/>
            <a:ext cx="1660060" cy="0"/>
          </a:xfrm>
          <a:prstGeom prst="straightConnector1">
            <a:avLst/>
          </a:prstGeom>
          <a:noFill/>
          <a:ln w="9525" cap="flat" cmpd="sng" algn="ctr">
            <a:solidFill>
              <a:schemeClr val="bg1"/>
            </a:solidFill>
            <a:prstDash val="solid"/>
            <a:tailEnd type="triangle"/>
          </a:ln>
          <a:effectLst/>
        </p:spPr>
      </p:cxnSp>
      <p:sp>
        <p:nvSpPr>
          <p:cNvPr id="33" name="TextBox 32">
            <a:extLst>
              <a:ext uri="{FF2B5EF4-FFF2-40B4-BE49-F238E27FC236}">
                <a16:creationId xmlns:a16="http://schemas.microsoft.com/office/drawing/2014/main" id="{EDC0B4DD-0442-4940-243C-1038A310EF6A}"/>
              </a:ext>
            </a:extLst>
          </p:cNvPr>
          <p:cNvSpPr txBox="1"/>
          <p:nvPr/>
        </p:nvSpPr>
        <p:spPr>
          <a:xfrm>
            <a:off x="9505017" y="6084704"/>
            <a:ext cx="898411" cy="338554"/>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bg1"/>
                </a:solidFill>
                <a:effectLst/>
                <a:uLnTx/>
                <a:uFillTx/>
              </a:rPr>
              <a:t>after</a:t>
            </a:r>
          </a:p>
        </p:txBody>
      </p:sp>
    </p:spTree>
    <p:extLst>
      <p:ext uri="{BB962C8B-B14F-4D97-AF65-F5344CB8AC3E}">
        <p14:creationId xmlns:p14="http://schemas.microsoft.com/office/powerpoint/2010/main" val="1517719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1000"/>
                                        <p:tgtEl>
                                          <p:spTgt spid="9"/>
                                        </p:tgtEl>
                                      </p:cBhvr>
                                    </p:animEffect>
                                    <p:anim calcmode="lin" valueType="num">
                                      <p:cBhvr>
                                        <p:cTn id="48" dur="1000" fill="hold"/>
                                        <p:tgtEl>
                                          <p:spTgt spid="9"/>
                                        </p:tgtEl>
                                        <p:attrNameLst>
                                          <p:attrName>ppt_x</p:attrName>
                                        </p:attrNameLst>
                                      </p:cBhvr>
                                      <p:tavLst>
                                        <p:tav tm="0">
                                          <p:val>
                                            <p:strVal val="#ppt_x"/>
                                          </p:val>
                                        </p:tav>
                                        <p:tav tm="100000">
                                          <p:val>
                                            <p:strVal val="#ppt_x"/>
                                          </p:val>
                                        </p:tav>
                                      </p:tavLst>
                                    </p:anim>
                                    <p:anim calcmode="lin" valueType="num">
                                      <p:cBhvr>
                                        <p:cTn id="49" dur="1000" fill="hold"/>
                                        <p:tgtEl>
                                          <p:spTgt spid="9"/>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anim calcmode="lin" valueType="num">
                                      <p:cBhvr>
                                        <p:cTn id="53" dur="1000" fill="hold"/>
                                        <p:tgtEl>
                                          <p:spTgt spid="13"/>
                                        </p:tgtEl>
                                        <p:attrNameLst>
                                          <p:attrName>ppt_x</p:attrName>
                                        </p:attrNameLst>
                                      </p:cBhvr>
                                      <p:tavLst>
                                        <p:tav tm="0">
                                          <p:val>
                                            <p:strVal val="#ppt_x"/>
                                          </p:val>
                                        </p:tav>
                                        <p:tav tm="100000">
                                          <p:val>
                                            <p:strVal val="#ppt_x"/>
                                          </p:val>
                                        </p:tav>
                                      </p:tavLst>
                                    </p:anim>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1000"/>
                                        <p:tgtEl>
                                          <p:spTgt spid="8"/>
                                        </p:tgtEl>
                                      </p:cBhvr>
                                    </p:animEffect>
                                    <p:anim calcmode="lin" valueType="num">
                                      <p:cBhvr>
                                        <p:cTn id="58" dur="1000" fill="hold"/>
                                        <p:tgtEl>
                                          <p:spTgt spid="8"/>
                                        </p:tgtEl>
                                        <p:attrNameLst>
                                          <p:attrName>ppt_x</p:attrName>
                                        </p:attrNameLst>
                                      </p:cBhvr>
                                      <p:tavLst>
                                        <p:tav tm="0">
                                          <p:val>
                                            <p:strVal val="#ppt_x"/>
                                          </p:val>
                                        </p:tav>
                                        <p:tav tm="100000">
                                          <p:val>
                                            <p:strVal val="#ppt_x"/>
                                          </p:val>
                                        </p:tav>
                                      </p:tavLst>
                                    </p:anim>
                                    <p:anim calcmode="lin" valueType="num">
                                      <p:cBhvr>
                                        <p:cTn id="59" dur="1000" fill="hold"/>
                                        <p:tgtEl>
                                          <p:spTgt spid="8"/>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1000"/>
                                        <p:tgtEl>
                                          <p:spTgt spid="14"/>
                                        </p:tgtEl>
                                      </p:cBhvr>
                                    </p:animEffect>
                                    <p:anim calcmode="lin" valueType="num">
                                      <p:cBhvr>
                                        <p:cTn id="63" dur="1000" fill="hold"/>
                                        <p:tgtEl>
                                          <p:spTgt spid="14"/>
                                        </p:tgtEl>
                                        <p:attrNameLst>
                                          <p:attrName>ppt_x</p:attrName>
                                        </p:attrNameLst>
                                      </p:cBhvr>
                                      <p:tavLst>
                                        <p:tav tm="0">
                                          <p:val>
                                            <p:strVal val="#ppt_x"/>
                                          </p:val>
                                        </p:tav>
                                        <p:tav tm="100000">
                                          <p:val>
                                            <p:strVal val="#ppt_x"/>
                                          </p:val>
                                        </p:tav>
                                      </p:tavLst>
                                    </p:anim>
                                    <p:anim calcmode="lin" valueType="num">
                                      <p:cBhvr>
                                        <p:cTn id="6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p:cTn id="69" dur="500" fill="hold"/>
                                        <p:tgtEl>
                                          <p:spTgt spid="16"/>
                                        </p:tgtEl>
                                        <p:attrNameLst>
                                          <p:attrName>ppt_w</p:attrName>
                                        </p:attrNameLst>
                                      </p:cBhvr>
                                      <p:tavLst>
                                        <p:tav tm="0">
                                          <p:val>
                                            <p:fltVal val="0"/>
                                          </p:val>
                                        </p:tav>
                                        <p:tav tm="100000">
                                          <p:val>
                                            <p:strVal val="#ppt_w"/>
                                          </p:val>
                                        </p:tav>
                                      </p:tavLst>
                                    </p:anim>
                                    <p:anim calcmode="lin" valueType="num">
                                      <p:cBhvr>
                                        <p:cTn id="70" dur="500" fill="hold"/>
                                        <p:tgtEl>
                                          <p:spTgt spid="16"/>
                                        </p:tgtEl>
                                        <p:attrNameLst>
                                          <p:attrName>ppt_h</p:attrName>
                                        </p:attrNameLst>
                                      </p:cBhvr>
                                      <p:tavLst>
                                        <p:tav tm="0">
                                          <p:val>
                                            <p:fltVal val="0"/>
                                          </p:val>
                                        </p:tav>
                                        <p:tav tm="100000">
                                          <p:val>
                                            <p:strVal val="#ppt_h"/>
                                          </p:val>
                                        </p:tav>
                                      </p:tavLst>
                                    </p:anim>
                                    <p:animEffect transition="in" filter="fade">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8"/>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9"/>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2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26"/>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5"/>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20"/>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21"/>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29"/>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22"/>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31"/>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30"/>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9" grpId="0" animBg="1"/>
      <p:bldP spid="21" grpId="0" animBg="1"/>
      <p:bldP spid="23" grpId="0" animBg="1"/>
      <p:bldP spid="26" grpId="0"/>
      <p:bldP spid="29" grpId="0"/>
      <p:bldP spid="30" grpId="0" animBg="1"/>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1A0E-FA70-41AA-D8FE-BD95E24E2DEF}"/>
              </a:ext>
            </a:extLst>
          </p:cNvPr>
          <p:cNvSpPr>
            <a:spLocks noGrp="1"/>
          </p:cNvSpPr>
          <p:nvPr>
            <p:ph type="title"/>
          </p:nvPr>
        </p:nvSpPr>
        <p:spPr/>
        <p:txBody>
          <a:bodyPr/>
          <a:lstStyle/>
          <a:p>
            <a:r>
              <a:rPr lang="en-US" dirty="0"/>
              <a:t>Hands on: Generic Handlers</a:t>
            </a:r>
          </a:p>
        </p:txBody>
      </p:sp>
      <p:pic>
        <p:nvPicPr>
          <p:cNvPr id="5122" name="Picture 2" descr="Making All Rooms Reachable in a JavaScript Roguelike | JavaScript in Plain  English">
            <a:extLst>
              <a:ext uri="{FF2B5EF4-FFF2-40B4-BE49-F238E27FC236}">
                <a16:creationId xmlns:a16="http://schemas.microsoft.com/office/drawing/2014/main" id="{91C913A6-FFC2-CAC0-EDED-C039FD2E40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020" y="1637799"/>
            <a:ext cx="6765768" cy="4509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2778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Syntax</a:t>
            </a:r>
          </a:p>
        </p:txBody>
      </p:sp>
      <p:sp>
        <p:nvSpPr>
          <p:cNvPr id="3" name="TextBox 2">
            <a:extLst>
              <a:ext uri="{FF2B5EF4-FFF2-40B4-BE49-F238E27FC236}">
                <a16:creationId xmlns:a16="http://schemas.microsoft.com/office/drawing/2014/main" id="{CBA071B6-F82A-8B0F-F954-2EF2FD04BE2E}"/>
              </a:ext>
            </a:extLst>
          </p:cNvPr>
          <p:cNvSpPr txBox="1"/>
          <p:nvPr/>
        </p:nvSpPr>
        <p:spPr>
          <a:xfrm>
            <a:off x="477788" y="1268760"/>
            <a:ext cx="9505056" cy="3416320"/>
          </a:xfrm>
          <a:prstGeom prst="rect">
            <a:avLst/>
          </a:prstGeom>
          <a:noFill/>
        </p:spPr>
        <p:txBody>
          <a:bodyPr wrap="square" rtlCol="0">
            <a:spAutoFit/>
          </a:bodyPr>
          <a:lstStyle/>
          <a:p>
            <a:r>
              <a:rPr lang="en-US" dirty="0" err="1">
                <a:solidFill>
                  <a:srgbClr val="FF0000"/>
                </a:solidFill>
              </a:rPr>
              <a:t>this.when</a:t>
            </a:r>
            <a:r>
              <a:rPr lang="en-US" dirty="0">
                <a:solidFill>
                  <a:srgbClr val="FF0000"/>
                </a:solidFill>
              </a:rPr>
              <a:t>(‘WHICH’, what, () =&gt; {</a:t>
            </a:r>
          </a:p>
          <a:p>
            <a:r>
              <a:rPr lang="en-US" dirty="0">
                <a:solidFill>
                  <a:srgbClr val="FF0000"/>
                </a:solidFill>
              </a:rPr>
              <a:t>	code.</a:t>
            </a:r>
          </a:p>
          <a:p>
            <a:r>
              <a:rPr lang="en-US" dirty="0">
                <a:solidFill>
                  <a:srgbClr val="FF0000"/>
                </a:solidFill>
              </a:rPr>
              <a:t>})</a:t>
            </a: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dirty="0">
                <a:solidFill>
                  <a:srgbClr val="FF0000"/>
                </a:solidFill>
              </a:rPr>
              <a:t>when – before, after, on</a:t>
            </a:r>
          </a:p>
          <a:p>
            <a:r>
              <a:rPr lang="en-US" dirty="0">
                <a:solidFill>
                  <a:srgbClr val="FF0000"/>
                </a:solidFill>
              </a:rPr>
              <a:t>Which – CREATE, UPDATE, DELETE, READ</a:t>
            </a:r>
          </a:p>
          <a:p>
            <a:r>
              <a:rPr lang="en-US" dirty="0">
                <a:solidFill>
                  <a:srgbClr val="FF0000"/>
                </a:solidFill>
              </a:rPr>
              <a:t>What – Entity (Employee, Pos, …)</a:t>
            </a:r>
          </a:p>
        </p:txBody>
      </p:sp>
    </p:spTree>
    <p:extLst>
      <p:ext uri="{BB962C8B-B14F-4D97-AF65-F5344CB8AC3E}">
        <p14:creationId xmlns:p14="http://schemas.microsoft.com/office/powerpoint/2010/main" val="187642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638666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048076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778853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4</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50,000+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Introduction to HANA Cloud</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Connecting to HANA Cloud Instance</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Identity Provider</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04</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JWT Token and Application Router</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05</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Authentication v/s Authorization</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a:solidFill>
                    <a:schemeClr val="bg1"/>
                  </a:solidFill>
                  <a:latin typeface="Segoe UI" panose="020B0502040204020203" pitchFamily="34" charset="0"/>
                  <a:ea typeface="Calibri Light" charset="0"/>
                  <a:cs typeface="Segoe UI" panose="020B0502040204020203" pitchFamily="34" charset="0"/>
                </a:rPr>
                <a:t>Deploy App to CF</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06</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4</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1143005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7162</TotalTime>
  <Words>741</Words>
  <Application>Microsoft Office PowerPoint</Application>
  <PresentationFormat>Custom</PresentationFormat>
  <Paragraphs>103</Paragraphs>
  <Slides>17</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Amasis MT Pro Black</vt:lpstr>
      <vt:lpstr>Arial</vt:lpstr>
      <vt:lpstr>Arial Black</vt:lpstr>
      <vt:lpstr>Calibri</vt:lpstr>
      <vt:lpstr>Cooper Black</vt:lpstr>
      <vt:lpstr>Segoe UI</vt:lpstr>
      <vt:lpstr>Segoe UI Light</vt:lpstr>
      <vt:lpstr>Office Theme</vt:lpstr>
      <vt:lpstr>SAP BTP Extension Suite Training</vt:lpstr>
      <vt:lpstr>PowerPoint Presentation</vt:lpstr>
      <vt:lpstr>Agenda – Day 7</vt:lpstr>
      <vt:lpstr>Introduction to CDS Views</vt:lpstr>
      <vt:lpstr>Hands on: Service creation</vt:lpstr>
      <vt:lpstr>Testing Services in BAS</vt:lpstr>
      <vt:lpstr>Actions and Functions</vt:lpstr>
      <vt:lpstr>Generic Handlers in CAP</vt:lpstr>
      <vt:lpstr>Hands on: Generic Handlers</vt:lpstr>
      <vt:lpstr>Syntax</vt:lpstr>
      <vt:lpstr>PowerPoint Presentation</vt:lpstr>
      <vt:lpstr>PowerPoint Presentation</vt:lpstr>
      <vt:lpstr>PowerPoint Presentation</vt:lpstr>
      <vt:lpstr>PowerPoint Presentation</vt:lpstr>
      <vt:lpstr>PowerPoint Presentation</vt:lpstr>
      <vt:lpstr>PowerPoint Presentation</vt:lpstr>
      <vt:lpstr>Agenda – Day 4</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266</cp:revision>
  <dcterms:created xsi:type="dcterms:W3CDTF">2013-09-12T13:05:01Z</dcterms:created>
  <dcterms:modified xsi:type="dcterms:W3CDTF">2025-04-29T16:14:48Z</dcterms:modified>
</cp:coreProperties>
</file>