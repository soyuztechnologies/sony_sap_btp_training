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76" r:id="rId2"/>
    <p:sldId id="4122" r:id="rId3"/>
    <p:sldId id="277" r:id="rId4"/>
    <p:sldId id="4778" r:id="rId5"/>
    <p:sldId id="4752" r:id="rId6"/>
    <p:sldId id="4758" r:id="rId7"/>
    <p:sldId id="4774" r:id="rId8"/>
    <p:sldId id="4775" r:id="rId9"/>
    <p:sldId id="4760" r:id="rId10"/>
    <p:sldId id="4761" r:id="rId11"/>
    <p:sldId id="4776" r:id="rId12"/>
    <p:sldId id="4777" r:id="rId13"/>
    <p:sldId id="4769" r:id="rId14"/>
    <p:sldId id="4757" r:id="rId15"/>
    <p:sldId id="4759" r:id="rId16"/>
    <p:sldId id="4787" r:id="rId17"/>
    <p:sldId id="4780" r:id="rId18"/>
    <p:sldId id="282" r:id="rId19"/>
    <p:sldId id="280" r:id="rId20"/>
    <p:sldId id="4711" r:id="rId21"/>
    <p:sldId id="4773" r:id="rId22"/>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F817DAF-671E-40FA-9B34-C817E16E6842}">
          <p14:sldIdLst>
            <p14:sldId id="276"/>
            <p14:sldId id="4122"/>
            <p14:sldId id="277"/>
            <p14:sldId id="4778"/>
            <p14:sldId id="4752"/>
            <p14:sldId id="4758"/>
            <p14:sldId id="4774"/>
            <p14:sldId id="4775"/>
            <p14:sldId id="4760"/>
            <p14:sldId id="4761"/>
            <p14:sldId id="4776"/>
            <p14:sldId id="4777"/>
            <p14:sldId id="4769"/>
            <p14:sldId id="4757"/>
            <p14:sldId id="4759"/>
            <p14:sldId id="4787"/>
            <p14:sldId id="4780"/>
            <p14:sldId id="282"/>
            <p14:sldId id="280"/>
            <p14:sldId id="4711"/>
            <p14:sldId id="4773"/>
          </p14:sldIdLst>
        </p14:section>
      </p14:sectionLst>
    </p:ex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9" autoAdjust="0"/>
    <p:restoredTop sz="95250" autoAdjust="0"/>
  </p:normalViewPr>
  <p:slideViewPr>
    <p:cSldViewPr>
      <p:cViewPr varScale="1">
        <p:scale>
          <a:sx n="97" d="100"/>
          <a:sy n="97" d="100"/>
        </p:scale>
        <p:origin x="688" y="28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4:41:36.642"/>
    </inkml:context>
    <inkml:brush xml:id="br0">
      <inkml:brushProperty name="width" value="0.05" units="cm"/>
      <inkml:brushProperty name="height" value="0.05" units="cm"/>
      <inkml:brushProperty name="color" value="#FFC114"/>
    </inkml:brush>
  </inkml:definitions>
  <inkml:trace contextRef="#ctx0" brushRef="#br0">1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19T04:38:53.022"/>
    </inkml:context>
    <inkml:brush xml:id="br0">
      <inkml:brushProperty name="width" value="0.05" units="cm"/>
      <inkml:brushProperty name="height" value="0.05" units="cm"/>
      <inkml:brushProperty name="color" value="#FFFFFF"/>
    </inkml:brush>
  </inkml:definitions>
  <inkml:trace contextRef="#ctx0" brushRef="#br0">1 0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19T06:01:54.570"/>
    </inkml:context>
    <inkml:brush xml:id="br0">
      <inkml:brushProperty name="width" value="0.05" units="cm"/>
      <inkml:brushProperty name="height" value="0.05" units="cm"/>
      <inkml:brushProperty name="color" value="#FFFFFF"/>
    </inkml:brush>
  </inkml:definitions>
  <inkml:trace contextRef="#ctx0" brushRef="#br0">0 0 24575,'0'0'-8191</inkml:trace>
</inkml:ink>
</file>

<file path=ppt/ink/ink4.xml><?xml version="1.0" encoding="utf-8"?>
<inkml:ink xmlns:inkml="http://www.w3.org/2003/InkML">
  <inkml:definitions>
    <inkml:context xml:id="ctx0">
      <inkml:inkSource xml:id="inkSrc0">
        <inkml:traceFormat>
          <inkml:channel name="X" type="integer" max="2560" units="cm"/>
          <inkml:channel name="Y" type="integer" max="1600" units="cm"/>
          <inkml:channel name="T" type="integer" max="2.14748E9" units="dev"/>
        </inkml:traceFormat>
        <inkml:channelProperties>
          <inkml:channelProperty channel="X" name="resolution" value="74.2029" units="1/cm"/>
          <inkml:channelProperty channel="Y" name="resolution" value="74.4186" units="1/cm"/>
          <inkml:channelProperty channel="T" name="resolution" value="1" units="1/dev"/>
        </inkml:channelProperties>
      </inkml:inkSource>
      <inkml:timestamp xml:id="ts0" timeString="2026-01-19T06:52:24.788"/>
    </inkml:context>
    <inkml:brush xml:id="br0">
      <inkml:brushProperty name="width" value="0.05292" units="cm"/>
      <inkml:brushProperty name="height" value="0.05292" units="cm"/>
      <inkml:brushProperty name="color" value="#FFFF00"/>
    </inkml:brush>
  </inkml:definitions>
  <inkml:trace contextRef="#ctx0" brushRef="#br0">4550 16901 0,'0'0'0,"39"-26"31,-39 13-15,27-1-1,-1 1 16,-26 40 1,0 12-17,-39 147 17,-14 38-1,26-105-16</inkml:trace>
  <inkml:trace contextRef="#ctx0" brushRef="#br0" timeOffset="204.36">4933 16954 0</inkml:trace>
  <inkml:trace contextRef="#ctx0" brushRef="#br0" timeOffset="484.36">4933 16954 0,'-26'66'31,"-27"80"0,26-27 1,67-66-1,-13-53-31,65-66 31,-65 39-31,52-145 31,-119 93 1,-39 105-17,52-12 1,14 12-1</inkml:trace>
  <inkml:trace contextRef="#ctx0" brushRef="#br0" timeOffset="915.79">5396 16967 0,'-13'0'16,"0"-13"0,-1 13-16,-12 27 31,13-14-31,-27 106 16,27 53 15,13-132-16,53 39 1,-40-79 0,93-27-1,-80 1 1,40-119 0,-52 105-1,-41-145 1,1 171-1,-27 1 1,40 13 0,-14 53-1</inkml:trace>
  <inkml:trace contextRef="#ctx0" brushRef="#br0" timeOffset="1338.6">5780 16994 0,'0'0'0,"0"-27"31,-14 27-31,1 0 16,-26 53-1,25-26-15,1-1 16,-40 107 0,53-94-1,27 67 1,92-80 15,53-145 0,-146-52 1,-132 91-1,80 80-31,-40 40 31</inkml:trace>
  <inkml:trace contextRef="#ctx0" brushRef="#br0" timeOffset="1845.61">6441 16981 0,'0'0'16,"-27"-27"0,-52 27 15,66 13-15,-14 1-16,-25 65 15,-15 119 16,67-171-31,0 13 16,80 65 15,-54-105-31,1 0 16,118-158 15,-79-1 0,-79 185 1,0 133-1,26-27 0,-13-105-31,40-14 16</inkml:trace>
  <inkml:trace contextRef="#ctx0" brushRef="#br0" timeOffset="2475.44">6758 17113 0,'-13'0'31,"26"0"-31,-52 93 31,25 39 0,14-53 1,0-66-17,14-92 16,-14-133 1,66 40-1,66 212 0,-53 53 0,-131-1 1,-41-39-1,80-53-31,13 0 31,106 13 0,-40 80 1,-106 0-1,-158-67 0,39-39-15</inkml:trace>
  <inkml:trace contextRef="#ctx0" brushRef="#br0" timeOffset="8467.36">5793 15010 0,'26'-79'16,"-52"158"-1,52-171-15,27 39 16,-40 53 0,14 66-1,-27-13 1,-13 225-1,-1-93 1,-38 225 0,38-318-1,-39 265 1,53-291 0,-13 93-1</inkml:trace>
  <inkml:trace contextRef="#ctx0" brushRef="#br0" timeOffset="8832.54">5819 14785 0,'0'0'0,"-26"-13"32,13 40-1,-1 12-16,1-12-15,-53 158 32,53-159-17,-27 80 1,27-106 15</inkml:trace>
  <inkml:trace contextRef="#ctx0" brushRef="#br0" timeOffset="9005.15">5859 14706 0,'93'172'31,"-186"-344"-31,199 397 16,-80-159-16,40 106 15,-39-119-15</inkml:trace>
  <inkml:trace contextRef="#ctx0" brushRef="#br0" timeOffset="10188.09">5899 11162 0,'0'0'0,"66"79"32,-13 318-1,-67 317 0,-25 53 0,-14-92 1,13-384-1,53-265-31</inkml:trace>
  <inkml:trace contextRef="#ctx0" brushRef="#br0" timeOffset="10810.04">5833 11149 0,'0'0'0,"26"-40"15,-39 119 16,0-39-15,-1 13-16,-52 185 16,40-40 15</inkml:trace>
  <inkml:trace contextRef="#ctx0" brushRef="#br0" timeOffset="11144.34">5846 11215 0,'0'0'0,"26"-40"31,1 27-15,39 0 0,-27 26-1,1 13-15,79 80 16,80 145 15,-186-224-31,0 52 16</inkml:trace>
  <inkml:trace contextRef="#ctx0" brushRef="#br0" timeOffset="16522.55">5317 17602 0,'0'0'0,"-53"13"15,0 1 17,119-14-1,-39 0-31,92-14 31,-53 14-15,0 0 15,-53 0-15</inkml:trace>
  <inkml:trace contextRef="#ctx0" brushRef="#br0" timeOffset="16812.22">5198 17801 0,'66'0'31,"119"-14"1,-13 1-1,-159 0-31</inkml:trace>
  <inkml:trace contextRef="#ctx0" brushRef="#br0" timeOffset="29173.32">1230 6890 0,'0'0'0,"-13"0"15,-14 0 1,41 0 31,25 40-16,-26 13-15,54 106-1,-41-80 1,27 53-1,0 0 17,-40-118-17</inkml:trace>
  <inkml:trace contextRef="#ctx0" brushRef="#br0" timeOffset="29483.03">1653 6917 0,'0'0'0,"0"-27"31,0 41 0,-13-1-15,0 13-16,-14 80 16,-65 145 15,79-224-15,-27 65-1,53-78 16</inkml:trace>
  <inkml:trace contextRef="#ctx0" brushRef="#br0" timeOffset="30488.05">1838 6943 0,'0'27'31,"-13"79"1,0 39-1,-14-39 0,14-80 0,26-92 1,54-119-1,-54 132-31,40-106 31,0 133 0,13 118 1,-40 1-17,-26 66 16,-13-67 1,13-92-1,26-119 0,41-106 0,-1 93 1,-53 132-32,27 66 31,-27 93 0,-40 26 0,14-53 1,13-118-32,0 52 31,0-53 0,0-26 0,13 0 1,-13-1 30,0 1-31</inkml:trace>
  <inkml:trace contextRef="#ctx0" brushRef="#br0" timeOffset="34561.22">5330 16743 0,'0'-14'32,"0"1"-1,13 0 0,-13 0 0,-26-14 1,-40-12-1,-67-27 0,107 52-31,-146-52 31,-106-93 1,40 1-1,27-14 0,-1-27 0,0 1 1,173 158-32,-186-237 31,13-94 0,67-25 0,26-146 1,13 52-1,-53 14 0,-26 13 0,0-39 1,92 118-1,1-52 0,65 356-31,14-12 16,-66-331 15,13-67 0,26 107 1,53 118-1,27 41 0,-1 78 0,-12 27 1,-1 26-1,-12 1 0,-14-14 0,13-39 1,-13 118-32,0-131 31,-13 38 0,13 68 0,-14 52 1,14-14-1,0 1 0,-13-13 0</inkml:trace>
  <inkml:trace contextRef="#ctx0" brushRef="#br0" timeOffset="34844.33">2050 8067 0,'-13'0'78,"-80"66"-47,-52 53 0,65-26 1,67-80-32,13 1 15,0-28 1</inkml:trace>
  <inkml:trace contextRef="#ctx0" brushRef="#br0" timeOffset="35198.24">1918 8067 0,'26'-39'31,"-52"78"-31,65-131 16,-25 92 15,-1 0-15,27 66-1,-27-40 1,53 54 0,-53-54-1,40 40 1,-40-39-1,0-1 1,1-13 15</inkml:trace>
  <inkml:trace contextRef="#ctx0" brushRef="#br0" timeOffset="38429.94">4100 8808 0,'0'0'0,"13"-66"32,-13 79-1,0 13-16,0 107 1,0-107 0,13 106-1,-13-105 1,27 26 0,26-80 15,-40 14-16,0 0-15,53-80 16,-52 67 0,52-120-1,-66 120 1,0 39 0,0 14-1,-40 118 1,40-105-1,-13-1-15,0 67 16,13-66 0,13 52-1,13-65 1</inkml:trace>
  <inkml:trace contextRef="#ctx0" brushRef="#br0" timeOffset="38880.58">4589 8900 0,'0'0'0,"0"-39"16,0 26-16,-26 39 47,-27 93-16,40 27 0,26-80 1,13-66-17,54-27 1,12-92 15,-52 53 0,-66 145 1,26-52-17,-27 79 1,67-67 15</inkml:trace>
  <inkml:trace contextRef="#ctx0" brushRef="#br0" timeOffset="39580.49">4946 8848 0,'0'0'15,"-13"13"1,-26 106 15,25 26 1,14-65-1,14-80 0,-1-146 0,26-26 1,1 80-1,39 92 0,27 53 0,-93-40-31,-26 40 32,-119 13-1,106-53-31,-80 27 31,79-40-15,93 13 15,80 27 0,-67 26 0,-132 13 1,-79-39-1,-13-53 0,131-1-31</inkml:trace>
  <inkml:trace contextRef="#ctx0" brushRef="#br0" timeOffset="40404.51">7420 8795 0,'39'-27'15,"-25"27"1,-14 13 15,0 14-15,0-14-16,13 106 15,13 0 17,-13-92-17,27 12 1,-13-39 0,52-39-1,-53 25-15,54-105 31,-67 93-15,0-14-16,14-39 16,-14 66-1,-13-1-15,0 67 16,-13-26 0,-1 118-1,1-39 1,13 0 15,0-80-15,0-12-16,13-1 0</inkml:trace>
  <inkml:trace contextRef="#ctx0" brushRef="#br0" timeOffset="40877.11">8107 8808 0,'14'-27'31,"-14"41"1,-27 78-1,14-65-16,0 79 1,-1-80-16,14 0 16,14 14-1,-14-27 1,39 14 0,-25-27-16,-1-13 15,13-1-15,-13 1 16,1-13-16,52-107 31,-53 94 0,-53 171 1,27 13-1,93-105 0</inkml:trace>
  <inkml:trace contextRef="#ctx0" brushRef="#br0" timeOffset="41550.42">8491 8900 0,'0'-13'0,"0"0"16,0 39-16,0-65 0,-13 65 31,-1 93 0,14-92-31,0-1 16,0 40 0,0-52-16,0 38 31,0-78 0,0 13-31,14-14 16,12-92-1,40-79 17,-13 145-1,-40 53-31,1 0 15,25 66 1,-12 40 15,-93-27 1,-40-52-1,79-27 0,41-13-31,52 13 31,92 52 1,-118 41-1,-106-27 0,26-53-31,-92-13 31,66-13-15</inkml:trace>
  <inkml:trace contextRef="#ctx0" brushRef="#br0" timeOffset="42898.44">12512 8742 0,'0'-27'31,"-53"41"1,-40 65-1,0 80 0,93-27-15,14-106-1,-1-12-15,53 25 16,-39-39 0,131-39-1,-52-94 16,-93 94-15,14-54 15,-27 80-31,13 26 32,-13 0-32,-13 67 31,13-67-31,0 27 15,0-27 17,13-40 15,0 1-16,0 13 0,-26 39 110,13-13-126,-13 80 1,0-67 0,13 1-16,0 52 15,0-66 1,0 1-16,0 38 15,13-52 1</inkml:trace>
  <inkml:trace contextRef="#ctx0" brushRef="#br0" timeOffset="43767.02">13080 8861 0,'0'-27'31,"0"14"-31,0 53 0,-13-93 32,-66 132-1,65-52-31,-52 131 31,53-39 0,79-79 1,27-66-1,-67 12-31,-13-12 15,54-67 1,-41 1 15,-26 132 1,-13 79-1,13-14 0,0-91-31,13-1 0</inkml:trace>
  <inkml:trace contextRef="#ctx0" brushRef="#br0" timeOffset="44513.39">13398 8927 0,'0'0'32,"0"-13"-32,-40 66 31,27 79 0,13-26 0,13-80 1,-13-66-1,0 14-31,13-106 31,0 26-15,40-13 15,0 92 0,-26 41-31,39 25 32,-13 41-1,-53-67-31,-27 0 0,-79 40 31,-39-13-15,132-27 15,39-13-15,80 13-1,53 53 16,-146-52-15,0 52 15,-79-13-15,40-53-16,-120 26 31,106-26-31,-65-40 31</inkml:trace>
  <inkml:trace contextRef="#ctx0" brushRef="#br0" timeOffset="55298.99">20738 5436 0,'26'0'109,"1"0"-93,184 0 0,-131 0-1,26 13-15,251 13 16,-238-26 0,357 27-1,-384-14-15,-12-13 16,65 13-1,-118-13 1,-1 0-16,-13 0 16,1 0 15</inkml:trace>
  <inkml:trace contextRef="#ctx0" brushRef="#br0" timeOffset="55997.96">25261 5409 0,'0'0'0,"-26"-13"31,131 0 0,253 0 0,157 13 1,-144 0-1,-332 0 0,-25 0 0,-1 0-31</inkml:trace>
  <inkml:trace contextRef="#ctx0" brushRef="#br0" timeOffset="56628.45">29626 5396 0,'53'0'16,"-14"0"-1,160 0 1,171-13 15,-291 0-15,199-14 0,-225 27-1,92-26 1,-118 26-1,-14-27 1</inkml:trace>
  <inkml:trace contextRef="#ctx0" brushRef="#br0" timeOffset="57578.52">18701 6242 0,'0'0'0,"-13"0"16,0 0-16,39 0 31,27-13-15,119 13 0,13 0-1,252 40 1,-332-40-1,186 13 1,-211-13 0,-67 0-16,0 0 15,0-13 1</inkml:trace>
  <inkml:trace contextRef="#ctx0" brushRef="#br0" timeOffset="67670.53">4417 4457 0,'-13'-13'31,"26"13"-31,1 13 16,25 40 0,-25-40-1,-14 133 1,0-93 0,0-1-16,26 134 15,-26-120-15,13 198 31,-13-224-15,0 66 0,13-93-1,-13 13-15</inkml:trace>
  <inkml:trace contextRef="#ctx0" brushRef="#br0" timeOffset="67965.66">4325 5422 0,'0'0'0,"53"53"31,-40-39-15,0-1-16</inkml:trace>
  <inkml:trace contextRef="#ctx0" brushRef="#br0" timeOffset="68299.84">4788 5409 0,'0'0'0,"-40"-13"31,14 13 0,-14 40 0,-66 26 1,93-40-17,-53 1 1,53-27-16,-1 13 31,41-13 16</inkml:trace>
  <inkml:trace contextRef="#ctx0" brushRef="#br0" timeOffset="70235.14">8636 4457 0,'0'0'0,"27"26"16,26 146-1,-40-119 1,-13 212 0,0 13 15,0-239-15,0 67-1,-13-80 1,13-12-16</inkml:trace>
  <inkml:trace contextRef="#ctx0" brushRef="#br0" timeOffset="70541.07">8570 5356 0,'0'0'0,"0"14"16,40 25 15,-27-26-16,27 27 1,-27-27 0,40 14-1</inkml:trace>
  <inkml:trace contextRef="#ctx0" brushRef="#br0" timeOffset="70860.47">8967 5343 0,'0'0'0,"-13"13"32,0 1-17,-54 25 1,41-26-1,-80 27 1,53-13 31,27-14-31,13 0-1,26-13 16</inkml:trace>
  <inkml:trace contextRef="#ctx0" brushRef="#br0" timeOffset="72517.08">13358 4391 0,'0'26'16,"0"120"15,0 171 0,0-26 1,0-251-32,-26 92 31,26-105-31,-14 39 31,14-53-31</inkml:trace>
  <inkml:trace contextRef="#ctx0" brushRef="#br0" timeOffset="72795.47">13146 5356 0,'53'40'31,"40"13"1,-80-53-32,14 13 15,-14 14-15</inkml:trace>
  <inkml:trace contextRef="#ctx0" brushRef="#br0" timeOffset="73095.2">13596 5383 0,'0'0'0,"0"-13"31,-13 26 0,-67 13 1,67-13-32,-66 14 31,66-27-31,-14 26 31,14-26-15</inkml:trace>
  <inkml:trace contextRef="#ctx0" brushRef="#br0" timeOffset="88657.18">19349 6996 0,'0'0'16,"-26"0"-1,52 0 16,1-13-15,12 13-16,120 0 16,264 0 15,-145 26-15,26-12 15,-224-14 0,-54 0 0</inkml:trace>
  <inkml:trace contextRef="#ctx0" brushRef="#br0" timeOffset="89310.04">22418 6996 0,'26'0'31,"106"0"1,1 0-17,144 0 17,-52 0-1,-132-13 0,-80 13-31,0-13 31,0 13-31</inkml:trace>
  <inkml:trace contextRef="#ctx0" brushRef="#br0" timeOffset="89935.41">26438 6956 0,'0'0'0,"13"0"15,93-26 1,27 13 0,-81 13-1,186 0 1,-171-13-1,144-1 1,-171 14 0,79-26-1,-106 26-15,0 0 16,-13-13-16</inkml:trace>
  <inkml:trace contextRef="#ctx0" brushRef="#br0" timeOffset="97679.65">5145 4312 0,'0'-14'31,"0"28"47,13-1-46,-13 0-32,0 40 31,0-40-31,0 53 31,0-53-31,0 1 31,0-1-31,0-40 32,0 14-32,13-119 31,0-40-16,-13 146 1,40-67 0,13 80 15,-40 26-15,27 40-1,-27-27 1,14 67-1,-27-80 1,0 67 0,0-54 15,0-52 0,0 12-15,0-78-1,13 65 1,-13 1-16,26-67 16,-12 80-1,38-40 1,-38 53-16,39 66 31,-40-39-15,0-1-16,0 80 15,-13-80 1,0 67 0,-13-80-1,13 0-15</inkml:trace>
  <inkml:trace contextRef="#ctx0" brushRef="#br0" timeOffset="98118.15">5674 4100 0,'-13'13'15,"13"27"16,26 0-15,-26-14 0,40 53-1,-40-65 1,39 38 0,1-78 15,-27 0-16,1-41 1,-14 15 0,-27-54-1,14 79 1,-80 27 15,80 14-15,0 38-1</inkml:trace>
  <inkml:trace contextRef="#ctx0" brushRef="#br0" timeOffset="99210.47">6071 4179 0,'0'0'0,"-27"-26"32,27 13-1,27 26 0</inkml:trace>
  <inkml:trace contextRef="#ctx0" brushRef="#br0" timeOffset="101075.3">9734 4285 0,'0'0'0,"0"-40"47,0 27-31,0 26-1,0 54 17,0-41-32,-26 106 31,12-26-15,1-119 30,40-119-14,-14 92-32,13-172 31,-12 159-31,25-158 31,-26 171-31,1 14 0,-1-1 0,-13 1 16,26 39-1,-26 0 1,0 14-16,14 79 31,-14-67-31,13 93 16,-13-105 0,0 52-1,0-66 16,0-79 1,0 40-17,40-120 1,-27 107 0,40-54-1,-14 146 16,-39-26-15,14 12-16,-1 54 16,-13-67-1,0 14-15,13 52 16,-13-78 0,0 25-16</inkml:trace>
  <inkml:trace contextRef="#ctx0" brushRef="#br0" timeOffset="101568.38">10157 4126 0,'0'0'16,"0"27"-1,14-27 1,-14 13-16,0 14 15,13-27 1,0 26 0,0-26-1,27-13 1,-27 0-16,0-1 16,27-39-1,-27 27-15,27-67 31,-40 54-15,-40 39 0,14 13-1,-67 80 1,54 26 15,39-93-15,39 27-1,-12-40-15,92-13 32,-53-26-17,13-27 1,-52 13 0</inkml:trace>
  <inkml:trace contextRef="#ctx0" brushRef="#br0" timeOffset="128708.99">19296 7843 0,'0'0'0,"-13"-14"16,26 14 15,133-13 1,-93 13-32,26 13 15,331 1 1,106 12 15,-238-26 0,-212-13 1</inkml:trace>
  <inkml:trace contextRef="#ctx0" brushRef="#br0" timeOffset="129766.99">22563 7763 0,'0'0'31,"238"-13"0,278 26 1,0 14-1,-305-14 0,-197 0-31</inkml:trace>
  <inkml:trace contextRef="#ctx0" brushRef="#br0" timeOffset="130795.89">25460 7710 0,'0'-13'31,"0"26"-31,171-13 32,-104 0-32,343 40 31,-93-27 0,-211-26 0,-93 13-31</inkml:trace>
  <inkml:trace contextRef="#ctx0" brushRef="#br0" timeOffset="131254.2">27748 7856 0,'0'0'0,"39"-27"31,-12 14-31,198 13 31,171 13 0,-263 1-15</inkml:trace>
  <inkml:trace contextRef="#ctx0" brushRef="#br0" timeOffset="132165.38">16902 8530 0,'0'0'16,"-26"-26"15,185-14-15,343 27 15,-369 13-15,290 26-1</inkml:trace>
  <inkml:trace contextRef="#ctx0" brushRef="#br0" timeOffset="174272.43">14932 9747 0,'0'0'31,"0"0"-31,-13 13 16,-1 0-16,14 14 16,14-27 15,-1 0-31,13 39 31,14 41 0,-40-67-15,26 53 0,14-26 15,53-80 0,-67 14-31,159-146 31,-145 119-31,13 0 16,79-106 0,-92 120-16</inkml:trace>
  <inkml:trace contextRef="#ctx0" brushRef="#br0" timeOffset="174919.24">14165 8543 0,'0'0'0,"13"-66"32,40 53-1,0 79 0,-14 27 0,-12-40 1,-14-53-32,27-27 31,-27 1-31,119-93 31,172-119 0,-211 211-31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39.665"/>
    </inkml:context>
    <inkml:brush xml:id="br0">
      <inkml:brushProperty name="width" value="0.05" units="cm"/>
      <inkml:brushProperty name="height" value="0.05" units="cm"/>
      <inkml:brushProperty name="color" value="#FFC114"/>
    </inkml:brush>
  </inkml:definitions>
  <inkml:trace contextRef="#ctx0" brushRef="#br0">0 0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40.443"/>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1/18/2026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20</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1/18/2026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1/18/2026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5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hyperlink" Target="https://cap.cloud.sap/" TargetMode="External"/><Relationship Id="rId1" Type="http://schemas.openxmlformats.org/officeDocument/2006/relationships/slideLayout" Target="../slideLayouts/slideLayout2.xml"/><Relationship Id="rId5" Type="http://schemas.openxmlformats.org/officeDocument/2006/relationships/customXml" Target="../ink/ink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customXml" Target="../ink/ink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coreybutler/nvm-windows/releases"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github.com/soyuztechnologies/SAP_BTP_Training_CLD200/blob/master/Day%203/01%20db.zip"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soyuztechnologies/SAP_BTP_Training_CLD200/blob/master/Day%203/02%20srv.zip" TargetMode="External"/><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soyuztechnologies/SAP_BTP_Training_CLD200/blob/master/Day%203/01%20db/01db/CDSViews.cds"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customXml" Target="../ink/ink5.xml"/><Relationship Id="rId1" Type="http://schemas.openxmlformats.org/officeDocument/2006/relationships/slideLayout" Target="../slideLayouts/slideLayout2.xml"/><Relationship Id="rId4" Type="http://schemas.openxmlformats.org/officeDocument/2006/relationships/customXml" Target="../ink/ink6.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1.png"/><Relationship Id="rId4" Type="http://schemas.openxmlformats.org/officeDocument/2006/relationships/hyperlink" Target="http://www.dribbble.com/"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17.jpeg"/><Relationship Id="rId3" Type="http://schemas.openxmlformats.org/officeDocument/2006/relationships/image" Target="../media/image12.jpeg"/><Relationship Id="rId7" Type="http://schemas.openxmlformats.org/officeDocument/2006/relationships/image" Target="../media/image16.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5.tiff"/><Relationship Id="rId5" Type="http://schemas.openxmlformats.org/officeDocument/2006/relationships/image" Target="../media/image14.tiff"/><Relationship Id="rId4" Type="http://schemas.openxmlformats.org/officeDocument/2006/relationships/image" Target="../media/image13.tiff"/><Relationship Id="rId9"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Architect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5</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133" name="Rectangle: Rounded Corners 1132">
            <a:extLst>
              <a:ext uri="{FF2B5EF4-FFF2-40B4-BE49-F238E27FC236}">
                <a16:creationId xmlns:a16="http://schemas.microsoft.com/office/drawing/2014/main" id="{47299741-729A-4FA6-A73E-373218C0B948}"/>
              </a:ext>
            </a:extLst>
          </p:cNvPr>
          <p:cNvSpPr/>
          <p:nvPr/>
        </p:nvSpPr>
        <p:spPr>
          <a:xfrm>
            <a:off x="3646140" y="1357715"/>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3646140" y="3113437"/>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3646140" y="4869160"/>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141" name="Group 1140">
            <a:extLst>
              <a:ext uri="{FF2B5EF4-FFF2-40B4-BE49-F238E27FC236}">
                <a16:creationId xmlns:a16="http://schemas.microsoft.com/office/drawing/2014/main" id="{010C7D28-B781-409B-AFDB-2EB8DCBAB471}"/>
              </a:ext>
            </a:extLst>
          </p:cNvPr>
          <p:cNvGrpSpPr/>
          <p:nvPr/>
        </p:nvGrpSpPr>
        <p:grpSpPr>
          <a:xfrm>
            <a:off x="4310825" y="1610728"/>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Introduction to CAPM</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4310825" y="3366447"/>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pPr marL="0" marR="0" indent="0" algn="l" rtl="0" eaLnBrk="1" fontAlgn="auto" latinLnBrk="0" hangingPunct="1">
                <a:spcBef>
                  <a:spcPts val="0"/>
                </a:spcBef>
                <a:spcAft>
                  <a:spcPts val="0"/>
                </a:spcAft>
              </a:pPr>
              <a:r>
                <a:rPr lang="en-US" sz="1800" b="0" i="0" kern="1200" spc="0" baseline="0" dirty="0">
                  <a:ln>
                    <a:noFill/>
                  </a:ln>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Create DB Module</a:t>
              </a:r>
              <a:endParaRPr lang="en-US" sz="1400" dirty="0">
                <a:effectLst/>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4310825" y="5122170"/>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Deploy to SQLite</a:t>
              </a: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5</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Deploy Node Microservice to BTP</a:t>
            </a:r>
            <a:endParaRPr lang="en-US" dirty="0"/>
          </a:p>
        </p:txBody>
      </p:sp>
      <p:pic>
        <p:nvPicPr>
          <p:cNvPr id="1026" name="Picture 2" descr="Migrate and deploy Cloud Foundry applications to Kubernetes | Red Hat  Developer">
            <a:extLst>
              <a:ext uri="{FF2B5EF4-FFF2-40B4-BE49-F238E27FC236}">
                <a16:creationId xmlns:a16="http://schemas.microsoft.com/office/drawing/2014/main" id="{A8CBAEC0-374D-85C7-365A-E831AA0DDA0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3812" y="1268760"/>
            <a:ext cx="7201469" cy="4725144"/>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p14="http://schemas.microsoft.com/office/powerpoint/2010/main">
        <mc:Choice Requires="p14">
          <p:contentPart p14:bwMode="auto" r:id="rId3">
            <p14:nvContentPartPr>
              <p14:cNvPr id="4" name="Ink 3">
                <a:extLst>
                  <a:ext uri="{FF2B5EF4-FFF2-40B4-BE49-F238E27FC236}">
                    <a16:creationId xmlns:a16="http://schemas.microsoft.com/office/drawing/2014/main" id="{1C1FD12F-7B9A-C402-34A9-0CDD79FF9E14}"/>
                  </a:ext>
                </a:extLst>
              </p14:cNvPr>
              <p14:cNvContentPartPr/>
              <p14:nvPr/>
            </p14:nvContentPartPr>
            <p14:xfrm>
              <a:off x="2979004" y="6233516"/>
              <a:ext cx="360" cy="360"/>
            </p14:xfrm>
          </p:contentPart>
        </mc:Choice>
        <mc:Fallback xmlns="">
          <p:pic>
            <p:nvPicPr>
              <p:cNvPr id="4" name="Ink 3">
                <a:extLst>
                  <a:ext uri="{FF2B5EF4-FFF2-40B4-BE49-F238E27FC236}">
                    <a16:creationId xmlns:a16="http://schemas.microsoft.com/office/drawing/2014/main" id="{1C1FD12F-7B9A-C402-34A9-0CDD79FF9E14}"/>
                  </a:ext>
                </a:extLst>
              </p:cNvPr>
              <p:cNvPicPr/>
              <p:nvPr/>
            </p:nvPicPr>
            <p:blipFill>
              <a:blip r:embed="rId4"/>
              <a:stretch>
                <a:fillRect/>
              </a:stretch>
            </p:blipFill>
            <p:spPr>
              <a:xfrm>
                <a:off x="2970364" y="6224516"/>
                <a:ext cx="18000" cy="18000"/>
              </a:xfrm>
              <a:prstGeom prst="rect">
                <a:avLst/>
              </a:prstGeom>
            </p:spPr>
          </p:pic>
        </mc:Fallback>
      </mc:AlternateContent>
    </p:spTree>
    <p:extLst>
      <p:ext uri="{BB962C8B-B14F-4D97-AF65-F5344CB8AC3E}">
        <p14:creationId xmlns:p14="http://schemas.microsoft.com/office/powerpoint/2010/main" val="3564057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Challenges of building Apps on BTP</a:t>
            </a:r>
            <a:endParaRPr lang="en-US" dirty="0"/>
          </a:p>
        </p:txBody>
      </p:sp>
      <p:sp>
        <p:nvSpPr>
          <p:cNvPr id="3" name="TextBox 2">
            <a:extLst>
              <a:ext uri="{FF2B5EF4-FFF2-40B4-BE49-F238E27FC236}">
                <a16:creationId xmlns:a16="http://schemas.microsoft.com/office/drawing/2014/main" id="{6148E66F-ABF6-0B15-CE8B-9C044524F705}"/>
              </a:ext>
            </a:extLst>
          </p:cNvPr>
          <p:cNvSpPr txBox="1"/>
          <p:nvPr/>
        </p:nvSpPr>
        <p:spPr>
          <a:xfrm>
            <a:off x="189756" y="787935"/>
            <a:ext cx="11809312" cy="5632311"/>
          </a:xfrm>
          <a:prstGeom prst="rect">
            <a:avLst/>
          </a:prstGeom>
          <a:noFill/>
        </p:spPr>
        <p:txBody>
          <a:bodyPr wrap="square" rtlCol="0">
            <a:spAutoFit/>
          </a:bodyPr>
          <a:lstStyle/>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What is the best-practice/ gold-standard to build sap </a:t>
            </a:r>
            <a:r>
              <a:rPr kumimoji="0" lang="en-US" sz="1800" b="0" i="0" u="none" strike="noStrike" kern="1200" cap="none" spc="0" normalizeH="0" baseline="0" noProof="0" dirty="0" err="1">
                <a:ln>
                  <a:noFill/>
                </a:ln>
                <a:solidFill>
                  <a:prstClr val="white"/>
                </a:solidFill>
                <a:effectLst/>
                <a:uLnTx/>
                <a:uFillTx/>
                <a:latin typeface="Segoe UI"/>
                <a:ea typeface="+mn-ea"/>
                <a:cs typeface="+mn-cs"/>
                <a:sym typeface="Wingdings" panose="05000000000000000000" pitchFamily="2" charset="2"/>
              </a:rPr>
              <a:t>btp</a:t>
            </a: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 applications, recommendation by SAP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Are there any existing sample apps which we can follow to build our app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Many times, as a developer it is hard to add each part of app like files, dependencies, deploy descriptor, lots of code. Can this process be simplified?</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can we have reusability of the code to speed up my development and use sap provided tools to generate the skeleton of the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As a developer we want to focus more on functional aspect implementation rather initial project setup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Our apps are sometime tightly coupled with DB technology, develop DB agnostic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No matter what is the area we belong FIN, SD, MM, PP, PM, APO, CRM, HR etc. eventually as a developer we all do same work. Design tables, write logic, build UI</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to develop software in BTP, which does not require too much time in handovers</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CAPM – Cloud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It’s a SAP provided framework to develop SaaS apps in BTP which is PaaS. If the developer wants to use open source technologies like Node and Java. Great cost saving and freedom of choice of technology and consultants available easily in market. </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RAP – Restful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 is based on ABAP on Cloud. We can build extensions and SaaS application using this framework. The skill required will be ABAP and CDS knowledge. The deployment is very costly as compared to open-source technologies used in CAP.</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3201663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4" presetClass="entr" presetSubtype="1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55" dur="500"/>
                                        <p:tgtEl>
                                          <p:spTgt spid="3">
                                            <p:txEl>
                                              <p:pRg st="8" end="8"/>
                                            </p:txEl>
                                          </p:spTgt>
                                        </p:tgtEl>
                                      </p:cBhvr>
                                    </p:animEffect>
                                  </p:childTnLst>
                                </p:cTn>
                              </p:par>
                              <p:par>
                                <p:cTn id="56" presetID="14" presetClass="entr" presetSubtype="10" fill="hold" nodeType="with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58" dur="500"/>
                                        <p:tgtEl>
                                          <p:spTgt spid="3">
                                            <p:txEl>
                                              <p:pRg st="9" end="9"/>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4" presetClass="entr" presetSubtype="10" fill="hold" nodeType="clickEffect">
                                  <p:stCondLst>
                                    <p:cond delay="0"/>
                                  </p:stCondLst>
                                  <p:childTnLst>
                                    <p:set>
                                      <p:cBhvr>
                                        <p:cTn id="62"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63" dur="500"/>
                                        <p:tgtEl>
                                          <p:spTgt spid="3">
                                            <p:txEl>
                                              <p:pRg st="10" end="10"/>
                                            </p:txEl>
                                          </p:spTgt>
                                        </p:tgtEl>
                                      </p:cBhvr>
                                    </p:animEffect>
                                  </p:childTnLst>
                                </p:cTn>
                              </p:par>
                              <p:par>
                                <p:cTn id="64" presetID="14" presetClass="entr" presetSubtype="10" fill="hold"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animEffect transition="in" filter="randombar(horizontal)">
                                      <p:cBhvr>
                                        <p:cTn id="66"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CAPM Introduction</a:t>
            </a:r>
          </a:p>
        </p:txBody>
      </p:sp>
      <p:sp>
        <p:nvSpPr>
          <p:cNvPr id="3" name="TextBox 2">
            <a:extLst>
              <a:ext uri="{FF2B5EF4-FFF2-40B4-BE49-F238E27FC236}">
                <a16:creationId xmlns:a16="http://schemas.microsoft.com/office/drawing/2014/main" id="{3B5C91F9-8D30-80D7-24C7-7E4D9F3757AA}"/>
              </a:ext>
            </a:extLst>
          </p:cNvPr>
          <p:cNvSpPr txBox="1"/>
          <p:nvPr/>
        </p:nvSpPr>
        <p:spPr>
          <a:xfrm>
            <a:off x="189757" y="784925"/>
            <a:ext cx="11809312" cy="19389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CAPM is a framework of (a framework is a collection of libraries, classes, function, attributes, events)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Languages – Java and Node JS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Libraries – Node modules like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etc.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And Tools – VS Code or BAS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The CAP framework is used for building enterprise grade applications &amp; extensions which are cloud-native in SAP BTP.</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2300722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CDS – Core Data and Services </a:t>
            </a:r>
            <a:endParaRPr lang="en-US" dirty="0"/>
          </a:p>
        </p:txBody>
      </p:sp>
      <p:sp>
        <p:nvSpPr>
          <p:cNvPr id="3" name="TextBox 2">
            <a:extLst>
              <a:ext uri="{FF2B5EF4-FFF2-40B4-BE49-F238E27FC236}">
                <a16:creationId xmlns:a16="http://schemas.microsoft.com/office/drawing/2014/main" id="{DC6F944F-40C8-B576-8042-58CDF7803F33}"/>
              </a:ext>
            </a:extLst>
          </p:cNvPr>
          <p:cNvSpPr txBox="1"/>
          <p:nvPr/>
        </p:nvSpPr>
        <p:spPr>
          <a:xfrm>
            <a:off x="189757" y="764802"/>
            <a:ext cx="1180931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Conceptually CDS is same concept but different flavor. The concept says that, we have a design time object which is a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file. We will create a </a:t>
            </a:r>
            <a:r>
              <a:rPr kumimoji="0" lang="en-US" sz="2000" b="1" i="0" u="none" strike="noStrike" kern="0" cap="none" spc="0" normalizeH="0" baseline="0" noProof="0" dirty="0">
                <a:ln>
                  <a:noFill/>
                </a:ln>
                <a:solidFill>
                  <a:prstClr val="white"/>
                </a:solidFill>
                <a:effectLst/>
                <a:uLnTx/>
                <a:uFillTx/>
                <a:latin typeface="Segoe UI"/>
                <a:ea typeface="+mn-ea"/>
                <a:cs typeface="+mn-cs"/>
              </a:rPr>
              <a:t>.</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file for almost everything e.g. database tables, views, models, services, UI/UX. This design time object file is compiled by CAPM framework (inside CAP we have node module called </a:t>
            </a:r>
            <a:r>
              <a:rPr kumimoji="0" lang="en-US" sz="2000" b="1" i="0" u="none" strike="noStrike" kern="0" cap="none" spc="0" normalizeH="0" baseline="0" noProof="0" dirty="0">
                <a:ln>
                  <a:noFill/>
                </a:ln>
                <a:solidFill>
                  <a:prstClr val="white"/>
                </a:solidFill>
                <a:effectLst/>
                <a:uLnTx/>
                <a:uFillTx/>
                <a:latin typeface="Segoe UI"/>
                <a:ea typeface="+mn-ea"/>
                <a:cs typeface="+mn-cs"/>
              </a:rPr>
              <a:t>@sap/cds)</a:t>
            </a:r>
            <a:r>
              <a:rPr kumimoji="0" lang="en-US" sz="2000" b="0" i="0" u="none" strike="noStrike" kern="0" cap="none" spc="0" normalizeH="0" baseline="0" noProof="0" dirty="0">
                <a:ln>
                  <a:noFill/>
                </a:ln>
                <a:solidFill>
                  <a:prstClr val="white"/>
                </a:solidFill>
                <a:effectLst/>
                <a:uLnTx/>
                <a:uFillTx/>
                <a:latin typeface="Segoe UI"/>
                <a:ea typeface="+mn-ea"/>
                <a:cs typeface="+mn-cs"/>
              </a:rPr>
              <a:t> Once the compilation is successful a </a:t>
            </a:r>
            <a:r>
              <a:rPr kumimoji="0" lang="en-US" sz="2000" b="1" i="0" u="none" strike="noStrike" kern="0" cap="none" spc="0" normalizeH="0" baseline="0" noProof="0" dirty="0">
                <a:ln>
                  <a:noFill/>
                </a:ln>
                <a:solidFill>
                  <a:prstClr val="white"/>
                </a:solidFill>
                <a:effectLst/>
                <a:uLnTx/>
                <a:uFillTx/>
                <a:latin typeface="Segoe UI"/>
                <a:ea typeface="+mn-ea"/>
                <a:cs typeface="+mn-cs"/>
              </a:rPr>
              <a:t>runtime</a:t>
            </a:r>
            <a:r>
              <a:rPr kumimoji="0" lang="en-US" sz="2000" b="0" i="0" u="none" strike="noStrike" kern="0" cap="none" spc="0" normalizeH="0" baseline="0" noProof="0" dirty="0">
                <a:ln>
                  <a:noFill/>
                </a:ln>
                <a:solidFill>
                  <a:prstClr val="white"/>
                </a:solidFill>
                <a:effectLst/>
                <a:uLnTx/>
                <a:uFillTx/>
                <a:latin typeface="Segoe UI"/>
                <a:ea typeface="+mn-ea"/>
                <a:cs typeface="+mn-cs"/>
              </a:rPr>
              <a:t> object gets created.</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4C97D6F-AA53-D025-A8BC-97B38BF92B0E}"/>
              </a:ext>
            </a:extLst>
          </p:cNvPr>
          <p:cNvSpPr/>
          <p:nvPr/>
        </p:nvSpPr>
        <p:spPr>
          <a:xfrm>
            <a:off x="1243076"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MySQL</a:t>
            </a:r>
          </a:p>
        </p:txBody>
      </p:sp>
      <p:sp>
        <p:nvSpPr>
          <p:cNvPr id="5" name="TextBox 4">
            <a:extLst>
              <a:ext uri="{FF2B5EF4-FFF2-40B4-BE49-F238E27FC236}">
                <a16:creationId xmlns:a16="http://schemas.microsoft.com/office/drawing/2014/main" id="{502740B2-396C-7B09-6F05-57352F5B989E}"/>
              </a:ext>
            </a:extLst>
          </p:cNvPr>
          <p:cNvSpPr txBox="1"/>
          <p:nvPr/>
        </p:nvSpPr>
        <p:spPr>
          <a:xfrm>
            <a:off x="693812" y="2413183"/>
            <a:ext cx="324036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 COLUMNS c1 integer, c2 varchar,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--20 lakh SQL statements</a:t>
            </a:r>
          </a:p>
        </p:txBody>
      </p:sp>
      <p:sp>
        <p:nvSpPr>
          <p:cNvPr id="6" name="Arrow: Down 5">
            <a:extLst>
              <a:ext uri="{FF2B5EF4-FFF2-40B4-BE49-F238E27FC236}">
                <a16:creationId xmlns:a16="http://schemas.microsoft.com/office/drawing/2014/main" id="{BC027F23-20DB-1584-2B1F-2C706F4CC0A7}"/>
              </a:ext>
            </a:extLst>
          </p:cNvPr>
          <p:cNvSpPr/>
          <p:nvPr/>
        </p:nvSpPr>
        <p:spPr>
          <a:xfrm>
            <a:off x="1989956"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7" name="Rectangle 6">
            <a:extLst>
              <a:ext uri="{FF2B5EF4-FFF2-40B4-BE49-F238E27FC236}">
                <a16:creationId xmlns:a16="http://schemas.microsoft.com/office/drawing/2014/main" id="{3658874E-454E-1BD0-F383-B955248FFC11}"/>
              </a:ext>
            </a:extLst>
          </p:cNvPr>
          <p:cNvSpPr/>
          <p:nvPr/>
        </p:nvSpPr>
        <p:spPr>
          <a:xfrm>
            <a:off x="5086300"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8" name="Arrow: Down 7">
            <a:extLst>
              <a:ext uri="{FF2B5EF4-FFF2-40B4-BE49-F238E27FC236}">
                <a16:creationId xmlns:a16="http://schemas.microsoft.com/office/drawing/2014/main" id="{E66C5E84-AD3A-5B03-4F0B-B866473C75EE}"/>
              </a:ext>
            </a:extLst>
          </p:cNvPr>
          <p:cNvSpPr/>
          <p:nvPr/>
        </p:nvSpPr>
        <p:spPr>
          <a:xfrm>
            <a:off x="5734372"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Arrow: Down 8">
            <a:extLst>
              <a:ext uri="{FF2B5EF4-FFF2-40B4-BE49-F238E27FC236}">
                <a16:creationId xmlns:a16="http://schemas.microsoft.com/office/drawing/2014/main" id="{01BA5F7C-EEBF-9116-7607-D8BA196BFC0E}"/>
              </a:ext>
            </a:extLst>
          </p:cNvPr>
          <p:cNvSpPr/>
          <p:nvPr/>
        </p:nvSpPr>
        <p:spPr>
          <a:xfrm rot="19225908">
            <a:off x="3709153" y="3237906"/>
            <a:ext cx="648072" cy="1872208"/>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0" name="&quot;Not Allowed&quot; Symbol 9">
            <a:extLst>
              <a:ext uri="{FF2B5EF4-FFF2-40B4-BE49-F238E27FC236}">
                <a16:creationId xmlns:a16="http://schemas.microsoft.com/office/drawing/2014/main" id="{81E2AC82-DED5-D611-95D1-34338C0945F7}"/>
              </a:ext>
            </a:extLst>
          </p:cNvPr>
          <p:cNvSpPr/>
          <p:nvPr/>
        </p:nvSpPr>
        <p:spPr>
          <a:xfrm>
            <a:off x="3574132" y="3569122"/>
            <a:ext cx="864096" cy="830997"/>
          </a:xfrm>
          <a:prstGeom prst="noSmoking">
            <a:avLst/>
          </a:prstGeom>
          <a:solidFill>
            <a:srgbClr val="FF0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1" name="TextBox 10">
            <a:extLst>
              <a:ext uri="{FF2B5EF4-FFF2-40B4-BE49-F238E27FC236}">
                <a16:creationId xmlns:a16="http://schemas.microsoft.com/office/drawing/2014/main" id="{EF5E6E4A-BCB9-A94B-FB06-D6F0D7F285F3}"/>
              </a:ext>
            </a:extLst>
          </p:cNvPr>
          <p:cNvSpPr txBox="1"/>
          <p:nvPr/>
        </p:nvSpPr>
        <p:spPr>
          <a:xfrm>
            <a:off x="4294212" y="2236621"/>
            <a:ext cx="3240360" cy="10772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tab(c1 integer, c2 varchar(30), primary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---2mn </a:t>
            </a:r>
            <a:r>
              <a:rPr kumimoji="0" lang="en-US" sz="1600" b="0" i="0" u="none" strike="noStrike" kern="0" cap="none" spc="0" normalizeH="0" baseline="0" noProof="0" dirty="0" err="1">
                <a:ln>
                  <a:noFill/>
                </a:ln>
                <a:solidFill>
                  <a:prstClr val="white"/>
                </a:solidFill>
                <a:effectLst/>
                <a:uLnTx/>
                <a:uFillTx/>
                <a:latin typeface="Segoe UI"/>
                <a:ea typeface="+mn-ea"/>
                <a:cs typeface="+mn-cs"/>
              </a:rPr>
              <a:t>sql</a:t>
            </a:r>
            <a:r>
              <a:rPr kumimoji="0" lang="en-US" sz="1600" b="0" i="0" u="none" strike="noStrike" kern="0" cap="none" spc="0" normalizeH="0" baseline="0" noProof="0" dirty="0">
                <a:ln>
                  <a:noFill/>
                </a:ln>
                <a:solidFill>
                  <a:prstClr val="white"/>
                </a:solidFill>
                <a:effectLst/>
                <a:uLnTx/>
                <a:uFillTx/>
                <a:latin typeface="Segoe UI"/>
                <a:ea typeface="+mn-ea"/>
                <a:cs typeface="+mn-cs"/>
              </a:rPr>
              <a:t> statements again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kern="0" dirty="0">
                <a:solidFill>
                  <a:prstClr val="white"/>
                </a:solidFill>
                <a:latin typeface="Segoe UI"/>
              </a:rPr>
              <a:t>1m</a:t>
            </a:r>
            <a:r>
              <a:rPr kumimoji="0" lang="en-US" sz="1600" b="0" i="0" u="none" strike="noStrike" kern="0" cap="none" spc="0" normalizeH="0" baseline="0" noProof="0" dirty="0">
                <a:ln>
                  <a:noFill/>
                </a:ln>
                <a:solidFill>
                  <a:prstClr val="white"/>
                </a:solidFill>
                <a:effectLst/>
                <a:uLnTx/>
                <a:uFillTx/>
                <a:latin typeface="Segoe UI"/>
                <a:ea typeface="+mn-ea"/>
                <a:cs typeface="+mn-cs"/>
              </a:rPr>
              <a:t>n dollars of investment</a:t>
            </a:r>
          </a:p>
        </p:txBody>
      </p:sp>
      <p:sp>
        <p:nvSpPr>
          <p:cNvPr id="12" name="TextBox 11">
            <a:extLst>
              <a:ext uri="{FF2B5EF4-FFF2-40B4-BE49-F238E27FC236}">
                <a16:creationId xmlns:a16="http://schemas.microsoft.com/office/drawing/2014/main" id="{1D03AE17-3F96-D0FF-95A3-FD2B8476D1F6}"/>
              </a:ext>
            </a:extLst>
          </p:cNvPr>
          <p:cNvSpPr txBox="1"/>
          <p:nvPr/>
        </p:nvSpPr>
        <p:spPr>
          <a:xfrm>
            <a:off x="2472148" y="6111399"/>
            <a:ext cx="367240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Too much database coupled</a:t>
            </a:r>
          </a:p>
        </p:txBody>
      </p:sp>
    </p:spTree>
    <p:extLst>
      <p:ext uri="{BB962C8B-B14F-4D97-AF65-F5344CB8AC3E}">
        <p14:creationId xmlns:p14="http://schemas.microsoft.com/office/powerpoint/2010/main" val="18116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ppt_x</p:attrName>
                                        </p:attrNameLst>
                                      </p:cBhvr>
                                      <p:tavLst>
                                        <p:tav tm="0">
                                          <p:val>
                                            <p:strVal val="#ppt_x"/>
                                          </p:val>
                                        </p:tav>
                                        <p:tav tm="100000">
                                          <p:val>
                                            <p:strVal val="#ppt_x"/>
                                          </p:val>
                                        </p:tav>
                                      </p:tavLst>
                                    </p:anim>
                                    <p:anim calcmode="lin" valueType="num">
                                      <p:cBhvr additive="base">
                                        <p:cTn id="15" dur="500" fill="hold"/>
                                        <p:tgtEl>
                                          <p:spTgt spid="5"/>
                                        </p:tgtEl>
                                        <p:attrNameLst>
                                          <p:attrName>ppt_y</p:attrName>
                                        </p:attrNameLst>
                                      </p:cBhvr>
                                      <p:tavLst>
                                        <p:tav tm="0">
                                          <p:val>
                                            <p:strVal val="1+#ppt_h/2"/>
                                          </p:val>
                                        </p:tav>
                                        <p:tav tm="100000">
                                          <p:val>
                                            <p:strVal val="#ppt_y"/>
                                          </p:val>
                                        </p:tav>
                                      </p:tavLst>
                                    </p:anim>
                                  </p:childTnLst>
                                </p:cTn>
                              </p:par>
                              <p:par>
                                <p:cTn id="16" presetID="2" presetClass="entr" presetSubtype="4"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1+#ppt_h/2"/>
                                          </p:val>
                                        </p:tav>
                                        <p:tav tm="100000">
                                          <p:val>
                                            <p:strVal val="#ppt_y"/>
                                          </p:val>
                                        </p:tav>
                                      </p:tavLst>
                                    </p:anim>
                                  </p:childTnLst>
                                </p:cTn>
                              </p:par>
                              <p:par>
                                <p:cTn id="20" presetID="2" presetClass="entr" presetSubtype="4" fill="hold" grpId="0" nodeType="withEffect">
                                  <p:stCondLst>
                                    <p:cond delay="0"/>
                                  </p:stCondLst>
                                  <p:childTnLst>
                                    <p:set>
                                      <p:cBhvr>
                                        <p:cTn id="21" dur="1" fill="hold">
                                          <p:stCondLst>
                                            <p:cond delay="0"/>
                                          </p:stCondLst>
                                        </p:cTn>
                                        <p:tgtEl>
                                          <p:spTgt spid="4"/>
                                        </p:tgtEl>
                                        <p:attrNameLst>
                                          <p:attrName>style.visibility</p:attrName>
                                        </p:attrNameLst>
                                      </p:cBhvr>
                                      <p:to>
                                        <p:strVal val="visible"/>
                                      </p:to>
                                    </p:set>
                                    <p:anim calcmode="lin" valueType="num">
                                      <p:cBhvr additive="base">
                                        <p:cTn id="22" dur="500" fill="hold"/>
                                        <p:tgtEl>
                                          <p:spTgt spid="4"/>
                                        </p:tgtEl>
                                        <p:attrNameLst>
                                          <p:attrName>ppt_x</p:attrName>
                                        </p:attrNameLst>
                                      </p:cBhvr>
                                      <p:tavLst>
                                        <p:tav tm="0">
                                          <p:val>
                                            <p:strVal val="#ppt_x"/>
                                          </p:val>
                                        </p:tav>
                                        <p:tav tm="100000">
                                          <p:val>
                                            <p:strVal val="#ppt_x"/>
                                          </p:val>
                                        </p:tav>
                                      </p:tavLst>
                                    </p:anim>
                                    <p:anim calcmode="lin" valueType="num">
                                      <p:cBhvr additive="base">
                                        <p:cTn id="2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ppt_x</p:attrName>
                                        </p:attrNameLst>
                                      </p:cBhvr>
                                      <p:tavLst>
                                        <p:tav tm="0">
                                          <p:val>
                                            <p:strVal val="#ppt_x"/>
                                          </p:val>
                                        </p:tav>
                                        <p:tav tm="100000">
                                          <p:val>
                                            <p:strVal val="#ppt_x"/>
                                          </p:val>
                                        </p:tav>
                                      </p:tavLst>
                                    </p:anim>
                                    <p:anim calcmode="lin" valueType="num">
                                      <p:cBhvr additive="base">
                                        <p:cTn id="3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20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1000"/>
                                        <p:tgtEl>
                                          <p:spTgt spid="8"/>
                                        </p:tgtEl>
                                      </p:cBhvr>
                                    </p:animEffect>
                                    <p:anim calcmode="lin" valueType="num">
                                      <p:cBhvr>
                                        <p:cTn id="44" dur="1000" fill="hold"/>
                                        <p:tgtEl>
                                          <p:spTgt spid="8"/>
                                        </p:tgtEl>
                                        <p:attrNameLst>
                                          <p:attrName>ppt_x</p:attrName>
                                        </p:attrNameLst>
                                      </p:cBhvr>
                                      <p:tavLst>
                                        <p:tav tm="0">
                                          <p:val>
                                            <p:strVal val="#ppt_x"/>
                                          </p:val>
                                        </p:tav>
                                        <p:tav tm="100000">
                                          <p:val>
                                            <p:strVal val="#ppt_x"/>
                                          </p:val>
                                        </p:tav>
                                      </p:tavLst>
                                    </p:anim>
                                    <p:anim calcmode="lin" valueType="num">
                                      <p:cBhvr>
                                        <p:cTn id="45" dur="1000" fill="hold"/>
                                        <p:tgtEl>
                                          <p:spTgt spid="8"/>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1000"/>
                                        <p:tgtEl>
                                          <p:spTgt spid="11"/>
                                        </p:tgtEl>
                                      </p:cBhvr>
                                    </p:animEffect>
                                    <p:anim calcmode="lin" valueType="num">
                                      <p:cBhvr>
                                        <p:cTn id="49" dur="1000" fill="hold"/>
                                        <p:tgtEl>
                                          <p:spTgt spid="11"/>
                                        </p:tgtEl>
                                        <p:attrNameLst>
                                          <p:attrName>ppt_x</p:attrName>
                                        </p:attrNameLst>
                                      </p:cBhvr>
                                      <p:tavLst>
                                        <p:tav tm="0">
                                          <p:val>
                                            <p:strVal val="#ppt_x"/>
                                          </p:val>
                                        </p:tav>
                                        <p:tav tm="100000">
                                          <p:val>
                                            <p:strVal val="#ppt_x"/>
                                          </p:val>
                                        </p:tav>
                                      </p:tavLst>
                                    </p:anim>
                                    <p:anim calcmode="lin" valueType="num">
                                      <p:cBhvr>
                                        <p:cTn id="5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animBg="1"/>
      <p:bldP spid="8" grpId="0" animBg="1"/>
      <p:bldP spid="9" grpId="0" animBg="1"/>
      <p:bldP spid="10" grpId="0" animBg="1"/>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Solution – use CAP framework</a:t>
            </a:r>
            <a:endParaRPr lang="en-US" dirty="0"/>
          </a:p>
        </p:txBody>
      </p:sp>
      <p:sp>
        <p:nvSpPr>
          <p:cNvPr id="3" name="Rectangle: Folded Corner 2">
            <a:extLst>
              <a:ext uri="{FF2B5EF4-FFF2-40B4-BE49-F238E27FC236}">
                <a16:creationId xmlns:a16="http://schemas.microsoft.com/office/drawing/2014/main" id="{9A95FA0B-4A9F-333C-1AA7-C5E921F7181F}"/>
              </a:ext>
            </a:extLst>
          </p:cNvPr>
          <p:cNvSpPr/>
          <p:nvPr/>
        </p:nvSpPr>
        <p:spPr>
          <a:xfrm>
            <a:off x="1413892" y="980728"/>
            <a:ext cx="2232248" cy="1728192"/>
          </a:xfrm>
          <a:prstGeom prst="foldedCorner">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entity tab{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c1 number,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c2 string(20)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a:t>
            </a:r>
          </a:p>
        </p:txBody>
      </p:sp>
      <p:sp>
        <p:nvSpPr>
          <p:cNvPr id="4" name="TextBox 3">
            <a:extLst>
              <a:ext uri="{FF2B5EF4-FFF2-40B4-BE49-F238E27FC236}">
                <a16:creationId xmlns:a16="http://schemas.microsoft.com/office/drawing/2014/main" id="{45DD6FC9-763F-819C-63CC-1867BA47F2F0}"/>
              </a:ext>
            </a:extLst>
          </p:cNvPr>
          <p:cNvSpPr txBox="1"/>
          <p:nvPr/>
        </p:nvSpPr>
        <p:spPr>
          <a:xfrm>
            <a:off x="3646140" y="1124744"/>
            <a:ext cx="1872208"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Design time artefact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white"/>
                </a:solidFill>
                <a:effectLst/>
                <a:uLnTx/>
                <a:uFillTx/>
                <a:latin typeface="Segoe UI"/>
                <a:ea typeface="+mn-ea"/>
                <a:cs typeface="+mn-cs"/>
              </a:rPr>
              <a:t>.</a:t>
            </a:r>
            <a:r>
              <a:rPr kumimoji="0" lang="en-US" sz="1800" b="1" i="0" u="none" strike="noStrike" kern="0" cap="none" spc="0" normalizeH="0" baseline="0" noProof="0" dirty="0" err="1">
                <a:ln>
                  <a:noFill/>
                </a:ln>
                <a:solidFill>
                  <a:prstClr val="white"/>
                </a:solidFill>
                <a:effectLst/>
                <a:uLnTx/>
                <a:uFillTx/>
                <a:latin typeface="Segoe UI"/>
                <a:ea typeface="+mn-ea"/>
                <a:cs typeface="+mn-cs"/>
              </a:rPr>
              <a:t>cds</a:t>
            </a:r>
            <a:endParaRPr kumimoji="0" lang="en-US" sz="1800" b="1" i="0" u="none" strike="noStrike" kern="0" cap="none" spc="0" normalizeH="0" baseline="0" noProof="0" dirty="0">
              <a:ln>
                <a:noFill/>
              </a:ln>
              <a:solidFill>
                <a:prstClr val="white"/>
              </a:solidFill>
              <a:effectLst/>
              <a:uLnTx/>
              <a:uFillTx/>
              <a:latin typeface="Segoe UI"/>
              <a:ea typeface="+mn-ea"/>
              <a:cs typeface="+mn-cs"/>
            </a:endParaRPr>
          </a:p>
        </p:txBody>
      </p:sp>
      <p:sp>
        <p:nvSpPr>
          <p:cNvPr id="5" name="Arrow: Down 4">
            <a:extLst>
              <a:ext uri="{FF2B5EF4-FFF2-40B4-BE49-F238E27FC236}">
                <a16:creationId xmlns:a16="http://schemas.microsoft.com/office/drawing/2014/main" id="{BEF93AA1-4FB8-2205-EE54-FA761629A5E9}"/>
              </a:ext>
            </a:extLst>
          </p:cNvPr>
          <p:cNvSpPr/>
          <p:nvPr/>
        </p:nvSpPr>
        <p:spPr>
          <a:xfrm>
            <a:off x="2195025" y="2872911"/>
            <a:ext cx="792088" cy="720080"/>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6" name="Rectangle: Rounded Corners 5">
            <a:extLst>
              <a:ext uri="{FF2B5EF4-FFF2-40B4-BE49-F238E27FC236}">
                <a16:creationId xmlns:a16="http://schemas.microsoft.com/office/drawing/2014/main" id="{BEED0806-C88E-25DF-81EA-74AD3B4FCCB8}"/>
              </a:ext>
            </a:extLst>
          </p:cNvPr>
          <p:cNvSpPr/>
          <p:nvPr/>
        </p:nvSpPr>
        <p:spPr>
          <a:xfrm>
            <a:off x="970889" y="3681516"/>
            <a:ext cx="3240359" cy="1060145"/>
          </a:xfrm>
          <a:prstGeom prst="round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CAPM Framework</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
        <p:nvSpPr>
          <p:cNvPr id="7" name="Rectangle: Rounded Corners 6">
            <a:extLst>
              <a:ext uri="{FF2B5EF4-FFF2-40B4-BE49-F238E27FC236}">
                <a16:creationId xmlns:a16="http://schemas.microsoft.com/office/drawing/2014/main" id="{15722310-6A47-C40B-8707-AFC990AD696F}"/>
              </a:ext>
            </a:extLst>
          </p:cNvPr>
          <p:cNvSpPr/>
          <p:nvPr/>
        </p:nvSpPr>
        <p:spPr>
          <a:xfrm>
            <a:off x="1485900" y="4077072"/>
            <a:ext cx="2232248" cy="576064"/>
          </a:xfrm>
          <a:prstGeom prst="roundRect">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rgbClr val="38C6C6">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@sap/cds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CDS Engine</a:t>
            </a:r>
          </a:p>
        </p:txBody>
      </p:sp>
      <p:sp>
        <p:nvSpPr>
          <p:cNvPr id="8" name="Arrow: Down 7">
            <a:extLst>
              <a:ext uri="{FF2B5EF4-FFF2-40B4-BE49-F238E27FC236}">
                <a16:creationId xmlns:a16="http://schemas.microsoft.com/office/drawing/2014/main" id="{0FF8E203-9B98-83E5-9DFF-897861D81898}"/>
              </a:ext>
            </a:extLst>
          </p:cNvPr>
          <p:cNvSpPr/>
          <p:nvPr/>
        </p:nvSpPr>
        <p:spPr>
          <a:xfrm>
            <a:off x="2277988" y="4893603"/>
            <a:ext cx="648072" cy="521822"/>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AE3AC2C6-5214-3993-1341-66AEBD051856}"/>
              </a:ext>
            </a:extLst>
          </p:cNvPr>
          <p:cNvSpPr/>
          <p:nvPr/>
        </p:nvSpPr>
        <p:spPr>
          <a:xfrm>
            <a:off x="1618960" y="5555116"/>
            <a:ext cx="1944216" cy="580872"/>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 Code</a:t>
            </a:r>
          </a:p>
        </p:txBody>
      </p:sp>
      <p:sp>
        <p:nvSpPr>
          <p:cNvPr id="10" name="Flowchart: Magnetic Disk 9">
            <a:extLst>
              <a:ext uri="{FF2B5EF4-FFF2-40B4-BE49-F238E27FC236}">
                <a16:creationId xmlns:a16="http://schemas.microsoft.com/office/drawing/2014/main" id="{AFC8D9F1-7729-B25E-62C2-EC833E7F6DA2}"/>
              </a:ext>
            </a:extLst>
          </p:cNvPr>
          <p:cNvSpPr/>
          <p:nvPr/>
        </p:nvSpPr>
        <p:spPr>
          <a:xfrm>
            <a:off x="4726260" y="3681516"/>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SQLite</a:t>
            </a:r>
          </a:p>
        </p:txBody>
      </p:sp>
      <p:sp>
        <p:nvSpPr>
          <p:cNvPr id="11" name="&quot;Not Allowed&quot; Symbol 10">
            <a:extLst>
              <a:ext uri="{FF2B5EF4-FFF2-40B4-BE49-F238E27FC236}">
                <a16:creationId xmlns:a16="http://schemas.microsoft.com/office/drawing/2014/main" id="{12C1A82B-0D62-BB78-32C4-B2E3B6C53FE3}"/>
              </a:ext>
            </a:extLst>
          </p:cNvPr>
          <p:cNvSpPr/>
          <p:nvPr/>
        </p:nvSpPr>
        <p:spPr>
          <a:xfrm>
            <a:off x="5014292" y="3592991"/>
            <a:ext cx="1080120" cy="720080"/>
          </a:xfrm>
          <a:prstGeom prst="noSmoking">
            <a:avLst/>
          </a:prstGeom>
          <a:solidFill>
            <a:srgbClr val="FFC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0" cap="none" spc="0" normalizeH="0" baseline="0" noProof="0">
              <a:ln w="22225">
                <a:solidFill>
                  <a:srgbClr val="38C6C6"/>
                </a:solidFill>
                <a:prstDash val="solid"/>
              </a:ln>
              <a:solidFill>
                <a:prstClr val="white"/>
              </a:solidFill>
              <a:effectLst/>
              <a:uLnTx/>
              <a:uFillTx/>
              <a:latin typeface="Segoe UI"/>
              <a:ea typeface="+mn-ea"/>
              <a:cs typeface="+mn-cs"/>
            </a:endParaRPr>
          </a:p>
        </p:txBody>
      </p:sp>
      <p:sp>
        <p:nvSpPr>
          <p:cNvPr id="12" name="Flowchart: Magnetic Disk 11">
            <a:extLst>
              <a:ext uri="{FF2B5EF4-FFF2-40B4-BE49-F238E27FC236}">
                <a16:creationId xmlns:a16="http://schemas.microsoft.com/office/drawing/2014/main" id="{82D31DB3-9CB9-25FA-5DC2-7C2E7DF2ACAD}"/>
              </a:ext>
            </a:extLst>
          </p:cNvPr>
          <p:cNvSpPr/>
          <p:nvPr/>
        </p:nvSpPr>
        <p:spPr>
          <a:xfrm>
            <a:off x="4762266" y="4465471"/>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13" name="TextBox 12">
            <a:extLst>
              <a:ext uri="{FF2B5EF4-FFF2-40B4-BE49-F238E27FC236}">
                <a16:creationId xmlns:a16="http://schemas.microsoft.com/office/drawing/2014/main" id="{6C3A3EF8-9D04-0A9E-B2CC-C8AA3142A0D9}"/>
              </a:ext>
            </a:extLst>
          </p:cNvPr>
          <p:cNvSpPr txBox="1"/>
          <p:nvPr/>
        </p:nvSpPr>
        <p:spPr>
          <a:xfrm>
            <a:off x="4283344" y="5660886"/>
            <a:ext cx="224311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Database Agnostic</a:t>
            </a:r>
          </a:p>
        </p:txBody>
      </p:sp>
      <p:sp>
        <p:nvSpPr>
          <p:cNvPr id="14" name="TextBox 13">
            <a:extLst>
              <a:ext uri="{FF2B5EF4-FFF2-40B4-BE49-F238E27FC236}">
                <a16:creationId xmlns:a16="http://schemas.microsoft.com/office/drawing/2014/main" id="{315DC700-9C1A-9BAC-FDEA-995B1D72F73D}"/>
              </a:ext>
            </a:extLst>
          </p:cNvPr>
          <p:cNvSpPr txBox="1"/>
          <p:nvPr/>
        </p:nvSpPr>
        <p:spPr>
          <a:xfrm>
            <a:off x="6530990" y="980728"/>
            <a:ext cx="388276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https://cap.cloud.sap/</a:t>
            </a: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mc:AlternateContent xmlns:mc="http://schemas.openxmlformats.org/markup-compatibility/2006">
        <mc:Choice xmlns:p14="http://schemas.microsoft.com/office/powerpoint/2010/main" Requires="p14">
          <p:contentPart p14:bwMode="auto" r:id="rId3">
            <p14:nvContentPartPr>
              <p14:cNvPr id="63" name="Ink 62">
                <a:extLst>
                  <a:ext uri="{FF2B5EF4-FFF2-40B4-BE49-F238E27FC236}">
                    <a16:creationId xmlns:a16="http://schemas.microsoft.com/office/drawing/2014/main" id="{BB701ED3-5614-A214-F2F2-C3B6743636CF}"/>
                  </a:ext>
                </a:extLst>
              </p14:cNvPr>
              <p14:cNvContentPartPr/>
              <p14:nvPr/>
            </p14:nvContentPartPr>
            <p14:xfrm>
              <a:off x="9663472" y="5058572"/>
              <a:ext cx="360" cy="360"/>
            </p14:xfrm>
          </p:contentPart>
        </mc:Choice>
        <mc:Fallback>
          <p:pic>
            <p:nvPicPr>
              <p:cNvPr id="63" name="Ink 62">
                <a:extLst>
                  <a:ext uri="{FF2B5EF4-FFF2-40B4-BE49-F238E27FC236}">
                    <a16:creationId xmlns:a16="http://schemas.microsoft.com/office/drawing/2014/main" id="{BB701ED3-5614-A214-F2F2-C3B6743636CF}"/>
                  </a:ext>
                </a:extLst>
              </p:cNvPr>
              <p:cNvPicPr/>
              <p:nvPr/>
            </p:nvPicPr>
            <p:blipFill>
              <a:blip r:embed="rId4"/>
              <a:stretch>
                <a:fillRect/>
              </a:stretch>
            </p:blipFill>
            <p:spPr>
              <a:xfrm>
                <a:off x="9654832" y="5049572"/>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64" name="Ink 63">
                <a:extLst>
                  <a:ext uri="{FF2B5EF4-FFF2-40B4-BE49-F238E27FC236}">
                    <a16:creationId xmlns:a16="http://schemas.microsoft.com/office/drawing/2014/main" id="{F4A42182-EFEE-08C8-91F6-71A7DFD5D80E}"/>
                  </a:ext>
                </a:extLst>
              </p14:cNvPr>
              <p14:cNvContentPartPr/>
              <p14:nvPr/>
            </p14:nvContentPartPr>
            <p14:xfrm>
              <a:off x="5617792" y="2789132"/>
              <a:ext cx="360" cy="360"/>
            </p14:xfrm>
          </p:contentPart>
        </mc:Choice>
        <mc:Fallback>
          <p:pic>
            <p:nvPicPr>
              <p:cNvPr id="64" name="Ink 63">
                <a:extLst>
                  <a:ext uri="{FF2B5EF4-FFF2-40B4-BE49-F238E27FC236}">
                    <a16:creationId xmlns:a16="http://schemas.microsoft.com/office/drawing/2014/main" id="{F4A42182-EFEE-08C8-91F6-71A7DFD5D80E}"/>
                  </a:ext>
                </a:extLst>
              </p:cNvPr>
              <p:cNvPicPr/>
              <p:nvPr/>
            </p:nvPicPr>
            <p:blipFill>
              <a:blip r:embed="rId4"/>
              <a:stretch>
                <a:fillRect/>
              </a:stretch>
            </p:blipFill>
            <p:spPr>
              <a:xfrm>
                <a:off x="5608792" y="2780132"/>
                <a:ext cx="18000" cy="18000"/>
              </a:xfrm>
              <a:prstGeom prst="rect">
                <a:avLst/>
              </a:prstGeom>
            </p:spPr>
          </p:pic>
        </mc:Fallback>
      </mc:AlternateContent>
    </p:spTree>
    <p:extLst>
      <p:ext uri="{BB962C8B-B14F-4D97-AF65-F5344CB8AC3E}">
        <p14:creationId xmlns:p14="http://schemas.microsoft.com/office/powerpoint/2010/main" val="916190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1000"/>
                                        <p:tgtEl>
                                          <p:spTgt spid="5"/>
                                        </p:tgtEl>
                                      </p:cBhvr>
                                    </p:animEffect>
                                    <p:anim calcmode="lin" valueType="num">
                                      <p:cBhvr>
                                        <p:cTn id="18" dur="1000" fill="hold"/>
                                        <p:tgtEl>
                                          <p:spTgt spid="5"/>
                                        </p:tgtEl>
                                        <p:attrNameLst>
                                          <p:attrName>ppt_x</p:attrName>
                                        </p:attrNameLst>
                                      </p:cBhvr>
                                      <p:tavLst>
                                        <p:tav tm="0">
                                          <p:val>
                                            <p:strVal val="#ppt_x"/>
                                          </p:val>
                                        </p:tav>
                                        <p:tav tm="100000">
                                          <p:val>
                                            <p:strVal val="#ppt_x"/>
                                          </p:val>
                                        </p:tav>
                                      </p:tavLst>
                                    </p:anim>
                                    <p:anim calcmode="lin" valueType="num">
                                      <p:cBhvr>
                                        <p:cTn id="1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ppt_x</p:attrName>
                                        </p:attrNameLst>
                                      </p:cBhvr>
                                      <p:tavLst>
                                        <p:tav tm="0">
                                          <p:val>
                                            <p:strVal val="#ppt_x"/>
                                          </p:val>
                                        </p:tav>
                                        <p:tav tm="100000">
                                          <p:val>
                                            <p:strVal val="#ppt_x"/>
                                          </p:val>
                                        </p:tav>
                                      </p:tavLst>
                                    </p:anim>
                                    <p:anim calcmode="lin" valueType="num">
                                      <p:cBhvr additive="base">
                                        <p:cTn id="33" dur="500" fill="hold"/>
                                        <p:tgtEl>
                                          <p:spTgt spid="8"/>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500" fill="hold"/>
                                        <p:tgtEl>
                                          <p:spTgt spid="9"/>
                                        </p:tgtEl>
                                        <p:attrNameLst>
                                          <p:attrName>ppt_x</p:attrName>
                                        </p:attrNameLst>
                                      </p:cBhvr>
                                      <p:tavLst>
                                        <p:tav tm="0">
                                          <p:val>
                                            <p:strVal val="#ppt_x"/>
                                          </p:val>
                                        </p:tav>
                                        <p:tav tm="100000">
                                          <p:val>
                                            <p:strVal val="#ppt_x"/>
                                          </p:val>
                                        </p:tav>
                                      </p:tavLst>
                                    </p:anim>
                                    <p:anim calcmode="lin" valueType="num">
                                      <p:cBhvr additive="base">
                                        <p:cTn id="37"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anim calcmode="lin" valueType="num">
                                      <p:cBhvr>
                                        <p:cTn id="43" dur="1000" fill="hold"/>
                                        <p:tgtEl>
                                          <p:spTgt spid="10"/>
                                        </p:tgtEl>
                                        <p:attrNameLst>
                                          <p:attrName>ppt_x</p:attrName>
                                        </p:attrNameLst>
                                      </p:cBhvr>
                                      <p:tavLst>
                                        <p:tav tm="0">
                                          <p:val>
                                            <p:strVal val="#ppt_x"/>
                                          </p:val>
                                        </p:tav>
                                        <p:tav tm="100000">
                                          <p:val>
                                            <p:strVal val="#ppt_x"/>
                                          </p:val>
                                        </p:tav>
                                      </p:tavLst>
                                    </p:anim>
                                    <p:anim calcmode="lin" valueType="num">
                                      <p:cBhvr>
                                        <p:cTn id="4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6" presetClass="entr" presetSubtype="16" fill="hold" grpId="0" nodeType="click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circle(in)">
                                      <p:cBhvr>
                                        <p:cTn id="49" dur="200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5" presetClass="entr" presetSubtype="0"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2000"/>
                                        <p:tgtEl>
                                          <p:spTgt spid="13"/>
                                        </p:tgtEl>
                                      </p:cBhvr>
                                    </p:animEffect>
                                    <p:anim calcmode="lin" valueType="num">
                                      <p:cBhvr>
                                        <p:cTn id="62" dur="2000" fill="hold"/>
                                        <p:tgtEl>
                                          <p:spTgt spid="13"/>
                                        </p:tgtEl>
                                        <p:attrNameLst>
                                          <p:attrName>ppt_w</p:attrName>
                                        </p:attrNameLst>
                                      </p:cBhvr>
                                      <p:tavLst>
                                        <p:tav tm="0" fmla="#ppt_w*sin(2.5*pi*$)">
                                          <p:val>
                                            <p:fltVal val="0"/>
                                          </p:val>
                                        </p:tav>
                                        <p:tav tm="100000">
                                          <p:val>
                                            <p:fltVal val="1"/>
                                          </p:val>
                                        </p:tav>
                                      </p:tavLst>
                                    </p:anim>
                                    <p:anim calcmode="lin" valueType="num">
                                      <p:cBhvr>
                                        <p:cTn id="63" dur="2000" fill="hold"/>
                                        <p:tgtEl>
                                          <p:spTgt spid="13"/>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animBg="1"/>
      <p:bldP spid="7" grpId="0" animBg="1"/>
      <p:bldP spid="8" grpId="0" animBg="1"/>
      <p:bldP spid="9" grpId="0" animBg="1"/>
      <p:bldP spid="10" grpId="0" animBg="1"/>
      <p:bldP spid="11" grpId="0" animBg="1"/>
      <p:bldP spid="12" grpId="0" animBg="1"/>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Business Application Studio</a:t>
            </a:r>
            <a:endParaRPr lang="en-US" dirty="0"/>
          </a:p>
        </p:txBody>
      </p:sp>
      <p:sp>
        <p:nvSpPr>
          <p:cNvPr id="6" name="TextBox 5">
            <a:extLst>
              <a:ext uri="{FF2B5EF4-FFF2-40B4-BE49-F238E27FC236}">
                <a16:creationId xmlns:a16="http://schemas.microsoft.com/office/drawing/2014/main" id="{C594CE1D-B3DA-A62D-88CA-50DE7E765445}"/>
              </a:ext>
            </a:extLst>
          </p:cNvPr>
          <p:cNvSpPr txBox="1"/>
          <p:nvPr/>
        </p:nvSpPr>
        <p:spPr>
          <a:xfrm>
            <a:off x="94877" y="980728"/>
            <a:ext cx="11999069" cy="2246769"/>
          </a:xfrm>
          <a:prstGeom prst="rect">
            <a:avLst/>
          </a:prstGeom>
          <a:noFill/>
        </p:spPr>
        <p:txBody>
          <a:bodyPr wrap="square">
            <a:spAutoFit/>
          </a:bodyPr>
          <a:lstStyle/>
          <a:p>
            <a:pPr algn="l"/>
            <a:r>
              <a:rPr lang="en-US" sz="2000" b="0" i="0" dirty="0">
                <a:solidFill>
                  <a:schemeClr val="bg1"/>
                </a:solidFill>
                <a:effectLst/>
                <a:latin typeface="72-Regular"/>
              </a:rPr>
              <a:t>SAP Business Application Studio is a development environment available on SAP Business Technology Platform. Before you can start developing using SAP Business Application Studio.</a:t>
            </a:r>
          </a:p>
          <a:p>
            <a:pPr algn="l"/>
            <a:r>
              <a:rPr lang="en-US" sz="2000" b="0" i="0" dirty="0">
                <a:solidFill>
                  <a:schemeClr val="bg1"/>
                </a:solidFill>
                <a:effectLst/>
                <a:latin typeface="72-Regular"/>
              </a:rPr>
              <a:t>In an Enterprise Account you can set up SAP Business Application Studio as a Free-Tier service by checking its </a:t>
            </a:r>
            <a:r>
              <a:rPr lang="en-US" sz="2000" b="0" i="0" dirty="0">
                <a:solidFill>
                  <a:schemeClr val="bg1"/>
                </a:solidFill>
                <a:effectLst/>
                <a:latin typeface="72-Bold"/>
              </a:rPr>
              <a:t>free</a:t>
            </a:r>
            <a:r>
              <a:rPr lang="en-US" sz="2000" b="0" i="0" dirty="0">
                <a:solidFill>
                  <a:schemeClr val="bg1"/>
                </a:solidFill>
                <a:effectLst/>
                <a:latin typeface="72-Regular"/>
              </a:rPr>
              <a:t> plan during its entitlement configuration.</a:t>
            </a:r>
          </a:p>
          <a:p>
            <a:br>
              <a:rPr lang="en-US" sz="2000" dirty="0">
                <a:solidFill>
                  <a:schemeClr val="bg1"/>
                </a:solidFill>
              </a:rPr>
            </a:br>
            <a:br>
              <a:rPr lang="en-US" sz="2000" dirty="0">
                <a:solidFill>
                  <a:schemeClr val="bg1"/>
                </a:solidFill>
              </a:rPr>
            </a:br>
            <a:endParaRPr lang="en-US" sz="2000" dirty="0">
              <a:solidFill>
                <a:schemeClr val="bg1"/>
              </a:solidFill>
            </a:endParaRPr>
          </a:p>
        </p:txBody>
      </p:sp>
      <p:pic>
        <p:nvPicPr>
          <p:cNvPr id="1026" name="Picture 2" descr="launch sap business application studio">
            <a:extLst>
              <a:ext uri="{FF2B5EF4-FFF2-40B4-BE49-F238E27FC236}">
                <a16:creationId xmlns:a16="http://schemas.microsoft.com/office/drawing/2014/main" id="{45B63570-F26D-A3DA-B361-D7EDE2AAA57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2004" y="2852936"/>
            <a:ext cx="6696744"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83883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Dev Space in BAS</a:t>
            </a:r>
          </a:p>
        </p:txBody>
      </p:sp>
      <p:sp>
        <p:nvSpPr>
          <p:cNvPr id="17" name="Rectangle 16">
            <a:extLst>
              <a:ext uri="{FF2B5EF4-FFF2-40B4-BE49-F238E27FC236}">
                <a16:creationId xmlns:a16="http://schemas.microsoft.com/office/drawing/2014/main" id="{BDC1B650-F7AB-4DF4-479E-6E9EA76770BC}"/>
              </a:ext>
            </a:extLst>
          </p:cNvPr>
          <p:cNvSpPr/>
          <p:nvPr/>
        </p:nvSpPr>
        <p:spPr>
          <a:xfrm>
            <a:off x="981844" y="5805264"/>
            <a:ext cx="10009112" cy="711081"/>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IaaS – Infrastructure as a Service</a:t>
            </a:r>
            <a:endParaRPr lang="en-US" dirty="0"/>
          </a:p>
        </p:txBody>
      </p:sp>
      <p:sp>
        <p:nvSpPr>
          <p:cNvPr id="18" name="Rectangle 17">
            <a:extLst>
              <a:ext uri="{FF2B5EF4-FFF2-40B4-BE49-F238E27FC236}">
                <a16:creationId xmlns:a16="http://schemas.microsoft.com/office/drawing/2014/main" id="{DD1DB476-E02C-82F6-8D1A-6016946C24F4}"/>
              </a:ext>
            </a:extLst>
          </p:cNvPr>
          <p:cNvSpPr/>
          <p:nvPr/>
        </p:nvSpPr>
        <p:spPr>
          <a:xfrm>
            <a:off x="986946" y="4437112"/>
            <a:ext cx="10009112" cy="1115319"/>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SAP BTP – Platform as a Service</a:t>
            </a:r>
            <a:endParaRPr lang="en-US" dirty="0"/>
          </a:p>
        </p:txBody>
      </p:sp>
      <p:sp>
        <p:nvSpPr>
          <p:cNvPr id="19" name="Rectangle 18">
            <a:extLst>
              <a:ext uri="{FF2B5EF4-FFF2-40B4-BE49-F238E27FC236}">
                <a16:creationId xmlns:a16="http://schemas.microsoft.com/office/drawing/2014/main" id="{89EEE269-6CAC-FCAE-3101-01FB77B70447}"/>
              </a:ext>
            </a:extLst>
          </p:cNvPr>
          <p:cNvSpPr/>
          <p:nvPr/>
        </p:nvSpPr>
        <p:spPr>
          <a:xfrm>
            <a:off x="981844" y="3473198"/>
            <a:ext cx="10009112" cy="711081"/>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SAP BAS – Business App Studio</a:t>
            </a:r>
            <a:endParaRPr lang="en-US" dirty="0"/>
          </a:p>
        </p:txBody>
      </p:sp>
      <p:sp>
        <p:nvSpPr>
          <p:cNvPr id="20" name="Smiley Face 19">
            <a:extLst>
              <a:ext uri="{FF2B5EF4-FFF2-40B4-BE49-F238E27FC236}">
                <a16:creationId xmlns:a16="http://schemas.microsoft.com/office/drawing/2014/main" id="{5939B698-1347-5870-D247-F9E45CA78A21}"/>
              </a:ext>
            </a:extLst>
          </p:cNvPr>
          <p:cNvSpPr/>
          <p:nvPr/>
        </p:nvSpPr>
        <p:spPr>
          <a:xfrm>
            <a:off x="1125860"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miley Face 20">
            <a:extLst>
              <a:ext uri="{FF2B5EF4-FFF2-40B4-BE49-F238E27FC236}">
                <a16:creationId xmlns:a16="http://schemas.microsoft.com/office/drawing/2014/main" id="{C126ABD9-EFE0-A42A-B1F7-43C982841B4F}"/>
              </a:ext>
            </a:extLst>
          </p:cNvPr>
          <p:cNvSpPr/>
          <p:nvPr/>
        </p:nvSpPr>
        <p:spPr>
          <a:xfrm>
            <a:off x="2710036"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Smiley Face 21">
            <a:extLst>
              <a:ext uri="{FF2B5EF4-FFF2-40B4-BE49-F238E27FC236}">
                <a16:creationId xmlns:a16="http://schemas.microsoft.com/office/drawing/2014/main" id="{38EFB29A-3506-2B63-2C81-189C0D48D09E}"/>
              </a:ext>
            </a:extLst>
          </p:cNvPr>
          <p:cNvSpPr/>
          <p:nvPr/>
        </p:nvSpPr>
        <p:spPr>
          <a:xfrm>
            <a:off x="4438228"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miley Face 22">
            <a:extLst>
              <a:ext uri="{FF2B5EF4-FFF2-40B4-BE49-F238E27FC236}">
                <a16:creationId xmlns:a16="http://schemas.microsoft.com/office/drawing/2014/main" id="{806381B3-A5F3-9EEE-09FA-6C62C392C21A}"/>
              </a:ext>
            </a:extLst>
          </p:cNvPr>
          <p:cNvSpPr/>
          <p:nvPr/>
        </p:nvSpPr>
        <p:spPr>
          <a:xfrm>
            <a:off x="6241331" y="784923"/>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miley Face 23">
            <a:extLst>
              <a:ext uri="{FF2B5EF4-FFF2-40B4-BE49-F238E27FC236}">
                <a16:creationId xmlns:a16="http://schemas.microsoft.com/office/drawing/2014/main" id="{B1A74A0F-0775-3446-1858-4CEFA8F955A0}"/>
              </a:ext>
            </a:extLst>
          </p:cNvPr>
          <p:cNvSpPr/>
          <p:nvPr/>
        </p:nvSpPr>
        <p:spPr>
          <a:xfrm>
            <a:off x="8304471" y="784923"/>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6401AF4-348B-66F7-3106-0A6B01EAFF5E}"/>
              </a:ext>
            </a:extLst>
          </p:cNvPr>
          <p:cNvSpPr txBox="1"/>
          <p:nvPr/>
        </p:nvSpPr>
        <p:spPr>
          <a:xfrm>
            <a:off x="5734372" y="1628800"/>
            <a:ext cx="6264696" cy="1477328"/>
          </a:xfrm>
          <a:prstGeom prst="rect">
            <a:avLst/>
          </a:prstGeom>
          <a:noFill/>
        </p:spPr>
        <p:txBody>
          <a:bodyPr wrap="square" rtlCol="0">
            <a:spAutoFit/>
          </a:bodyPr>
          <a:lstStyle/>
          <a:p>
            <a:pPr marL="285750" indent="-285750">
              <a:buFont typeface="Arial" panose="020B0604020202020204" pitchFamily="34" charset="0"/>
              <a:buChar char="•"/>
            </a:pPr>
            <a:r>
              <a:rPr lang="en-US" sz="1800" dirty="0">
                <a:solidFill>
                  <a:srgbClr val="FF0000"/>
                </a:solidFill>
              </a:rPr>
              <a:t>We don’t want a single developer to consume all the available resources</a:t>
            </a:r>
          </a:p>
          <a:p>
            <a:pPr marL="285750" indent="-285750">
              <a:buFont typeface="Arial" panose="020B0604020202020204" pitchFamily="34" charset="0"/>
              <a:buChar char="•"/>
            </a:pPr>
            <a:r>
              <a:rPr lang="en-US" sz="1800" dirty="0">
                <a:solidFill>
                  <a:srgbClr val="FF0000"/>
                </a:solidFill>
              </a:rPr>
              <a:t>We want a clear isolation of one developer with another</a:t>
            </a:r>
          </a:p>
          <a:p>
            <a:pPr marL="285750" indent="-285750">
              <a:buFont typeface="Arial" panose="020B0604020202020204" pitchFamily="34" charset="0"/>
              <a:buChar char="•"/>
            </a:pPr>
            <a:r>
              <a:rPr lang="en-US" sz="1800" dirty="0">
                <a:solidFill>
                  <a:srgbClr val="FF0000"/>
                </a:solidFill>
              </a:rPr>
              <a:t>Pre-configured by sap for specific development</a:t>
            </a:r>
          </a:p>
          <a:p>
            <a:r>
              <a:rPr lang="en-US" sz="1800" dirty="0">
                <a:solidFill>
                  <a:srgbClr val="FF0000"/>
                </a:solidFill>
              </a:rPr>
              <a:t>Solution - Virtualize</a:t>
            </a:r>
          </a:p>
        </p:txBody>
      </p:sp>
      <p:sp>
        <p:nvSpPr>
          <p:cNvPr id="26" name="Rectangle 25">
            <a:extLst>
              <a:ext uri="{FF2B5EF4-FFF2-40B4-BE49-F238E27FC236}">
                <a16:creationId xmlns:a16="http://schemas.microsoft.com/office/drawing/2014/main" id="{7BA8F4EC-11B3-5EFF-EF93-2BA08C3E35A3}"/>
              </a:ext>
            </a:extLst>
          </p:cNvPr>
          <p:cNvSpPr/>
          <p:nvPr/>
        </p:nvSpPr>
        <p:spPr>
          <a:xfrm>
            <a:off x="981844" y="2060848"/>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7" name="Rectangle 26">
            <a:extLst>
              <a:ext uri="{FF2B5EF4-FFF2-40B4-BE49-F238E27FC236}">
                <a16:creationId xmlns:a16="http://schemas.microsoft.com/office/drawing/2014/main" id="{DBD2BB0E-599E-0962-4C77-91109A4D9C54}"/>
              </a:ext>
            </a:extLst>
          </p:cNvPr>
          <p:cNvSpPr/>
          <p:nvPr/>
        </p:nvSpPr>
        <p:spPr>
          <a:xfrm>
            <a:off x="2458008" y="2058700"/>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8" name="Rectangle 27">
            <a:extLst>
              <a:ext uri="{FF2B5EF4-FFF2-40B4-BE49-F238E27FC236}">
                <a16:creationId xmlns:a16="http://schemas.microsoft.com/office/drawing/2014/main" id="{FA7CD5C9-81B7-2433-A65B-748BA1E9CCAD}"/>
              </a:ext>
            </a:extLst>
          </p:cNvPr>
          <p:cNvSpPr/>
          <p:nvPr/>
        </p:nvSpPr>
        <p:spPr>
          <a:xfrm>
            <a:off x="3946987" y="2037670"/>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9" name="Explosion: 8 Points 28">
            <a:extLst>
              <a:ext uri="{FF2B5EF4-FFF2-40B4-BE49-F238E27FC236}">
                <a16:creationId xmlns:a16="http://schemas.microsoft.com/office/drawing/2014/main" id="{D2C17AAB-8CC5-373A-CEA9-A57771005ED2}"/>
              </a:ext>
            </a:extLst>
          </p:cNvPr>
          <p:cNvSpPr/>
          <p:nvPr/>
        </p:nvSpPr>
        <p:spPr>
          <a:xfrm>
            <a:off x="646896" y="1808015"/>
            <a:ext cx="839004" cy="597895"/>
          </a:xfrm>
          <a:prstGeom prst="irregularSeal1">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p14="http://schemas.microsoft.com/office/powerpoint/2010/main" Requires="p14">
          <p:contentPart p14:bwMode="auto" r:id="rId2">
            <p14:nvContentPartPr>
              <p14:cNvPr id="3" name="Ink 2">
                <a:extLst>
                  <a:ext uri="{FF2B5EF4-FFF2-40B4-BE49-F238E27FC236}">
                    <a16:creationId xmlns:a16="http://schemas.microsoft.com/office/drawing/2014/main" id="{1E58B563-3944-A864-ACAC-67D0A91DB218}"/>
                  </a:ext>
                </a:extLst>
              </p14:cNvPr>
              <p14:cNvContentPartPr/>
              <p14:nvPr/>
            </p14:nvContentPartPr>
            <p14:xfrm>
              <a:off x="428400" y="1366560"/>
              <a:ext cx="10689480" cy="5042160"/>
            </p14:xfrm>
          </p:contentPart>
        </mc:Choice>
        <mc:Fallback>
          <p:pic>
            <p:nvPicPr>
              <p:cNvPr id="3" name="Ink 2">
                <a:extLst>
                  <a:ext uri="{FF2B5EF4-FFF2-40B4-BE49-F238E27FC236}">
                    <a16:creationId xmlns:a16="http://schemas.microsoft.com/office/drawing/2014/main" id="{1E58B563-3944-A864-ACAC-67D0A91DB218}"/>
                  </a:ext>
                </a:extLst>
              </p:cNvPr>
              <p:cNvPicPr/>
              <p:nvPr/>
            </p:nvPicPr>
            <p:blipFill>
              <a:blip r:embed="rId3"/>
              <a:stretch>
                <a:fillRect/>
              </a:stretch>
            </p:blipFill>
            <p:spPr>
              <a:xfrm>
                <a:off x="419040" y="1357200"/>
                <a:ext cx="10708200" cy="5060880"/>
              </a:xfrm>
              <a:prstGeom prst="rect">
                <a:avLst/>
              </a:prstGeom>
            </p:spPr>
          </p:pic>
        </mc:Fallback>
      </mc:AlternateContent>
    </p:spTree>
    <p:extLst>
      <p:ext uri="{BB962C8B-B14F-4D97-AF65-F5344CB8AC3E}">
        <p14:creationId xmlns:p14="http://schemas.microsoft.com/office/powerpoint/2010/main" val="24744504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Modules for using CAP</a:t>
            </a:r>
            <a:endParaRPr lang="en-IN" sz="3600" dirty="0">
              <a:latin typeface="Cooper Black" panose="0208090404030B020404" pitchFamily="18" charset="0"/>
            </a:endParaRPr>
          </a:p>
        </p:txBody>
      </p:sp>
      <p:sp>
        <p:nvSpPr>
          <p:cNvPr id="3" name="TextBox 2">
            <a:extLst>
              <a:ext uri="{FF2B5EF4-FFF2-40B4-BE49-F238E27FC236}">
                <a16:creationId xmlns:a16="http://schemas.microsoft.com/office/drawing/2014/main" id="{3BD5C468-C983-C981-7134-1C975624C2ED}"/>
              </a:ext>
            </a:extLst>
          </p:cNvPr>
          <p:cNvSpPr txBox="1"/>
          <p:nvPr/>
        </p:nvSpPr>
        <p:spPr>
          <a:xfrm>
            <a:off x="189757" y="836712"/>
            <a:ext cx="11809312"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Tx/>
              <a:buAutoNum type="arabicPeriod"/>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We need to install sap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(Development kit), This kit includes required framework libraries and source code to build, test, deploy, run cap applications. It comes along with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CLI which will be used by developers to quickly generate the cap project skeleton. This module needs to be installed globally in our system if we are using VS Code, in case we use BAS, this module is pre-installed.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npm</a:t>
            </a:r>
            <a:r>
              <a:rPr kumimoji="0" lang="en-US" sz="2000" b="1" i="0" u="none" strike="noStrike" kern="0" cap="none" spc="0" normalizeH="0" baseline="0" noProof="0" dirty="0">
                <a:ln>
                  <a:noFill/>
                </a:ln>
                <a:solidFill>
                  <a:prstClr val="white"/>
                </a:solidFill>
                <a:effectLst/>
                <a:uLnTx/>
                <a:uFillTx/>
                <a:latin typeface="Segoe UI"/>
                <a:ea typeface="+mn-ea"/>
                <a:cs typeface="+mn-cs"/>
              </a:rPr>
              <a:t> install -g @sap/cds-dk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      node version &gt;= 14</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Check if the CAP is installed in my system </a:t>
            </a:r>
            <a:r>
              <a:rPr kumimoji="0" lang="en-US" sz="2000" b="0"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–v &amp;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--help</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Create a folder in our computer, and run </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init</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command. This will create a project skeleton automatically which includes </a:t>
            </a:r>
            <a:r>
              <a:rPr kumimoji="0" lang="en-US" sz="2000" b="1" i="0" u="none" strike="noStrike" kern="0" cap="none" spc="0" normalizeH="0" baseline="0" noProof="0" dirty="0" err="1">
                <a:ln>
                  <a:noFill/>
                </a:ln>
                <a:solidFill>
                  <a:prstClr val="white"/>
                </a:solidFill>
                <a:effectLst/>
                <a:uLnTx/>
                <a:uFillTx/>
                <a:latin typeface="Segoe UI"/>
                <a:ea typeface="+mn-ea"/>
                <a:cs typeface="+mn-cs"/>
              </a:rPr>
              <a:t>db</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srv</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ui</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folders.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If you want to quickly manage multiple node versions in your computer you can use </a:t>
            </a:r>
            <a:r>
              <a:rPr kumimoji="0" lang="en-IN" sz="2000" b="0" i="0" u="none" strike="noStrike" kern="0" cap="none" spc="0" normalizeH="0" baseline="0" noProof="0" dirty="0" err="1">
                <a:ln>
                  <a:noFill/>
                </a:ln>
                <a:solidFill>
                  <a:prstClr val="white"/>
                </a:solidFill>
                <a:effectLst/>
                <a:uLnTx/>
                <a:uFillTx/>
                <a:latin typeface="Segoe UI"/>
                <a:ea typeface="+mn-ea"/>
                <a:cs typeface="+mn-cs"/>
              </a:rPr>
              <a:t>nvm</a:t>
            </a:r>
            <a:r>
              <a:rPr kumimoji="0" lang="en-IN" sz="2000" b="0" i="0" u="none" strike="noStrike" kern="0" cap="none" spc="0" normalizeH="0" baseline="0" noProof="0" dirty="0">
                <a:ln>
                  <a:noFill/>
                </a:ln>
                <a:solidFill>
                  <a:prstClr val="white"/>
                </a:solidFill>
                <a:effectLst/>
                <a:uLnTx/>
                <a:uFillTx/>
                <a:latin typeface="Segoe UI"/>
                <a:ea typeface="+mn-ea"/>
                <a:cs typeface="+mn-cs"/>
              </a:rPr>
              <a:t> tool - </a:t>
            </a:r>
            <a:r>
              <a:rPr kumimoji="0" lang="en-IN" sz="20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https://github.com/coreybutler/nvm-windows/releases</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When we make constant changes to the project, we want project to detect a correction and automatically restart the server. We can use the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watch </a:t>
            </a:r>
            <a:r>
              <a:rPr kumimoji="0" lang="en-IN" sz="2000" b="0" i="0" u="none" strike="noStrike" kern="0" cap="none" spc="0" normalizeH="0" baseline="0" noProof="0" dirty="0">
                <a:ln>
                  <a:noFill/>
                </a:ln>
                <a:solidFill>
                  <a:prstClr val="white"/>
                </a:solidFill>
                <a:effectLst/>
                <a:uLnTx/>
                <a:uFillTx/>
                <a:latin typeface="Segoe UI"/>
                <a:ea typeface="+mn-ea"/>
                <a:cs typeface="+mn-cs"/>
              </a:rPr>
              <a:t>command instead of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run</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843697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DB Design</a:t>
            </a:r>
          </a:p>
        </p:txBody>
      </p:sp>
      <p:sp>
        <p:nvSpPr>
          <p:cNvPr id="3" name="Rectangle 2">
            <a:extLst>
              <a:ext uri="{FF2B5EF4-FFF2-40B4-BE49-F238E27FC236}">
                <a16:creationId xmlns:a16="http://schemas.microsoft.com/office/drawing/2014/main" id="{EA20F50A-CB9E-23E1-DC37-E78CCBD617BA}"/>
              </a:ext>
            </a:extLst>
          </p:cNvPr>
          <p:cNvSpPr/>
          <p:nvPr/>
        </p:nvSpPr>
        <p:spPr>
          <a:xfrm>
            <a:off x="449806" y="2889216"/>
            <a:ext cx="2448272" cy="1296144"/>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Business partner</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t>
            </a:r>
            <a:r>
              <a:rPr kumimoji="0" lang="en-US" sz="1800" b="0" i="0" u="none" strike="noStrike" kern="1200" cap="none" spc="0" normalizeH="0" baseline="0" noProof="0" dirty="0">
                <a:ln>
                  <a:noFill/>
                </a:ln>
                <a:solidFill>
                  <a:prstClr val="white"/>
                </a:solidFill>
                <a:effectLst/>
                <a:uLnTx/>
                <a:uFillTx/>
                <a:latin typeface="Segoe UI"/>
                <a:ea typeface="+mn-ea"/>
                <a:cs typeface="+mn-cs"/>
              </a:rPr>
              <a:t>Customers, Suppliers)</a:t>
            </a:r>
            <a:endParaRPr kumimoji="0" lang="en-US" sz="2400" b="0" i="0" u="none" strike="noStrike" kern="120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C70A250-995E-4FAE-671E-12D15849E10E}"/>
              </a:ext>
            </a:extLst>
          </p:cNvPr>
          <p:cNvSpPr/>
          <p:nvPr/>
        </p:nvSpPr>
        <p:spPr>
          <a:xfrm>
            <a:off x="449806" y="1310939"/>
            <a:ext cx="2448272" cy="786189"/>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Addresses</a:t>
            </a:r>
          </a:p>
        </p:txBody>
      </p:sp>
      <p:cxnSp>
        <p:nvCxnSpPr>
          <p:cNvPr id="5" name="Straight Connector 4">
            <a:extLst>
              <a:ext uri="{FF2B5EF4-FFF2-40B4-BE49-F238E27FC236}">
                <a16:creationId xmlns:a16="http://schemas.microsoft.com/office/drawing/2014/main" id="{23CAA533-07B7-451A-408E-566D8082B1EF}"/>
              </a:ext>
            </a:extLst>
          </p:cNvPr>
          <p:cNvCxnSpPr>
            <a:stCxn id="4" idx="2"/>
            <a:endCxn id="3" idx="0"/>
          </p:cNvCxnSpPr>
          <p:nvPr/>
        </p:nvCxnSpPr>
        <p:spPr>
          <a:xfrm>
            <a:off x="1673942" y="2097128"/>
            <a:ext cx="0" cy="79208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5EE02F7-7DF6-2EE9-BEA7-743EC18A42AE}"/>
              </a:ext>
            </a:extLst>
          </p:cNvPr>
          <p:cNvSpPr/>
          <p:nvPr/>
        </p:nvSpPr>
        <p:spPr>
          <a:xfrm>
            <a:off x="4122214" y="2924944"/>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a:t>
            </a:r>
          </a:p>
        </p:txBody>
      </p:sp>
      <p:cxnSp>
        <p:nvCxnSpPr>
          <p:cNvPr id="7" name="Connector: Elbow 6">
            <a:extLst>
              <a:ext uri="{FF2B5EF4-FFF2-40B4-BE49-F238E27FC236}">
                <a16:creationId xmlns:a16="http://schemas.microsoft.com/office/drawing/2014/main" id="{F917C211-2860-8724-D9F5-9329ABAE0B00}"/>
              </a:ext>
            </a:extLst>
          </p:cNvPr>
          <p:cNvCxnSpPr>
            <a:cxnSpLocks/>
            <a:stCxn id="3" idx="3"/>
            <a:endCxn id="6" idx="1"/>
          </p:cNvCxnSpPr>
          <p:nvPr/>
        </p:nvCxnSpPr>
        <p:spPr>
          <a:xfrm flipV="1">
            <a:off x="2898078" y="3336198"/>
            <a:ext cx="1224136" cy="201090"/>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42F37EE8-FC34-37D5-E210-AFE042B15CA9}"/>
              </a:ext>
            </a:extLst>
          </p:cNvPr>
          <p:cNvSpPr/>
          <p:nvPr/>
        </p:nvSpPr>
        <p:spPr>
          <a:xfrm>
            <a:off x="4103572" y="4703191"/>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 Items</a:t>
            </a:r>
          </a:p>
        </p:txBody>
      </p:sp>
      <p:cxnSp>
        <p:nvCxnSpPr>
          <p:cNvPr id="9" name="Connector: Elbow 8">
            <a:extLst>
              <a:ext uri="{FF2B5EF4-FFF2-40B4-BE49-F238E27FC236}">
                <a16:creationId xmlns:a16="http://schemas.microsoft.com/office/drawing/2014/main" id="{B5AE692E-309C-6D07-FB96-3BDA7FC1B78D}"/>
              </a:ext>
            </a:extLst>
          </p:cNvPr>
          <p:cNvCxnSpPr>
            <a:stCxn id="6" idx="2"/>
            <a:endCxn id="8" idx="0"/>
          </p:cNvCxnSpPr>
          <p:nvPr/>
        </p:nvCxnSpPr>
        <p:spPr>
          <a:xfrm rot="5400000">
            <a:off x="4859159" y="4216000"/>
            <a:ext cx="955740" cy="18642"/>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DDDE7273-06D2-D315-6382-B8DD1BF36F53}"/>
              </a:ext>
            </a:extLst>
          </p:cNvPr>
          <p:cNvSpPr/>
          <p:nvPr/>
        </p:nvSpPr>
        <p:spPr>
          <a:xfrm>
            <a:off x="8442694" y="4617408"/>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a:t>
            </a:r>
          </a:p>
        </p:txBody>
      </p:sp>
      <p:cxnSp>
        <p:nvCxnSpPr>
          <p:cNvPr id="11" name="Connector: Elbow 10">
            <a:extLst>
              <a:ext uri="{FF2B5EF4-FFF2-40B4-BE49-F238E27FC236}">
                <a16:creationId xmlns:a16="http://schemas.microsoft.com/office/drawing/2014/main" id="{6ECB2D63-79EE-1B31-E55B-79CAEC7FF367}"/>
              </a:ext>
            </a:extLst>
          </p:cNvPr>
          <p:cNvCxnSpPr>
            <a:stCxn id="8" idx="3"/>
            <a:endCxn id="10" idx="1"/>
          </p:cNvCxnSpPr>
          <p:nvPr/>
        </p:nvCxnSpPr>
        <p:spPr>
          <a:xfrm>
            <a:off x="6551844" y="5114445"/>
            <a:ext cx="1890850" cy="10795"/>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9DF3925-FFE3-01C8-92A3-82EA23EC9784}"/>
              </a:ext>
            </a:extLst>
          </p:cNvPr>
          <p:cNvSpPr/>
          <p:nvPr/>
        </p:nvSpPr>
        <p:spPr>
          <a:xfrm>
            <a:off x="8457382" y="2828365"/>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 Text</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(localized)</a:t>
            </a:r>
          </a:p>
        </p:txBody>
      </p:sp>
      <p:cxnSp>
        <p:nvCxnSpPr>
          <p:cNvPr id="13" name="Connector: Elbow 12">
            <a:extLst>
              <a:ext uri="{FF2B5EF4-FFF2-40B4-BE49-F238E27FC236}">
                <a16:creationId xmlns:a16="http://schemas.microsoft.com/office/drawing/2014/main" id="{EBDD0C4B-85D4-E4B5-4A6C-6D11C2F9A5D5}"/>
              </a:ext>
            </a:extLst>
          </p:cNvPr>
          <p:cNvCxnSpPr>
            <a:stCxn id="12" idx="2"/>
            <a:endCxn id="10" idx="0"/>
          </p:cNvCxnSpPr>
          <p:nvPr/>
        </p:nvCxnSpPr>
        <p:spPr>
          <a:xfrm rot="5400000">
            <a:off x="9431500" y="4223374"/>
            <a:ext cx="773380" cy="14688"/>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3DC6AFA-1A63-88AE-E9CA-25885343CC64}"/>
              </a:ext>
            </a:extLst>
          </p:cNvPr>
          <p:cNvSpPr txBox="1"/>
          <p:nvPr/>
        </p:nvSpPr>
        <p:spPr>
          <a:xfrm>
            <a:off x="1853963" y="2241144"/>
            <a:ext cx="1116122" cy="461665"/>
          </a:xfrm>
          <a:prstGeom prst="rect">
            <a:avLst/>
          </a:prstGeom>
          <a:noFill/>
          <a:ln>
            <a:no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5" name="TextBox 14">
            <a:extLst>
              <a:ext uri="{FF2B5EF4-FFF2-40B4-BE49-F238E27FC236}">
                <a16:creationId xmlns:a16="http://schemas.microsoft.com/office/drawing/2014/main" id="{E3F4B239-2E8C-B6BF-1237-BF1705B90805}"/>
              </a:ext>
            </a:extLst>
          </p:cNvPr>
          <p:cNvSpPr txBox="1"/>
          <p:nvPr/>
        </p:nvSpPr>
        <p:spPr>
          <a:xfrm>
            <a:off x="3096377" y="2895202"/>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6" name="TextBox 15">
            <a:extLst>
              <a:ext uri="{FF2B5EF4-FFF2-40B4-BE49-F238E27FC236}">
                <a16:creationId xmlns:a16="http://schemas.microsoft.com/office/drawing/2014/main" id="{4FAE37F6-701D-F062-A38D-693DE4C4C026}"/>
              </a:ext>
            </a:extLst>
          </p:cNvPr>
          <p:cNvSpPr txBox="1"/>
          <p:nvPr/>
        </p:nvSpPr>
        <p:spPr>
          <a:xfrm>
            <a:off x="5571790" y="3994488"/>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7" name="TextBox 16">
            <a:extLst>
              <a:ext uri="{FF2B5EF4-FFF2-40B4-BE49-F238E27FC236}">
                <a16:creationId xmlns:a16="http://schemas.microsoft.com/office/drawing/2014/main" id="{8B15D7C1-BF60-5530-53BD-C009CCE0D8F0}"/>
              </a:ext>
            </a:extLst>
          </p:cNvPr>
          <p:cNvSpPr txBox="1"/>
          <p:nvPr/>
        </p:nvSpPr>
        <p:spPr>
          <a:xfrm>
            <a:off x="7218558" y="4730269"/>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8" name="TextBox 17">
            <a:extLst>
              <a:ext uri="{FF2B5EF4-FFF2-40B4-BE49-F238E27FC236}">
                <a16:creationId xmlns:a16="http://schemas.microsoft.com/office/drawing/2014/main" id="{DAB2FCD0-92E2-B406-33F3-FB25960B1291}"/>
              </a:ext>
            </a:extLst>
          </p:cNvPr>
          <p:cNvSpPr txBox="1"/>
          <p:nvPr/>
        </p:nvSpPr>
        <p:spPr>
          <a:xfrm>
            <a:off x="9954862" y="3985420"/>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Tree>
    <p:extLst>
      <p:ext uri="{BB962C8B-B14F-4D97-AF65-F5344CB8AC3E}">
        <p14:creationId xmlns:p14="http://schemas.microsoft.com/office/powerpoint/2010/main" val="1845492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Create DB Module</a:t>
            </a:r>
            <a:endParaRPr lang="en-US" dirty="0"/>
          </a:p>
        </p:txBody>
      </p:sp>
      <p:sp>
        <p:nvSpPr>
          <p:cNvPr id="5" name="TextBox 4">
            <a:extLst>
              <a:ext uri="{FF2B5EF4-FFF2-40B4-BE49-F238E27FC236}">
                <a16:creationId xmlns:a16="http://schemas.microsoft.com/office/drawing/2014/main" id="{C21469E4-175F-C0F0-122A-A58E62C81574}"/>
              </a:ext>
            </a:extLst>
          </p:cNvPr>
          <p:cNvSpPr txBox="1"/>
          <p:nvPr/>
        </p:nvSpPr>
        <p:spPr>
          <a:xfrm>
            <a:off x="189756" y="980728"/>
            <a:ext cx="11665296" cy="1200329"/>
          </a:xfrm>
          <a:prstGeom prst="rect">
            <a:avLst/>
          </a:prstGeom>
          <a:noFill/>
          <a:ln>
            <a:solidFill>
              <a:schemeClr val="bg1"/>
            </a:solid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Solution:</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Segoe UI"/>
                <a:ea typeface="+mn-ea"/>
                <a:cs typeface="+mn-cs"/>
                <a:hlinkClick r:id="rId2"/>
              </a:rPr>
              <a:t>https://github.com/soyuztechnologies/SAP_BTP_Training_CLD200/blob/master/Day%203/01%20db.zip</a:t>
            </a:r>
            <a:endParaRPr kumimoji="0" lang="en-US" sz="24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1026" name="Picture 2" descr="Database icons for free download | Freepik">
            <a:extLst>
              <a:ext uri="{FF2B5EF4-FFF2-40B4-BE49-F238E27FC236}">
                <a16:creationId xmlns:a16="http://schemas.microsoft.com/office/drawing/2014/main" id="{53697E66-CE08-835A-8815-829DBD6ED9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4172" y="2708920"/>
            <a:ext cx="3580656" cy="3580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3152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Reuse Types and aspects</a:t>
            </a:r>
            <a:endParaRPr lang="en-US" dirty="0"/>
          </a:p>
        </p:txBody>
      </p:sp>
      <p:sp>
        <p:nvSpPr>
          <p:cNvPr id="3" name="TextBox 2">
            <a:extLst>
              <a:ext uri="{FF2B5EF4-FFF2-40B4-BE49-F238E27FC236}">
                <a16:creationId xmlns:a16="http://schemas.microsoft.com/office/drawing/2014/main" id="{7D710071-42A0-95C3-A71A-A66D7DB444D3}"/>
              </a:ext>
            </a:extLst>
          </p:cNvPr>
          <p:cNvSpPr txBox="1"/>
          <p:nvPr/>
        </p:nvSpPr>
        <p:spPr>
          <a:xfrm>
            <a:off x="189756" y="791728"/>
            <a:ext cx="11809312" cy="3170099"/>
          </a:xfrm>
          <a:prstGeom prst="rect">
            <a:avLst/>
          </a:prstGeom>
          <a:noFill/>
        </p:spPr>
        <p:txBody>
          <a:bodyPr wrap="square" rtlCol="0">
            <a:spAutoFit/>
          </a:bodyPr>
          <a:lstStyle/>
          <a:p>
            <a:r>
              <a:rPr lang="en-US" sz="2000" dirty="0">
                <a:solidFill>
                  <a:schemeClr val="bg1"/>
                </a:solidFill>
              </a:rPr>
              <a:t>When we design database artefacts, at times we have many similar objects and their data types. Instead of hardcoding the type as primitive type, it is recommended to create custom data types. Using custom data type increase reusability and reduce maintenance.</a:t>
            </a:r>
          </a:p>
          <a:p>
            <a:r>
              <a:rPr lang="en-US" sz="2000" dirty="0">
                <a:solidFill>
                  <a:schemeClr val="bg1"/>
                </a:solidFill>
              </a:rPr>
              <a:t>When we create a separate CDS file for reuse purpose and consume it. This file contain types, enumerators and aspects.</a:t>
            </a:r>
          </a:p>
          <a:p>
            <a:endParaRPr lang="en-US" sz="2000" dirty="0">
              <a:solidFill>
                <a:schemeClr val="bg1"/>
              </a:solidFill>
            </a:endParaRPr>
          </a:p>
          <a:p>
            <a:r>
              <a:rPr lang="en-US" sz="2000" dirty="0">
                <a:solidFill>
                  <a:schemeClr val="bg1"/>
                </a:solidFill>
              </a:rPr>
              <a:t>Every project would need some common aspects and types related to primary key generation, admin data (created by, created on, changed by, changed on) – temporal, Currency.</a:t>
            </a:r>
          </a:p>
          <a:p>
            <a:endParaRPr lang="en-IN" sz="2000" dirty="0">
              <a:solidFill>
                <a:schemeClr val="bg1"/>
              </a:solidFill>
            </a:endParaRPr>
          </a:p>
          <a:p>
            <a:r>
              <a:rPr lang="en-IN" sz="2000" dirty="0">
                <a:solidFill>
                  <a:schemeClr val="bg1"/>
                </a:solidFill>
              </a:rPr>
              <a:t>Aspect (structures in </a:t>
            </a:r>
            <a:r>
              <a:rPr lang="en-IN" sz="2000" dirty="0" err="1">
                <a:solidFill>
                  <a:schemeClr val="bg1"/>
                </a:solidFill>
              </a:rPr>
              <a:t>abap</a:t>
            </a:r>
            <a:r>
              <a:rPr lang="en-IN" sz="2000" dirty="0">
                <a:solidFill>
                  <a:schemeClr val="bg1"/>
                </a:solidFill>
              </a:rPr>
              <a:t>) is combination of many fields.</a:t>
            </a:r>
          </a:p>
        </p:txBody>
      </p:sp>
    </p:spTree>
    <p:extLst>
      <p:ext uri="{BB962C8B-B14F-4D97-AF65-F5344CB8AC3E}">
        <p14:creationId xmlns:p14="http://schemas.microsoft.com/office/powerpoint/2010/main" val="3339793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Service creation</a:t>
            </a:r>
            <a:endParaRPr lang="en-US" dirty="0"/>
          </a:p>
        </p:txBody>
      </p:sp>
      <p:pic>
        <p:nvPicPr>
          <p:cNvPr id="2050" name="Picture 2" descr="Page 12 | Clean Input Images - Free Download on Freepik">
            <a:extLst>
              <a:ext uri="{FF2B5EF4-FFF2-40B4-BE49-F238E27FC236}">
                <a16:creationId xmlns:a16="http://schemas.microsoft.com/office/drawing/2014/main" id="{BAA36297-F35D-C0B5-2012-493056F981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6140" y="2996952"/>
            <a:ext cx="3374505" cy="337450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5E34EB-DCB8-C785-1853-C655B5BF6A95}"/>
              </a:ext>
            </a:extLst>
          </p:cNvPr>
          <p:cNvSpPr txBox="1"/>
          <p:nvPr/>
        </p:nvSpPr>
        <p:spPr>
          <a:xfrm>
            <a:off x="189756" y="980728"/>
            <a:ext cx="11737304" cy="1200329"/>
          </a:xfrm>
          <a:prstGeom prst="rect">
            <a:avLst/>
          </a:prstGeom>
          <a:noFill/>
          <a:ln>
            <a:solidFill>
              <a:schemeClr val="bg1"/>
            </a:solidFill>
          </a:ln>
        </p:spPr>
        <p:txBody>
          <a:bodyPr wrap="square" rtlCol="0">
            <a:spAutoFit/>
          </a:bodyPr>
          <a:lstStyle/>
          <a:p>
            <a:r>
              <a:rPr lang="en-US" dirty="0">
                <a:solidFill>
                  <a:schemeClr val="bg1"/>
                </a:solidFill>
              </a:rPr>
              <a:t>Solution</a:t>
            </a:r>
          </a:p>
          <a:p>
            <a:r>
              <a:rPr lang="en-US" dirty="0">
                <a:solidFill>
                  <a:schemeClr val="bg1"/>
                </a:solidFill>
                <a:hlinkClick r:id="rId3"/>
              </a:rPr>
              <a:t>https://github.com/soyuztechnologies/SAP_BTP_Training_CLD200/blob/master/Day%203/02%20srv.zip</a:t>
            </a:r>
            <a:endParaRPr lang="en-US" dirty="0">
              <a:solidFill>
                <a:schemeClr val="bg1"/>
              </a:solidFill>
            </a:endParaRPr>
          </a:p>
        </p:txBody>
      </p:sp>
    </p:spTree>
    <p:extLst>
      <p:ext uri="{BB962C8B-B14F-4D97-AF65-F5344CB8AC3E}">
        <p14:creationId xmlns:p14="http://schemas.microsoft.com/office/powerpoint/2010/main" val="3656999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E71F3-7223-6535-6631-0650302FAD8B}"/>
              </a:ext>
            </a:extLst>
          </p:cNvPr>
          <p:cNvSpPr>
            <a:spLocks noGrp="1"/>
          </p:cNvSpPr>
          <p:nvPr>
            <p:ph type="title"/>
          </p:nvPr>
        </p:nvSpPr>
        <p:spPr/>
        <p:txBody>
          <a:bodyPr/>
          <a:lstStyle/>
          <a:p>
            <a:r>
              <a:rPr lang="en-US" dirty="0"/>
              <a:t>Introduction to CDS Views</a:t>
            </a:r>
          </a:p>
        </p:txBody>
      </p:sp>
      <p:sp>
        <p:nvSpPr>
          <p:cNvPr id="4" name="TextBox 3">
            <a:extLst>
              <a:ext uri="{FF2B5EF4-FFF2-40B4-BE49-F238E27FC236}">
                <a16:creationId xmlns:a16="http://schemas.microsoft.com/office/drawing/2014/main" id="{F93B2F40-10EC-C526-D717-5D1C55DAF2E7}"/>
              </a:ext>
            </a:extLst>
          </p:cNvPr>
          <p:cNvSpPr txBox="1"/>
          <p:nvPr/>
        </p:nvSpPr>
        <p:spPr>
          <a:xfrm>
            <a:off x="130881" y="784925"/>
            <a:ext cx="11927061" cy="2862322"/>
          </a:xfrm>
          <a:prstGeom prst="rect">
            <a:avLst/>
          </a:prstGeom>
          <a:noFill/>
        </p:spPr>
        <p:txBody>
          <a:bodyPr wrap="square">
            <a:spAutoFit/>
          </a:bodyPr>
          <a:lstStyle/>
          <a:p>
            <a:r>
              <a:rPr lang="en-US" sz="2000" dirty="0">
                <a:solidFill>
                  <a:schemeClr val="bg1"/>
                </a:solidFill>
              </a:rPr>
              <a:t>1. Usually we have all our data distributed across multiple tables, and if we need to get this data out, we need to write complex queries with joins. It becomes very complex to handle the maintenance of these large queries. Views will simplify the consumption and make it easy to maintenance.</a:t>
            </a:r>
          </a:p>
          <a:p>
            <a:r>
              <a:rPr lang="en-US" sz="2000" dirty="0">
                <a:solidFill>
                  <a:schemeClr val="bg1"/>
                </a:solidFill>
              </a:rPr>
              <a:t>2. We can perform operations like aggregation on the view.</a:t>
            </a:r>
          </a:p>
          <a:p>
            <a:r>
              <a:rPr lang="en-US" sz="2000" dirty="0">
                <a:solidFill>
                  <a:schemeClr val="bg1"/>
                </a:solidFill>
              </a:rPr>
              <a:t>3. Security</a:t>
            </a:r>
          </a:p>
          <a:p>
            <a:r>
              <a:rPr lang="en-US" sz="2000" dirty="0">
                <a:solidFill>
                  <a:schemeClr val="bg1"/>
                </a:solidFill>
              </a:rPr>
              <a:t>4. CDS views are also the contracts for data consumption</a:t>
            </a:r>
          </a:p>
          <a:p>
            <a:r>
              <a:rPr lang="en-US" sz="2000" dirty="0">
                <a:solidFill>
                  <a:schemeClr val="bg1"/>
                </a:solidFill>
              </a:rPr>
              <a:t>5. They include annotations which drive functionality.</a:t>
            </a:r>
          </a:p>
          <a:p>
            <a:r>
              <a:rPr lang="en-US" sz="2000" dirty="0">
                <a:solidFill>
                  <a:schemeClr val="bg1"/>
                </a:solidFill>
              </a:rPr>
              <a:t>6. View provide lose coupling to load data. Whereas when we use queries and joins, they are always tight coupling.</a:t>
            </a:r>
            <a:endParaRPr lang="en-IN" sz="2000" dirty="0">
              <a:solidFill>
                <a:schemeClr val="bg1"/>
              </a:solidFill>
            </a:endParaRPr>
          </a:p>
        </p:txBody>
      </p:sp>
      <p:sp>
        <p:nvSpPr>
          <p:cNvPr id="5" name="Rectangle 4">
            <a:extLst>
              <a:ext uri="{FF2B5EF4-FFF2-40B4-BE49-F238E27FC236}">
                <a16:creationId xmlns:a16="http://schemas.microsoft.com/office/drawing/2014/main" id="{F0D287AE-20B2-4CAD-0046-02C2B69712EA}"/>
              </a:ext>
            </a:extLst>
          </p:cNvPr>
          <p:cNvSpPr/>
          <p:nvPr/>
        </p:nvSpPr>
        <p:spPr>
          <a:xfrm>
            <a:off x="5446340" y="3789040"/>
            <a:ext cx="1800200" cy="2160240"/>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a:t>
            </a:r>
          </a:p>
        </p:txBody>
      </p:sp>
      <p:sp>
        <p:nvSpPr>
          <p:cNvPr id="6" name="Arrow: Right 5">
            <a:extLst>
              <a:ext uri="{FF2B5EF4-FFF2-40B4-BE49-F238E27FC236}">
                <a16:creationId xmlns:a16="http://schemas.microsoft.com/office/drawing/2014/main" id="{2000159E-ACDA-6DBB-DC5F-1AC1515897A5}"/>
              </a:ext>
            </a:extLst>
          </p:cNvPr>
          <p:cNvSpPr/>
          <p:nvPr/>
        </p:nvSpPr>
        <p:spPr>
          <a:xfrm>
            <a:off x="7179342" y="4213674"/>
            <a:ext cx="1944216" cy="936104"/>
          </a:xfrm>
          <a:prstGeom prst="rightArrow">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Load what is needed</a:t>
            </a:r>
          </a:p>
        </p:txBody>
      </p:sp>
      <p:sp>
        <p:nvSpPr>
          <p:cNvPr id="7" name="Rectangle 6">
            <a:extLst>
              <a:ext uri="{FF2B5EF4-FFF2-40B4-BE49-F238E27FC236}">
                <a16:creationId xmlns:a16="http://schemas.microsoft.com/office/drawing/2014/main" id="{F745815F-5E17-7D9A-42DC-0AA3D9422CB3}"/>
              </a:ext>
            </a:extLst>
          </p:cNvPr>
          <p:cNvSpPr/>
          <p:nvPr/>
        </p:nvSpPr>
        <p:spPr>
          <a:xfrm>
            <a:off x="9123558" y="3853634"/>
            <a:ext cx="2664296" cy="1872208"/>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 items</a:t>
            </a:r>
          </a:p>
        </p:txBody>
      </p:sp>
      <p:sp>
        <p:nvSpPr>
          <p:cNvPr id="8" name="Rectangle 7">
            <a:extLst>
              <a:ext uri="{FF2B5EF4-FFF2-40B4-BE49-F238E27FC236}">
                <a16:creationId xmlns:a16="http://schemas.microsoft.com/office/drawing/2014/main" id="{24B7DD77-5F7E-3374-6366-C97D3A0D58E3}"/>
              </a:ext>
            </a:extLst>
          </p:cNvPr>
          <p:cNvSpPr/>
          <p:nvPr/>
        </p:nvSpPr>
        <p:spPr>
          <a:xfrm>
            <a:off x="189756" y="3789040"/>
            <a:ext cx="4968552" cy="2284035"/>
          </a:xfrm>
          <a:prstGeom prst="rect">
            <a:avLst/>
          </a:prstGeom>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Exercise:</a:t>
            </a:r>
          </a:p>
          <a:p>
            <a:r>
              <a:rPr lang="en-US" dirty="0">
                <a:hlinkClick r:id="rId2"/>
              </a:rPr>
              <a:t>https://github.com/soyuztechnologies/SAP_BTP_Training_CLD200/blob/master/Day%203/01%20db/01db/CDSViews.cds</a:t>
            </a:r>
            <a:endParaRPr lang="en-US" dirty="0"/>
          </a:p>
        </p:txBody>
      </p:sp>
    </p:spTree>
    <p:extLst>
      <p:ext uri="{BB962C8B-B14F-4D97-AF65-F5344CB8AC3E}">
        <p14:creationId xmlns:p14="http://schemas.microsoft.com/office/powerpoint/2010/main" val="3839630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4">
                                            <p:txEl>
                                              <p:pRg st="3" end="3"/>
                                            </p:txEl>
                                          </p:spTgt>
                                        </p:tgtEl>
                                        <p:attrNameLst>
                                          <p:attrName>style.visibility</p:attrName>
                                        </p:attrNameLst>
                                      </p:cBhvr>
                                      <p:to>
                                        <p:strVal val="visible"/>
                                      </p:to>
                                    </p:set>
                                    <p:animEffect transition="in" filter="fade">
                                      <p:cBhvr>
                                        <p:cTn id="28" dur="1000"/>
                                        <p:tgtEl>
                                          <p:spTgt spid="4">
                                            <p:txEl>
                                              <p:pRg st="3" end="3"/>
                                            </p:txEl>
                                          </p:spTgt>
                                        </p:tgtEl>
                                      </p:cBhvr>
                                    </p:animEffect>
                                    <p:anim calcmode="lin" valueType="num">
                                      <p:cBhvr>
                                        <p:cTn id="2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Effect transition="in" filter="fade">
                                      <p:cBhvr>
                                        <p:cTn id="35" dur="1000"/>
                                        <p:tgtEl>
                                          <p:spTgt spid="4">
                                            <p:txEl>
                                              <p:pRg st="4" end="4"/>
                                            </p:txEl>
                                          </p:spTgt>
                                        </p:tgtEl>
                                      </p:cBhvr>
                                    </p:animEffect>
                                    <p:anim calcmode="lin" valueType="num">
                                      <p:cBhvr>
                                        <p:cTn id="3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4">
                                            <p:txEl>
                                              <p:pRg st="5" end="5"/>
                                            </p:txEl>
                                          </p:spTgt>
                                        </p:tgtEl>
                                        <p:attrNameLst>
                                          <p:attrName>style.visibility</p:attrName>
                                        </p:attrNameLst>
                                      </p:cBhvr>
                                      <p:to>
                                        <p:strVal val="visible"/>
                                      </p:to>
                                    </p:set>
                                    <p:animEffect transition="in" filter="fade">
                                      <p:cBhvr>
                                        <p:cTn id="42" dur="1000"/>
                                        <p:tgtEl>
                                          <p:spTgt spid="4">
                                            <p:txEl>
                                              <p:pRg st="5" end="5"/>
                                            </p:txEl>
                                          </p:spTgt>
                                        </p:tgtEl>
                                      </p:cBhvr>
                                    </p:animEffect>
                                    <p:anim calcmode="lin" valueType="num">
                                      <p:cBhvr>
                                        <p:cTn id="4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72374-4141-516C-26A1-A350786D67CE}"/>
              </a:ext>
            </a:extLst>
          </p:cNvPr>
          <p:cNvSpPr>
            <a:spLocks noGrp="1"/>
          </p:cNvSpPr>
          <p:nvPr>
            <p:ph type="title"/>
          </p:nvPr>
        </p:nvSpPr>
        <p:spPr/>
        <p:txBody>
          <a:bodyPr/>
          <a:lstStyle/>
          <a:p>
            <a:r>
              <a:rPr lang="en-US" dirty="0"/>
              <a:t>Views – (CDS Views)</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7CFACC54-D083-39E6-7313-64BBE519DDFC}"/>
                  </a:ext>
                </a:extLst>
              </p14:cNvPr>
              <p14:cNvContentPartPr/>
              <p14:nvPr/>
            </p14:nvContentPartPr>
            <p14:xfrm>
              <a:off x="658444" y="2979116"/>
              <a:ext cx="360" cy="360"/>
            </p14:xfrm>
          </p:contentPart>
        </mc:Choice>
        <mc:Fallback xmlns="">
          <p:pic>
            <p:nvPicPr>
              <p:cNvPr id="3" name="Ink 2">
                <a:extLst>
                  <a:ext uri="{FF2B5EF4-FFF2-40B4-BE49-F238E27FC236}">
                    <a16:creationId xmlns:a16="http://schemas.microsoft.com/office/drawing/2014/main" id="{7CFACC54-D083-39E6-7313-64BBE519DDFC}"/>
                  </a:ext>
                </a:extLst>
              </p:cNvPr>
              <p:cNvPicPr/>
              <p:nvPr/>
            </p:nvPicPr>
            <p:blipFill>
              <a:blip r:embed="rId3"/>
              <a:stretch>
                <a:fillRect/>
              </a:stretch>
            </p:blipFill>
            <p:spPr>
              <a:xfrm>
                <a:off x="649444" y="2970116"/>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00B18A42-295D-3682-652A-5565771C4637}"/>
                  </a:ext>
                </a:extLst>
              </p14:cNvPr>
              <p14:cNvContentPartPr/>
              <p14:nvPr/>
            </p14:nvContentPartPr>
            <p14:xfrm>
              <a:off x="1474564" y="471515"/>
              <a:ext cx="360" cy="360"/>
            </p14:xfrm>
          </p:contentPart>
        </mc:Choice>
        <mc:Fallback xmlns="">
          <p:pic>
            <p:nvPicPr>
              <p:cNvPr id="4" name="Ink 3">
                <a:extLst>
                  <a:ext uri="{FF2B5EF4-FFF2-40B4-BE49-F238E27FC236}">
                    <a16:creationId xmlns:a16="http://schemas.microsoft.com/office/drawing/2014/main" id="{00B18A42-295D-3682-652A-5565771C4637}"/>
                  </a:ext>
                </a:extLst>
              </p:cNvPr>
              <p:cNvPicPr/>
              <p:nvPr/>
            </p:nvPicPr>
            <p:blipFill>
              <a:blip r:embed="rId3"/>
              <a:stretch>
                <a:fillRect/>
              </a:stretch>
            </p:blipFill>
            <p:spPr>
              <a:xfrm>
                <a:off x="1465924" y="462875"/>
                <a:ext cx="18000" cy="18000"/>
              </a:xfrm>
              <a:prstGeom prst="rect">
                <a:avLst/>
              </a:prstGeom>
            </p:spPr>
          </p:pic>
        </mc:Fallback>
      </mc:AlternateContent>
    </p:spTree>
    <p:extLst>
      <p:ext uri="{BB962C8B-B14F-4D97-AF65-F5344CB8AC3E}">
        <p14:creationId xmlns:p14="http://schemas.microsoft.com/office/powerpoint/2010/main" val="2021169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3</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40,000+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923980"/>
              <a:ext cx="2236930" cy="95875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Understanding Aspects and associations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01</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2"/>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Working with Service Layer</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02</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Generic Service handlers</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083770"/>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Introduction to Fiori Elements</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05</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Business Application Studio</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Adding UI module</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06</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301448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8198</TotalTime>
  <Words>1424</Words>
  <Application>Microsoft Office PowerPoint</Application>
  <PresentationFormat>Custom</PresentationFormat>
  <Paragraphs>157</Paragraphs>
  <Slides>21</Slides>
  <Notes>1</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72-Bold</vt:lpstr>
      <vt:lpstr>72-Regular</vt:lpstr>
      <vt:lpstr>Amasis MT Pro Black</vt:lpstr>
      <vt:lpstr>Arial</vt:lpstr>
      <vt:lpstr>Arial Black</vt:lpstr>
      <vt:lpstr>Calibri</vt:lpstr>
      <vt:lpstr>Cooper Black</vt:lpstr>
      <vt:lpstr>Segoe UI</vt:lpstr>
      <vt:lpstr>Segoe UI Light</vt:lpstr>
      <vt:lpstr>Office Theme</vt:lpstr>
      <vt:lpstr>SAP BTP Architect Training</vt:lpstr>
      <vt:lpstr>PowerPoint Presentation</vt:lpstr>
      <vt:lpstr>Agenda – Day 5</vt:lpstr>
      <vt:lpstr>Deploy Node Microservice to BTP</vt:lpstr>
      <vt:lpstr>Challenges of building Apps on BTP</vt:lpstr>
      <vt:lpstr>CAPM Introduction</vt:lpstr>
      <vt:lpstr>CDS – Core Data and Services </vt:lpstr>
      <vt:lpstr>Solution – use CAP framework</vt:lpstr>
      <vt:lpstr>Business Application Studio</vt:lpstr>
      <vt:lpstr>Dev Space in BAS</vt:lpstr>
      <vt:lpstr>Hands on: Modules for using CAP</vt:lpstr>
      <vt:lpstr>DB Design</vt:lpstr>
      <vt:lpstr>Hands on: Create DB Module</vt:lpstr>
      <vt:lpstr>Reuse Types and aspects</vt:lpstr>
      <vt:lpstr>Hands on: Service creation</vt:lpstr>
      <vt:lpstr>Introduction to CDS Views</vt:lpstr>
      <vt:lpstr>Views – (CDS Views)</vt:lpstr>
      <vt:lpstr>PowerPoint Presentation</vt:lpstr>
      <vt:lpstr>PowerPoint Presentation</vt:lpstr>
      <vt:lpstr>PowerPoint Presentation</vt:lpstr>
      <vt:lpstr>Agenda – Day 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236</cp:revision>
  <dcterms:created xsi:type="dcterms:W3CDTF">2013-09-12T13:05:01Z</dcterms:created>
  <dcterms:modified xsi:type="dcterms:W3CDTF">2026-01-19T07:56:34Z</dcterms:modified>
</cp:coreProperties>
</file>