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</p:sldMasterIdLst>
  <p:notesMasterIdLst>
    <p:notesMasterId r:id="rId17"/>
  </p:notesMasterIdLst>
  <p:sldIdLst>
    <p:sldId id="276" r:id="rId3"/>
    <p:sldId id="4122" r:id="rId4"/>
    <p:sldId id="277" r:id="rId5"/>
    <p:sldId id="498" r:id="rId6"/>
    <p:sldId id="503" r:id="rId7"/>
    <p:sldId id="504" r:id="rId8"/>
    <p:sldId id="506" r:id="rId9"/>
    <p:sldId id="312" r:id="rId10"/>
    <p:sldId id="308" r:id="rId11"/>
    <p:sldId id="309" r:id="rId12"/>
    <p:sldId id="508" r:id="rId13"/>
    <p:sldId id="282" r:id="rId14"/>
    <p:sldId id="280" r:id="rId15"/>
    <p:sldId id="4711" r:id="rId1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40" autoAdjust="0"/>
    <p:restoredTop sz="95033" autoAdjust="0"/>
  </p:normalViewPr>
  <p:slideViewPr>
    <p:cSldViewPr>
      <p:cViewPr varScale="1">
        <p:scale>
          <a:sx n="102" d="100"/>
          <a:sy n="102" d="100"/>
        </p:scale>
        <p:origin x="640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7662" y="1498600"/>
            <a:ext cx="7008574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n-US" sz="4799" dirty="0"/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67662" y="2209800"/>
            <a:ext cx="7008574" cy="1219200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>
                    <a:lumMod val="50000"/>
                  </a:schemeClr>
                </a:solidFill>
                <a:effectLst/>
              </a:defRPr>
            </a:lvl1pPr>
            <a:lvl2pPr marL="60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A5CE939-B381-3A45-13A6-F58CC000B4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44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441" y="6356351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E9035D6-1EB0-67FD-788E-258B941A5B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79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2833" y="4406901"/>
            <a:ext cx="10360501" cy="1362075"/>
          </a:xfrm>
          <a:prstGeom prst="rect">
            <a:avLst/>
          </a:prstGeom>
        </p:spPr>
        <p:txBody>
          <a:bodyPr anchor="t"/>
          <a:lstStyle>
            <a:lvl1pPr algn="l">
              <a:defRPr sz="4266" b="1" cap="none"/>
            </a:lvl1pPr>
          </a:lstStyle>
          <a:p>
            <a:r>
              <a:rPr lang="en-US"/>
              <a:t>Click to edit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1pPr>
            <a:lvl2pPr marL="609448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889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343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4pPr>
            <a:lvl5pPr marL="2437790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5pPr>
            <a:lvl6pPr marL="3047238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6pPr>
            <a:lvl7pPr marL="3656686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7pPr>
            <a:lvl8pPr marL="4266133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8pPr>
            <a:lvl9pPr marL="4875581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721" y="6356351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19859E39-C1F4-F452-A609-81C93B9864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699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76201"/>
            <a:ext cx="10969943" cy="8128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441" y="1295400"/>
            <a:ext cx="5383398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6195986" y="1295400"/>
            <a:ext cx="5383398" cy="4876800"/>
          </a:xfrm>
        </p:spPr>
        <p:txBody>
          <a:bodyPr>
            <a:normAutofit/>
          </a:bodyPr>
          <a:lstStyle>
            <a:lvl1pPr marL="0" indent="0"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361F23F3-4276-7AC6-FA37-CDC6351B9F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421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441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4316876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quarter" idx="15"/>
          </p:nvPr>
        </p:nvSpPr>
        <p:spPr>
          <a:xfrm>
            <a:off x="8024310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FDBF0D3-6CF9-4440-94E9-AA4A74216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1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441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quarter" idx="14"/>
          </p:nvPr>
        </p:nvSpPr>
        <p:spPr>
          <a:xfrm>
            <a:off x="4316876" y="1295400"/>
            <a:ext cx="3555074" cy="48768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sz="1866"/>
            </a:lvl1pPr>
            <a:lvl2pPr>
              <a:defRPr sz="1600"/>
            </a:lvl2pPr>
            <a:lvl3pPr>
              <a:defRPr sz="1466"/>
            </a:lvl3pPr>
            <a:lvl4pPr>
              <a:defRPr sz="1466"/>
            </a:lvl4pPr>
            <a:lvl5pPr>
              <a:defRPr sz="14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B3935A3-C998-9B3D-079E-B7BC7E8C2A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196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03147" y="6375400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22045" y="2794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466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547D5447-D822-E114-D105-30608DBB5E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7810" y="76201"/>
            <a:ext cx="658210" cy="65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525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03147" y="6356351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FC459EA-C247-C5E7-6491-AEF2B5F9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5134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1092200"/>
            <a:ext cx="4010039" cy="1162051"/>
          </a:xfrm>
          <a:prstGeom prst="rect">
            <a:avLst/>
          </a:prstGeo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1092201"/>
            <a:ext cx="6813892" cy="5033964"/>
          </a:xfrm>
        </p:spPr>
        <p:txBody>
          <a:bodyPr>
            <a:normAutofit/>
          </a:bodyPr>
          <a:lstStyle>
            <a:lvl1pPr>
              <a:defRPr sz="3199"/>
            </a:lvl1pPr>
            <a:lvl2pPr>
              <a:defRPr sz="2666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2311401"/>
            <a:ext cx="4010039" cy="3814764"/>
          </a:xfrm>
        </p:spPr>
        <p:txBody>
          <a:bodyPr/>
          <a:lstStyle>
            <a:lvl1pPr marL="0" indent="0">
              <a:buNone/>
              <a:defRPr sz="1866"/>
            </a:lvl1pPr>
            <a:lvl2pPr marL="609448" indent="0">
              <a:buNone/>
              <a:defRPr sz="1600"/>
            </a:lvl2pPr>
            <a:lvl3pPr marL="1218895" indent="0">
              <a:buNone/>
              <a:defRPr sz="1333"/>
            </a:lvl3pPr>
            <a:lvl4pPr marL="1828343" indent="0">
              <a:buNone/>
              <a:defRPr sz="1200"/>
            </a:lvl4pPr>
            <a:lvl5pPr marL="2437790" indent="0">
              <a:buNone/>
              <a:defRPr sz="1200"/>
            </a:lvl5pPr>
            <a:lvl6pPr marL="3047238" indent="0">
              <a:buNone/>
              <a:defRPr sz="1200"/>
            </a:lvl6pPr>
            <a:lvl7pPr marL="3656686" indent="0">
              <a:buNone/>
              <a:defRPr sz="1200"/>
            </a:lvl7pPr>
            <a:lvl8pPr marL="4266133" indent="0">
              <a:buNone/>
              <a:defRPr sz="1200"/>
            </a:lvl8pPr>
            <a:lvl9pPr marL="487558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40C7AE83-204E-A484-7237-A7EA3EBC4D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732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  <a:prstGeom prst="rect">
            <a:avLst/>
          </a:prstGeo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1193799"/>
            <a:ext cx="7313295" cy="3533775"/>
          </a:xfrm>
        </p:spPr>
        <p:txBody>
          <a:bodyPr/>
          <a:lstStyle>
            <a:lvl1pPr marL="0" indent="0">
              <a:buNone/>
              <a:defRPr sz="4266"/>
            </a:lvl1pPr>
            <a:lvl2pPr marL="609448" indent="0">
              <a:buNone/>
              <a:defRPr sz="3732"/>
            </a:lvl2pPr>
            <a:lvl3pPr marL="1218895" indent="0">
              <a:buNone/>
              <a:defRPr sz="3199"/>
            </a:lvl3pPr>
            <a:lvl4pPr marL="1828343" indent="0">
              <a:buNone/>
              <a:defRPr sz="2666"/>
            </a:lvl4pPr>
            <a:lvl5pPr marL="2437790" indent="0">
              <a:buNone/>
              <a:defRPr sz="2666"/>
            </a:lvl5pPr>
            <a:lvl6pPr marL="3047238" indent="0">
              <a:buNone/>
              <a:defRPr sz="2666"/>
            </a:lvl6pPr>
            <a:lvl7pPr marL="3656686" indent="0">
              <a:buNone/>
              <a:defRPr sz="2666"/>
            </a:lvl7pPr>
            <a:lvl8pPr marL="4266133" indent="0">
              <a:buNone/>
              <a:defRPr sz="2666"/>
            </a:lvl8pPr>
            <a:lvl9pPr marL="4875581" indent="0">
              <a:buNone/>
              <a:defRPr sz="266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866"/>
            </a:lvl1pPr>
            <a:lvl2pPr marL="609448" indent="0">
              <a:buNone/>
              <a:defRPr sz="1600"/>
            </a:lvl2pPr>
            <a:lvl3pPr marL="1218895" indent="0">
              <a:buNone/>
              <a:defRPr sz="1333"/>
            </a:lvl3pPr>
            <a:lvl4pPr marL="1828343" indent="0">
              <a:buNone/>
              <a:defRPr sz="1200"/>
            </a:lvl4pPr>
            <a:lvl5pPr marL="2437790" indent="0">
              <a:buNone/>
              <a:defRPr sz="1200"/>
            </a:lvl5pPr>
            <a:lvl6pPr marL="3047238" indent="0">
              <a:buNone/>
              <a:defRPr sz="1200"/>
            </a:lvl6pPr>
            <a:lvl7pPr marL="3656686" indent="0">
              <a:buNone/>
              <a:defRPr sz="1200"/>
            </a:lvl7pPr>
            <a:lvl8pPr marL="4266133" indent="0">
              <a:buNone/>
              <a:defRPr sz="1200"/>
            </a:lvl8pPr>
            <a:lvl9pPr marL="4875581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23DAEE89-C03B-1705-0782-CE3B90349A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484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FDBE062A-C013-A203-17DC-F9C61DBF2E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0282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836898" y="1396999"/>
            <a:ext cx="2742486" cy="4729164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1396999"/>
            <a:ext cx="8024310" cy="47291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CA6DBE16-F08A-6A41-329C-56621EE536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510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3">
            <a:lum/>
          </a:blip>
          <a:srcRect/>
          <a:stretch>
            <a:fillRect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441" y="1803400"/>
            <a:ext cx="10969943" cy="1727200"/>
          </a:xfrm>
          <a:prstGeom prst="rect">
            <a:avLst/>
          </a:prstGeom>
        </p:spPr>
        <p:txBody>
          <a:bodyPr/>
          <a:lstStyle>
            <a:lvl1pPr algn="l">
              <a:defRPr sz="7998" b="1">
                <a:gradFill flip="none" rotWithShape="1">
                  <a:gsLst>
                    <a:gs pos="0">
                      <a:srgbClr val="0070C0"/>
                    </a:gs>
                    <a:gs pos="100000">
                      <a:srgbClr val="00B0F0"/>
                    </a:gs>
                  </a:gsLst>
                  <a:lin ang="16200000" scaled="1"/>
                  <a:tileRect/>
                </a:gradFill>
                <a:effectLst/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441" y="3530600"/>
            <a:ext cx="10969943" cy="12192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  <a:lvl2pPr marL="60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6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Contact Information</a:t>
            </a:r>
            <a:endParaRPr lang="en-US" dirty="0"/>
          </a:p>
        </p:txBody>
      </p:sp>
      <p:pic>
        <p:nvPicPr>
          <p:cNvPr id="4" name="Picture 3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624E307F-BC23-D6AD-3DDE-45757A637A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13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295401"/>
            <a:ext cx="10969943" cy="4830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CB006-912F-44E1-9560-9CBFEBE946EF}" type="datetime4">
              <a:rPr lang="en-US" smtClean="0"/>
              <a:t>May 20,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78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hdr="0"/>
  <p:txStyles>
    <p:titleStyle>
      <a:lvl1pPr algn="l" defTabSz="1218895" rtl="0" eaLnBrk="1" latinLnBrk="0" hangingPunct="1">
        <a:spcBef>
          <a:spcPct val="0"/>
        </a:spcBef>
        <a:buNone/>
        <a:defRPr lang="en-US" sz="3732" b="1" kern="1200" dirty="0">
          <a:gradFill flip="none" rotWithShape="1">
            <a:gsLst>
              <a:gs pos="0">
                <a:srgbClr val="26588D"/>
              </a:gs>
              <a:gs pos="100000">
                <a:srgbClr val="4197C6"/>
              </a:gs>
            </a:gsLst>
            <a:lin ang="16200000" scaled="1"/>
            <a:tileRect/>
          </a:gradFill>
          <a:latin typeface="Arial" pitchFamily="34" charset="0"/>
          <a:ea typeface="+mj-ea"/>
          <a:cs typeface="Arial" pitchFamily="34" charset="0"/>
        </a:defRPr>
      </a:lvl1pPr>
    </p:titleStyle>
    <p:bodyStyle>
      <a:lvl1pPr marL="457086" indent="-457086" algn="l" defTabSz="1218895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990352" indent="-380905" algn="l" defTabSz="1218895" rtl="0" eaLnBrk="1" latinLnBrk="0" hangingPunct="1">
        <a:spcBef>
          <a:spcPct val="20000"/>
        </a:spcBef>
        <a:buFont typeface="Arial" pitchFamily="34" charset="0"/>
        <a:buChar char="–"/>
        <a:defRPr sz="2666" kern="1200">
          <a:solidFill>
            <a:schemeClr val="tx1"/>
          </a:solidFill>
          <a:latin typeface="+mn-lt"/>
          <a:ea typeface="+mn-ea"/>
          <a:cs typeface="+mn-cs"/>
        </a:defRPr>
      </a:lvl2pPr>
      <a:lvl3pPr marL="152361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067" indent="-304724" algn="l" defTabSz="1218895" rtl="0" eaLnBrk="1" latinLnBrk="0" hangingPunct="1">
        <a:spcBef>
          <a:spcPct val="20000"/>
        </a:spcBef>
        <a:buFont typeface="Arial" pitchFamily="34" charset="0"/>
        <a:buChar char="–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4" indent="-304724" algn="l" defTabSz="1218895" rtl="0" eaLnBrk="1" latinLnBrk="0" hangingPunct="1">
        <a:spcBef>
          <a:spcPct val="20000"/>
        </a:spcBef>
        <a:buFont typeface="Arial" pitchFamily="34" charset="0"/>
        <a:buChar char="»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2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40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857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5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4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95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23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686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1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server@anubhavtrainings.com" TargetMode="External"/><Relationship Id="rId2" Type="http://schemas.openxmlformats.org/officeDocument/2006/relationships/hyperlink" Target="https://api.sap.com/" TargetMode="Externa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orld.openfoodfacts.net/api/0/product/8904004400083?fields=product_name,nutriments,image_front_url" TargetMode="Externa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hyperlink" Target="http://www.dribbble.com/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tiff"/><Relationship Id="rId5" Type="http://schemas.openxmlformats.org/officeDocument/2006/relationships/image" Target="../media/image15.tiff"/><Relationship Id="rId4" Type="http://schemas.openxmlformats.org/officeDocument/2006/relationships/image" Target="../media/image14.tiff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21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21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E791A1-2958-78B0-ECDD-F89DDE02F4B6}"/>
              </a:ext>
            </a:extLst>
          </p:cNvPr>
          <p:cNvSpPr/>
          <p:nvPr/>
        </p:nvSpPr>
        <p:spPr>
          <a:xfrm>
            <a:off x="3453886" y="131323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89E801-E285-EBED-06F5-7E2B1B8E1E7A}"/>
              </a:ext>
            </a:extLst>
          </p:cNvPr>
          <p:cNvSpPr/>
          <p:nvPr/>
        </p:nvSpPr>
        <p:spPr>
          <a:xfrm>
            <a:off x="3453886" y="306896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AB72EB-5FE6-B5CA-C654-D15CE54000E9}"/>
              </a:ext>
            </a:extLst>
          </p:cNvPr>
          <p:cNvSpPr/>
          <p:nvPr/>
        </p:nvSpPr>
        <p:spPr>
          <a:xfrm>
            <a:off x="3453886" y="482468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27EE0E-9853-D0E9-E5A8-87BE731920EA}"/>
              </a:ext>
            </a:extLst>
          </p:cNvPr>
          <p:cNvGrpSpPr/>
          <p:nvPr/>
        </p:nvGrpSpPr>
        <p:grpSpPr>
          <a:xfrm>
            <a:off x="4118571" y="1566251"/>
            <a:ext cx="4359562" cy="922336"/>
            <a:chOff x="1395616" y="871285"/>
            <a:chExt cx="3825734" cy="106413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429D3B-7C38-B33E-067B-835764291C87}"/>
                </a:ext>
              </a:extLst>
            </p:cNvPr>
            <p:cNvSpPr txBox="1"/>
            <p:nvPr/>
          </p:nvSpPr>
          <p:spPr>
            <a:xfrm>
              <a:off x="2984420" y="1243566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Build Apps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8C39A3-CA2B-146F-D772-D14998B4D672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773B0C-4C36-F5CF-6049-15A22D3353B9}"/>
              </a:ext>
            </a:extLst>
          </p:cNvPr>
          <p:cNvGrpSpPr/>
          <p:nvPr/>
        </p:nvGrpSpPr>
        <p:grpSpPr>
          <a:xfrm>
            <a:off x="4118571" y="3321970"/>
            <a:ext cx="4431570" cy="922336"/>
            <a:chOff x="1395616" y="871285"/>
            <a:chExt cx="3825734" cy="106413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BB80F5-BF50-C0D2-25DF-59F695C70420}"/>
                </a:ext>
              </a:extLst>
            </p:cNvPr>
            <p:cNvSpPr txBox="1"/>
            <p:nvPr/>
          </p:nvSpPr>
          <p:spPr>
            <a:xfrm>
              <a:off x="2984420" y="1243562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First App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24D9CE-F522-A342-1387-CC55E9C4494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BD1B35-A18B-68D7-E07B-1A1A9AD2E859}"/>
              </a:ext>
            </a:extLst>
          </p:cNvPr>
          <p:cNvGrpSpPr/>
          <p:nvPr/>
        </p:nvGrpSpPr>
        <p:grpSpPr>
          <a:xfrm>
            <a:off x="4118571" y="5077693"/>
            <a:ext cx="4431570" cy="922336"/>
            <a:chOff x="1395616" y="871285"/>
            <a:chExt cx="4290329" cy="10641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EC2032-A77D-A0B0-E149-A23467DC1CAA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Use Case App 2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0195D9-2B81-A5CA-17AA-E418FAD1D320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D7723-F0DE-140F-85E5-0EA20C1A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CA04C-0AAB-AC47-88FE-6025A12D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3EC65-21A6-D448-3735-D45B4C4D6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pPr marL="0" marR="0" lvl="0" indent="0" algn="l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88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A74E68-9534-F04E-06EA-D6883DCC5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0" y="2108544"/>
            <a:ext cx="6703854" cy="3047206"/>
          </a:xfrm>
        </p:spPr>
        <p:txBody>
          <a:bodyPr/>
          <a:lstStyle/>
          <a:p>
            <a:r>
              <a:rPr lang="en-IN" sz="5332" dirty="0"/>
              <a:t>Create your first hello world application</a:t>
            </a:r>
          </a:p>
        </p:txBody>
      </p:sp>
      <p:pic>
        <p:nvPicPr>
          <p:cNvPr id="2050" name="Picture 2" descr="xcode - How to remove hello world thing on iOS simulator - Stack Overflow">
            <a:extLst>
              <a:ext uri="{FF2B5EF4-FFF2-40B4-BE49-F238E27FC236}">
                <a16:creationId xmlns:a16="http://schemas.microsoft.com/office/drawing/2014/main" id="{217877DB-6128-17F0-72C6-93E1F3EFA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399" y="1457958"/>
            <a:ext cx="2825837" cy="495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863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37DD6-6765-71C1-1CA5-77BA20D18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1EE42-A046-D498-BAA0-F78B6B57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B542F-756F-52CE-CA8D-D91003999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pPr marL="0" marR="0" lvl="0" indent="0" algn="l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88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CD7FB0-5DE5-A53F-4B47-93EF54D3C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IN" sz="3333" dirty="0"/>
              <a:t>Test your app</a:t>
            </a:r>
          </a:p>
        </p:txBody>
      </p:sp>
      <p:pic>
        <p:nvPicPr>
          <p:cNvPr id="4098" name="Picture 2" descr="How to Install and Use Vysor on Windows 10 | Mirror Android Device in  Windows 10">
            <a:extLst>
              <a:ext uri="{FF2B5EF4-FFF2-40B4-BE49-F238E27FC236}">
                <a16:creationId xmlns:a16="http://schemas.microsoft.com/office/drawing/2014/main" id="{744FB1D4-BD84-6AFF-7EA2-CEDBCC6FC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044" y="1499103"/>
            <a:ext cx="8227457" cy="4627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175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D65A3-C357-4A80-2D1A-09853BEE0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C9492C-C155-0792-79C7-D7886E2B2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F2444-26DA-27B0-48AB-C7686D7B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pPr marL="0" marR="0" lvl="0" indent="0" algn="l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88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2ADB8D-FF22-C5FE-FDAC-76400708C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IN" sz="3333" dirty="0"/>
              <a:t>Android Developer mode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055B96-1F59-55E5-B1D1-1DEA4EF1F603}"/>
              </a:ext>
            </a:extLst>
          </p:cNvPr>
          <p:cNvSpPr txBox="1"/>
          <p:nvPr/>
        </p:nvSpPr>
        <p:spPr>
          <a:xfrm>
            <a:off x="203147" y="1295955"/>
            <a:ext cx="11782531" cy="5424663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marL="0" marR="0" lvl="0" indent="0" algn="l" defTabSz="1218895" rtl="0" eaLnBrk="1" fontAlgn="ctr" latinLnBrk="0" hangingPunct="1">
              <a:lnSpc>
                <a:spcPts val="2199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66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Open Settings:</a:t>
            </a:r>
            <a:r>
              <a:rPr kumimoji="0" lang="en-US" sz="186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 Access the Settings app on your Android device. </a:t>
            </a:r>
          </a:p>
          <a:p>
            <a:pPr marL="0" marR="0" lvl="0" indent="0" algn="l" defTabSz="1218895" rtl="0" eaLnBrk="1" fontAlgn="ctr" latinLnBrk="0" hangingPunct="1">
              <a:lnSpc>
                <a:spcPts val="2199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en-US" sz="1866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Navigate to About phone:</a:t>
            </a:r>
            <a:r>
              <a:rPr kumimoji="0" lang="en-US" sz="186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 Go to About phone (or About device) within the Settings menu. </a:t>
            </a:r>
          </a:p>
          <a:p>
            <a:pPr marL="0" marR="0" lvl="0" indent="0" algn="l" defTabSz="1218895" rtl="0" eaLnBrk="1" fontAlgn="ctr" latinLnBrk="0" hangingPunct="1">
              <a:lnSpc>
                <a:spcPts val="2199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kumimoji="0" lang="en-US" sz="1866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Tap Build number:</a:t>
            </a:r>
            <a:r>
              <a:rPr kumimoji="0" lang="en-US" sz="186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 Locate the Build number and rapidly tap it seven times. </a:t>
            </a:r>
          </a:p>
          <a:p>
            <a:pPr marL="0" marR="0" lvl="0" indent="0" algn="l" defTabSz="1218895" rtl="0" eaLnBrk="1" fontAlgn="ctr" latinLnBrk="0" hangingPunct="1">
              <a:lnSpc>
                <a:spcPts val="2199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+mj-lt"/>
              <a:buAutoNum type="arabicPeriod" startAt="4"/>
              <a:tabLst/>
              <a:defRPr/>
            </a:pPr>
            <a:r>
              <a:rPr kumimoji="0" lang="en-US" sz="1866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Confirm Developer Options:</a:t>
            </a:r>
            <a:r>
              <a:rPr kumimoji="0" lang="en-US" sz="186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 You'll see a message indicating you've enabled Developer Options. </a:t>
            </a:r>
          </a:p>
          <a:p>
            <a:pPr marL="0" marR="0" lvl="0" indent="0" algn="l" defTabSz="1218895" rtl="0" eaLnBrk="1" fontAlgn="auto" latinLnBrk="0" hangingPunct="1">
              <a:lnSpc>
                <a:spcPts val="2199"/>
              </a:lnSpc>
              <a:spcBef>
                <a:spcPts val="1000"/>
              </a:spcBef>
              <a:spcAft>
                <a:spcPts val="2000"/>
              </a:spcAft>
              <a:buClrTx/>
              <a:buSzTx/>
              <a:buFont typeface="+mj-lt"/>
              <a:buAutoNum type="arabicPeriod" startAt="5"/>
              <a:tabLst/>
              <a:defRPr/>
            </a:pPr>
            <a:r>
              <a:rPr kumimoji="0" lang="en-US" sz="1866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Access Developer Options:</a:t>
            </a:r>
            <a:r>
              <a:rPr kumimoji="0" lang="en-US" sz="186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"/>
                <a:ea typeface="+mn-ea"/>
                <a:cs typeface="+mn-cs"/>
              </a:rPr>
              <a:t> The Developer Options menu will now appear in your main Settings menu. </a:t>
            </a:r>
          </a:p>
        </p:txBody>
      </p:sp>
    </p:spTree>
    <p:extLst>
      <p:ext uri="{BB962C8B-B14F-4D97-AF65-F5344CB8AC3E}">
        <p14:creationId xmlns:p14="http://schemas.microsoft.com/office/powerpoint/2010/main" val="405683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52AFA-C446-5BE7-B83D-63482A5E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A43DAE-E2E0-F6CD-71C7-BA610274A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www.anubhavtrainings.com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EEF8E-8674-9FBE-8BF0-31B85F28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3EC6B7-FB16-FBE4-53BD-3AB03F94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IN" sz="3333" dirty="0"/>
              <a:t>Use case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01AD9F-6B2B-4DC0-66B7-5603F71A2C94}"/>
              </a:ext>
            </a:extLst>
          </p:cNvPr>
          <p:cNvSpPr txBox="1"/>
          <p:nvPr/>
        </p:nvSpPr>
        <p:spPr>
          <a:xfrm>
            <a:off x="101573" y="991236"/>
            <a:ext cx="7618016" cy="5424663"/>
          </a:xfrm>
          <a:prstGeom prst="rect">
            <a:avLst/>
          </a:prstGeom>
        </p:spPr>
        <p:txBody>
          <a:bodyPr vert="horz" lIns="121888" tIns="60944" rIns="121888" bIns="60944" rtlCol="0">
            <a:normAutofit fontScale="85000" lnSpcReduction="20000"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66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Persona:  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6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Name: Priya  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6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Age: 32  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6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Role: A health-conscious mother of a 6-year-old boy  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6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Goal: To ensure her son eats healthy snacks, avoiding high sugar, additives, or allergens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66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Scenario:  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6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Priya is grocery shopping on a busy weekday afternoon. Her son loves trying new snacks, but Priya is always worried about hidden sugars, preservatives, and allergy-triggering ingredients. Reading tiny labels on packaging is time-consuming and frustrating.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66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Features of the App: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6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Barcode scanning  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6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Instant nutrition info from Open Food Facts  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6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Allergen warnings  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6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Healthy alternatives  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6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Kid-focused nutritional grading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66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Benefit: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6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Priya saves time and makes informed decisions, ensuring her son enjoys tasty snacks without compromising health.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6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63" name="Picture 15" descr="Father Daughter Shopping: Over 3,796 Royalty-Free Licensable Stock  Illustrations &amp; Drawings | Shutterstock">
            <a:extLst>
              <a:ext uri="{FF2B5EF4-FFF2-40B4-BE49-F238E27FC236}">
                <a16:creationId xmlns:a16="http://schemas.microsoft.com/office/drawing/2014/main" id="{31DA6A43-EB06-3D18-0442-D8D629F8CA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43"/>
          <a:stretch/>
        </p:blipFill>
        <p:spPr bwMode="auto">
          <a:xfrm>
            <a:off x="7719589" y="2052996"/>
            <a:ext cx="4354966" cy="3301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003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73C7-A573-8D10-EE6B-98ADA6998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07877-8E4A-FEBB-EB60-ED28BA66C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93EE6-DBFE-DD31-4388-A2CF11CE3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9016E8-3F3A-555F-6F42-8BB0377D4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IN" sz="3333" dirty="0"/>
              <a:t>What is JSON – Java Script Object Notation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CFC16C-C5A5-4074-4A90-1378D71E5FA9}"/>
              </a:ext>
            </a:extLst>
          </p:cNvPr>
          <p:cNvSpPr txBox="1"/>
          <p:nvPr/>
        </p:nvSpPr>
        <p:spPr>
          <a:xfrm>
            <a:off x="304720" y="1052736"/>
            <a:ext cx="6703854" cy="2553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1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1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key: ‘value’,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1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key: ‘value’,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1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key: ‘value’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1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A203EF2-5312-8232-B3E8-316965C6EDAC}"/>
              </a:ext>
            </a:extLst>
          </p:cNvPr>
          <p:cNvGraphicFramePr>
            <a:graphicFrameLocks noGrp="1"/>
          </p:cNvGraphicFramePr>
          <p:nvPr/>
        </p:nvGraphicFramePr>
        <p:xfrm>
          <a:off x="3656647" y="1911272"/>
          <a:ext cx="8125885" cy="109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177">
                  <a:extLst>
                    <a:ext uri="{9D8B030D-6E8A-4147-A177-3AD203B41FA5}">
                      <a16:colId xmlns:a16="http://schemas.microsoft.com/office/drawing/2014/main" val="4165643659"/>
                    </a:ext>
                  </a:extLst>
                </a:gridCol>
                <a:gridCol w="1625177">
                  <a:extLst>
                    <a:ext uri="{9D8B030D-6E8A-4147-A177-3AD203B41FA5}">
                      <a16:colId xmlns:a16="http://schemas.microsoft.com/office/drawing/2014/main" val="4136994743"/>
                    </a:ext>
                  </a:extLst>
                </a:gridCol>
                <a:gridCol w="1625177">
                  <a:extLst>
                    <a:ext uri="{9D8B030D-6E8A-4147-A177-3AD203B41FA5}">
                      <a16:colId xmlns:a16="http://schemas.microsoft.com/office/drawing/2014/main" val="3350471309"/>
                    </a:ext>
                  </a:extLst>
                </a:gridCol>
                <a:gridCol w="1625177">
                  <a:extLst>
                    <a:ext uri="{9D8B030D-6E8A-4147-A177-3AD203B41FA5}">
                      <a16:colId xmlns:a16="http://schemas.microsoft.com/office/drawing/2014/main" val="994915914"/>
                    </a:ext>
                  </a:extLst>
                </a:gridCol>
                <a:gridCol w="1625177">
                  <a:extLst>
                    <a:ext uri="{9D8B030D-6E8A-4147-A177-3AD203B41FA5}">
                      <a16:colId xmlns:a16="http://schemas.microsoft.com/office/drawing/2014/main" val="3972085618"/>
                    </a:ext>
                  </a:extLst>
                </a:gridCol>
              </a:tblGrid>
              <a:tr h="1096656">
                <a:tc>
                  <a:txBody>
                    <a:bodyPr/>
                    <a:lstStyle/>
                    <a:p>
                      <a:r>
                        <a:rPr lang="en-IN" sz="3200" dirty="0"/>
                        <a:t>101</a:t>
                      </a:r>
                    </a:p>
                  </a:txBody>
                  <a:tcPr marL="121888" marR="121888" marT="60944" marB="60944"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SHIP1</a:t>
                      </a:r>
                    </a:p>
                  </a:txBody>
                  <a:tcPr marL="121888" marR="121888" marT="60944" marB="60944"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20251212</a:t>
                      </a:r>
                    </a:p>
                  </a:txBody>
                  <a:tcPr marL="121888" marR="121888" marT="60944" marB="60944"/>
                </a:tc>
                <a:tc>
                  <a:txBody>
                    <a:bodyPr/>
                    <a:lstStyle/>
                    <a:p>
                      <a:endParaRPr lang="en-IN" sz="3200"/>
                    </a:p>
                  </a:txBody>
                  <a:tcPr marL="121888" marR="121888" marT="60944" marB="60944"/>
                </a:tc>
                <a:tc>
                  <a:txBody>
                    <a:bodyPr/>
                    <a:lstStyle/>
                    <a:p>
                      <a:endParaRPr lang="en-IN" sz="3200" dirty="0"/>
                    </a:p>
                  </a:txBody>
                  <a:tcPr marL="121888" marR="121888" marT="60944" marB="60944"/>
                </a:tc>
                <a:extLst>
                  <a:ext uri="{0D108BD9-81ED-4DB2-BD59-A6C34878D82A}">
                    <a16:rowId xmlns:a16="http://schemas.microsoft.com/office/drawing/2014/main" val="65244529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A76F90A-2C3E-B771-3C93-C94451E49989}"/>
              </a:ext>
            </a:extLst>
          </p:cNvPr>
          <p:cNvSpPr txBox="1"/>
          <p:nvPr/>
        </p:nvSpPr>
        <p:spPr>
          <a:xfrm>
            <a:off x="3758220" y="1499104"/>
            <a:ext cx="8024310" cy="58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1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orderNo</a:t>
            </a:r>
            <a:r>
              <a:rPr kumimoji="0" lang="en-IN" sz="31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</a:t>
            </a:r>
            <a:r>
              <a:rPr kumimoji="0" lang="en-IN" sz="31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shipTo</a:t>
            </a:r>
            <a:r>
              <a:rPr kumimoji="0" lang="en-IN" sz="31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date</a:t>
            </a:r>
          </a:p>
        </p:txBody>
      </p:sp>
    </p:spTree>
    <p:extLst>
      <p:ext uri="{BB962C8B-B14F-4D97-AF65-F5344CB8AC3E}">
        <p14:creationId xmlns:p14="http://schemas.microsoft.com/office/powerpoint/2010/main" val="54256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74D4-0C5E-2AF6-9B47-A0506958A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BD81D-2A1A-B36C-45DB-9C7102EC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8E9CA-016B-704A-E18B-F9871644A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BC9EBA1-EE78-4CC2-59DC-111940676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IN" sz="3333" dirty="0"/>
              <a:t>What is API?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33CFD6-0483-9FAA-7E99-65E92BAAF2EF}"/>
              </a:ext>
            </a:extLst>
          </p:cNvPr>
          <p:cNvSpPr txBox="1"/>
          <p:nvPr/>
        </p:nvSpPr>
        <p:spPr>
          <a:xfrm>
            <a:off x="304720" y="991235"/>
            <a:ext cx="11579384" cy="1815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6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API stands for application programming interface, it is a contract between our system and a system which is trying to connect with us.</a:t>
            </a:r>
          </a:p>
          <a:p>
            <a:pPr marL="380905" marR="0" lvl="0" indent="-380905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6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API gives a contract between caller and called party</a:t>
            </a:r>
          </a:p>
          <a:p>
            <a:pPr marL="380905" marR="0" lvl="0" indent="-380905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6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That makes integration possible w/o knowing internal functionality of system</a:t>
            </a:r>
          </a:p>
          <a:p>
            <a:pPr marL="380905" marR="0" lvl="0" indent="-380905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6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Critical role in integration and exchange of data between systems</a:t>
            </a:r>
          </a:p>
          <a:p>
            <a:pPr marL="380905" marR="0" lvl="0" indent="-380905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6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Servers as single entry point for different business objects (</a:t>
            </a:r>
            <a:r>
              <a:rPr kumimoji="0" lang="en-IN" sz="1866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so,po,material</a:t>
            </a:r>
            <a:r>
              <a:rPr kumimoji="0" lang="en-IN" sz="186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9525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7BF4E-8B28-D674-57FE-3E7930045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978BB3-577C-01FE-FA48-87C76FF00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D9A86-FB8B-D00B-7281-30D3934C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EE818E-9DAE-9523-E7EE-A41059E99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IN" sz="3333" dirty="0"/>
              <a:t>API HUB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D76612-AFCC-576B-3D64-1F13DE1844B5}"/>
              </a:ext>
            </a:extLst>
          </p:cNvPr>
          <p:cNvSpPr txBox="1"/>
          <p:nvPr/>
        </p:nvSpPr>
        <p:spPr>
          <a:xfrm>
            <a:off x="203147" y="889663"/>
            <a:ext cx="11782531" cy="2389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SAP provides a publicly available website. Any developer can go and explore the APIs offered by SAP Solutions e.g. S/4HANA, BTP, Success Factors, Field Glass, Concur etc.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/>
              </a:rPr>
              <a:t>https://api.sap.com</a:t>
            </a:r>
            <a:endParaRPr kumimoji="0" lang="en-IN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 can request S/4HANA server access – </a:t>
            </a:r>
            <a:r>
              <a:rPr kumimoji="0" lang="en-IN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/>
              </a:rPr>
              <a:t>server@anubhavtrainings.com</a:t>
            </a:r>
            <a:endParaRPr kumimoji="0" lang="en-IN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855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48CC4-9692-1294-C1A1-6A75635E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2A108D-E504-1630-4E3F-CD877CA5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0D053-857E-A921-C3BC-4313323F9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2BBE0C0-3517-1663-B2E4-10AA9E863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IN" sz="3333" dirty="0"/>
              <a:t>Open APIs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26D79C-4A6A-0BDA-3E3F-85AB5A86CD80}"/>
              </a:ext>
            </a:extLst>
          </p:cNvPr>
          <p:cNvSpPr txBox="1"/>
          <p:nvPr/>
        </p:nvSpPr>
        <p:spPr>
          <a:xfrm>
            <a:off x="125472" y="910294"/>
            <a:ext cx="11782531" cy="5424663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Open Food Facts offers a comprehensive API that allows developers to access a vast database of food product information, including details such as ingredients, nutritional content, allergens, and labels. This open-source database is continually enriched by contributors worldwide, making it an invaluable resource for applications focused on health, diet tracking, food research, and consumer information. citeturn0search0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Features of the Open Food Facts API: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Extensive Data Access: Retrieve detailed information about food products, including ingredients, nutritional facts, allergens, and more.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Global Coverage: Access data from a wide range of products sourced from various countries, providing a diverse and comprehensive dataset.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User Contributions: Benefit from a continually growing database, as users worldwide contribute by adding new products and updating existing information.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Integration Flexibility: Utilize the RESTful API to seamlessly integrate food product data into mobile apps, research projects, software, or diet-based web services.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86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6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/>
              </a:rPr>
              <a:t>https://world.openfoodfacts.net/api/0/product/</a:t>
            </a:r>
            <a:r>
              <a:rPr kumimoji="0" lang="en-US" sz="186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  <a:hlinkClick r:id="rId2"/>
              </a:rPr>
              <a:t>8904004400083</a:t>
            </a:r>
            <a:r>
              <a:rPr kumimoji="0" lang="en-US" sz="186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/>
              </a:rPr>
              <a:t>?fields=product_name,nutriments,image_front_url</a:t>
            </a:r>
            <a:endParaRPr kumimoji="0" lang="en-US" sz="186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6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Sample products – 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risten ITC" panose="03050502040202030202" pitchFamily="66" charset="0"/>
                <a:ea typeface="+mn-ea"/>
                <a:cs typeface="+mn-cs"/>
              </a:rPr>
              <a:t>8901764061257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risten ITC" panose="03050502040202030202" pitchFamily="66" charset="0"/>
                <a:ea typeface="+mn-ea"/>
                <a:cs typeface="+mn-cs"/>
              </a:rPr>
              <a:t>8901262200189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risten ITC" panose="03050502040202030202" pitchFamily="66" charset="0"/>
                <a:ea typeface="+mn-ea"/>
                <a:cs typeface="+mn-cs"/>
              </a:rPr>
              <a:t>8901063029279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risten ITC" panose="03050502040202030202" pitchFamily="66" charset="0"/>
                <a:ea typeface="+mn-ea"/>
                <a:cs typeface="+mn-cs"/>
              </a:rPr>
              <a:t>8904004400083</a:t>
            </a:r>
          </a:p>
        </p:txBody>
      </p:sp>
    </p:spTree>
    <p:extLst>
      <p:ext uri="{BB962C8B-B14F-4D97-AF65-F5344CB8AC3E}">
        <p14:creationId xmlns:p14="http://schemas.microsoft.com/office/powerpoint/2010/main" val="1311840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20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8255</TotalTime>
  <Words>797</Words>
  <Application>Microsoft Office PowerPoint</Application>
  <PresentationFormat>Custom</PresentationFormat>
  <Paragraphs>117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Amasis MT Pro Black</vt:lpstr>
      <vt:lpstr>Arial</vt:lpstr>
      <vt:lpstr>Arial Black</vt:lpstr>
      <vt:lpstr>Calibri</vt:lpstr>
      <vt:lpstr>Cooper Black</vt:lpstr>
      <vt:lpstr>Google Sans</vt:lpstr>
      <vt:lpstr>Kristen ITC</vt:lpstr>
      <vt:lpstr>Segoe UI</vt:lpstr>
      <vt:lpstr>Segoe UI Light</vt:lpstr>
      <vt:lpstr>Office Theme</vt:lpstr>
      <vt:lpstr>1_Office Theme</vt:lpstr>
      <vt:lpstr>SAP BTP Extension Suite Training</vt:lpstr>
      <vt:lpstr>PowerPoint Presentation</vt:lpstr>
      <vt:lpstr>Agenda – Day 21</vt:lpstr>
      <vt:lpstr>Create your first hello world application</vt:lpstr>
      <vt:lpstr>Test your app</vt:lpstr>
      <vt:lpstr>Android Developer mode</vt:lpstr>
      <vt:lpstr>Use case 2</vt:lpstr>
      <vt:lpstr>What is JSON – Java Script Object Notation</vt:lpstr>
      <vt:lpstr>What is API?</vt:lpstr>
      <vt:lpstr>API HUB</vt:lpstr>
      <vt:lpstr>Open APIs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324</cp:revision>
  <dcterms:created xsi:type="dcterms:W3CDTF">2013-09-12T13:05:01Z</dcterms:created>
  <dcterms:modified xsi:type="dcterms:W3CDTF">2025-05-20T16:01:58Z</dcterms:modified>
</cp:coreProperties>
</file>