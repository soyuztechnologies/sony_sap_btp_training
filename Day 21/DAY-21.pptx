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ink/ink2.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Lst>
  <p:notesMasterIdLst>
    <p:notesMasterId r:id="rId15"/>
  </p:notesMasterIdLst>
  <p:sldIdLst>
    <p:sldId id="256" r:id="rId4"/>
    <p:sldId id="402" r:id="rId5"/>
    <p:sldId id="276" r:id="rId6"/>
    <p:sldId id="427" r:id="rId7"/>
    <p:sldId id="1210" r:id="rId8"/>
    <p:sldId id="315" r:id="rId9"/>
    <p:sldId id="316" r:id="rId10"/>
    <p:sldId id="317" r:id="rId11"/>
    <p:sldId id="318" r:id="rId12"/>
    <p:sldId id="419" r:id="rId13"/>
    <p:sldId id="409" r:id="rId14"/>
  </p:sldIdLst>
  <p:sldSz cx="12188825" cy="6858000"/>
  <p:notesSz cx="6858000" cy="9144000"/>
  <p:embeddedFontLst>
    <p:embeddedFont>
      <p:font typeface="Arial Black" panose="020B0A04020102020204" pitchFamily="34" charset="0"/>
      <p:regular r:id="rId16"/>
      <p:bold r:id="rId17"/>
    </p:embeddedFont>
    <p:embeddedFont>
      <p:font typeface="Cambria" panose="02040503050406030204" pitchFamily="18" charset="0"/>
      <p:regular r:id="rId18"/>
      <p:bold r:id="rId19"/>
      <p:italic r:id="rId20"/>
      <p:boldItalic r:id="rId21"/>
    </p:embeddedFont>
    <p:embeddedFont>
      <p:font typeface="Cooper Black" panose="0208090404030B020404" pitchFamily="18" charset="0"/>
      <p:regular r:id="rId22"/>
    </p:embeddedFont>
    <p:embeddedFont>
      <p:font typeface="Corben" panose="020B0604020202020204" charset="0"/>
      <p:bold r:id="rId23"/>
    </p:embeddedFont>
    <p:embeddedFont>
      <p:font typeface="Open Sans" panose="020B0606030504020204" pitchFamily="34" charset="0"/>
      <p:regular r:id="rId24"/>
      <p:bold r:id="rId25"/>
      <p:italic r:id="rId26"/>
      <p:boldItalic r:id="rId27"/>
    </p:embeddedFont>
    <p:embeddedFont>
      <p:font typeface="Quattrocento Sans" panose="020B0502050000020003" pitchFamily="34" charset="0"/>
      <p:regular r:id="rId28"/>
      <p:bold r:id="rId29"/>
      <p:italic r:id="rId30"/>
      <p:boldItalic r:id="rId31"/>
    </p:embeddedFont>
    <p:embeddedFont>
      <p:font typeface="Segoe UI" panose="020B0502040204020203" pitchFamily="34" charset="0"/>
      <p:regular r:id="rId32"/>
      <p:bold r:id="rId33"/>
      <p:italic r:id="rId34"/>
      <p:boldItalic r:id="rId35"/>
    </p:embeddedFont>
    <p:embeddedFont>
      <p:font typeface="Segoe UI Light" panose="020B0502040204020203" pitchFamily="34" charset="0"/>
      <p:regular r:id="rId36"/>
      <p: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font" Target="fonts/font3.fntdata"/><Relationship Id="rId26" Type="http://schemas.openxmlformats.org/officeDocument/2006/relationships/font" Target="fonts/font11.fntdata"/><Relationship Id="rId21" Type="http://schemas.openxmlformats.org/officeDocument/2006/relationships/font" Target="fonts/font6.fntdata"/><Relationship Id="rId34" Type="http://schemas.openxmlformats.org/officeDocument/2006/relationships/font" Target="fonts/font19.fntdata"/><Relationship Id="rId7" Type="http://schemas.openxmlformats.org/officeDocument/2006/relationships/slide" Target="slides/slide4.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font" Target="fonts/font22.fntdata"/><Relationship Id="rId20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font" Target="fonts/font21.fntdata"/><Relationship Id="rId203" Type="http://customschemas.google.com/relationships/presentationmetadata" Target="metadata"/><Relationship Id="rId10" Type="http://schemas.openxmlformats.org/officeDocument/2006/relationships/slide" Target="slides/slide7.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font" Target="fonts/font20.fntdata"/><Relationship Id="rId207" Type="http://schemas.openxmlformats.org/officeDocument/2006/relationships/tableStyles" Target="tableStyles.xml"/><Relationship Id="rId8" Type="http://schemas.openxmlformats.org/officeDocument/2006/relationships/slide" Target="slides/slide5.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03T07:17:13.387"/>
    </inkml:context>
    <inkml:brush xml:id="br0">
      <inkml:brushProperty name="width" value="0.05" units="cm"/>
      <inkml:brushProperty name="height" value="0.05" units="cm"/>
    </inkml:brush>
  </inkml:definitions>
  <inkml:trace contextRef="#ctx0" brushRef="#br0">0 1 24575,'3'0'0,"4"0"0,3 0 0,1 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4"/>
        <p:cNvGrpSpPr/>
        <p:nvPr/>
      </p:nvGrpSpPr>
      <p:grpSpPr>
        <a:xfrm>
          <a:off x="0" y="0"/>
          <a:ext cx="0" cy="0"/>
          <a:chOff x="0" y="0"/>
          <a:chExt cx="0" cy="0"/>
        </a:xfrm>
      </p:grpSpPr>
      <p:sp>
        <p:nvSpPr>
          <p:cNvPr id="1275" name="Google Shape;1275;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6" name="Google Shape;1276;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8"/>
        <p:cNvGrpSpPr/>
        <p:nvPr/>
      </p:nvGrpSpPr>
      <p:grpSpPr>
        <a:xfrm>
          <a:off x="0" y="0"/>
          <a:ext cx="0" cy="0"/>
          <a:chOff x="0" y="0"/>
          <a:chExt cx="0" cy="0"/>
        </a:xfrm>
      </p:grpSpPr>
      <p:sp>
        <p:nvSpPr>
          <p:cNvPr id="1349" name="Google Shape;1349;p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0" name="Google Shape;1350;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6"/>
        <p:cNvGrpSpPr/>
        <p:nvPr/>
      </p:nvGrpSpPr>
      <p:grpSpPr>
        <a:xfrm>
          <a:off x="0" y="0"/>
          <a:ext cx="0" cy="0"/>
          <a:chOff x="0" y="0"/>
          <a:chExt cx="0" cy="0"/>
        </a:xfrm>
      </p:grpSpPr>
      <p:sp>
        <p:nvSpPr>
          <p:cNvPr id="1357" name="Google Shape;1357;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8" name="Google Shape;1358;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4"/>
        <p:cNvGrpSpPr/>
        <p:nvPr/>
      </p:nvGrpSpPr>
      <p:grpSpPr>
        <a:xfrm>
          <a:off x="0" y="0"/>
          <a:ext cx="0" cy="0"/>
          <a:chOff x="0" y="0"/>
          <a:chExt cx="0" cy="0"/>
        </a:xfrm>
      </p:grpSpPr>
      <p:sp>
        <p:nvSpPr>
          <p:cNvPr id="1365" name="Google Shape;1365;p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6" name="Google Shape;1366;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2"/>
        <p:cNvGrpSpPr/>
        <p:nvPr/>
      </p:nvGrpSpPr>
      <p:grpSpPr>
        <a:xfrm>
          <a:off x="0" y="0"/>
          <a:ext cx="0" cy="0"/>
          <a:chOff x="0" y="0"/>
          <a:chExt cx="0" cy="0"/>
        </a:xfrm>
      </p:grpSpPr>
      <p:sp>
        <p:nvSpPr>
          <p:cNvPr id="1403" name="Google Shape;1403;p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4" name="Google Shape;1404;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83631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theme" Target="../theme/theme2.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image" Target="../media/image1.pn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 id="2147483745"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2/14/2026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661.png"/><Relationship Id="rId5" Type="http://schemas.openxmlformats.org/officeDocument/2006/relationships/customXml" Target="../ink/ink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1711.png"/><Relationship Id="rId5" Type="http://schemas.openxmlformats.org/officeDocument/2006/relationships/customXml" Target="../ink/ink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3.png"/><Relationship Id="rId11" Type="http://schemas.openxmlformats.org/officeDocument/2006/relationships/image" Target="../media/image4.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jp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1.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1.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9.jpeg"/><Relationship Id="rId7" Type="http://schemas.openxmlformats.org/officeDocument/2006/relationships/image" Target="../media/image23.tiff"/><Relationship Id="rId2" Type="http://schemas.openxmlformats.org/officeDocument/2006/relationships/notesSlide" Target="../notesSlides/notesSlide9.xml"/><Relationship Id="rId1" Type="http://schemas.openxmlformats.org/officeDocument/2006/relationships/slideLayout" Target="../slideLayouts/slideLayout38.xml"/><Relationship Id="rId6" Type="http://schemas.openxmlformats.org/officeDocument/2006/relationships/image" Target="../media/image22.tiff"/><Relationship Id="rId5" Type="http://schemas.openxmlformats.org/officeDocument/2006/relationships/image" Target="../media/image21.tiff"/><Relationship Id="rId4" Type="http://schemas.openxmlformats.org/officeDocument/2006/relationships/image" Target="../media/image20.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DAY-21</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Business Object</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Fiori Elements</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Annotations</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EML</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7"/>
        <p:cNvGrpSpPr/>
        <p:nvPr/>
      </p:nvGrpSpPr>
      <p:grpSpPr>
        <a:xfrm>
          <a:off x="0" y="0"/>
          <a:ext cx="0" cy="0"/>
          <a:chOff x="0" y="0"/>
          <a:chExt cx="0" cy="0"/>
        </a:xfrm>
      </p:grpSpPr>
      <p:sp>
        <p:nvSpPr>
          <p:cNvPr id="1279" name="Google Shape;1279;p56"/>
          <p:cNvSpPr txBox="1"/>
          <p:nvPr/>
        </p:nvSpPr>
        <p:spPr>
          <a:xfrm>
            <a:off x="224979" y="788088"/>
            <a:ext cx="11806237"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From structural point of view, a business object consists of a tree of entities (cds) that are linked in compositions. Every entity in this composition tree is an element that is modeled with CDS view entities. For our demo travel scenario we will implement 3 level composition tree.</a:t>
            </a:r>
            <a:endParaRPr sz="1800">
              <a:solidFill>
                <a:schemeClr val="dk1"/>
              </a:solidFill>
              <a:latin typeface="Calibri"/>
              <a:ea typeface="Calibri"/>
              <a:cs typeface="Calibri"/>
              <a:sym typeface="Calibri"/>
            </a:endParaRPr>
          </a:p>
        </p:txBody>
      </p:sp>
      <p:sp>
        <p:nvSpPr>
          <p:cNvPr id="1280" name="Google Shape;1280;p56"/>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Business Object Definition</a:t>
            </a:r>
            <a:endParaRPr sz="3599" dirty="0">
              <a:solidFill>
                <a:srgbClr val="FFC000"/>
              </a:solidFill>
              <a:latin typeface="Cooper Black" panose="0208090404030B020404" pitchFamily="18" charset="0"/>
              <a:ea typeface="Corben"/>
              <a:cs typeface="Corben"/>
              <a:sym typeface="Corben"/>
            </a:endParaRPr>
          </a:p>
        </p:txBody>
      </p:sp>
      <p:sp>
        <p:nvSpPr>
          <p:cNvPr id="1283" name="Google Shape;1283;p56"/>
          <p:cNvSpPr/>
          <p:nvPr/>
        </p:nvSpPr>
        <p:spPr>
          <a:xfrm>
            <a:off x="3406050" y="2157172"/>
            <a:ext cx="2232248" cy="92333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a:t>
            </a:r>
            <a:r>
              <a:rPr lang="en-US" sz="2400" dirty="0" err="1">
                <a:solidFill>
                  <a:schemeClr val="lt1"/>
                </a:solidFill>
                <a:latin typeface="Calibri"/>
                <a:ea typeface="Calibri"/>
                <a:cs typeface="Calibri"/>
                <a:sym typeface="Calibri"/>
              </a:rPr>
              <a:t>dmo</a:t>
            </a:r>
            <a:r>
              <a:rPr lang="en-US" sz="2400" dirty="0">
                <a:solidFill>
                  <a:schemeClr val="lt1"/>
                </a:solidFill>
                <a:latin typeface="Calibri"/>
                <a:ea typeface="Calibri"/>
                <a:cs typeface="Calibri"/>
                <a:sym typeface="Calibri"/>
              </a:rPr>
              <a:t>/</a:t>
            </a:r>
            <a:r>
              <a:rPr lang="en-US" sz="2400" dirty="0" err="1">
                <a:solidFill>
                  <a:schemeClr val="lt1"/>
                </a:solidFill>
                <a:latin typeface="Calibri"/>
                <a:ea typeface="Calibri"/>
                <a:cs typeface="Calibri"/>
                <a:sym typeface="Calibri"/>
              </a:rPr>
              <a:t>travel_m</a:t>
            </a:r>
            <a:endParaRPr sz="2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(root entity)</a:t>
            </a:r>
            <a:endParaRPr dirty="0"/>
          </a:p>
        </p:txBody>
      </p:sp>
      <p:sp>
        <p:nvSpPr>
          <p:cNvPr id="1284" name="Google Shape;1284;p56"/>
          <p:cNvSpPr/>
          <p:nvPr/>
        </p:nvSpPr>
        <p:spPr>
          <a:xfrm>
            <a:off x="6118928" y="3429000"/>
            <a:ext cx="2927811" cy="92333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a:t>
            </a:r>
            <a:r>
              <a:rPr lang="en-US" sz="2400" dirty="0" err="1">
                <a:solidFill>
                  <a:schemeClr val="lt1"/>
                </a:solidFill>
                <a:latin typeface="Calibri"/>
                <a:ea typeface="Calibri"/>
                <a:cs typeface="Calibri"/>
                <a:sym typeface="Calibri"/>
              </a:rPr>
              <a:t>dmo</a:t>
            </a:r>
            <a:r>
              <a:rPr lang="en-US" sz="2400" dirty="0">
                <a:solidFill>
                  <a:schemeClr val="lt1"/>
                </a:solidFill>
                <a:latin typeface="Calibri"/>
                <a:ea typeface="Calibri"/>
                <a:cs typeface="Calibri"/>
                <a:sym typeface="Calibri"/>
              </a:rPr>
              <a:t>/</a:t>
            </a:r>
            <a:r>
              <a:rPr lang="en-US" sz="2400" dirty="0" err="1">
                <a:solidFill>
                  <a:schemeClr val="lt1"/>
                </a:solidFill>
                <a:latin typeface="Calibri"/>
                <a:ea typeface="Calibri"/>
                <a:cs typeface="Calibri"/>
                <a:sym typeface="Calibri"/>
              </a:rPr>
              <a:t>booking_m</a:t>
            </a:r>
            <a:endParaRPr sz="2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(child entity)</a:t>
            </a:r>
            <a:endParaRPr dirty="0"/>
          </a:p>
        </p:txBody>
      </p:sp>
      <p:sp>
        <p:nvSpPr>
          <p:cNvPr id="1285" name="Google Shape;1285;p56"/>
          <p:cNvSpPr/>
          <p:nvPr/>
        </p:nvSpPr>
        <p:spPr>
          <a:xfrm>
            <a:off x="8542684" y="4794633"/>
            <a:ext cx="3287851" cy="92333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a:t>
            </a:r>
            <a:r>
              <a:rPr lang="en-US" sz="2400" dirty="0" err="1">
                <a:solidFill>
                  <a:schemeClr val="lt1"/>
                </a:solidFill>
                <a:latin typeface="Calibri"/>
                <a:ea typeface="Calibri"/>
                <a:cs typeface="Calibri"/>
                <a:sym typeface="Calibri"/>
              </a:rPr>
              <a:t>dmo</a:t>
            </a:r>
            <a:r>
              <a:rPr lang="en-US" sz="2400" dirty="0">
                <a:solidFill>
                  <a:schemeClr val="lt1"/>
                </a:solidFill>
                <a:latin typeface="Calibri"/>
                <a:ea typeface="Calibri"/>
                <a:cs typeface="Calibri"/>
                <a:sym typeface="Calibri"/>
              </a:rPr>
              <a:t>/</a:t>
            </a:r>
            <a:r>
              <a:rPr lang="en-US" sz="2400" dirty="0" err="1">
                <a:solidFill>
                  <a:schemeClr val="lt1"/>
                </a:solidFill>
                <a:latin typeface="Calibri"/>
                <a:ea typeface="Calibri"/>
                <a:cs typeface="Calibri"/>
                <a:sym typeface="Calibri"/>
              </a:rPr>
              <a:t>bookingsuppl_m</a:t>
            </a:r>
            <a:endParaRPr sz="2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(child entity)</a:t>
            </a:r>
            <a:endParaRPr dirty="0"/>
          </a:p>
        </p:txBody>
      </p:sp>
      <p:cxnSp>
        <p:nvCxnSpPr>
          <p:cNvPr id="1286" name="Google Shape;1286;p56"/>
          <p:cNvCxnSpPr>
            <a:stCxn id="1287" idx="3"/>
            <a:endCxn id="1284" idx="0"/>
          </p:cNvCxnSpPr>
          <p:nvPr/>
        </p:nvCxnSpPr>
        <p:spPr>
          <a:xfrm>
            <a:off x="6022404" y="2618837"/>
            <a:ext cx="1560300" cy="810300"/>
          </a:xfrm>
          <a:prstGeom prst="bentConnector2">
            <a:avLst/>
          </a:prstGeom>
          <a:noFill/>
          <a:ln w="9525" cap="flat" cmpd="sng">
            <a:solidFill>
              <a:schemeClr val="accent1"/>
            </a:solidFill>
            <a:prstDash val="solid"/>
            <a:miter lim="800000"/>
            <a:headEnd type="none" w="sm" len="sm"/>
            <a:tailEnd type="none" w="sm" len="sm"/>
          </a:ln>
        </p:spPr>
      </p:cxnSp>
      <p:cxnSp>
        <p:nvCxnSpPr>
          <p:cNvPr id="1288" name="Google Shape;1288;p56"/>
          <p:cNvCxnSpPr>
            <a:stCxn id="1284" idx="3"/>
            <a:endCxn id="1285" idx="0"/>
          </p:cNvCxnSpPr>
          <p:nvPr/>
        </p:nvCxnSpPr>
        <p:spPr>
          <a:xfrm>
            <a:off x="9046739" y="3890665"/>
            <a:ext cx="1140000" cy="903900"/>
          </a:xfrm>
          <a:prstGeom prst="bentConnector2">
            <a:avLst/>
          </a:prstGeom>
          <a:noFill/>
          <a:ln w="9525" cap="flat" cmpd="sng">
            <a:solidFill>
              <a:schemeClr val="accent1"/>
            </a:solidFill>
            <a:prstDash val="solid"/>
            <a:miter lim="800000"/>
            <a:headEnd type="none" w="sm" len="sm"/>
            <a:tailEnd type="none" w="sm" len="sm"/>
          </a:ln>
        </p:spPr>
      </p:cxnSp>
      <p:sp>
        <p:nvSpPr>
          <p:cNvPr id="1287" name="Google Shape;1287;p56"/>
          <p:cNvSpPr/>
          <p:nvPr/>
        </p:nvSpPr>
        <p:spPr>
          <a:xfrm>
            <a:off x="5662364" y="2474821"/>
            <a:ext cx="360040" cy="288032"/>
          </a:xfrm>
          <a:prstGeom prst="flowChartDecision">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289" name="Google Shape;1289;p56"/>
          <p:cNvSpPr/>
          <p:nvPr/>
        </p:nvSpPr>
        <p:spPr>
          <a:xfrm>
            <a:off x="8974732" y="3746649"/>
            <a:ext cx="360040" cy="288032"/>
          </a:xfrm>
          <a:prstGeom prst="flowChartDecision">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290" name="Google Shape;1290;p56"/>
          <p:cNvSpPr/>
          <p:nvPr/>
        </p:nvSpPr>
        <p:spPr>
          <a:xfrm>
            <a:off x="2888090" y="1852392"/>
            <a:ext cx="9001000" cy="4056636"/>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291" name="Google Shape;1291;p56"/>
          <p:cNvSpPr/>
          <p:nvPr/>
        </p:nvSpPr>
        <p:spPr>
          <a:xfrm>
            <a:off x="2002215" y="3429000"/>
            <a:ext cx="923845" cy="648072"/>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292" name="Google Shape;1292;p56"/>
          <p:cNvSpPr txBox="1"/>
          <p:nvPr/>
        </p:nvSpPr>
        <p:spPr>
          <a:xfrm>
            <a:off x="609540" y="3331150"/>
            <a:ext cx="177723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Business Object</a:t>
            </a:r>
            <a:endParaRPr/>
          </a:p>
        </p:txBody>
      </p:sp>
      <p:sp>
        <p:nvSpPr>
          <p:cNvPr id="1293" name="Google Shape;1293;p56"/>
          <p:cNvSpPr txBox="1"/>
          <p:nvPr/>
        </p:nvSpPr>
        <p:spPr>
          <a:xfrm>
            <a:off x="6382444" y="2132856"/>
            <a:ext cx="129614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Calibri"/>
                <a:ea typeface="Calibri"/>
                <a:cs typeface="Calibri"/>
                <a:sym typeface="Calibri"/>
              </a:rPr>
              <a:t>1..N</a:t>
            </a:r>
            <a:endParaRPr dirty="0"/>
          </a:p>
        </p:txBody>
      </p:sp>
      <p:sp>
        <p:nvSpPr>
          <p:cNvPr id="1294" name="Google Shape;1294;p56"/>
          <p:cNvSpPr txBox="1"/>
          <p:nvPr/>
        </p:nvSpPr>
        <p:spPr>
          <a:xfrm>
            <a:off x="9429750" y="3506858"/>
            <a:ext cx="129614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1..N</a:t>
            </a:r>
            <a:endParaRPr/>
          </a:p>
        </p:txBody>
      </p:sp>
      <p:sp>
        <p:nvSpPr>
          <p:cNvPr id="19"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20"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C5072184-3A04-1131-119B-3F599F9932BA}"/>
              </a:ext>
            </a:extLst>
          </p:cNvPr>
          <p:cNvPicPr>
            <a:picLocks noChangeAspect="1"/>
          </p:cNvPicPr>
          <p:nvPr/>
        </p:nvPicPr>
        <p:blipFill>
          <a:blip r:embed="rId4"/>
          <a:stretch>
            <a:fillRect/>
          </a:stretch>
        </p:blipFill>
        <p:spPr>
          <a:xfrm>
            <a:off x="1689271" y="3524230"/>
            <a:ext cx="4153113" cy="2717940"/>
          </a:xfrm>
          <a:prstGeom prst="rect">
            <a:avLst/>
          </a:prstGeom>
        </p:spPr>
      </p:pic>
      <mc:AlternateContent xmlns:mc="http://schemas.openxmlformats.org/markup-compatibility/2006" xmlns:p14="http://schemas.microsoft.com/office/powerpoint/2010/main">
        <mc:Choice Requires="p14">
          <p:contentPart p14:bwMode="auto" r:id="rId5">
            <p14:nvContentPartPr>
              <p14:cNvPr id="39" name="Ink 38">
                <a:extLst>
                  <a:ext uri="{FF2B5EF4-FFF2-40B4-BE49-F238E27FC236}">
                    <a16:creationId xmlns:a16="http://schemas.microsoft.com/office/drawing/2014/main" id="{ECC93DCF-13D2-1C7C-853D-E27752467ACD}"/>
                  </a:ext>
                </a:extLst>
              </p14:cNvPr>
              <p14:cNvContentPartPr/>
              <p14:nvPr/>
            </p14:nvContentPartPr>
            <p14:xfrm>
              <a:off x="-527828" y="4995382"/>
              <a:ext cx="11520" cy="360"/>
            </p14:xfrm>
          </p:contentPart>
        </mc:Choice>
        <mc:Fallback xmlns="">
          <p:pic>
            <p:nvPicPr>
              <p:cNvPr id="39" name="Ink 38">
                <a:extLst>
                  <a:ext uri="{FF2B5EF4-FFF2-40B4-BE49-F238E27FC236}">
                    <a16:creationId xmlns:a16="http://schemas.microsoft.com/office/drawing/2014/main" id="{ECC93DCF-13D2-1C7C-853D-E27752467ACD}"/>
                  </a:ext>
                </a:extLst>
              </p:cNvPr>
              <p:cNvPicPr/>
              <p:nvPr/>
            </p:nvPicPr>
            <p:blipFill>
              <a:blip r:embed="rId6"/>
              <a:stretch>
                <a:fillRect/>
              </a:stretch>
            </p:blipFill>
            <p:spPr>
              <a:xfrm>
                <a:off x="-536828" y="4986742"/>
                <a:ext cx="29160" cy="1800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Flow – Processor and Approver</a:t>
            </a:r>
            <a:endParaRPr sz="3599" dirty="0">
              <a:solidFill>
                <a:srgbClr val="FFC000"/>
              </a:solidFill>
              <a:latin typeface="Cooper Black" panose="0208090404030B020404" pitchFamily="18" charset="0"/>
              <a:ea typeface="Corben"/>
              <a:cs typeface="Corben"/>
              <a:sym typeface="Corben"/>
            </a:endParaRPr>
          </a:p>
        </p:txBody>
      </p:sp>
      <p:sp>
        <p:nvSpPr>
          <p:cNvPr id="1316" name="Google Shape;1316;p59"/>
          <p:cNvSpPr/>
          <p:nvPr/>
        </p:nvSpPr>
        <p:spPr>
          <a:xfrm>
            <a:off x="4438228" y="4869160"/>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Business Object (definition)</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Includes the Travel, Booking and Booking Supplement CDS entities</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100 fields</a:t>
            </a:r>
            <a:endParaRPr dirty="0"/>
          </a:p>
        </p:txBody>
      </p:sp>
      <p:sp>
        <p:nvSpPr>
          <p:cNvPr id="1317" name="Google Shape;1317;p59"/>
          <p:cNvSpPr/>
          <p:nvPr/>
        </p:nvSpPr>
        <p:spPr>
          <a:xfrm>
            <a:off x="405780" y="647098"/>
            <a:ext cx="3096344" cy="646203"/>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Processor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Create, update, delete, copy travel</a:t>
            </a:r>
            <a:endParaRPr/>
          </a:p>
        </p:txBody>
      </p:sp>
      <p:sp>
        <p:nvSpPr>
          <p:cNvPr id="1318" name="Google Shape;1318;p59"/>
          <p:cNvSpPr/>
          <p:nvPr/>
        </p:nvSpPr>
        <p:spPr>
          <a:xfrm>
            <a:off x="8882191" y="691641"/>
            <a:ext cx="3024336" cy="646203"/>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Approver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Display the travel request data</a:t>
            </a:r>
            <a:endParaRPr/>
          </a:p>
        </p:txBody>
      </p:sp>
      <p:sp>
        <p:nvSpPr>
          <p:cNvPr id="1319" name="Google Shape;1319;p59"/>
          <p:cNvSpPr/>
          <p:nvPr/>
        </p:nvSpPr>
        <p:spPr>
          <a:xfrm>
            <a:off x="456151" y="4849657"/>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Business Object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30 fields to internet</a:t>
            </a:r>
            <a:endParaRPr dirty="0"/>
          </a:p>
        </p:txBody>
      </p:sp>
      <p:sp>
        <p:nvSpPr>
          <p:cNvPr id="1320" name="Google Shape;1320;p59"/>
          <p:cNvSpPr/>
          <p:nvPr/>
        </p:nvSpPr>
        <p:spPr>
          <a:xfrm>
            <a:off x="8882191" y="4869160"/>
            <a:ext cx="3024336" cy="10801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Business Object Projection </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25 fields</a:t>
            </a:r>
            <a:endParaRPr/>
          </a:p>
        </p:txBody>
      </p:sp>
      <p:cxnSp>
        <p:nvCxnSpPr>
          <p:cNvPr id="1321" name="Google Shape;1321;p59"/>
          <p:cNvCxnSpPr>
            <a:stCxn id="1316" idx="1"/>
            <a:endCxn id="1319" idx="3"/>
          </p:cNvCxnSpPr>
          <p:nvPr/>
        </p:nvCxnSpPr>
        <p:spPr>
          <a:xfrm flipH="1" flipV="1">
            <a:off x="3480487" y="5389717"/>
            <a:ext cx="957741" cy="19503"/>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2" name="Google Shape;1322;p59"/>
          <p:cNvCxnSpPr>
            <a:stCxn id="1316" idx="3"/>
            <a:endCxn id="1320" idx="1"/>
          </p:cNvCxnSpPr>
          <p:nvPr/>
        </p:nvCxnSpPr>
        <p:spPr>
          <a:xfrm>
            <a:off x="7534572" y="5409220"/>
            <a:ext cx="1347600" cy="0"/>
          </a:xfrm>
          <a:prstGeom prst="straightConnector1">
            <a:avLst/>
          </a:prstGeom>
          <a:noFill/>
          <a:ln w="9525" cap="flat" cmpd="sng">
            <a:solidFill>
              <a:schemeClr val="accent1"/>
            </a:solidFill>
            <a:prstDash val="solid"/>
            <a:miter lim="800000"/>
            <a:headEnd type="none" w="sm" len="sm"/>
            <a:tailEnd type="triangle" w="med" len="med"/>
          </a:ln>
        </p:spPr>
      </p:cxnSp>
      <p:sp>
        <p:nvSpPr>
          <p:cNvPr id="1323" name="Google Shape;1323;p59"/>
          <p:cNvSpPr/>
          <p:nvPr/>
        </p:nvSpPr>
        <p:spPr>
          <a:xfrm>
            <a:off x="405780" y="2132856"/>
            <a:ext cx="3024336" cy="72008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Processor Projection</a:t>
            </a:r>
            <a:endParaRPr dirty="0"/>
          </a:p>
        </p:txBody>
      </p:sp>
      <p:sp>
        <p:nvSpPr>
          <p:cNvPr id="1324" name="Google Shape;1324;p59"/>
          <p:cNvSpPr/>
          <p:nvPr/>
        </p:nvSpPr>
        <p:spPr>
          <a:xfrm>
            <a:off x="8882191" y="2155416"/>
            <a:ext cx="3024336"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MDE for approver Projection</a:t>
            </a:r>
            <a:endParaRPr/>
          </a:p>
        </p:txBody>
      </p:sp>
      <p:cxnSp>
        <p:nvCxnSpPr>
          <p:cNvPr id="1325" name="Google Shape;1325;p59"/>
          <p:cNvCxnSpPr>
            <a:stCxn id="1319" idx="0"/>
            <a:endCxn id="1323" idx="2"/>
          </p:cNvCxnSpPr>
          <p:nvPr/>
        </p:nvCxnSpPr>
        <p:spPr>
          <a:xfrm flipH="1" flipV="1">
            <a:off x="1917948" y="2852936"/>
            <a:ext cx="50371" cy="1996721"/>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6" name="Google Shape;1326;p59"/>
          <p:cNvCxnSpPr>
            <a:stCxn id="1320" idx="0"/>
            <a:endCxn id="1324" idx="2"/>
          </p:cNvCxnSpPr>
          <p:nvPr/>
        </p:nvCxnSpPr>
        <p:spPr>
          <a:xfrm rot="10800000">
            <a:off x="10394359" y="2875360"/>
            <a:ext cx="0" cy="1993800"/>
          </a:xfrm>
          <a:prstGeom prst="straightConnector1">
            <a:avLst/>
          </a:prstGeom>
          <a:noFill/>
          <a:ln w="9525" cap="flat" cmpd="sng">
            <a:solidFill>
              <a:schemeClr val="accent1"/>
            </a:solidFill>
            <a:prstDash val="solid"/>
            <a:miter lim="800000"/>
            <a:headEnd type="none" w="sm" len="sm"/>
            <a:tailEnd type="triangle" w="med" len="med"/>
          </a:ln>
        </p:spPr>
      </p:cxnSp>
      <p:sp>
        <p:nvSpPr>
          <p:cNvPr id="1327" name="Google Shape;1327;p59"/>
          <p:cNvSpPr/>
          <p:nvPr/>
        </p:nvSpPr>
        <p:spPr>
          <a:xfrm>
            <a:off x="405780" y="1412776"/>
            <a:ext cx="1584176"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definition</a:t>
            </a:r>
            <a:endParaRPr dirty="0"/>
          </a:p>
        </p:txBody>
      </p:sp>
      <p:sp>
        <p:nvSpPr>
          <p:cNvPr id="1328" name="Google Shape;1328;p59"/>
          <p:cNvSpPr/>
          <p:nvPr/>
        </p:nvSpPr>
        <p:spPr>
          <a:xfrm>
            <a:off x="2061964" y="1416237"/>
            <a:ext cx="1440160"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Binding</a:t>
            </a:r>
            <a:endParaRPr dirty="0"/>
          </a:p>
        </p:txBody>
      </p:sp>
      <p:sp>
        <p:nvSpPr>
          <p:cNvPr id="1329" name="Google Shape;1329;p59"/>
          <p:cNvSpPr/>
          <p:nvPr/>
        </p:nvSpPr>
        <p:spPr>
          <a:xfrm>
            <a:off x="8855026" y="1464670"/>
            <a:ext cx="1584176"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30" name="Google Shape;1330;p59"/>
          <p:cNvSpPr/>
          <p:nvPr/>
        </p:nvSpPr>
        <p:spPr>
          <a:xfrm>
            <a:off x="10511210" y="1468131"/>
            <a:ext cx="1440160"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Binding</a:t>
            </a:r>
            <a:endParaRPr/>
          </a:p>
        </p:txBody>
      </p:sp>
      <p:pic>
        <p:nvPicPr>
          <p:cNvPr id="1332" name="Google Shape;1332;p59" descr="A green circle with a white tick in it&#10;&#10;Description automatically generated"/>
          <p:cNvPicPr preferRelativeResize="0"/>
          <p:nvPr/>
        </p:nvPicPr>
        <p:blipFill rotWithShape="1">
          <a:blip r:embed="rId3">
            <a:alphaModFix/>
          </a:blip>
          <a:srcRect/>
          <a:stretch/>
        </p:blipFill>
        <p:spPr>
          <a:xfrm>
            <a:off x="66713" y="6379793"/>
            <a:ext cx="457206" cy="457206"/>
          </a:xfrm>
          <a:prstGeom prst="rect">
            <a:avLst/>
          </a:prstGeom>
          <a:noFill/>
          <a:ln>
            <a:noFill/>
          </a:ln>
        </p:spPr>
      </p:pic>
      <p:sp>
        <p:nvSpPr>
          <p:cNvPr id="1336" name="Google Shape;1336;p59"/>
          <p:cNvSpPr/>
          <p:nvPr/>
        </p:nvSpPr>
        <p:spPr>
          <a:xfrm>
            <a:off x="4418057" y="3560437"/>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Behavior Definition (BDEF)</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Tell RAP framework regarding our operations which needs to be supported for BO (managed)</a:t>
            </a:r>
            <a:endParaRPr dirty="0"/>
          </a:p>
        </p:txBody>
      </p:sp>
      <p:sp>
        <p:nvSpPr>
          <p:cNvPr id="1337" name="Google Shape;1337;p59"/>
          <p:cNvSpPr/>
          <p:nvPr/>
        </p:nvSpPr>
        <p:spPr>
          <a:xfrm>
            <a:off x="405780" y="3555658"/>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Expose what is needed by a processor role in company</a:t>
            </a:r>
            <a:endParaRPr dirty="0"/>
          </a:p>
        </p:txBody>
      </p:sp>
      <p:cxnSp>
        <p:nvCxnSpPr>
          <p:cNvPr id="1338" name="Google Shape;1338;p59"/>
          <p:cNvCxnSpPr/>
          <p:nvPr/>
        </p:nvCxnSpPr>
        <p:spPr>
          <a:xfrm rot="10800000">
            <a:off x="3409945" y="4095718"/>
            <a:ext cx="1008112" cy="0"/>
          </a:xfrm>
          <a:prstGeom prst="straightConnector1">
            <a:avLst/>
          </a:prstGeom>
          <a:noFill/>
          <a:ln w="9525" cap="flat" cmpd="sng">
            <a:solidFill>
              <a:schemeClr val="accent1"/>
            </a:solidFill>
            <a:prstDash val="solid"/>
            <a:miter lim="800000"/>
            <a:headEnd type="none" w="sm" len="sm"/>
            <a:tailEnd type="triangle" w="med" len="med"/>
          </a:ln>
        </p:spPr>
      </p:cxnSp>
      <p:sp>
        <p:nvSpPr>
          <p:cNvPr id="1339" name="Google Shape;1339;p59"/>
          <p:cNvSpPr/>
          <p:nvPr/>
        </p:nvSpPr>
        <p:spPr>
          <a:xfrm>
            <a:off x="8853228" y="3557570"/>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BDEF Projection</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Expose what is needed by a approver role in company</a:t>
            </a:r>
            <a:endParaRPr/>
          </a:p>
        </p:txBody>
      </p:sp>
      <p:cxnSp>
        <p:nvCxnSpPr>
          <p:cNvPr id="1340" name="Google Shape;1340;p59"/>
          <p:cNvCxnSpPr/>
          <p:nvPr/>
        </p:nvCxnSpPr>
        <p:spPr>
          <a:xfrm>
            <a:off x="7462564" y="4095718"/>
            <a:ext cx="1347619" cy="0"/>
          </a:xfrm>
          <a:prstGeom prst="straightConnector1">
            <a:avLst/>
          </a:prstGeom>
          <a:noFill/>
          <a:ln w="9525" cap="flat" cmpd="sng">
            <a:solidFill>
              <a:schemeClr val="accent1"/>
            </a:solidFill>
            <a:prstDash val="solid"/>
            <a:miter lim="800000"/>
            <a:headEnd type="none" w="sm" len="sm"/>
            <a:tailEnd type="triangle" w="med" len="med"/>
          </a:ln>
        </p:spPr>
      </p:cxn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2" name="Google Shape;1332;p59" descr="A green circle with a white tick in it&#10;&#10;Description automatically generated">
            <a:extLst>
              <a:ext uri="{FF2B5EF4-FFF2-40B4-BE49-F238E27FC236}">
                <a16:creationId xmlns:a16="http://schemas.microsoft.com/office/drawing/2014/main" id="{0429EB48-01CB-8827-1DBD-1E4A285610D4}"/>
              </a:ext>
            </a:extLst>
          </p:cNvPr>
          <p:cNvPicPr preferRelativeResize="0"/>
          <p:nvPr/>
        </p:nvPicPr>
        <p:blipFill rotWithShape="1">
          <a:blip r:embed="rId3">
            <a:alphaModFix/>
          </a:blip>
          <a:srcRect/>
          <a:stretch/>
        </p:blipFill>
        <p:spPr>
          <a:xfrm>
            <a:off x="4248150" y="4774394"/>
            <a:ext cx="457206" cy="457206"/>
          </a:xfrm>
          <a:prstGeom prst="rect">
            <a:avLst/>
          </a:prstGeom>
          <a:noFill/>
          <a:ln>
            <a:noFill/>
          </a:ln>
        </p:spPr>
      </p:pic>
      <p:pic>
        <p:nvPicPr>
          <p:cNvPr id="7" name="Google Shape;1332;p59" descr="A green circle with a white tick in it&#10;&#10;Description automatically generated">
            <a:extLst>
              <a:ext uri="{FF2B5EF4-FFF2-40B4-BE49-F238E27FC236}">
                <a16:creationId xmlns:a16="http://schemas.microsoft.com/office/drawing/2014/main" id="{275E11E7-EB7A-1F1D-2E19-F8932567AEA4}"/>
              </a:ext>
            </a:extLst>
          </p:cNvPr>
          <p:cNvPicPr preferRelativeResize="0"/>
          <p:nvPr/>
        </p:nvPicPr>
        <p:blipFill rotWithShape="1">
          <a:blip r:embed="rId3">
            <a:alphaModFix/>
          </a:blip>
          <a:srcRect/>
          <a:stretch/>
        </p:blipFill>
        <p:spPr>
          <a:xfrm>
            <a:off x="177177" y="4768047"/>
            <a:ext cx="457206" cy="457206"/>
          </a:xfrm>
          <a:prstGeom prst="rect">
            <a:avLst/>
          </a:prstGeom>
          <a:noFill/>
          <a:ln>
            <a:noFill/>
          </a:ln>
        </p:spPr>
      </p:pic>
      <p:pic>
        <p:nvPicPr>
          <p:cNvPr id="9" name="Google Shape;1332;p59" descr="A green circle with a white tick in it&#10;&#10;Description automatically generated">
            <a:extLst>
              <a:ext uri="{FF2B5EF4-FFF2-40B4-BE49-F238E27FC236}">
                <a16:creationId xmlns:a16="http://schemas.microsoft.com/office/drawing/2014/main" id="{848ED8E5-D248-DE40-B53A-A7365D159CED}"/>
              </a:ext>
            </a:extLst>
          </p:cNvPr>
          <p:cNvPicPr preferRelativeResize="0"/>
          <p:nvPr/>
        </p:nvPicPr>
        <p:blipFill rotWithShape="1">
          <a:blip r:embed="rId3">
            <a:alphaModFix/>
          </a:blip>
          <a:srcRect/>
          <a:stretch/>
        </p:blipFill>
        <p:spPr>
          <a:xfrm>
            <a:off x="218123" y="1374056"/>
            <a:ext cx="457206" cy="457206"/>
          </a:xfrm>
          <a:prstGeom prst="rect">
            <a:avLst/>
          </a:prstGeom>
          <a:noFill/>
          <a:ln>
            <a:noFill/>
          </a:ln>
        </p:spPr>
      </p:pic>
      <p:pic>
        <p:nvPicPr>
          <p:cNvPr id="10" name="Google Shape;1332;p59" descr="A green circle with a white tick in it&#10;&#10;Description automatically generated">
            <a:extLst>
              <a:ext uri="{FF2B5EF4-FFF2-40B4-BE49-F238E27FC236}">
                <a16:creationId xmlns:a16="http://schemas.microsoft.com/office/drawing/2014/main" id="{90224146-C94A-8972-411C-F07D48360555}"/>
              </a:ext>
            </a:extLst>
          </p:cNvPr>
          <p:cNvPicPr preferRelativeResize="0"/>
          <p:nvPr/>
        </p:nvPicPr>
        <p:blipFill rotWithShape="1">
          <a:blip r:embed="rId3">
            <a:alphaModFix/>
          </a:blip>
          <a:srcRect/>
          <a:stretch/>
        </p:blipFill>
        <p:spPr>
          <a:xfrm>
            <a:off x="3333799" y="1297242"/>
            <a:ext cx="457206" cy="45720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1"/>
        <p:cNvGrpSpPr/>
        <p:nvPr/>
      </p:nvGrpSpPr>
      <p:grpSpPr>
        <a:xfrm>
          <a:off x="0" y="0"/>
          <a:ext cx="0" cy="0"/>
          <a:chOff x="0" y="0"/>
          <a:chExt cx="0" cy="0"/>
        </a:xfrm>
      </p:grpSpPr>
      <p:sp>
        <p:nvSpPr>
          <p:cNvPr id="1352" name="Google Shape;1352;p60"/>
          <p:cNvSpPr txBox="1"/>
          <p:nvPr/>
        </p:nvSpPr>
        <p:spPr>
          <a:xfrm>
            <a:off x="172422" y="139530"/>
            <a:ext cx="10967086" cy="710711"/>
          </a:xfrm>
          <a:prstGeom prst="rect">
            <a:avLst/>
          </a:prstGeom>
          <a:noFill/>
          <a:ln>
            <a:noFill/>
          </a:ln>
        </p:spPr>
        <p:txBody>
          <a:bodyPr spcFirstLastPara="1" wrap="square" lIns="121825" tIns="60900" rIns="121825" bIns="60900" anchor="ctr" anchorCtr="0">
            <a:noAutofit/>
          </a:bodyPr>
          <a:lstStyle/>
          <a:p>
            <a:pPr marL="0" marR="0" lvl="0" indent="0" algn="l" rtl="0">
              <a:spcBef>
                <a:spcPts val="0"/>
              </a:spcBef>
              <a:spcAft>
                <a:spcPts val="0"/>
              </a:spcAft>
              <a:buClr>
                <a:srgbClr val="000000"/>
              </a:buClr>
              <a:buSzPts val="2398"/>
              <a:buFont typeface="Corben"/>
              <a:buNone/>
            </a:pPr>
            <a:r>
              <a:rPr lang="en-US" sz="3600" dirty="0">
                <a:solidFill>
                  <a:srgbClr val="FFC000"/>
                </a:solidFill>
                <a:latin typeface="Cooper Black" panose="0208090404030B020404" pitchFamily="18" charset="0"/>
                <a:ea typeface="Corben"/>
                <a:cs typeface="Corben"/>
                <a:sym typeface="Corben"/>
              </a:rPr>
              <a:t>SAP Fiori elements boosts SAP Fiori development efficiency</a:t>
            </a:r>
            <a:endParaRPr sz="2400" dirty="0">
              <a:solidFill>
                <a:srgbClr val="FFC000"/>
              </a:solidFill>
              <a:latin typeface="Cooper Black" panose="0208090404030B020404" pitchFamily="18" charset="0"/>
            </a:endParaRPr>
          </a:p>
        </p:txBody>
      </p:sp>
      <p:pic>
        <p:nvPicPr>
          <p:cNvPr id="1355" name="Google Shape;1355;p60"/>
          <p:cNvPicPr preferRelativeResize="0"/>
          <p:nvPr/>
        </p:nvPicPr>
        <p:blipFill rotWithShape="1">
          <a:blip r:embed="rId3">
            <a:alphaModFix/>
          </a:blip>
          <a:srcRect l="1412"/>
          <a:stretch/>
        </p:blipFill>
        <p:spPr>
          <a:xfrm>
            <a:off x="172421" y="972235"/>
            <a:ext cx="11922501" cy="5319486"/>
          </a:xfrm>
          <a:prstGeom prst="rect">
            <a:avLst/>
          </a:prstGeom>
          <a:noFill/>
          <a:ln>
            <a:noFill/>
          </a:ln>
        </p:spPr>
      </p:pic>
      <p:sp>
        <p:nvSpPr>
          <p:cNvPr id="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9"/>
        <p:cNvGrpSpPr/>
        <p:nvPr/>
      </p:nvGrpSpPr>
      <p:grpSpPr>
        <a:xfrm>
          <a:off x="0" y="0"/>
          <a:ext cx="0" cy="0"/>
          <a:chOff x="0" y="0"/>
          <a:chExt cx="0" cy="0"/>
        </a:xfrm>
      </p:grpSpPr>
      <p:sp>
        <p:nvSpPr>
          <p:cNvPr id="1360" name="Google Shape;1360;p61"/>
          <p:cNvSpPr txBox="1"/>
          <p:nvPr/>
        </p:nvSpPr>
        <p:spPr>
          <a:xfrm>
            <a:off x="172422" y="166826"/>
            <a:ext cx="10967086" cy="710711"/>
          </a:xfrm>
          <a:prstGeom prst="rect">
            <a:avLst/>
          </a:prstGeom>
          <a:noFill/>
          <a:ln>
            <a:noFill/>
          </a:ln>
        </p:spPr>
        <p:txBody>
          <a:bodyPr spcFirstLastPara="1" wrap="square" lIns="121825" tIns="60900" rIns="121825" bIns="60900" anchor="ctr" anchorCtr="0">
            <a:noAutofit/>
          </a:bodyPr>
          <a:lstStyle/>
          <a:p>
            <a:pPr marL="0" marR="0" lvl="0" indent="0" algn="l" rtl="0">
              <a:spcBef>
                <a:spcPts val="0"/>
              </a:spcBef>
              <a:spcAft>
                <a:spcPts val="0"/>
              </a:spcAft>
              <a:buClr>
                <a:srgbClr val="000000"/>
              </a:buClr>
              <a:buSzPts val="2798"/>
              <a:buFont typeface="Corben"/>
              <a:buNone/>
            </a:pPr>
            <a:r>
              <a:rPr lang="en-US" sz="3600" dirty="0">
                <a:solidFill>
                  <a:srgbClr val="FFC000"/>
                </a:solidFill>
                <a:latin typeface="Cooper Black" panose="0208090404030B020404" pitchFamily="18" charset="0"/>
                <a:ea typeface="Corben"/>
                <a:cs typeface="Corben"/>
                <a:sym typeface="Corben"/>
              </a:rPr>
              <a:t>SAP Fiori elements prioritizes efficiency over flexibility</a:t>
            </a:r>
            <a:endParaRPr sz="2000" dirty="0">
              <a:solidFill>
                <a:srgbClr val="FFC000"/>
              </a:solidFill>
              <a:latin typeface="Cooper Black" panose="0208090404030B020404" pitchFamily="18" charset="0"/>
            </a:endParaRPr>
          </a:p>
        </p:txBody>
      </p:sp>
      <p:pic>
        <p:nvPicPr>
          <p:cNvPr id="1363" name="Google Shape;1363;p61"/>
          <p:cNvPicPr preferRelativeResize="0"/>
          <p:nvPr/>
        </p:nvPicPr>
        <p:blipFill rotWithShape="1">
          <a:blip r:embed="rId3">
            <a:alphaModFix/>
          </a:blip>
          <a:srcRect/>
          <a:stretch/>
        </p:blipFill>
        <p:spPr>
          <a:xfrm>
            <a:off x="1718296" y="1028789"/>
            <a:ext cx="9097273" cy="5240912"/>
          </a:xfrm>
          <a:prstGeom prst="rect">
            <a:avLst/>
          </a:prstGeom>
          <a:noFill/>
          <a:ln>
            <a:noFill/>
          </a:ln>
        </p:spPr>
      </p:pic>
      <p:sp>
        <p:nvSpPr>
          <p:cNvPr id="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7"/>
        <p:cNvGrpSpPr/>
        <p:nvPr/>
      </p:nvGrpSpPr>
      <p:grpSpPr>
        <a:xfrm>
          <a:off x="0" y="0"/>
          <a:ext cx="0" cy="0"/>
          <a:chOff x="0" y="0"/>
          <a:chExt cx="0" cy="0"/>
        </a:xfrm>
      </p:grpSpPr>
      <p:sp>
        <p:nvSpPr>
          <p:cNvPr id="1368" name="Google Shape;1368;p62"/>
          <p:cNvSpPr/>
          <p:nvPr/>
        </p:nvSpPr>
        <p:spPr>
          <a:xfrm>
            <a:off x="7948374" y="5128245"/>
            <a:ext cx="3533838" cy="1235973"/>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1369" name="Google Shape;1369;p62"/>
          <p:cNvSpPr txBox="1"/>
          <p:nvPr/>
        </p:nvSpPr>
        <p:spPr>
          <a:xfrm>
            <a:off x="152551" y="103175"/>
            <a:ext cx="10967086" cy="710711"/>
          </a:xfrm>
          <a:prstGeom prst="rect">
            <a:avLst/>
          </a:prstGeom>
          <a:noFill/>
          <a:ln>
            <a:noFill/>
          </a:ln>
        </p:spPr>
        <p:txBody>
          <a:bodyPr spcFirstLastPara="1" wrap="square" lIns="121825" tIns="60900" rIns="121825" bIns="60900" anchor="ctr" anchorCtr="0">
            <a:noAutofit/>
          </a:bodyPr>
          <a:lstStyle/>
          <a:p>
            <a:pPr marL="0" marR="0" lvl="0" indent="0" algn="l" rtl="0">
              <a:spcBef>
                <a:spcPts val="0"/>
              </a:spcBef>
              <a:spcAft>
                <a:spcPts val="0"/>
              </a:spcAft>
              <a:buClr>
                <a:srgbClr val="000000"/>
              </a:buClr>
              <a:buSzPts val="2798"/>
              <a:buFont typeface="Corben"/>
              <a:buNone/>
            </a:pPr>
            <a:r>
              <a:rPr lang="en-US" sz="3600" dirty="0">
                <a:solidFill>
                  <a:srgbClr val="FFC000"/>
                </a:solidFill>
                <a:latin typeface="Cooper Black" panose="0208090404030B020404" pitchFamily="18" charset="0"/>
                <a:ea typeface="Corben"/>
                <a:cs typeface="Corben"/>
                <a:sym typeface="Corben"/>
              </a:rPr>
              <a:t>Developer Persona – Fiori Elements</a:t>
            </a:r>
            <a:endParaRPr sz="2000" dirty="0">
              <a:solidFill>
                <a:srgbClr val="FFC000"/>
              </a:solidFill>
              <a:latin typeface="Cooper Black" panose="0208090404030B020404" pitchFamily="18" charset="0"/>
            </a:endParaRPr>
          </a:p>
        </p:txBody>
      </p:sp>
      <p:pic>
        <p:nvPicPr>
          <p:cNvPr id="1372" name="Google Shape;1372;p62" descr="Naimul Kabir | Aspiring Mobile Developer"/>
          <p:cNvPicPr preferRelativeResize="0"/>
          <p:nvPr/>
        </p:nvPicPr>
        <p:blipFill rotWithShape="1">
          <a:blip r:embed="rId3">
            <a:alphaModFix/>
          </a:blip>
          <a:srcRect/>
          <a:stretch/>
        </p:blipFill>
        <p:spPr>
          <a:xfrm>
            <a:off x="8596757" y="296555"/>
            <a:ext cx="1830086" cy="1941000"/>
          </a:xfrm>
          <a:prstGeom prst="rect">
            <a:avLst/>
          </a:prstGeom>
          <a:noFill/>
          <a:ln>
            <a:noFill/>
          </a:ln>
        </p:spPr>
      </p:pic>
      <p:sp>
        <p:nvSpPr>
          <p:cNvPr id="1373" name="Google Shape;1373;p62"/>
          <p:cNvSpPr txBox="1"/>
          <p:nvPr/>
        </p:nvSpPr>
        <p:spPr>
          <a:xfrm>
            <a:off x="7810165" y="2291671"/>
            <a:ext cx="3403277" cy="92236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798" b="1">
                <a:solidFill>
                  <a:srgbClr val="000000"/>
                </a:solidFill>
                <a:latin typeface="Calibri"/>
                <a:ea typeface="Calibri"/>
                <a:cs typeface="Calibri"/>
                <a:sym typeface="Calibri"/>
              </a:rPr>
              <a:t>Rob</a:t>
            </a:r>
            <a:endParaRPr/>
          </a:p>
          <a:p>
            <a:pPr marL="0" marR="0" lvl="0" indent="0" algn="ctr" rtl="0">
              <a:spcBef>
                <a:spcPts val="0"/>
              </a:spcBef>
              <a:spcAft>
                <a:spcPts val="0"/>
              </a:spcAft>
              <a:buNone/>
            </a:pPr>
            <a:r>
              <a:rPr lang="en-US" sz="1798" b="1">
                <a:solidFill>
                  <a:srgbClr val="000000"/>
                </a:solidFill>
                <a:latin typeface="Calibri"/>
                <a:ea typeface="Calibri"/>
                <a:cs typeface="Calibri"/>
                <a:sym typeface="Calibri"/>
              </a:rPr>
              <a:t>S/4HANA Technical consultant</a:t>
            </a:r>
            <a:endParaRPr/>
          </a:p>
          <a:p>
            <a:pPr marL="0" marR="0" lvl="0" indent="0" algn="ctr" rtl="0">
              <a:spcBef>
                <a:spcPts val="0"/>
              </a:spcBef>
              <a:spcAft>
                <a:spcPts val="0"/>
              </a:spcAft>
              <a:buNone/>
            </a:pPr>
            <a:r>
              <a:rPr lang="en-US" sz="1798" b="1">
                <a:solidFill>
                  <a:srgbClr val="000000"/>
                </a:solidFill>
                <a:latin typeface="Calibri"/>
                <a:ea typeface="Calibri"/>
                <a:cs typeface="Calibri"/>
                <a:sym typeface="Calibri"/>
              </a:rPr>
              <a:t>ABAP Developer</a:t>
            </a:r>
            <a:endParaRPr/>
          </a:p>
        </p:txBody>
      </p:sp>
      <p:pic>
        <p:nvPicPr>
          <p:cNvPr id="1374" name="Google Shape;1374;p62" descr="tjgillweb (Taranjot Gill) · GitHub"/>
          <p:cNvPicPr preferRelativeResize="0"/>
          <p:nvPr/>
        </p:nvPicPr>
        <p:blipFill rotWithShape="1">
          <a:blip r:embed="rId4">
            <a:alphaModFix/>
          </a:blip>
          <a:srcRect/>
          <a:stretch/>
        </p:blipFill>
        <p:spPr>
          <a:xfrm>
            <a:off x="839349" y="805549"/>
            <a:ext cx="1912715" cy="1912715"/>
          </a:xfrm>
          <a:prstGeom prst="rect">
            <a:avLst/>
          </a:prstGeom>
          <a:noFill/>
          <a:ln>
            <a:noFill/>
          </a:ln>
        </p:spPr>
      </p:pic>
      <p:sp>
        <p:nvSpPr>
          <p:cNvPr id="1375" name="Google Shape;1375;p62"/>
          <p:cNvSpPr txBox="1"/>
          <p:nvPr/>
        </p:nvSpPr>
        <p:spPr>
          <a:xfrm>
            <a:off x="368403" y="2571661"/>
            <a:ext cx="3403277" cy="6456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798" b="1">
                <a:solidFill>
                  <a:srgbClr val="000000"/>
                </a:solidFill>
                <a:latin typeface="Calibri"/>
                <a:ea typeface="Calibri"/>
                <a:cs typeface="Calibri"/>
                <a:sym typeface="Calibri"/>
              </a:rPr>
              <a:t>Roxana</a:t>
            </a:r>
            <a:endParaRPr/>
          </a:p>
          <a:p>
            <a:pPr marL="0" marR="0" lvl="0" indent="0" algn="ctr" rtl="0">
              <a:spcBef>
                <a:spcPts val="0"/>
              </a:spcBef>
              <a:spcAft>
                <a:spcPts val="0"/>
              </a:spcAft>
              <a:buNone/>
            </a:pPr>
            <a:r>
              <a:rPr lang="en-US" sz="1798" b="1">
                <a:solidFill>
                  <a:srgbClr val="000000"/>
                </a:solidFill>
                <a:latin typeface="Calibri"/>
                <a:ea typeface="Calibri"/>
                <a:cs typeface="Calibri"/>
                <a:sym typeface="Calibri"/>
              </a:rPr>
              <a:t>UX Designer | Fiori Developer</a:t>
            </a:r>
            <a:endParaRPr/>
          </a:p>
        </p:txBody>
      </p:sp>
      <p:sp>
        <p:nvSpPr>
          <p:cNvPr id="1376" name="Google Shape;1376;p62"/>
          <p:cNvSpPr/>
          <p:nvPr/>
        </p:nvSpPr>
        <p:spPr>
          <a:xfrm>
            <a:off x="8209493" y="3744775"/>
            <a:ext cx="2767884" cy="1018373"/>
          </a:xfrm>
          <a:prstGeom prst="rect">
            <a:avLst/>
          </a:prstGeom>
          <a:solidFill>
            <a:srgbClr val="FDD166"/>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pic>
        <p:nvPicPr>
          <p:cNvPr id="1377" name="Google Shape;1377;p62"/>
          <p:cNvPicPr preferRelativeResize="0"/>
          <p:nvPr/>
        </p:nvPicPr>
        <p:blipFill rotWithShape="1">
          <a:blip r:embed="rId5">
            <a:alphaModFix/>
          </a:blip>
          <a:srcRect/>
          <a:stretch/>
        </p:blipFill>
        <p:spPr>
          <a:xfrm>
            <a:off x="8315010" y="3930303"/>
            <a:ext cx="703959" cy="730033"/>
          </a:xfrm>
          <a:prstGeom prst="rect">
            <a:avLst/>
          </a:prstGeom>
          <a:noFill/>
          <a:ln>
            <a:noFill/>
          </a:ln>
        </p:spPr>
      </p:pic>
      <p:sp>
        <p:nvSpPr>
          <p:cNvPr id="1378" name="Google Shape;1378;p62"/>
          <p:cNvSpPr txBox="1"/>
          <p:nvPr/>
        </p:nvSpPr>
        <p:spPr>
          <a:xfrm>
            <a:off x="9097305" y="3827493"/>
            <a:ext cx="1784327" cy="92236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798" b="1">
                <a:solidFill>
                  <a:srgbClr val="000000"/>
                </a:solidFill>
                <a:latin typeface="Calibri"/>
                <a:ea typeface="Calibri"/>
                <a:cs typeface="Calibri"/>
                <a:sym typeface="Calibri"/>
              </a:rPr>
              <a:t>ABAP Dev. Tools</a:t>
            </a:r>
            <a:endParaRPr/>
          </a:p>
          <a:p>
            <a:pPr marL="0" marR="0" lvl="0" indent="0" algn="ctr" rtl="0">
              <a:spcBef>
                <a:spcPts val="0"/>
              </a:spcBef>
              <a:spcAft>
                <a:spcPts val="0"/>
              </a:spcAft>
              <a:buNone/>
            </a:pPr>
            <a:r>
              <a:rPr lang="en-US" sz="1798" b="1">
                <a:solidFill>
                  <a:srgbClr val="000000"/>
                </a:solidFill>
                <a:latin typeface="Calibri"/>
                <a:ea typeface="Calibri"/>
                <a:cs typeface="Calibri"/>
                <a:sym typeface="Calibri"/>
              </a:rPr>
              <a:t>On </a:t>
            </a:r>
            <a:endParaRPr/>
          </a:p>
          <a:p>
            <a:pPr marL="0" marR="0" lvl="0" indent="0" algn="ctr" rtl="0">
              <a:spcBef>
                <a:spcPts val="0"/>
              </a:spcBef>
              <a:spcAft>
                <a:spcPts val="0"/>
              </a:spcAft>
              <a:buNone/>
            </a:pPr>
            <a:r>
              <a:rPr lang="en-US" sz="1798" b="1">
                <a:solidFill>
                  <a:srgbClr val="000000"/>
                </a:solidFill>
                <a:latin typeface="Calibri"/>
                <a:ea typeface="Calibri"/>
                <a:cs typeface="Calibri"/>
                <a:sym typeface="Calibri"/>
              </a:rPr>
              <a:t>Eclipse</a:t>
            </a:r>
            <a:endParaRPr/>
          </a:p>
        </p:txBody>
      </p:sp>
      <p:sp>
        <p:nvSpPr>
          <p:cNvPr id="1379" name="Google Shape;1379;p62"/>
          <p:cNvSpPr/>
          <p:nvPr/>
        </p:nvSpPr>
        <p:spPr>
          <a:xfrm>
            <a:off x="8205141" y="5587065"/>
            <a:ext cx="1214214" cy="633756"/>
          </a:xfrm>
          <a:prstGeom prst="roundRect">
            <a:avLst>
              <a:gd name="adj" fmla="val 16667"/>
            </a:avLst>
          </a:prstGeom>
          <a:solidFill>
            <a:srgbClr val="BF9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798">
                <a:solidFill>
                  <a:srgbClr val="FFFFFF"/>
                </a:solidFill>
                <a:latin typeface="Calibri"/>
                <a:ea typeface="Calibri"/>
                <a:cs typeface="Calibri"/>
                <a:sym typeface="Calibri"/>
              </a:rPr>
              <a:t>CDS Views</a:t>
            </a:r>
            <a:endParaRPr/>
          </a:p>
        </p:txBody>
      </p:sp>
      <p:sp>
        <p:nvSpPr>
          <p:cNvPr id="1380" name="Google Shape;1380;p62"/>
          <p:cNvSpPr/>
          <p:nvPr/>
        </p:nvSpPr>
        <p:spPr>
          <a:xfrm>
            <a:off x="9999226" y="5587065"/>
            <a:ext cx="1214214" cy="633756"/>
          </a:xfrm>
          <a:prstGeom prst="roundRect">
            <a:avLst>
              <a:gd name="adj" fmla="val 16667"/>
            </a:avLst>
          </a:prstGeom>
          <a:solidFill>
            <a:srgbClr val="0C0C0C"/>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798">
                <a:solidFill>
                  <a:srgbClr val="FFFFFF"/>
                </a:solidFill>
                <a:latin typeface="Calibri"/>
                <a:ea typeface="Calibri"/>
                <a:cs typeface="Calibri"/>
                <a:sym typeface="Calibri"/>
              </a:rPr>
              <a:t>MDE</a:t>
            </a:r>
            <a:endParaRPr/>
          </a:p>
          <a:p>
            <a:pPr marL="0" marR="0" lvl="0" indent="0" algn="ctr" rtl="0">
              <a:spcBef>
                <a:spcPts val="0"/>
              </a:spcBef>
              <a:spcAft>
                <a:spcPts val="0"/>
              </a:spcAft>
              <a:buNone/>
            </a:pPr>
            <a:r>
              <a:rPr lang="en-US" sz="1798">
                <a:solidFill>
                  <a:srgbClr val="FFFFFF"/>
                </a:solidFill>
                <a:latin typeface="Calibri"/>
                <a:ea typeface="Calibri"/>
                <a:cs typeface="Calibri"/>
                <a:sym typeface="Calibri"/>
              </a:rPr>
              <a:t>@</a:t>
            </a:r>
            <a:endParaRPr/>
          </a:p>
        </p:txBody>
      </p:sp>
      <p:cxnSp>
        <p:nvCxnSpPr>
          <p:cNvPr id="1381" name="Google Shape;1381;p62"/>
          <p:cNvCxnSpPr>
            <a:stCxn id="1379" idx="3"/>
            <a:endCxn id="1380" idx="1"/>
          </p:cNvCxnSpPr>
          <p:nvPr/>
        </p:nvCxnSpPr>
        <p:spPr>
          <a:xfrm>
            <a:off x="9419355" y="5903943"/>
            <a:ext cx="579900" cy="0"/>
          </a:xfrm>
          <a:prstGeom prst="straightConnector1">
            <a:avLst/>
          </a:prstGeom>
          <a:noFill/>
          <a:ln w="19050" cap="flat" cmpd="sng">
            <a:solidFill>
              <a:schemeClr val="dk1"/>
            </a:solidFill>
            <a:prstDash val="solid"/>
            <a:miter lim="800000"/>
            <a:headEnd type="none" w="sm" len="sm"/>
            <a:tailEnd type="none" w="sm" len="sm"/>
          </a:ln>
        </p:spPr>
      </p:cxnSp>
      <p:sp>
        <p:nvSpPr>
          <p:cNvPr id="1382" name="Google Shape;1382;p62"/>
          <p:cNvSpPr/>
          <p:nvPr/>
        </p:nvSpPr>
        <p:spPr>
          <a:xfrm>
            <a:off x="8315009" y="5232914"/>
            <a:ext cx="2804627" cy="263791"/>
          </a:xfrm>
          <a:prstGeom prst="rect">
            <a:avLst/>
          </a:prstGeom>
          <a:solidFill>
            <a:srgbClr val="323F4F"/>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798">
                <a:solidFill>
                  <a:srgbClr val="FFFFFF"/>
                </a:solidFill>
                <a:latin typeface="Calibri"/>
                <a:ea typeface="Calibri"/>
                <a:cs typeface="Calibri"/>
                <a:sym typeface="Calibri"/>
              </a:rPr>
              <a:t>OData Service</a:t>
            </a:r>
            <a:endParaRPr/>
          </a:p>
        </p:txBody>
      </p:sp>
      <p:sp>
        <p:nvSpPr>
          <p:cNvPr id="1383" name="Google Shape;1383;p62"/>
          <p:cNvSpPr/>
          <p:nvPr/>
        </p:nvSpPr>
        <p:spPr>
          <a:xfrm>
            <a:off x="623925" y="3744775"/>
            <a:ext cx="2767884" cy="1018373"/>
          </a:xfrm>
          <a:prstGeom prst="rect">
            <a:avLst/>
          </a:prstGeom>
          <a:solidFill>
            <a:srgbClr val="FDD166"/>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1384" name="Google Shape;1384;p62"/>
          <p:cNvSpPr txBox="1"/>
          <p:nvPr/>
        </p:nvSpPr>
        <p:spPr>
          <a:xfrm>
            <a:off x="2140605" y="3972324"/>
            <a:ext cx="1222916" cy="6456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798" b="1">
                <a:solidFill>
                  <a:srgbClr val="000000"/>
                </a:solidFill>
                <a:latin typeface="Calibri"/>
                <a:ea typeface="Calibri"/>
                <a:cs typeface="Calibri"/>
                <a:sym typeface="Calibri"/>
              </a:rPr>
              <a:t>VS Code </a:t>
            </a:r>
            <a:endParaRPr/>
          </a:p>
          <a:p>
            <a:pPr marL="0" marR="0" lvl="0" indent="0" algn="ctr" rtl="0">
              <a:spcBef>
                <a:spcPts val="0"/>
              </a:spcBef>
              <a:spcAft>
                <a:spcPts val="0"/>
              </a:spcAft>
              <a:buNone/>
            </a:pPr>
            <a:r>
              <a:rPr lang="en-US" sz="1798" b="1">
                <a:solidFill>
                  <a:srgbClr val="000000"/>
                </a:solidFill>
                <a:latin typeface="Calibri"/>
                <a:ea typeface="Calibri"/>
                <a:cs typeface="Calibri"/>
                <a:sym typeface="Calibri"/>
              </a:rPr>
              <a:t>BAS</a:t>
            </a:r>
            <a:endParaRPr/>
          </a:p>
        </p:txBody>
      </p:sp>
      <p:pic>
        <p:nvPicPr>
          <p:cNvPr id="1385" name="Google Shape;1385;p62" descr="Install Visual Studio Code on Linux | Snap Store"/>
          <p:cNvPicPr preferRelativeResize="0"/>
          <p:nvPr/>
        </p:nvPicPr>
        <p:blipFill rotWithShape="1">
          <a:blip r:embed="rId6">
            <a:alphaModFix/>
          </a:blip>
          <a:srcRect/>
          <a:stretch/>
        </p:blipFill>
        <p:spPr>
          <a:xfrm>
            <a:off x="704121" y="3972322"/>
            <a:ext cx="611774" cy="611774"/>
          </a:xfrm>
          <a:prstGeom prst="rect">
            <a:avLst/>
          </a:prstGeom>
          <a:noFill/>
          <a:ln>
            <a:noFill/>
          </a:ln>
        </p:spPr>
      </p:pic>
      <p:pic>
        <p:nvPicPr>
          <p:cNvPr id="1386" name="Google Shape;1386;p62" descr="https://www12.lunapic.com/editor/working/161406318813978311?5830121565"/>
          <p:cNvPicPr preferRelativeResize="0"/>
          <p:nvPr/>
        </p:nvPicPr>
        <p:blipFill rotWithShape="1">
          <a:blip r:embed="rId7">
            <a:alphaModFix/>
          </a:blip>
          <a:srcRect/>
          <a:stretch/>
        </p:blipFill>
        <p:spPr>
          <a:xfrm>
            <a:off x="1211447" y="3744773"/>
            <a:ext cx="1296589" cy="1018373"/>
          </a:xfrm>
          <a:prstGeom prst="rect">
            <a:avLst/>
          </a:prstGeom>
          <a:noFill/>
          <a:ln>
            <a:noFill/>
          </a:ln>
        </p:spPr>
      </p:pic>
      <p:sp>
        <p:nvSpPr>
          <p:cNvPr id="1387" name="Google Shape;1387;p62"/>
          <p:cNvSpPr/>
          <p:nvPr/>
        </p:nvSpPr>
        <p:spPr>
          <a:xfrm>
            <a:off x="349749" y="5128245"/>
            <a:ext cx="3890705" cy="1235973"/>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1388" name="Google Shape;1388;p62"/>
          <p:cNvSpPr/>
          <p:nvPr/>
        </p:nvSpPr>
        <p:spPr>
          <a:xfrm>
            <a:off x="457302" y="5470988"/>
            <a:ext cx="1612739" cy="633756"/>
          </a:xfrm>
          <a:prstGeom prst="roundRect">
            <a:avLst>
              <a:gd name="adj" fmla="val 16667"/>
            </a:avLst>
          </a:prstGeom>
          <a:solidFill>
            <a:schemeClr val="accent4"/>
          </a:solidFill>
          <a:ln w="12700" cap="flat" cmpd="sng">
            <a:solidFill>
              <a:srgbClr val="BA8C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798">
                <a:solidFill>
                  <a:srgbClr val="FFFFFF"/>
                </a:solidFill>
                <a:latin typeface="Calibri"/>
                <a:ea typeface="Calibri"/>
                <a:cs typeface="Calibri"/>
                <a:sym typeface="Calibri"/>
              </a:rPr>
              <a:t>Fiori Elements Project</a:t>
            </a:r>
            <a:endParaRPr/>
          </a:p>
        </p:txBody>
      </p:sp>
      <p:sp>
        <p:nvSpPr>
          <p:cNvPr id="1389" name="Google Shape;1389;p62"/>
          <p:cNvSpPr/>
          <p:nvPr/>
        </p:nvSpPr>
        <p:spPr>
          <a:xfrm>
            <a:off x="2326811" y="5470988"/>
            <a:ext cx="1827855" cy="633756"/>
          </a:xfrm>
          <a:prstGeom prst="roundRect">
            <a:avLst>
              <a:gd name="adj" fmla="val 16667"/>
            </a:avLst>
          </a:prstGeom>
          <a:solidFill>
            <a:srgbClr val="0C0C0C"/>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798">
                <a:solidFill>
                  <a:srgbClr val="FFFFFF"/>
                </a:solidFill>
                <a:latin typeface="Calibri"/>
                <a:ea typeface="Calibri"/>
                <a:cs typeface="Calibri"/>
                <a:sym typeface="Calibri"/>
              </a:rPr>
              <a:t>Annotations.xml</a:t>
            </a:r>
            <a:endParaRPr/>
          </a:p>
        </p:txBody>
      </p:sp>
      <p:cxnSp>
        <p:nvCxnSpPr>
          <p:cNvPr id="1390" name="Google Shape;1390;p62"/>
          <p:cNvCxnSpPr>
            <a:stCxn id="1388" idx="3"/>
            <a:endCxn id="1389" idx="1"/>
          </p:cNvCxnSpPr>
          <p:nvPr/>
        </p:nvCxnSpPr>
        <p:spPr>
          <a:xfrm>
            <a:off x="2070041" y="5787866"/>
            <a:ext cx="256800" cy="0"/>
          </a:xfrm>
          <a:prstGeom prst="straightConnector1">
            <a:avLst/>
          </a:prstGeom>
          <a:noFill/>
          <a:ln w="19050" cap="flat" cmpd="sng">
            <a:solidFill>
              <a:schemeClr val="dk1"/>
            </a:solidFill>
            <a:prstDash val="solid"/>
            <a:miter lim="800000"/>
            <a:headEnd type="none" w="sm" len="sm"/>
            <a:tailEnd type="none" w="sm" len="sm"/>
          </a:ln>
        </p:spPr>
      </p:cxnSp>
      <p:cxnSp>
        <p:nvCxnSpPr>
          <p:cNvPr id="1391" name="Google Shape;1391;p62"/>
          <p:cNvCxnSpPr>
            <a:endCxn id="1387" idx="0"/>
          </p:cNvCxnSpPr>
          <p:nvPr/>
        </p:nvCxnSpPr>
        <p:spPr>
          <a:xfrm>
            <a:off x="2295102" y="4756845"/>
            <a:ext cx="0" cy="371400"/>
          </a:xfrm>
          <a:prstGeom prst="straightConnector1">
            <a:avLst/>
          </a:prstGeom>
          <a:noFill/>
          <a:ln w="19050" cap="flat" cmpd="sng">
            <a:solidFill>
              <a:schemeClr val="accent4"/>
            </a:solidFill>
            <a:prstDash val="solid"/>
            <a:miter lim="800000"/>
            <a:headEnd type="none" w="sm" len="sm"/>
            <a:tailEnd type="triangle" w="med" len="med"/>
          </a:ln>
        </p:spPr>
      </p:cxnSp>
      <p:cxnSp>
        <p:nvCxnSpPr>
          <p:cNvPr id="1392" name="Google Shape;1392;p62"/>
          <p:cNvCxnSpPr>
            <a:stCxn id="1375" idx="2"/>
          </p:cNvCxnSpPr>
          <p:nvPr/>
        </p:nvCxnSpPr>
        <p:spPr>
          <a:xfrm>
            <a:off x="2070042" y="3217351"/>
            <a:ext cx="0" cy="527400"/>
          </a:xfrm>
          <a:prstGeom prst="straightConnector1">
            <a:avLst/>
          </a:prstGeom>
          <a:noFill/>
          <a:ln w="19050" cap="flat" cmpd="sng">
            <a:solidFill>
              <a:schemeClr val="accent4"/>
            </a:solidFill>
            <a:prstDash val="solid"/>
            <a:miter lim="800000"/>
            <a:headEnd type="none" w="sm" len="sm"/>
            <a:tailEnd type="triangle" w="med" len="med"/>
          </a:ln>
        </p:spPr>
      </p:cxnSp>
      <p:cxnSp>
        <p:nvCxnSpPr>
          <p:cNvPr id="1393" name="Google Shape;1393;p62"/>
          <p:cNvCxnSpPr/>
          <p:nvPr/>
        </p:nvCxnSpPr>
        <p:spPr>
          <a:xfrm>
            <a:off x="9793627" y="4750343"/>
            <a:ext cx="0" cy="371499"/>
          </a:xfrm>
          <a:prstGeom prst="straightConnector1">
            <a:avLst/>
          </a:prstGeom>
          <a:noFill/>
          <a:ln w="19050" cap="flat" cmpd="sng">
            <a:solidFill>
              <a:schemeClr val="accent4"/>
            </a:solidFill>
            <a:prstDash val="solid"/>
            <a:miter lim="800000"/>
            <a:headEnd type="none" w="sm" len="sm"/>
            <a:tailEnd type="triangle" w="med" len="med"/>
          </a:ln>
        </p:spPr>
      </p:cxnSp>
      <p:cxnSp>
        <p:nvCxnSpPr>
          <p:cNvPr id="1394" name="Google Shape;1394;p62"/>
          <p:cNvCxnSpPr/>
          <p:nvPr/>
        </p:nvCxnSpPr>
        <p:spPr>
          <a:xfrm>
            <a:off x="9568567" y="3211255"/>
            <a:ext cx="0" cy="527117"/>
          </a:xfrm>
          <a:prstGeom prst="straightConnector1">
            <a:avLst/>
          </a:prstGeom>
          <a:noFill/>
          <a:ln w="19050" cap="flat" cmpd="sng">
            <a:solidFill>
              <a:schemeClr val="accent4"/>
            </a:solidFill>
            <a:prstDash val="solid"/>
            <a:miter lim="800000"/>
            <a:headEnd type="none" w="sm" len="sm"/>
            <a:tailEnd type="triangle" w="med" len="med"/>
          </a:ln>
        </p:spPr>
      </p:cxnSp>
      <p:pic>
        <p:nvPicPr>
          <p:cNvPr id="1395" name="Google Shape;1395;p62" descr="Electric Plug Connect Concept Socket. Get Connected Or Disconnect Vector  Power Plug Cable Illustration Stock Vector - Illustration of adapter,  element: 167568132"/>
          <p:cNvPicPr preferRelativeResize="0"/>
          <p:nvPr/>
        </p:nvPicPr>
        <p:blipFill rotWithShape="1">
          <a:blip r:embed="rId8">
            <a:alphaModFix/>
          </a:blip>
          <a:srcRect/>
          <a:stretch/>
        </p:blipFill>
        <p:spPr>
          <a:xfrm>
            <a:off x="4256309" y="5004703"/>
            <a:ext cx="3676209" cy="1359513"/>
          </a:xfrm>
          <a:prstGeom prst="rect">
            <a:avLst/>
          </a:prstGeom>
          <a:noFill/>
          <a:ln>
            <a:noFill/>
          </a:ln>
        </p:spPr>
      </p:pic>
      <p:sp>
        <p:nvSpPr>
          <p:cNvPr id="1396" name="Google Shape;1396;p62"/>
          <p:cNvSpPr/>
          <p:nvPr/>
        </p:nvSpPr>
        <p:spPr>
          <a:xfrm rot="-5400000">
            <a:off x="5834945" y="4551194"/>
            <a:ext cx="461315" cy="527117"/>
          </a:xfrm>
          <a:prstGeom prst="chevron">
            <a:avLst>
              <a:gd name="adj"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000000"/>
              </a:solidFill>
              <a:latin typeface="Calibri"/>
              <a:ea typeface="Calibri"/>
              <a:cs typeface="Calibri"/>
              <a:sym typeface="Calibri"/>
            </a:endParaRPr>
          </a:p>
        </p:txBody>
      </p:sp>
      <p:sp>
        <p:nvSpPr>
          <p:cNvPr id="1397" name="Google Shape;1397;p62"/>
          <p:cNvSpPr/>
          <p:nvPr/>
        </p:nvSpPr>
        <p:spPr>
          <a:xfrm rot="-5400000">
            <a:off x="5834945" y="4166122"/>
            <a:ext cx="461315" cy="527117"/>
          </a:xfrm>
          <a:prstGeom prst="chevron">
            <a:avLst>
              <a:gd name="adj"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000000"/>
              </a:solidFill>
              <a:latin typeface="Calibri"/>
              <a:ea typeface="Calibri"/>
              <a:cs typeface="Calibri"/>
              <a:sym typeface="Calibri"/>
            </a:endParaRPr>
          </a:p>
        </p:txBody>
      </p:sp>
      <p:sp>
        <p:nvSpPr>
          <p:cNvPr id="1398" name="Google Shape;1398;p62"/>
          <p:cNvSpPr/>
          <p:nvPr/>
        </p:nvSpPr>
        <p:spPr>
          <a:xfrm rot="-5400000">
            <a:off x="5834945" y="3801105"/>
            <a:ext cx="461315" cy="527117"/>
          </a:xfrm>
          <a:prstGeom prst="chevron">
            <a:avLst>
              <a:gd name="adj"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000000"/>
              </a:solidFill>
              <a:latin typeface="Calibri"/>
              <a:ea typeface="Calibri"/>
              <a:cs typeface="Calibri"/>
              <a:sym typeface="Calibri"/>
            </a:endParaRPr>
          </a:p>
        </p:txBody>
      </p:sp>
      <p:pic>
        <p:nvPicPr>
          <p:cNvPr id="1399" name="Google Shape;1399;p62" descr="Happy Images | Free Vectors, Stock Photos &amp;amp; PSD"/>
          <p:cNvPicPr preferRelativeResize="0"/>
          <p:nvPr/>
        </p:nvPicPr>
        <p:blipFill rotWithShape="1">
          <a:blip r:embed="rId9">
            <a:alphaModFix/>
          </a:blip>
          <a:srcRect/>
          <a:stretch/>
        </p:blipFill>
        <p:spPr>
          <a:xfrm>
            <a:off x="3771679" y="1440513"/>
            <a:ext cx="2753669" cy="1834313"/>
          </a:xfrm>
          <a:prstGeom prst="rect">
            <a:avLst/>
          </a:prstGeom>
          <a:noFill/>
          <a:ln>
            <a:noFill/>
          </a:ln>
        </p:spPr>
      </p:pic>
      <p:sp>
        <p:nvSpPr>
          <p:cNvPr id="1400" name="Google Shape;1400;p62"/>
          <p:cNvSpPr txBox="1"/>
          <p:nvPr/>
        </p:nvSpPr>
        <p:spPr>
          <a:xfrm>
            <a:off x="3363523" y="849822"/>
            <a:ext cx="3403277" cy="86113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198" b="1">
                <a:solidFill>
                  <a:srgbClr val="00B050"/>
                </a:solidFill>
                <a:latin typeface="Calibri"/>
                <a:ea typeface="Calibri"/>
                <a:cs typeface="Calibri"/>
                <a:sym typeface="Calibri"/>
              </a:rPr>
              <a:t>Anubhav</a:t>
            </a:r>
            <a:endParaRPr/>
          </a:p>
          <a:p>
            <a:pPr marL="0" marR="0" lvl="0" indent="0" algn="ctr" rtl="0">
              <a:spcBef>
                <a:spcPts val="0"/>
              </a:spcBef>
              <a:spcAft>
                <a:spcPts val="0"/>
              </a:spcAft>
              <a:buNone/>
            </a:pPr>
            <a:r>
              <a:rPr lang="en-US" sz="1798" b="1">
                <a:solidFill>
                  <a:srgbClr val="000000"/>
                </a:solidFill>
                <a:latin typeface="Calibri"/>
                <a:ea typeface="Calibri"/>
                <a:cs typeface="Calibri"/>
                <a:sym typeface="Calibri"/>
              </a:rPr>
              <a:t>Happy User</a:t>
            </a:r>
            <a:endParaRPr/>
          </a:p>
        </p:txBody>
      </p:sp>
      <p:pic>
        <p:nvPicPr>
          <p:cNvPr id="1401" name="Google Shape;1401;p62" descr="Fiori Elements based HR MSS Reporting Dashboards in Action. | SAP Blogs"/>
          <p:cNvPicPr preferRelativeResize="0"/>
          <p:nvPr/>
        </p:nvPicPr>
        <p:blipFill rotWithShape="1">
          <a:blip r:embed="rId10">
            <a:alphaModFix/>
          </a:blip>
          <a:srcRect/>
          <a:stretch/>
        </p:blipFill>
        <p:spPr>
          <a:xfrm>
            <a:off x="6065601" y="1168821"/>
            <a:ext cx="2050110" cy="998361"/>
          </a:xfrm>
          <a:prstGeom prst="rect">
            <a:avLst/>
          </a:prstGeom>
          <a:noFill/>
          <a:ln>
            <a:noFill/>
          </a:ln>
        </p:spPr>
      </p:pic>
      <p:sp>
        <p:nvSpPr>
          <p:cNvPr id="3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7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394"/>
                                        </p:tgtEl>
                                        <p:attrNameLst>
                                          <p:attrName>style.visibility</p:attrName>
                                        </p:attrNameLst>
                                      </p:cBhvr>
                                      <p:to>
                                        <p:strVal val="visible"/>
                                      </p:to>
                                    </p:set>
                                    <p:animEffect transition="in" filter="fade">
                                      <p:cBhvr>
                                        <p:cTn id="13" dur="1000"/>
                                        <p:tgtEl>
                                          <p:spTgt spid="1394"/>
                                        </p:tgtEl>
                                      </p:cBhvr>
                                    </p:animEffect>
                                  </p:childTnLst>
                                </p:cTn>
                              </p:par>
                              <p:par>
                                <p:cTn id="14" presetID="10" presetClass="entr" presetSubtype="0" fill="hold" nodeType="withEffect">
                                  <p:stCondLst>
                                    <p:cond delay="0"/>
                                  </p:stCondLst>
                                  <p:childTnLst>
                                    <p:set>
                                      <p:cBhvr>
                                        <p:cTn id="15" dur="1" fill="hold">
                                          <p:stCondLst>
                                            <p:cond delay="0"/>
                                          </p:stCondLst>
                                        </p:cTn>
                                        <p:tgtEl>
                                          <p:spTgt spid="1376"/>
                                        </p:tgtEl>
                                        <p:attrNameLst>
                                          <p:attrName>style.visibility</p:attrName>
                                        </p:attrNameLst>
                                      </p:cBhvr>
                                      <p:to>
                                        <p:strVal val="visible"/>
                                      </p:to>
                                    </p:set>
                                    <p:animEffect transition="in" filter="fade">
                                      <p:cBhvr>
                                        <p:cTn id="16" dur="1000"/>
                                        <p:tgtEl>
                                          <p:spTgt spid="1376"/>
                                        </p:tgtEl>
                                      </p:cBhvr>
                                    </p:animEffect>
                                  </p:childTnLst>
                                </p:cTn>
                              </p:par>
                              <p:par>
                                <p:cTn id="17" presetID="10" presetClass="entr" presetSubtype="0" fill="hold" nodeType="withEffect">
                                  <p:stCondLst>
                                    <p:cond delay="0"/>
                                  </p:stCondLst>
                                  <p:childTnLst>
                                    <p:set>
                                      <p:cBhvr>
                                        <p:cTn id="18" dur="1" fill="hold">
                                          <p:stCondLst>
                                            <p:cond delay="0"/>
                                          </p:stCondLst>
                                        </p:cTn>
                                        <p:tgtEl>
                                          <p:spTgt spid="1378"/>
                                        </p:tgtEl>
                                        <p:attrNameLst>
                                          <p:attrName>style.visibility</p:attrName>
                                        </p:attrNameLst>
                                      </p:cBhvr>
                                      <p:to>
                                        <p:strVal val="visible"/>
                                      </p:to>
                                    </p:set>
                                    <p:animEffect transition="in" filter="fade">
                                      <p:cBhvr>
                                        <p:cTn id="19" dur="1000"/>
                                        <p:tgtEl>
                                          <p:spTgt spid="1378"/>
                                        </p:tgtEl>
                                      </p:cBhvr>
                                    </p:animEffect>
                                  </p:childTnLst>
                                </p:cTn>
                              </p:par>
                              <p:par>
                                <p:cTn id="20" presetID="10" presetClass="entr" presetSubtype="0" fill="hold" nodeType="withEffect">
                                  <p:stCondLst>
                                    <p:cond delay="0"/>
                                  </p:stCondLst>
                                  <p:childTnLst>
                                    <p:set>
                                      <p:cBhvr>
                                        <p:cTn id="21" dur="1" fill="hold">
                                          <p:stCondLst>
                                            <p:cond delay="0"/>
                                          </p:stCondLst>
                                        </p:cTn>
                                        <p:tgtEl>
                                          <p:spTgt spid="1377"/>
                                        </p:tgtEl>
                                        <p:attrNameLst>
                                          <p:attrName>style.visibility</p:attrName>
                                        </p:attrNameLst>
                                      </p:cBhvr>
                                      <p:to>
                                        <p:strVal val="visible"/>
                                      </p:to>
                                    </p:set>
                                    <p:animEffect transition="in" filter="fade">
                                      <p:cBhvr>
                                        <p:cTn id="22" dur="1000"/>
                                        <p:tgtEl>
                                          <p:spTgt spid="137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93"/>
                                        </p:tgtEl>
                                        <p:attrNameLst>
                                          <p:attrName>style.visibility</p:attrName>
                                        </p:attrNameLst>
                                      </p:cBhvr>
                                      <p:to>
                                        <p:strVal val="visible"/>
                                      </p:to>
                                    </p:set>
                                    <p:animEffect transition="in" filter="fade">
                                      <p:cBhvr>
                                        <p:cTn id="27" dur="1000"/>
                                        <p:tgtEl>
                                          <p:spTgt spid="1393"/>
                                        </p:tgtEl>
                                      </p:cBhvr>
                                    </p:animEffect>
                                  </p:childTnLst>
                                </p:cTn>
                              </p:par>
                              <p:par>
                                <p:cTn id="28" presetID="10" presetClass="entr" presetSubtype="0" fill="hold" nodeType="withEffect">
                                  <p:stCondLst>
                                    <p:cond delay="0"/>
                                  </p:stCondLst>
                                  <p:childTnLst>
                                    <p:set>
                                      <p:cBhvr>
                                        <p:cTn id="29" dur="1" fill="hold">
                                          <p:stCondLst>
                                            <p:cond delay="0"/>
                                          </p:stCondLst>
                                        </p:cTn>
                                        <p:tgtEl>
                                          <p:spTgt spid="1368"/>
                                        </p:tgtEl>
                                        <p:attrNameLst>
                                          <p:attrName>style.visibility</p:attrName>
                                        </p:attrNameLst>
                                      </p:cBhvr>
                                      <p:to>
                                        <p:strVal val="visible"/>
                                      </p:to>
                                    </p:set>
                                    <p:animEffect transition="in" filter="fade">
                                      <p:cBhvr>
                                        <p:cTn id="30" dur="1000"/>
                                        <p:tgtEl>
                                          <p:spTgt spid="1368"/>
                                        </p:tgtEl>
                                      </p:cBhvr>
                                    </p:animEffect>
                                  </p:childTnLst>
                                </p:cTn>
                              </p:par>
                              <p:par>
                                <p:cTn id="31" presetID="10" presetClass="entr" presetSubtype="0" fill="hold" nodeType="withEffect">
                                  <p:stCondLst>
                                    <p:cond delay="0"/>
                                  </p:stCondLst>
                                  <p:childTnLst>
                                    <p:set>
                                      <p:cBhvr>
                                        <p:cTn id="32" dur="1" fill="hold">
                                          <p:stCondLst>
                                            <p:cond delay="0"/>
                                          </p:stCondLst>
                                        </p:cTn>
                                        <p:tgtEl>
                                          <p:spTgt spid="1382"/>
                                        </p:tgtEl>
                                        <p:attrNameLst>
                                          <p:attrName>style.visibility</p:attrName>
                                        </p:attrNameLst>
                                      </p:cBhvr>
                                      <p:to>
                                        <p:strVal val="visible"/>
                                      </p:to>
                                    </p:set>
                                    <p:animEffect transition="in" filter="fade">
                                      <p:cBhvr>
                                        <p:cTn id="33" dur="1000"/>
                                        <p:tgtEl>
                                          <p:spTgt spid="1382"/>
                                        </p:tgtEl>
                                      </p:cBhvr>
                                    </p:animEffect>
                                  </p:childTnLst>
                                </p:cTn>
                              </p:par>
                              <p:par>
                                <p:cTn id="34" presetID="10" presetClass="entr" presetSubtype="0" fill="hold" nodeType="withEffect">
                                  <p:stCondLst>
                                    <p:cond delay="0"/>
                                  </p:stCondLst>
                                  <p:childTnLst>
                                    <p:set>
                                      <p:cBhvr>
                                        <p:cTn id="35" dur="1" fill="hold">
                                          <p:stCondLst>
                                            <p:cond delay="0"/>
                                          </p:stCondLst>
                                        </p:cTn>
                                        <p:tgtEl>
                                          <p:spTgt spid="1379"/>
                                        </p:tgtEl>
                                        <p:attrNameLst>
                                          <p:attrName>style.visibility</p:attrName>
                                        </p:attrNameLst>
                                      </p:cBhvr>
                                      <p:to>
                                        <p:strVal val="visible"/>
                                      </p:to>
                                    </p:set>
                                    <p:animEffect transition="in" filter="fade">
                                      <p:cBhvr>
                                        <p:cTn id="36" dur="1000"/>
                                        <p:tgtEl>
                                          <p:spTgt spid="1379"/>
                                        </p:tgtEl>
                                      </p:cBhvr>
                                    </p:animEffect>
                                  </p:childTnLst>
                                </p:cTn>
                              </p:par>
                              <p:par>
                                <p:cTn id="37" presetID="10" presetClass="entr" presetSubtype="0" fill="hold" nodeType="withEffect">
                                  <p:stCondLst>
                                    <p:cond delay="0"/>
                                  </p:stCondLst>
                                  <p:childTnLst>
                                    <p:set>
                                      <p:cBhvr>
                                        <p:cTn id="38" dur="1" fill="hold">
                                          <p:stCondLst>
                                            <p:cond delay="0"/>
                                          </p:stCondLst>
                                        </p:cTn>
                                        <p:tgtEl>
                                          <p:spTgt spid="1381"/>
                                        </p:tgtEl>
                                        <p:attrNameLst>
                                          <p:attrName>style.visibility</p:attrName>
                                        </p:attrNameLst>
                                      </p:cBhvr>
                                      <p:to>
                                        <p:strVal val="visible"/>
                                      </p:to>
                                    </p:set>
                                    <p:animEffect transition="in" filter="fade">
                                      <p:cBhvr>
                                        <p:cTn id="39" dur="1000"/>
                                        <p:tgtEl>
                                          <p:spTgt spid="1381"/>
                                        </p:tgtEl>
                                      </p:cBhvr>
                                    </p:animEffect>
                                  </p:childTnLst>
                                </p:cTn>
                              </p:par>
                              <p:par>
                                <p:cTn id="40" presetID="10" presetClass="entr" presetSubtype="0" fill="hold" nodeType="withEffect">
                                  <p:stCondLst>
                                    <p:cond delay="0"/>
                                  </p:stCondLst>
                                  <p:childTnLst>
                                    <p:set>
                                      <p:cBhvr>
                                        <p:cTn id="41" dur="1" fill="hold">
                                          <p:stCondLst>
                                            <p:cond delay="0"/>
                                          </p:stCondLst>
                                        </p:cTn>
                                        <p:tgtEl>
                                          <p:spTgt spid="1380"/>
                                        </p:tgtEl>
                                        <p:attrNameLst>
                                          <p:attrName>style.visibility</p:attrName>
                                        </p:attrNameLst>
                                      </p:cBhvr>
                                      <p:to>
                                        <p:strVal val="visible"/>
                                      </p:to>
                                    </p:set>
                                    <p:animEffect transition="in" filter="fade">
                                      <p:cBhvr>
                                        <p:cTn id="42" dur="1000"/>
                                        <p:tgtEl>
                                          <p:spTgt spid="1380"/>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7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37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392"/>
                                        </p:tgtEl>
                                        <p:attrNameLst>
                                          <p:attrName>style.visibility</p:attrName>
                                        </p:attrNameLst>
                                      </p:cBhvr>
                                      <p:to>
                                        <p:strVal val="visible"/>
                                      </p:to>
                                    </p:set>
                                    <p:animEffect transition="in" filter="fade">
                                      <p:cBhvr>
                                        <p:cTn id="53" dur="1000"/>
                                        <p:tgtEl>
                                          <p:spTgt spid="1392"/>
                                        </p:tgtEl>
                                      </p:cBhvr>
                                    </p:animEffect>
                                  </p:childTnLst>
                                </p:cTn>
                              </p:par>
                              <p:par>
                                <p:cTn id="54" presetID="10" presetClass="entr" presetSubtype="0" fill="hold" nodeType="withEffect">
                                  <p:stCondLst>
                                    <p:cond delay="0"/>
                                  </p:stCondLst>
                                  <p:childTnLst>
                                    <p:set>
                                      <p:cBhvr>
                                        <p:cTn id="55" dur="1" fill="hold">
                                          <p:stCondLst>
                                            <p:cond delay="0"/>
                                          </p:stCondLst>
                                        </p:cTn>
                                        <p:tgtEl>
                                          <p:spTgt spid="1383"/>
                                        </p:tgtEl>
                                        <p:attrNameLst>
                                          <p:attrName>style.visibility</p:attrName>
                                        </p:attrNameLst>
                                      </p:cBhvr>
                                      <p:to>
                                        <p:strVal val="visible"/>
                                      </p:to>
                                    </p:set>
                                    <p:animEffect transition="in" filter="fade">
                                      <p:cBhvr>
                                        <p:cTn id="56" dur="1000"/>
                                        <p:tgtEl>
                                          <p:spTgt spid="1383"/>
                                        </p:tgtEl>
                                      </p:cBhvr>
                                    </p:animEffect>
                                  </p:childTnLst>
                                </p:cTn>
                              </p:par>
                              <p:par>
                                <p:cTn id="57" presetID="10" presetClass="entr" presetSubtype="0" fill="hold" nodeType="withEffect">
                                  <p:stCondLst>
                                    <p:cond delay="0"/>
                                  </p:stCondLst>
                                  <p:childTnLst>
                                    <p:set>
                                      <p:cBhvr>
                                        <p:cTn id="58" dur="1" fill="hold">
                                          <p:stCondLst>
                                            <p:cond delay="0"/>
                                          </p:stCondLst>
                                        </p:cTn>
                                        <p:tgtEl>
                                          <p:spTgt spid="1384"/>
                                        </p:tgtEl>
                                        <p:attrNameLst>
                                          <p:attrName>style.visibility</p:attrName>
                                        </p:attrNameLst>
                                      </p:cBhvr>
                                      <p:to>
                                        <p:strVal val="visible"/>
                                      </p:to>
                                    </p:set>
                                    <p:animEffect transition="in" filter="fade">
                                      <p:cBhvr>
                                        <p:cTn id="59" dur="1000"/>
                                        <p:tgtEl>
                                          <p:spTgt spid="1384"/>
                                        </p:tgtEl>
                                      </p:cBhvr>
                                    </p:animEffect>
                                  </p:childTnLst>
                                </p:cTn>
                              </p:par>
                              <p:par>
                                <p:cTn id="60" presetID="10" presetClass="entr" presetSubtype="0" fill="hold" nodeType="withEffect">
                                  <p:stCondLst>
                                    <p:cond delay="0"/>
                                  </p:stCondLst>
                                  <p:childTnLst>
                                    <p:set>
                                      <p:cBhvr>
                                        <p:cTn id="61" dur="1" fill="hold">
                                          <p:stCondLst>
                                            <p:cond delay="0"/>
                                          </p:stCondLst>
                                        </p:cTn>
                                        <p:tgtEl>
                                          <p:spTgt spid="1386"/>
                                        </p:tgtEl>
                                        <p:attrNameLst>
                                          <p:attrName>style.visibility</p:attrName>
                                        </p:attrNameLst>
                                      </p:cBhvr>
                                      <p:to>
                                        <p:strVal val="visible"/>
                                      </p:to>
                                    </p:set>
                                    <p:animEffect transition="in" filter="fade">
                                      <p:cBhvr>
                                        <p:cTn id="62" dur="1000"/>
                                        <p:tgtEl>
                                          <p:spTgt spid="1386"/>
                                        </p:tgtEl>
                                      </p:cBhvr>
                                    </p:animEffect>
                                  </p:childTnLst>
                                </p:cTn>
                              </p:par>
                              <p:par>
                                <p:cTn id="63" presetID="10" presetClass="entr" presetSubtype="0" fill="hold" nodeType="withEffect">
                                  <p:stCondLst>
                                    <p:cond delay="0"/>
                                  </p:stCondLst>
                                  <p:childTnLst>
                                    <p:set>
                                      <p:cBhvr>
                                        <p:cTn id="64" dur="1" fill="hold">
                                          <p:stCondLst>
                                            <p:cond delay="0"/>
                                          </p:stCondLst>
                                        </p:cTn>
                                        <p:tgtEl>
                                          <p:spTgt spid="1385"/>
                                        </p:tgtEl>
                                        <p:attrNameLst>
                                          <p:attrName>style.visibility</p:attrName>
                                        </p:attrNameLst>
                                      </p:cBhvr>
                                      <p:to>
                                        <p:strVal val="visible"/>
                                      </p:to>
                                    </p:set>
                                    <p:animEffect transition="in" filter="fade">
                                      <p:cBhvr>
                                        <p:cTn id="65" dur="1000"/>
                                        <p:tgtEl>
                                          <p:spTgt spid="1385"/>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1391"/>
                                        </p:tgtEl>
                                        <p:attrNameLst>
                                          <p:attrName>style.visibility</p:attrName>
                                        </p:attrNameLst>
                                      </p:cBhvr>
                                      <p:to>
                                        <p:strVal val="visible"/>
                                      </p:to>
                                    </p:set>
                                    <p:animEffect transition="in" filter="fade">
                                      <p:cBhvr>
                                        <p:cTn id="70" dur="1000"/>
                                        <p:tgtEl>
                                          <p:spTgt spid="1391"/>
                                        </p:tgtEl>
                                      </p:cBhvr>
                                    </p:animEffect>
                                  </p:childTnLst>
                                </p:cTn>
                              </p:par>
                              <p:par>
                                <p:cTn id="71" presetID="10" presetClass="entr" presetSubtype="0" fill="hold" nodeType="withEffect">
                                  <p:stCondLst>
                                    <p:cond delay="0"/>
                                  </p:stCondLst>
                                  <p:childTnLst>
                                    <p:set>
                                      <p:cBhvr>
                                        <p:cTn id="72" dur="1" fill="hold">
                                          <p:stCondLst>
                                            <p:cond delay="0"/>
                                          </p:stCondLst>
                                        </p:cTn>
                                        <p:tgtEl>
                                          <p:spTgt spid="1387"/>
                                        </p:tgtEl>
                                        <p:attrNameLst>
                                          <p:attrName>style.visibility</p:attrName>
                                        </p:attrNameLst>
                                      </p:cBhvr>
                                      <p:to>
                                        <p:strVal val="visible"/>
                                      </p:to>
                                    </p:set>
                                    <p:animEffect transition="in" filter="fade">
                                      <p:cBhvr>
                                        <p:cTn id="73" dur="1000"/>
                                        <p:tgtEl>
                                          <p:spTgt spid="1387"/>
                                        </p:tgtEl>
                                      </p:cBhvr>
                                    </p:animEffect>
                                  </p:childTnLst>
                                </p:cTn>
                              </p:par>
                              <p:par>
                                <p:cTn id="74" presetID="10" presetClass="entr" presetSubtype="0" fill="hold" nodeType="withEffect">
                                  <p:stCondLst>
                                    <p:cond delay="0"/>
                                  </p:stCondLst>
                                  <p:childTnLst>
                                    <p:set>
                                      <p:cBhvr>
                                        <p:cTn id="75" dur="1" fill="hold">
                                          <p:stCondLst>
                                            <p:cond delay="0"/>
                                          </p:stCondLst>
                                        </p:cTn>
                                        <p:tgtEl>
                                          <p:spTgt spid="1389"/>
                                        </p:tgtEl>
                                        <p:attrNameLst>
                                          <p:attrName>style.visibility</p:attrName>
                                        </p:attrNameLst>
                                      </p:cBhvr>
                                      <p:to>
                                        <p:strVal val="visible"/>
                                      </p:to>
                                    </p:set>
                                    <p:animEffect transition="in" filter="fade">
                                      <p:cBhvr>
                                        <p:cTn id="76" dur="1000"/>
                                        <p:tgtEl>
                                          <p:spTgt spid="1389"/>
                                        </p:tgtEl>
                                      </p:cBhvr>
                                    </p:animEffect>
                                  </p:childTnLst>
                                </p:cTn>
                              </p:par>
                              <p:par>
                                <p:cTn id="77" presetID="10" presetClass="entr" presetSubtype="0" fill="hold" nodeType="withEffect">
                                  <p:stCondLst>
                                    <p:cond delay="0"/>
                                  </p:stCondLst>
                                  <p:childTnLst>
                                    <p:set>
                                      <p:cBhvr>
                                        <p:cTn id="78" dur="1" fill="hold">
                                          <p:stCondLst>
                                            <p:cond delay="0"/>
                                          </p:stCondLst>
                                        </p:cTn>
                                        <p:tgtEl>
                                          <p:spTgt spid="1388"/>
                                        </p:tgtEl>
                                        <p:attrNameLst>
                                          <p:attrName>style.visibility</p:attrName>
                                        </p:attrNameLst>
                                      </p:cBhvr>
                                      <p:to>
                                        <p:strVal val="visible"/>
                                      </p:to>
                                    </p:set>
                                    <p:animEffect transition="in" filter="fade">
                                      <p:cBhvr>
                                        <p:cTn id="79" dur="1000"/>
                                        <p:tgtEl>
                                          <p:spTgt spid="1388"/>
                                        </p:tgtEl>
                                      </p:cBhvr>
                                    </p:animEffect>
                                  </p:childTnLst>
                                </p:cTn>
                              </p:par>
                              <p:par>
                                <p:cTn id="80" presetID="10" presetClass="entr" presetSubtype="0" fill="hold" nodeType="withEffect">
                                  <p:stCondLst>
                                    <p:cond delay="0"/>
                                  </p:stCondLst>
                                  <p:childTnLst>
                                    <p:set>
                                      <p:cBhvr>
                                        <p:cTn id="81" dur="1" fill="hold">
                                          <p:stCondLst>
                                            <p:cond delay="0"/>
                                          </p:stCondLst>
                                        </p:cTn>
                                        <p:tgtEl>
                                          <p:spTgt spid="1390"/>
                                        </p:tgtEl>
                                        <p:attrNameLst>
                                          <p:attrName>style.visibility</p:attrName>
                                        </p:attrNameLst>
                                      </p:cBhvr>
                                      <p:to>
                                        <p:strVal val="visible"/>
                                      </p:to>
                                    </p:set>
                                    <p:animEffect transition="in" filter="fade">
                                      <p:cBhvr>
                                        <p:cTn id="82" dur="1000"/>
                                        <p:tgtEl>
                                          <p:spTgt spid="1390"/>
                                        </p:tgtEl>
                                      </p:cBhvr>
                                    </p:animEffect>
                                  </p:childTnLst>
                                </p:cTn>
                              </p:par>
                            </p:childTnLst>
                          </p:cTn>
                        </p:par>
                      </p:childTnLst>
                    </p:cTn>
                  </p:par>
                  <p:par>
                    <p:cTn id="83" fill="hold">
                      <p:stCondLst>
                        <p:cond delay="indefinite"/>
                      </p:stCondLst>
                      <p:childTnLst>
                        <p:par>
                          <p:cTn id="84" fill="hold">
                            <p:stCondLst>
                              <p:cond delay="0"/>
                            </p:stCondLst>
                            <p:childTnLst>
                              <p:par>
                                <p:cTn id="85" presetID="23" presetClass="entr" presetSubtype="16" fill="hold" nodeType="clickEffect">
                                  <p:stCondLst>
                                    <p:cond delay="0"/>
                                  </p:stCondLst>
                                  <p:childTnLst>
                                    <p:set>
                                      <p:cBhvr>
                                        <p:cTn id="86" dur="1" fill="hold">
                                          <p:stCondLst>
                                            <p:cond delay="0"/>
                                          </p:stCondLst>
                                        </p:cTn>
                                        <p:tgtEl>
                                          <p:spTgt spid="1395"/>
                                        </p:tgtEl>
                                        <p:attrNameLst>
                                          <p:attrName>style.visibility</p:attrName>
                                        </p:attrNameLst>
                                      </p:cBhvr>
                                      <p:to>
                                        <p:strVal val="visible"/>
                                      </p:to>
                                    </p:set>
                                    <p:anim calcmode="lin" valueType="num">
                                      <p:cBhvr additive="base">
                                        <p:cTn id="87" dur="500"/>
                                        <p:tgtEl>
                                          <p:spTgt spid="1395"/>
                                        </p:tgtEl>
                                        <p:attrNameLst>
                                          <p:attrName>ppt_w</p:attrName>
                                        </p:attrNameLst>
                                      </p:cBhvr>
                                      <p:tavLst>
                                        <p:tav tm="0">
                                          <p:val>
                                            <p:strVal val="0"/>
                                          </p:val>
                                        </p:tav>
                                        <p:tav tm="100000">
                                          <p:val>
                                            <p:strVal val="#ppt_w"/>
                                          </p:val>
                                        </p:tav>
                                      </p:tavLst>
                                    </p:anim>
                                    <p:anim calcmode="lin" valueType="num">
                                      <p:cBhvr additive="base">
                                        <p:cTn id="88" dur="500"/>
                                        <p:tgtEl>
                                          <p:spTgt spid="1395"/>
                                        </p:tgtEl>
                                        <p:attrNameLst>
                                          <p:attrName>ppt_h</p:attrName>
                                        </p:attrNameLst>
                                      </p:cBhvr>
                                      <p:tavLst>
                                        <p:tav tm="0">
                                          <p:val>
                                            <p:strVal val="0"/>
                                          </p:val>
                                        </p:tav>
                                        <p:tav tm="100000">
                                          <p:val>
                                            <p:strVal val="#ppt_h"/>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nodeType="clickEffect">
                                  <p:stCondLst>
                                    <p:cond delay="0"/>
                                  </p:stCondLst>
                                  <p:childTnLst>
                                    <p:set>
                                      <p:cBhvr>
                                        <p:cTn id="92" dur="1" fill="hold">
                                          <p:stCondLst>
                                            <p:cond delay="0"/>
                                          </p:stCondLst>
                                        </p:cTn>
                                        <p:tgtEl>
                                          <p:spTgt spid="1396"/>
                                        </p:tgtEl>
                                        <p:attrNameLst>
                                          <p:attrName>style.visibility</p:attrName>
                                        </p:attrNameLst>
                                      </p:cBhvr>
                                      <p:to>
                                        <p:strVal val="visible"/>
                                      </p:to>
                                    </p:set>
                                    <p:anim calcmode="lin" valueType="num">
                                      <p:cBhvr additive="base">
                                        <p:cTn id="93" dur="800"/>
                                        <p:tgtEl>
                                          <p:spTgt spid="1396"/>
                                        </p:tgtEl>
                                        <p:attrNameLst>
                                          <p:attrName>ppt_y</p:attrName>
                                        </p:attrNameLst>
                                      </p:cBhvr>
                                      <p:tavLst>
                                        <p:tav tm="0">
                                          <p:val>
                                            <p:strVal val="#ppt_y+1"/>
                                          </p:val>
                                        </p:tav>
                                        <p:tav tm="100000">
                                          <p:val>
                                            <p:strVal val="#ppt_y"/>
                                          </p:val>
                                        </p:tav>
                                      </p:tavLst>
                                    </p:anim>
                                  </p:childTnLst>
                                </p:cTn>
                              </p:par>
                              <p:par>
                                <p:cTn id="94" presetID="2" presetClass="entr" presetSubtype="4" fill="hold" nodeType="withEffect">
                                  <p:stCondLst>
                                    <p:cond delay="500"/>
                                  </p:stCondLst>
                                  <p:childTnLst>
                                    <p:set>
                                      <p:cBhvr>
                                        <p:cTn id="95" dur="1" fill="hold">
                                          <p:stCondLst>
                                            <p:cond delay="0"/>
                                          </p:stCondLst>
                                        </p:cTn>
                                        <p:tgtEl>
                                          <p:spTgt spid="1397"/>
                                        </p:tgtEl>
                                        <p:attrNameLst>
                                          <p:attrName>style.visibility</p:attrName>
                                        </p:attrNameLst>
                                      </p:cBhvr>
                                      <p:to>
                                        <p:strVal val="visible"/>
                                      </p:to>
                                    </p:set>
                                    <p:anim calcmode="lin" valueType="num">
                                      <p:cBhvr additive="base">
                                        <p:cTn id="96" dur="1000"/>
                                        <p:tgtEl>
                                          <p:spTgt spid="1397"/>
                                        </p:tgtEl>
                                        <p:attrNameLst>
                                          <p:attrName>ppt_y</p:attrName>
                                        </p:attrNameLst>
                                      </p:cBhvr>
                                      <p:tavLst>
                                        <p:tav tm="0">
                                          <p:val>
                                            <p:strVal val="#ppt_y+1"/>
                                          </p:val>
                                        </p:tav>
                                        <p:tav tm="100000">
                                          <p:val>
                                            <p:strVal val="#ppt_y"/>
                                          </p:val>
                                        </p:tav>
                                      </p:tavLst>
                                    </p:anim>
                                  </p:childTnLst>
                                </p:cTn>
                              </p:par>
                              <p:par>
                                <p:cTn id="97" presetID="2" presetClass="entr" presetSubtype="4" fill="hold" nodeType="withEffect">
                                  <p:stCondLst>
                                    <p:cond delay="1300"/>
                                  </p:stCondLst>
                                  <p:childTnLst>
                                    <p:set>
                                      <p:cBhvr>
                                        <p:cTn id="98" dur="1" fill="hold">
                                          <p:stCondLst>
                                            <p:cond delay="0"/>
                                          </p:stCondLst>
                                        </p:cTn>
                                        <p:tgtEl>
                                          <p:spTgt spid="1398"/>
                                        </p:tgtEl>
                                        <p:attrNameLst>
                                          <p:attrName>style.visibility</p:attrName>
                                        </p:attrNameLst>
                                      </p:cBhvr>
                                      <p:to>
                                        <p:strVal val="visible"/>
                                      </p:to>
                                    </p:set>
                                    <p:anim calcmode="lin" valueType="num">
                                      <p:cBhvr additive="base">
                                        <p:cTn id="99" dur="1000"/>
                                        <p:tgtEl>
                                          <p:spTgt spid="1398"/>
                                        </p:tgtEl>
                                        <p:attrNameLst>
                                          <p:attrName>ppt_y</p:attrName>
                                        </p:attrNameLst>
                                      </p:cBhvr>
                                      <p:tavLst>
                                        <p:tav tm="0">
                                          <p:val>
                                            <p:strVal val="#ppt_y+1"/>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1400"/>
                                        </p:tgtEl>
                                        <p:attrNameLst>
                                          <p:attrName>style.visibility</p:attrName>
                                        </p:attrNameLst>
                                      </p:cBhvr>
                                      <p:to>
                                        <p:strVal val="visible"/>
                                      </p:to>
                                    </p:set>
                                    <p:animEffect transition="in" filter="fade">
                                      <p:cBhvr>
                                        <p:cTn id="104" dur="500"/>
                                        <p:tgtEl>
                                          <p:spTgt spid="1400"/>
                                        </p:tgtEl>
                                      </p:cBhvr>
                                    </p:animEffect>
                                  </p:childTnLst>
                                </p:cTn>
                              </p:par>
                              <p:par>
                                <p:cTn id="105" presetID="10" presetClass="entr" presetSubtype="0" fill="hold" nodeType="withEffect">
                                  <p:stCondLst>
                                    <p:cond delay="0"/>
                                  </p:stCondLst>
                                  <p:childTnLst>
                                    <p:set>
                                      <p:cBhvr>
                                        <p:cTn id="106" dur="1" fill="hold">
                                          <p:stCondLst>
                                            <p:cond delay="0"/>
                                          </p:stCondLst>
                                        </p:cTn>
                                        <p:tgtEl>
                                          <p:spTgt spid="1399"/>
                                        </p:tgtEl>
                                        <p:attrNameLst>
                                          <p:attrName>style.visibility</p:attrName>
                                        </p:attrNameLst>
                                      </p:cBhvr>
                                      <p:to>
                                        <p:strVal val="visible"/>
                                      </p:to>
                                    </p:set>
                                    <p:animEffect transition="in" filter="fade">
                                      <p:cBhvr>
                                        <p:cTn id="107" dur="500"/>
                                        <p:tgtEl>
                                          <p:spTgt spid="1399"/>
                                        </p:tgtEl>
                                      </p:cBhvr>
                                    </p:animEffect>
                                  </p:childTnLst>
                                </p:cTn>
                              </p:par>
                              <p:par>
                                <p:cTn id="108" presetID="10" presetClass="entr" presetSubtype="0" fill="hold" nodeType="withEffect">
                                  <p:stCondLst>
                                    <p:cond delay="0"/>
                                  </p:stCondLst>
                                  <p:childTnLst>
                                    <p:set>
                                      <p:cBhvr>
                                        <p:cTn id="109" dur="1" fill="hold">
                                          <p:stCondLst>
                                            <p:cond delay="0"/>
                                          </p:stCondLst>
                                        </p:cTn>
                                        <p:tgtEl>
                                          <p:spTgt spid="1401"/>
                                        </p:tgtEl>
                                        <p:attrNameLst>
                                          <p:attrName>style.visibility</p:attrName>
                                        </p:attrNameLst>
                                      </p:cBhvr>
                                      <p:to>
                                        <p:strVal val="visible"/>
                                      </p:to>
                                    </p:set>
                                    <p:animEffect transition="in" filter="fade">
                                      <p:cBhvr>
                                        <p:cTn id="110" dur="500"/>
                                        <p:tgtEl>
                                          <p:spTgt spid="14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5"/>
        <p:cNvGrpSpPr/>
        <p:nvPr/>
      </p:nvGrpSpPr>
      <p:grpSpPr>
        <a:xfrm>
          <a:off x="0" y="0"/>
          <a:ext cx="0" cy="0"/>
          <a:chOff x="0" y="0"/>
          <a:chExt cx="0" cy="0"/>
        </a:xfrm>
      </p:grpSpPr>
      <p:sp>
        <p:nvSpPr>
          <p:cNvPr id="1406" name="Google Shape;1406;p63"/>
          <p:cNvSpPr txBox="1"/>
          <p:nvPr/>
        </p:nvSpPr>
        <p:spPr>
          <a:xfrm>
            <a:off x="152551" y="130471"/>
            <a:ext cx="10967086" cy="710711"/>
          </a:xfrm>
          <a:prstGeom prst="rect">
            <a:avLst/>
          </a:prstGeom>
          <a:noFill/>
          <a:ln>
            <a:noFill/>
          </a:ln>
        </p:spPr>
        <p:txBody>
          <a:bodyPr spcFirstLastPara="1" wrap="square" lIns="121825" tIns="60900" rIns="121825" bIns="60900" anchor="ctr" anchorCtr="0">
            <a:noAutofit/>
          </a:bodyPr>
          <a:lstStyle/>
          <a:p>
            <a:pPr marL="0" marR="0" lvl="0" indent="0" algn="l" rtl="0">
              <a:spcBef>
                <a:spcPts val="0"/>
              </a:spcBef>
              <a:spcAft>
                <a:spcPts val="0"/>
              </a:spcAft>
              <a:buClr>
                <a:srgbClr val="000000"/>
              </a:buClr>
              <a:buSzPts val="2798"/>
              <a:buFont typeface="Corben"/>
              <a:buNone/>
            </a:pPr>
            <a:r>
              <a:rPr lang="en-US" sz="3600" b="1" dirty="0">
                <a:solidFill>
                  <a:srgbClr val="FFC000"/>
                </a:solidFill>
                <a:latin typeface="Cooper Black" panose="0208090404030B020404" pitchFamily="18" charset="0"/>
                <a:ea typeface="Corben"/>
                <a:cs typeface="Corben"/>
                <a:sym typeface="Corben"/>
              </a:rPr>
              <a:t>Big Picture – Architecture </a:t>
            </a:r>
            <a:endParaRPr sz="2000" b="1" dirty="0">
              <a:solidFill>
                <a:srgbClr val="FFC000"/>
              </a:solidFill>
              <a:latin typeface="Cooper Black" panose="0208090404030B020404" pitchFamily="18" charset="0"/>
            </a:endParaRPr>
          </a:p>
        </p:txBody>
      </p:sp>
      <p:pic>
        <p:nvPicPr>
          <p:cNvPr id="1409" name="Google Shape;1409;p63"/>
          <p:cNvPicPr preferRelativeResize="0"/>
          <p:nvPr/>
        </p:nvPicPr>
        <p:blipFill rotWithShape="1">
          <a:blip r:embed="rId3">
            <a:alphaModFix/>
          </a:blip>
          <a:srcRect/>
          <a:stretch/>
        </p:blipFill>
        <p:spPr>
          <a:xfrm>
            <a:off x="1524398" y="1121213"/>
            <a:ext cx="9140030" cy="5087949"/>
          </a:xfrm>
          <a:prstGeom prst="rect">
            <a:avLst/>
          </a:prstGeom>
          <a:noFill/>
          <a:ln>
            <a:noFill/>
          </a:ln>
        </p:spPr>
      </p:pic>
      <p:sp>
        <p:nvSpPr>
          <p:cNvPr id="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a:t>
            </a:r>
            <a:r>
              <a:rPr lang="en-US" sz="5400" b="1" dirty="0">
                <a:solidFill>
                  <a:srgbClr val="75C042"/>
                </a:solidFill>
                <a:latin typeface="Segoe UI" panose="020B0502040204020203" pitchFamily="34" charset="0"/>
                <a:ea typeface="Calibri Light" charset="0"/>
                <a:cs typeface="Segoe UI" panose="020B0502040204020203" pitchFamily="34" charset="0"/>
              </a:rPr>
              <a:t>9</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1377</TotalTime>
  <Words>468</Words>
  <Application>Microsoft Office PowerPoint</Application>
  <PresentationFormat>Custom</PresentationFormat>
  <Paragraphs>105</Paragraphs>
  <Slides>11</Slides>
  <Notes>9</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11</vt:i4>
      </vt:variant>
    </vt:vector>
  </HeadingPairs>
  <TitlesOfParts>
    <vt:vector size="24" baseType="lpstr">
      <vt:lpstr>Cooper Black</vt:lpstr>
      <vt:lpstr>Calibri</vt:lpstr>
      <vt:lpstr>Arial Black</vt:lpstr>
      <vt:lpstr>Segoe UI Light</vt:lpstr>
      <vt:lpstr>Corben</vt:lpstr>
      <vt:lpstr>Quattrocento Sans</vt:lpstr>
      <vt:lpstr>Segoe UI</vt:lpstr>
      <vt:lpstr>Cambria</vt:lpstr>
      <vt:lpstr>Open Sans</vt:lpstr>
      <vt:lpstr>Arial</vt:lpstr>
      <vt:lpstr>Office Theme</vt:lpstr>
      <vt:lpstr>2_Office Theme</vt:lpstr>
      <vt:lpstr>3_Office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69</cp:revision>
  <dcterms:created xsi:type="dcterms:W3CDTF">2023-10-03T21:33:12Z</dcterms:created>
  <dcterms:modified xsi:type="dcterms:W3CDTF">2026-02-14T12:53:33Z</dcterms:modified>
</cp:coreProperties>
</file>