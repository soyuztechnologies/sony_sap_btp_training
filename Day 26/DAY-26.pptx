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ink/ink3.xml" ContentType="application/inkml+xml"/>
  <Override PartName="/ppt/notesSlides/notesSlide6.xml" ContentType="application/vnd.openxmlformats-officedocument.presentationml.notesSlide+xml"/>
  <Override PartName="/ppt/ink/ink4.xml" ContentType="application/inkml+xml"/>
  <Override PartName="/ppt/notesSlides/notesSlide7.xml" ContentType="application/vnd.openxmlformats-officedocument.presentationml.notesSlide+xml"/>
  <Override PartName="/ppt/ink/ink5.xml" ContentType="application/inkml+xml"/>
  <Override PartName="/ppt/notesSlides/notesSlide8.xml" ContentType="application/vnd.openxmlformats-officedocument.presentationml.notesSlide+xml"/>
  <Override PartName="/ppt/ink/ink6.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18"/>
  </p:notesMasterIdLst>
  <p:sldIdLst>
    <p:sldId id="256" r:id="rId4"/>
    <p:sldId id="402" r:id="rId5"/>
    <p:sldId id="276" r:id="rId6"/>
    <p:sldId id="4807" r:id="rId7"/>
    <p:sldId id="4808" r:id="rId8"/>
    <p:sldId id="4809" r:id="rId9"/>
    <p:sldId id="425" r:id="rId10"/>
    <p:sldId id="4810" r:id="rId11"/>
    <p:sldId id="426" r:id="rId12"/>
    <p:sldId id="357" r:id="rId13"/>
    <p:sldId id="4813" r:id="rId14"/>
    <p:sldId id="4814" r:id="rId15"/>
    <p:sldId id="419" r:id="rId16"/>
    <p:sldId id="409" r:id="rId17"/>
  </p:sldIdLst>
  <p:sldSz cx="12188825" cy="6858000"/>
  <p:notesSz cx="6858000" cy="9144000"/>
  <p:embeddedFontLst>
    <p:embeddedFont>
      <p:font typeface="Arial Black" panose="020B0A04020102020204" pitchFamily="34" charset="0"/>
      <p:regular r:id="rId19"/>
      <p:bold r:id="rId20"/>
    </p:embeddedFont>
    <p:embeddedFont>
      <p:font typeface="Cambria" panose="02040503050406030204" pitchFamily="18" charset="0"/>
      <p:regular r:id="rId21"/>
      <p:bold r:id="rId22"/>
      <p:italic r:id="rId23"/>
      <p:boldItalic r:id="rId24"/>
    </p:embeddedFont>
    <p:embeddedFont>
      <p:font typeface="Consolas" panose="020B0609020204030204" pitchFamily="49" charset="0"/>
      <p:regular r:id="rId25"/>
      <p:bold r:id="rId26"/>
      <p:italic r:id="rId27"/>
      <p:boldItalic r:id="rId28"/>
    </p:embeddedFont>
    <p:embeddedFont>
      <p:font typeface="Cooper Black" panose="0208090404030B020404" pitchFamily="18" charset="0"/>
      <p:regular r:id="rId29"/>
    </p:embeddedFont>
    <p:embeddedFont>
      <p:font typeface="Corben" panose="020B0604020202020204" charset="0"/>
      <p:bold r:id="rId30"/>
    </p:embeddedFont>
    <p:embeddedFont>
      <p:font typeface="Open Sans" panose="020B0606030504020204" pitchFamily="34" charset="0"/>
      <p:regular r:id="rId31"/>
      <p:bold r:id="rId32"/>
      <p:italic r:id="rId33"/>
      <p:boldItalic r:id="rId34"/>
    </p:embeddedFont>
    <p:embeddedFont>
      <p:font typeface="Quattrocento Sans" panose="020B0502050000020003" pitchFamily="34" charset="0"/>
      <p:regular r:id="rId35"/>
      <p:bold r:id="rId36"/>
      <p:italic r:id="rId37"/>
      <p:boldItalic r:id="rId38"/>
    </p:embeddedFont>
    <p:embeddedFont>
      <p:font typeface="Segoe UI" panose="020B0502040204020203" pitchFamily="34" charset="0"/>
      <p:regular r:id="rId39"/>
      <p:bold r:id="rId40"/>
      <p:italic r:id="rId41"/>
      <p:boldItalic r:id="rId42"/>
    </p:embeddedFont>
    <p:embeddedFont>
      <p:font typeface="Segoe UI Light" panose="020B0502040204020203" pitchFamily="34" charset="0"/>
      <p:regular r:id="rId43"/>
      <p: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font" Target="fonts/font24.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1.fntdata"/><Relationship Id="rId11" Type="http://schemas.openxmlformats.org/officeDocument/2006/relationships/slide" Target="slides/slide8.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font" Target="fonts/font26.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font" Target="fonts/font25.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20" Type="http://schemas.openxmlformats.org/officeDocument/2006/relationships/font" Target="fonts/font2.fntdata"/><Relationship Id="rId41" Type="http://schemas.openxmlformats.org/officeDocument/2006/relationships/font" Target="fonts/font23.fntdata"/><Relationship Id="rId1" Type="http://schemas.openxmlformats.org/officeDocument/2006/relationships/slideMaster" Target="slideMasters/slideMaster1.xml"/><Relationship Id="rId6" Type="http://schemas.openxmlformats.org/officeDocument/2006/relationships/slide" Target="slides/slide3.xml"/><Relationship Id="rId20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2481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a:t>https://www.google.com/url?sa=i&amp;url=https%3A%2F%2Fcommunity.sap.com%2Ft5%2Ftechnology-blogs-by-sap%2Fbuild-and-deploy-ui5-freestyle-applications-to-sap-btp-cloud-foundry%2Fba-p%2F13558501&amp;psig=AOvVaw3K_6niI7dmyPfs2VgcYMQf&amp;ust=1726066695091000&amp;source=images&amp;cd=vfe&amp;opi=89978449&amp;ved=0CBcQjhxqFwoTCOicgdPRuIgDFQAAAAAdAAAAABAg</a:t>
            </a: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7498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8462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1676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11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2382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p1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8" name="Google Shape;1808;p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4"/>
        <p:cNvGrpSpPr/>
        <p:nvPr/>
      </p:nvGrpSpPr>
      <p:grpSpPr>
        <a:xfrm>
          <a:off x="0" y="0"/>
          <a:ext cx="0" cy="0"/>
          <a:chOff x="0" y="0"/>
          <a:chExt cx="0" cy="0"/>
        </a:xfrm>
      </p:grpSpPr>
      <p:sp>
        <p:nvSpPr>
          <p:cNvPr id="1905" name="Google Shape;1905;p1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6" name="Google Shape;1906;p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74548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265758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theme" Target="../theme/theme2.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image" Target="../media/image1.pn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 id="214748374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2/22/2026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6.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eclipse.abapgit.org/updatesite/"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9.xml"/><Relationship Id="rId1" Type="http://schemas.openxmlformats.org/officeDocument/2006/relationships/themeOverride" Target="../theme/themeOverride1.xml"/></Relationships>
</file>

<file path=ppt/slides/_rels/slide13.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2.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tiff"/><Relationship Id="rId2" Type="http://schemas.openxmlformats.org/officeDocument/2006/relationships/notesSlide" Target="../notesSlides/notesSlide11.xml"/><Relationship Id="rId1" Type="http://schemas.openxmlformats.org/officeDocument/2006/relationships/slideLayout" Target="../slideLayouts/slideLayout39.xml"/><Relationship Id="rId6" Type="http://schemas.openxmlformats.org/officeDocument/2006/relationships/image" Target="../media/image13.tiff"/><Relationship Id="rId5" Type="http://schemas.openxmlformats.org/officeDocument/2006/relationships/image" Target="../media/image12.tiff"/><Relationship Id="rId4" Type="http://schemas.openxmlformats.org/officeDocument/2006/relationships/image" Target="../media/image11.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DAY-26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Fiori App Structure</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234511"/>
            <a:ext cx="2597506" cy="646331"/>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Deploy Fiori app to HTML5 Repo</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SAP Build </a:t>
            </a:r>
            <a:r>
              <a:rPr lang="en-IN" sz="1800" b="1" dirty="0" err="1">
                <a:solidFill>
                  <a:schemeClr val="accent3"/>
                </a:solidFill>
                <a:latin typeface="Open Sans" panose="020B0606030504020204" pitchFamily="34" charset="0"/>
                <a:ea typeface="Open Sans" panose="020B0606030504020204" pitchFamily="34" charset="0"/>
                <a:cs typeface="Open Sans" panose="020B0606030504020204" pitchFamily="34" charset="0"/>
              </a:rPr>
              <a:t>Workzone</a:t>
            </a:r>
            <a:endPar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a:solidFill>
                  <a:schemeClr val="accent4"/>
                </a:solidFill>
                <a:latin typeface="Open Sans" panose="020B0606030504020204" pitchFamily="34" charset="0"/>
                <a:ea typeface="Open Sans" panose="020B0606030504020204" pitchFamily="34" charset="0"/>
                <a:cs typeface="Open Sans" panose="020B0606030504020204" pitchFamily="34" charset="0"/>
              </a:rPr>
              <a:t>git</a:t>
            </a:r>
            <a:endPar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Structure of the Fiori App</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sp>
        <p:nvSpPr>
          <p:cNvPr id="15" name="Google Shape;1784;p99">
            <a:extLst>
              <a:ext uri="{FF2B5EF4-FFF2-40B4-BE49-F238E27FC236}">
                <a16:creationId xmlns:a16="http://schemas.microsoft.com/office/drawing/2014/main" id="{D066BECC-1B37-00D9-A221-842A63DFF0A3}"/>
              </a:ext>
            </a:extLst>
          </p:cNvPr>
          <p:cNvSpPr txBox="1"/>
          <p:nvPr/>
        </p:nvSpPr>
        <p:spPr>
          <a:xfrm>
            <a:off x="258169" y="769187"/>
            <a:ext cx="11806237" cy="3416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Currently you are testing the Fiori App by using the standard preview option in eclipse tool. Will our end user have the ability and skill to open eclipse tool, go to package and search BIMP and then open preview and that too in production system.</a:t>
            </a:r>
            <a:endParaRPr dirty="0"/>
          </a:p>
          <a:p>
            <a:pPr marL="285750" marR="0" lvl="0" indent="-285750" algn="l" rtl="0">
              <a:spcBef>
                <a:spcPts val="0"/>
              </a:spcBef>
              <a:spcAft>
                <a:spcPts val="0"/>
              </a:spcAft>
              <a:buClr>
                <a:schemeClr val="dk1"/>
              </a:buClr>
              <a:buSzPts val="1800"/>
              <a:buFont typeface="Arial"/>
              <a:buChar char="•"/>
            </a:pPr>
            <a:endParaRPr lang="en-US"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All the Fiori apps which we create in BTP will be called MTA – Multi target application, they are deployed with </a:t>
            </a:r>
            <a:r>
              <a:rPr lang="en-US" sz="1800" dirty="0" err="1">
                <a:solidFill>
                  <a:schemeClr val="dk1"/>
                </a:solidFill>
                <a:latin typeface="Calibri"/>
                <a:ea typeface="Calibri"/>
                <a:cs typeface="Calibri"/>
                <a:sym typeface="Calibri"/>
              </a:rPr>
              <a:t>mta.yml</a:t>
            </a:r>
            <a:r>
              <a:rPr lang="en-US" sz="1800" dirty="0">
                <a:solidFill>
                  <a:schemeClr val="dk1"/>
                </a:solidFill>
                <a:latin typeface="Calibri"/>
                <a:ea typeface="Calibri"/>
                <a:cs typeface="Calibri"/>
                <a:sym typeface="Calibri"/>
              </a:rPr>
              <a:t> file. Which will contain the configuration for the Fiori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 SAP BTP, there is a storage space called </a:t>
            </a:r>
            <a:r>
              <a:rPr lang="en-US" sz="1800" b="1" dirty="0">
                <a:solidFill>
                  <a:schemeClr val="dk1"/>
                </a:solidFill>
                <a:latin typeface="Calibri"/>
                <a:ea typeface="Calibri"/>
                <a:cs typeface="Calibri"/>
                <a:sym typeface="Calibri"/>
              </a:rPr>
              <a:t>html-5-repository</a:t>
            </a:r>
            <a:r>
              <a:rPr lang="en-US" sz="1800" dirty="0">
                <a:solidFill>
                  <a:schemeClr val="dk1"/>
                </a:solidFill>
                <a:latin typeface="Calibri"/>
                <a:ea typeface="Calibri"/>
                <a:cs typeface="Calibri"/>
                <a:sym typeface="Calibri"/>
              </a:rPr>
              <a:t> where the BTP will store our Fiori apps.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When we deploy our app, there is </a:t>
            </a:r>
            <a:r>
              <a:rPr lang="en-US" sz="1800" b="1" dirty="0">
                <a:solidFill>
                  <a:schemeClr val="dk1"/>
                </a:solidFill>
                <a:latin typeface="Calibri"/>
                <a:ea typeface="Calibri"/>
                <a:cs typeface="Calibri"/>
                <a:sym typeface="Calibri"/>
              </a:rPr>
              <a:t>html5-deployer</a:t>
            </a:r>
            <a:r>
              <a:rPr lang="en-US" sz="1800" dirty="0">
                <a:solidFill>
                  <a:schemeClr val="dk1"/>
                </a:solidFill>
                <a:latin typeface="Calibri"/>
                <a:ea typeface="Calibri"/>
                <a:cs typeface="Calibri"/>
                <a:sym typeface="Calibri"/>
              </a:rPr>
              <a:t> which will take our app from BAS tool and </a:t>
            </a:r>
            <a:r>
              <a:rPr lang="en-US" sz="1800" dirty="0" err="1">
                <a:solidFill>
                  <a:schemeClr val="dk1"/>
                </a:solidFill>
                <a:latin typeface="Calibri"/>
                <a:ea typeface="Calibri"/>
                <a:cs typeface="Calibri"/>
                <a:sym typeface="Calibri"/>
              </a:rPr>
              <a:t>deployes</a:t>
            </a:r>
            <a:r>
              <a:rPr lang="en-US" sz="1800" dirty="0">
                <a:solidFill>
                  <a:schemeClr val="dk1"/>
                </a:solidFill>
                <a:latin typeface="Calibri"/>
                <a:ea typeface="Calibri"/>
                <a:cs typeface="Calibri"/>
                <a:sym typeface="Calibri"/>
              </a:rPr>
              <a:t> it to the HTML5 Repository (Design time)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When we run the app, there is a service called </a:t>
            </a:r>
            <a:r>
              <a:rPr lang="en-US" sz="1800" b="1" dirty="0">
                <a:solidFill>
                  <a:schemeClr val="dk1"/>
                </a:solidFill>
                <a:latin typeface="Calibri"/>
                <a:ea typeface="Calibri"/>
                <a:cs typeface="Calibri"/>
                <a:sym typeface="Calibri"/>
              </a:rPr>
              <a:t>html5-rt</a:t>
            </a:r>
            <a:r>
              <a:rPr lang="en-US" sz="1800" dirty="0">
                <a:solidFill>
                  <a:schemeClr val="dk1"/>
                </a:solidFill>
                <a:latin typeface="Calibri"/>
                <a:ea typeface="Calibri"/>
                <a:cs typeface="Calibri"/>
                <a:sym typeface="Calibri"/>
              </a:rPr>
              <a:t> (runtime) service which will load our app from the repository in the build </a:t>
            </a:r>
            <a:r>
              <a:rPr lang="en-US" sz="1800" dirty="0" err="1">
                <a:solidFill>
                  <a:schemeClr val="dk1"/>
                </a:solidFill>
                <a:latin typeface="Calibri"/>
                <a:ea typeface="Calibri"/>
                <a:cs typeface="Calibri"/>
                <a:sym typeface="Calibri"/>
              </a:rPr>
              <a:t>workzone</a:t>
            </a:r>
            <a:r>
              <a:rPr lang="en-US" sz="1800" dirty="0">
                <a:solidFill>
                  <a:schemeClr val="dk1"/>
                </a:solidFill>
                <a:latin typeface="Calibri"/>
                <a:ea typeface="Calibri"/>
                <a:cs typeface="Calibri"/>
                <a:sym typeface="Calibri"/>
              </a:rPr>
              <a:t>.</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Apart from that the application will contain a </a:t>
            </a:r>
            <a:r>
              <a:rPr lang="en-US" sz="1800" b="1" dirty="0">
                <a:solidFill>
                  <a:schemeClr val="dk1"/>
                </a:solidFill>
                <a:latin typeface="Calibri"/>
                <a:ea typeface="Calibri"/>
                <a:cs typeface="Calibri"/>
                <a:sym typeface="Calibri"/>
              </a:rPr>
              <a:t>connectivity</a:t>
            </a:r>
            <a:r>
              <a:rPr lang="en-US" sz="1800" dirty="0">
                <a:solidFill>
                  <a:schemeClr val="dk1"/>
                </a:solidFill>
                <a:latin typeface="Calibri"/>
                <a:ea typeface="Calibri"/>
                <a:cs typeface="Calibri"/>
                <a:sym typeface="Calibri"/>
              </a:rPr>
              <a:t> service to communicate with our abap on cloud system.</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And a </a:t>
            </a:r>
            <a:r>
              <a:rPr lang="en-US" sz="1800" b="1" dirty="0">
                <a:solidFill>
                  <a:schemeClr val="dk1"/>
                </a:solidFill>
                <a:latin typeface="Calibri"/>
                <a:ea typeface="Calibri"/>
                <a:cs typeface="Calibri"/>
                <a:sym typeface="Calibri"/>
              </a:rPr>
              <a:t>destination </a:t>
            </a:r>
            <a:r>
              <a:rPr lang="en-US" sz="1800" dirty="0">
                <a:solidFill>
                  <a:schemeClr val="dk1"/>
                </a:solidFill>
                <a:latin typeface="Calibri"/>
                <a:ea typeface="Calibri"/>
                <a:cs typeface="Calibri"/>
                <a:sym typeface="Calibri"/>
              </a:rPr>
              <a:t>service which will read the destination (RFC) of AOC system to access data in Fiori.</a:t>
            </a:r>
            <a:endParaRPr dirty="0"/>
          </a:p>
        </p:txBody>
      </p:sp>
    </p:spTree>
    <p:extLst>
      <p:ext uri="{BB962C8B-B14F-4D97-AF65-F5344CB8AC3E}">
        <p14:creationId xmlns:p14="http://schemas.microsoft.com/office/powerpoint/2010/main" val="3427854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Architecture</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3076" name="Picture 4" descr="Build and Deploy UI5 Freestyle Applications to SAP... - SAP Community">
            <a:extLst>
              <a:ext uri="{FF2B5EF4-FFF2-40B4-BE49-F238E27FC236}">
                <a16:creationId xmlns:a16="http://schemas.microsoft.com/office/drawing/2014/main" id="{688F8252-8736-0CE9-3D02-4CC8E7FFAF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3008" y="1019096"/>
            <a:ext cx="11172144" cy="5107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442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Tools and Services to Deliver the App</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sp>
        <p:nvSpPr>
          <p:cNvPr id="3" name="TextBox 2">
            <a:extLst>
              <a:ext uri="{FF2B5EF4-FFF2-40B4-BE49-F238E27FC236}">
                <a16:creationId xmlns:a16="http://schemas.microsoft.com/office/drawing/2014/main" id="{F131C131-2300-C883-3271-E2D57BBC02D2}"/>
              </a:ext>
            </a:extLst>
          </p:cNvPr>
          <p:cNvSpPr txBox="1"/>
          <p:nvPr/>
        </p:nvSpPr>
        <p:spPr>
          <a:xfrm>
            <a:off x="288291" y="803937"/>
            <a:ext cx="11445485" cy="2246769"/>
          </a:xfrm>
          <a:prstGeom prst="rect">
            <a:avLst/>
          </a:prstGeom>
          <a:noFill/>
        </p:spPr>
        <p:txBody>
          <a:bodyPr wrap="square">
            <a:spAutoFit/>
          </a:bodyPr>
          <a:lstStyle/>
          <a:p>
            <a:pPr marL="285750" marR="0" lvl="0" indent="-285750" algn="l" rtl="0">
              <a:spcBef>
                <a:spcPts val="0"/>
              </a:spcBef>
              <a:spcAft>
                <a:spcPts val="0"/>
              </a:spcAft>
              <a:buClr>
                <a:schemeClr val="dk1"/>
              </a:buClr>
              <a:buSzPts val="1800"/>
              <a:buFont typeface="Arial"/>
              <a:buChar char="•"/>
            </a:pPr>
            <a:r>
              <a:rPr lang="en-US" sz="2000" dirty="0">
                <a:solidFill>
                  <a:schemeClr val="dk1"/>
                </a:solidFill>
                <a:latin typeface="Calibri"/>
                <a:ea typeface="Calibri"/>
                <a:cs typeface="Calibri"/>
                <a:sym typeface="Calibri"/>
              </a:rPr>
              <a:t>Business Application Studio – It is a multi cloud development tool which allows developers to build, test, package, deploy, and manage end to end Fiori applications.</a:t>
            </a:r>
            <a:endParaRPr lang="en-US" sz="2000" dirty="0"/>
          </a:p>
          <a:p>
            <a:pPr marL="285750" marR="0" lvl="0" indent="-285750" algn="l" rtl="0">
              <a:spcBef>
                <a:spcPts val="0"/>
              </a:spcBef>
              <a:spcAft>
                <a:spcPts val="0"/>
              </a:spcAft>
              <a:buClr>
                <a:schemeClr val="dk1"/>
              </a:buClr>
              <a:buSzPts val="1800"/>
              <a:buFont typeface="Arial"/>
              <a:buChar char="•"/>
            </a:pPr>
            <a:r>
              <a:rPr lang="en-US" sz="2000" dirty="0">
                <a:solidFill>
                  <a:schemeClr val="dk1"/>
                </a:solidFill>
                <a:latin typeface="Calibri"/>
                <a:ea typeface="Calibri"/>
                <a:cs typeface="Calibri"/>
                <a:sym typeface="Calibri"/>
              </a:rPr>
              <a:t>SAP build work zone (aka </a:t>
            </a:r>
            <a:r>
              <a:rPr lang="en-US" sz="2000" dirty="0" err="1">
                <a:solidFill>
                  <a:schemeClr val="dk1"/>
                </a:solidFill>
                <a:latin typeface="Calibri"/>
                <a:ea typeface="Calibri"/>
                <a:cs typeface="Calibri"/>
                <a:sym typeface="Calibri"/>
              </a:rPr>
              <a:t>cFLP</a:t>
            </a:r>
            <a:r>
              <a:rPr lang="en-US" sz="2000" dirty="0">
                <a:solidFill>
                  <a:schemeClr val="dk1"/>
                </a:solidFill>
                <a:latin typeface="Calibri"/>
                <a:ea typeface="Calibri"/>
                <a:cs typeface="Calibri"/>
                <a:sym typeface="Calibri"/>
              </a:rPr>
              <a:t> in BTP) – it helps us to configure a site called Fiori launchpad in the cloud. All the Fiori Apps which you build in BTP will be accessed via this build </a:t>
            </a:r>
            <a:r>
              <a:rPr lang="en-US" sz="2000" dirty="0" err="1">
                <a:solidFill>
                  <a:schemeClr val="dk1"/>
                </a:solidFill>
                <a:latin typeface="Calibri"/>
                <a:ea typeface="Calibri"/>
                <a:cs typeface="Calibri"/>
                <a:sym typeface="Calibri"/>
              </a:rPr>
              <a:t>workzone</a:t>
            </a:r>
            <a:r>
              <a:rPr lang="en-US" sz="2000" dirty="0">
                <a:solidFill>
                  <a:schemeClr val="dk1"/>
                </a:solidFill>
                <a:latin typeface="Calibri"/>
                <a:ea typeface="Calibri"/>
                <a:cs typeface="Calibri"/>
                <a:sym typeface="Calibri"/>
              </a:rPr>
              <a:t> from end user. End user will get single URL, which contains the tiles for all our apps deployed in BTP.</a:t>
            </a:r>
            <a:endParaRPr lang="en-US" sz="2000" dirty="0"/>
          </a:p>
          <a:p>
            <a:pPr marL="285750" marR="0" lvl="0" indent="-285750" algn="l" rtl="0">
              <a:spcBef>
                <a:spcPts val="0"/>
              </a:spcBef>
              <a:spcAft>
                <a:spcPts val="0"/>
              </a:spcAft>
              <a:buClr>
                <a:schemeClr val="dk1"/>
              </a:buClr>
              <a:buSzPts val="1800"/>
              <a:buFont typeface="Arial"/>
              <a:buChar char="•"/>
            </a:pPr>
            <a:r>
              <a:rPr lang="en-US" sz="2000" dirty="0">
                <a:solidFill>
                  <a:schemeClr val="dk1"/>
                </a:solidFill>
                <a:latin typeface="Calibri"/>
                <a:ea typeface="Calibri"/>
                <a:cs typeface="Calibri"/>
                <a:sym typeface="Calibri"/>
              </a:rPr>
              <a:t>Continuous Integration Service – When a developer change the application, and push to central repository like git, the CI service will automatically build and deploy our app.</a:t>
            </a:r>
            <a:endParaRPr lang="en-US" sz="2000" dirty="0"/>
          </a:p>
        </p:txBody>
      </p:sp>
    </p:spTree>
    <p:extLst>
      <p:ext uri="{BB962C8B-B14F-4D97-AF65-F5344CB8AC3E}">
        <p14:creationId xmlns:p14="http://schemas.microsoft.com/office/powerpoint/2010/main" val="1298922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SAP Build – An introduction</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2050" name="Picture 2" descr="SAP Build Work Zone: SAP's no-code offering for bu... - SAP Community">
            <a:extLst>
              <a:ext uri="{FF2B5EF4-FFF2-40B4-BE49-F238E27FC236}">
                <a16:creationId xmlns:a16="http://schemas.microsoft.com/office/drawing/2014/main" id="{327A12B3-0A45-F879-7B0E-42A136DD44F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6208"/>
          <a:stretch/>
        </p:blipFill>
        <p:spPr bwMode="auto">
          <a:xfrm>
            <a:off x="510883" y="1380806"/>
            <a:ext cx="11383047" cy="4749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67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SAP Build Work zone – Key benefits</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1026" name="Picture 2" descr="What Is SAP Build Work Zone, standard edition? | SAP Help Portal">
            <a:extLst>
              <a:ext uri="{FF2B5EF4-FFF2-40B4-BE49-F238E27FC236}">
                <a16:creationId xmlns:a16="http://schemas.microsoft.com/office/drawing/2014/main" id="{4AB61E76-F13F-A503-D64A-8E43D217745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3237"/>
          <a:stretch/>
        </p:blipFill>
        <p:spPr bwMode="auto">
          <a:xfrm>
            <a:off x="287932" y="970353"/>
            <a:ext cx="11468100" cy="5041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540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Additional configuration before deployment</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sp>
        <p:nvSpPr>
          <p:cNvPr id="2" name="Google Shape;1802;p101">
            <a:extLst>
              <a:ext uri="{FF2B5EF4-FFF2-40B4-BE49-F238E27FC236}">
                <a16:creationId xmlns:a16="http://schemas.microsoft.com/office/drawing/2014/main" id="{8B3FD0C9-A6F1-D57E-7DFB-8B28B8A56BF3}"/>
              </a:ext>
            </a:extLst>
          </p:cNvPr>
          <p:cNvSpPr txBox="1"/>
          <p:nvPr/>
        </p:nvSpPr>
        <p:spPr>
          <a:xfrm>
            <a:off x="224979" y="788088"/>
            <a:ext cx="11806237" cy="31085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a:t>
            </a:r>
            <a:r>
              <a:rPr lang="en-US" sz="1400" b="0" dirty="0" err="1">
                <a:solidFill>
                  <a:schemeClr val="tx1"/>
                </a:solidFill>
                <a:latin typeface="Consolas"/>
                <a:ea typeface="Consolas"/>
                <a:cs typeface="Consolas"/>
                <a:sym typeface="Consolas"/>
              </a:rPr>
              <a:t>xsappname</a:t>
            </a:r>
            <a:r>
              <a:rPr lang="en-US" sz="1400" b="0" dirty="0">
                <a:solidFill>
                  <a:schemeClr val="tx1"/>
                </a:solidFill>
                <a:latin typeface="Consolas"/>
                <a:ea typeface="Consolas"/>
                <a:cs typeface="Consolas"/>
                <a:sym typeface="Consolas"/>
              </a:rPr>
              <a:t>": "</a:t>
            </a:r>
            <a:r>
              <a:rPr lang="en-US" sz="1400" b="0" dirty="0" err="1">
                <a:solidFill>
                  <a:schemeClr val="tx1"/>
                </a:solidFill>
                <a:latin typeface="Consolas"/>
                <a:ea typeface="Consolas"/>
                <a:cs typeface="Consolas"/>
                <a:sym typeface="Consolas"/>
              </a:rPr>
              <a:t>comatstproctravelprocessorapp</a:t>
            </a:r>
            <a:r>
              <a:rPr lang="en-US" sz="1400" b="0" dirty="0">
                <a:solidFill>
                  <a:schemeClr val="tx1"/>
                </a:solidFill>
                <a:latin typeface="Consolas"/>
                <a:ea typeface="Consolas"/>
                <a:cs typeface="Consolas"/>
                <a:sym typeface="Consolas"/>
              </a:rPr>
              <a:t>",</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"tenant-mode": "dedicated",</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"description": "Security profile of called application",</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"scopes":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"role-templates":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"oauth2-configuration":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"token-validity": 60000,</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"refresh-token-validity": 2592000,</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"redirect-</a:t>
            </a:r>
            <a:r>
              <a:rPr lang="en-US" sz="1400" b="0" dirty="0" err="1">
                <a:solidFill>
                  <a:schemeClr val="tx1"/>
                </a:solidFill>
                <a:latin typeface="Consolas"/>
                <a:ea typeface="Consolas"/>
                <a:cs typeface="Consolas"/>
                <a:sym typeface="Consolas"/>
              </a:rPr>
              <a:t>uris</a:t>
            </a:r>
            <a:r>
              <a:rPr lang="en-US" sz="1400" b="0" dirty="0">
                <a:solidFill>
                  <a:schemeClr val="tx1"/>
                </a:solidFill>
                <a:latin typeface="Consolas"/>
                <a:ea typeface="Consolas"/>
                <a:cs typeface="Consolas"/>
                <a:sym typeface="Consolas"/>
              </a:rPr>
              <a:t>":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"https://*.cfapps.us10-001.hana.ondemand.com/login/callback"</a:t>
            </a:r>
            <a:endParaRPr sz="1400" b="0" dirty="0">
              <a:solidFill>
                <a:schemeClr val="tx1"/>
              </a:solidFill>
              <a:latin typeface="Consolas"/>
              <a:ea typeface="Consolas"/>
              <a:cs typeface="Consolas"/>
              <a:sym typeface="Consolas"/>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a:t>
            </a:r>
            <a:endParaRPr dirty="0">
              <a:solidFill>
                <a:schemeClr val="tx1"/>
              </a:solidFill>
            </a:endParaRPr>
          </a:p>
        </p:txBody>
      </p:sp>
    </p:spTree>
    <p:extLst>
      <p:ext uri="{BB962C8B-B14F-4D97-AF65-F5344CB8AC3E}">
        <p14:creationId xmlns:p14="http://schemas.microsoft.com/office/powerpoint/2010/main" val="3487890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102"/>
          <p:cNvSpPr txBox="1"/>
          <p:nvPr/>
        </p:nvSpPr>
        <p:spPr>
          <a:xfrm>
            <a:off x="191294" y="889843"/>
            <a:ext cx="11806237" cy="507831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Create the Dev space in BAS tool</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Open the bas tool and open folder to choose projects folder</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have to open terminal and login to </a:t>
            </a:r>
            <a:r>
              <a:rPr lang="en-US" sz="1800" dirty="0" err="1">
                <a:solidFill>
                  <a:schemeClr val="dk1"/>
                </a:solidFill>
                <a:latin typeface="Calibri"/>
                <a:ea typeface="Calibri"/>
                <a:cs typeface="Calibri"/>
                <a:sym typeface="Calibri"/>
              </a:rPr>
              <a:t>btp</a:t>
            </a:r>
            <a:r>
              <a:rPr lang="en-US" sz="1800" dirty="0">
                <a:solidFill>
                  <a:schemeClr val="dk1"/>
                </a:solidFill>
                <a:latin typeface="Calibri"/>
                <a:ea typeface="Calibri"/>
                <a:cs typeface="Calibri"/>
                <a:sym typeface="Calibri"/>
              </a:rPr>
              <a:t> a/c </a:t>
            </a:r>
            <a:r>
              <a:rPr lang="en-US" sz="1800" dirty="0" err="1">
                <a:solidFill>
                  <a:schemeClr val="dk1"/>
                </a:solidFill>
                <a:latin typeface="Calibri"/>
                <a:ea typeface="Calibri"/>
                <a:cs typeface="Calibri"/>
                <a:sym typeface="Calibri"/>
              </a:rPr>
              <a:t>cf</a:t>
            </a:r>
            <a:r>
              <a:rPr lang="en-US" sz="1800" dirty="0">
                <a:solidFill>
                  <a:schemeClr val="dk1"/>
                </a:solidFill>
                <a:latin typeface="Calibri"/>
                <a:ea typeface="Calibri"/>
                <a:cs typeface="Calibri"/>
                <a:sym typeface="Calibri"/>
              </a:rPr>
              <a:t> login -a https://api.cf.us10-001.hana.ondemand.com --</a:t>
            </a:r>
            <a:r>
              <a:rPr lang="en-US" sz="1800" dirty="0" err="1">
                <a:solidFill>
                  <a:schemeClr val="dk1"/>
                </a:solidFill>
                <a:latin typeface="Calibri"/>
                <a:ea typeface="Calibri"/>
                <a:cs typeface="Calibri"/>
                <a:sym typeface="Calibri"/>
              </a:rPr>
              <a:t>sso</a:t>
            </a: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Press F1 and choose open application generator to generate Fiori app of template: List Report Template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Select the system as AOC and choose our service binding name for processor</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Provide app details, deployment details (</a:t>
            </a:r>
            <a:r>
              <a:rPr lang="en-US" sz="1800" dirty="0" err="1">
                <a:solidFill>
                  <a:schemeClr val="dk1"/>
                </a:solidFill>
                <a:latin typeface="Calibri"/>
                <a:ea typeface="Calibri"/>
                <a:cs typeface="Calibri"/>
                <a:sym typeface="Calibri"/>
              </a:rPr>
              <a:t>btp</a:t>
            </a:r>
            <a:r>
              <a:rPr lang="en-US" sz="1800" dirty="0">
                <a:solidFill>
                  <a:schemeClr val="dk1"/>
                </a:solidFill>
                <a:latin typeface="Calibri"/>
                <a:ea typeface="Calibri"/>
                <a:cs typeface="Calibri"/>
                <a:sym typeface="Calibri"/>
              </a:rPr>
              <a:t>), launchpad details and create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Right click on </a:t>
            </a:r>
            <a:r>
              <a:rPr lang="en-US" sz="1800" dirty="0" err="1">
                <a:solidFill>
                  <a:schemeClr val="dk1"/>
                </a:solidFill>
                <a:latin typeface="Calibri"/>
                <a:ea typeface="Calibri"/>
                <a:cs typeface="Calibri"/>
                <a:sym typeface="Calibri"/>
              </a:rPr>
              <a:t>mta.yml</a:t>
            </a:r>
            <a:r>
              <a:rPr lang="en-US" sz="1800" dirty="0">
                <a:solidFill>
                  <a:schemeClr val="dk1"/>
                </a:solidFill>
                <a:latin typeface="Calibri"/>
                <a:ea typeface="Calibri"/>
                <a:cs typeface="Calibri"/>
                <a:sym typeface="Calibri"/>
              </a:rPr>
              <a:t> and build MTA </a:t>
            </a:r>
            <a:r>
              <a:rPr lang="en-US" sz="1800" dirty="0" err="1">
                <a:solidFill>
                  <a:schemeClr val="dk1"/>
                </a:solidFill>
                <a:latin typeface="Calibri"/>
                <a:ea typeface="Calibri"/>
                <a:cs typeface="Calibri"/>
                <a:sym typeface="Calibri"/>
              </a:rPr>
              <a:t>archieve</a:t>
            </a: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Choose F1, open application info and select deploy</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Assign the roles of our Launchpad service to our user</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Open SAP Build </a:t>
            </a:r>
            <a:r>
              <a:rPr lang="en-US" sz="1800" dirty="0" err="1">
                <a:solidFill>
                  <a:schemeClr val="dk1"/>
                </a:solidFill>
                <a:latin typeface="Calibri"/>
                <a:ea typeface="Calibri"/>
                <a:cs typeface="Calibri"/>
                <a:sym typeface="Calibri"/>
              </a:rPr>
              <a:t>workzone</a:t>
            </a:r>
            <a:r>
              <a:rPr lang="en-US" sz="1800" dirty="0">
                <a:solidFill>
                  <a:schemeClr val="dk1"/>
                </a:solidFill>
                <a:latin typeface="Calibri"/>
                <a:ea typeface="Calibri"/>
                <a:cs typeface="Calibri"/>
                <a:sym typeface="Calibri"/>
              </a:rPr>
              <a:t> and create a site with name </a:t>
            </a:r>
            <a:r>
              <a:rPr lang="en-US" sz="1800" dirty="0" err="1">
                <a:solidFill>
                  <a:schemeClr val="dk1"/>
                </a:solidFill>
                <a:latin typeface="Calibri"/>
                <a:ea typeface="Calibri"/>
                <a:cs typeface="Calibri"/>
                <a:sym typeface="Calibri"/>
              </a:rPr>
              <a:t>mylaunchpad</a:t>
            </a: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Go to channel manager and refresh the apps which are stored in html5-repository</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Go to content manager and choose content explorer and pull the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Create a catalog and a group and add our app to them</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Go to everyone role and assign the app to the role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Open the site to test our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Repeat the same steps if there is a change in the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need to create a </a:t>
            </a:r>
            <a:r>
              <a:rPr lang="en-US" sz="1800" dirty="0" err="1">
                <a:solidFill>
                  <a:schemeClr val="dk1"/>
                </a:solidFill>
                <a:latin typeface="Calibri"/>
                <a:ea typeface="Calibri"/>
                <a:cs typeface="Calibri"/>
                <a:sym typeface="Calibri"/>
              </a:rPr>
              <a:t>git</a:t>
            </a:r>
            <a:r>
              <a:rPr lang="en-US" sz="1800" dirty="0">
                <a:solidFill>
                  <a:schemeClr val="dk1"/>
                </a:solidFill>
                <a:latin typeface="Calibri"/>
                <a:ea typeface="Calibri"/>
                <a:cs typeface="Calibri"/>
                <a:sym typeface="Calibri"/>
              </a:rPr>
              <a:t> repository and push our app code (backup)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Register a web hook and use the same in CI CD service so that the application will deploy automatically to BTP cloud</a:t>
            </a:r>
            <a:endParaRPr dirty="0"/>
          </a:p>
        </p:txBody>
      </p:sp>
      <p:sp>
        <p:nvSpPr>
          <p:cNvPr id="1812" name="Google Shape;1812;p102"/>
          <p:cNvSpPr txBox="1"/>
          <p:nvPr/>
        </p:nvSpPr>
        <p:spPr>
          <a:xfrm>
            <a:off x="191294" y="96431"/>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How did Anubhav build and deploy fiori</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7"/>
        <p:cNvGrpSpPr/>
        <p:nvPr/>
      </p:nvGrpSpPr>
      <p:grpSpPr>
        <a:xfrm>
          <a:off x="0" y="0"/>
          <a:ext cx="0" cy="0"/>
          <a:chOff x="0" y="0"/>
          <a:chExt cx="0" cy="0"/>
        </a:xfrm>
      </p:grpSpPr>
      <p:sp>
        <p:nvSpPr>
          <p:cNvPr id="1909" name="Google Shape;1909;p108"/>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Git is a source code repository management system, git hub is a repository on internet. We interact with </a:t>
            </a:r>
            <a:r>
              <a:rPr lang="en-US" sz="1800" dirty="0" err="1">
                <a:solidFill>
                  <a:schemeClr val="dk1"/>
                </a:solidFill>
                <a:latin typeface="Calibri"/>
                <a:ea typeface="Calibri"/>
                <a:cs typeface="Calibri"/>
                <a:sym typeface="Calibri"/>
              </a:rPr>
              <a:t>github</a:t>
            </a:r>
            <a:r>
              <a:rPr lang="en-US" sz="1800" dirty="0">
                <a:solidFill>
                  <a:schemeClr val="dk1"/>
                </a:solidFill>
                <a:latin typeface="Calibri"/>
                <a:ea typeface="Calibri"/>
                <a:cs typeface="Calibri"/>
                <a:sym typeface="Calibri"/>
              </a:rPr>
              <a:t> using git software. If I want to take a backup of all our code which we created in AOC system, git is a great choice. This way we can also export import our code between cloud and on-premise system.</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For cloud system, we use git plugin in eclipse which is provided by SAP. The installation was covered in 3</a:t>
            </a:r>
            <a:r>
              <a:rPr lang="en-US" sz="1800" baseline="30000" dirty="0">
                <a:solidFill>
                  <a:schemeClr val="dk1"/>
                </a:solidFill>
                <a:latin typeface="Calibri"/>
                <a:ea typeface="Calibri"/>
                <a:cs typeface="Calibri"/>
                <a:sym typeface="Calibri"/>
              </a:rPr>
              <a:t>rd</a:t>
            </a:r>
            <a:r>
              <a:rPr lang="en-US" sz="1800" dirty="0">
                <a:solidFill>
                  <a:schemeClr val="dk1"/>
                </a:solidFill>
                <a:latin typeface="Calibri"/>
                <a:ea typeface="Calibri"/>
                <a:cs typeface="Calibri"/>
                <a:sym typeface="Calibri"/>
              </a:rPr>
              <a:t> session.</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Steps:</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We need to add the plugin for </a:t>
            </a:r>
            <a:r>
              <a:rPr lang="en-US" sz="1800" dirty="0" err="1">
                <a:solidFill>
                  <a:schemeClr val="dk1"/>
                </a:solidFill>
                <a:latin typeface="Calibri"/>
                <a:ea typeface="Calibri"/>
                <a:cs typeface="Calibri"/>
                <a:sym typeface="Calibri"/>
              </a:rPr>
              <a:t>abap</a:t>
            </a:r>
            <a:r>
              <a:rPr lang="en-US" sz="1800" dirty="0">
                <a:solidFill>
                  <a:schemeClr val="dk1"/>
                </a:solidFill>
                <a:latin typeface="Calibri"/>
                <a:ea typeface="Calibri"/>
                <a:cs typeface="Calibri"/>
                <a:sym typeface="Calibri"/>
              </a:rPr>
              <a:t> git in ADT - </a:t>
            </a:r>
            <a:r>
              <a:rPr lang="en-US" sz="1400" b="0" i="0" u="sng" dirty="0">
                <a:solidFill>
                  <a:srgbClr val="E6EDF3"/>
                </a:solidFill>
                <a:latin typeface="Arial"/>
                <a:ea typeface="Arial"/>
                <a:cs typeface="Arial"/>
                <a:sym typeface="Arial"/>
                <a:hlinkClick r:id="rId3">
                  <a:extLst>
                    <a:ext uri="{A12FA001-AC4F-418D-AE19-62706E023703}">
                      <ahyp:hlinkClr xmlns:ahyp="http://schemas.microsoft.com/office/drawing/2018/hyperlinkcolor" val="tx"/>
                    </a:ext>
                  </a:extLst>
                </a:hlinkClick>
              </a:rPr>
              <a:t>http://eclipse.abapgit.org/updatesite/</a:t>
            </a:r>
            <a:endParaRPr sz="1400" b="0" i="0" dirty="0">
              <a:solidFill>
                <a:srgbClr val="E6EDF3"/>
              </a:solidFill>
              <a:latin typeface="Arial"/>
              <a:ea typeface="Arial"/>
              <a:cs typeface="Arial"/>
              <a:sym typeface="Arial"/>
            </a:endParaRPr>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a:t>
            </a:r>
            <a:r>
              <a:rPr lang="en-US" sz="1800" dirty="0" err="1">
                <a:solidFill>
                  <a:schemeClr val="dk1"/>
                </a:solidFill>
                <a:latin typeface="Calibri"/>
                <a:ea typeface="Calibri"/>
                <a:cs typeface="Calibri"/>
                <a:sym typeface="Calibri"/>
              </a:rPr>
              <a:t>github</a:t>
            </a:r>
            <a:r>
              <a:rPr lang="en-US" sz="1800" dirty="0">
                <a:solidFill>
                  <a:schemeClr val="dk1"/>
                </a:solidFill>
                <a:latin typeface="Calibri"/>
                <a:ea typeface="Calibri"/>
                <a:cs typeface="Calibri"/>
                <a:sym typeface="Calibri"/>
              </a:rPr>
              <a:t> account and add a PAT token under developer setting</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repository in git hub</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Click on Add to link a repository and paste </a:t>
            </a:r>
            <a:r>
              <a:rPr lang="en-US" sz="1800" dirty="0" err="1">
                <a:solidFill>
                  <a:schemeClr val="dk1"/>
                </a:solidFill>
                <a:latin typeface="Calibri"/>
                <a:ea typeface="Calibri"/>
                <a:cs typeface="Calibri"/>
                <a:sym typeface="Calibri"/>
              </a:rPr>
              <a:t>url</a:t>
            </a:r>
            <a:r>
              <a:rPr lang="en-US" sz="1800" dirty="0">
                <a:solidFill>
                  <a:schemeClr val="dk1"/>
                </a:solidFill>
                <a:latin typeface="Calibri"/>
                <a:ea typeface="Calibri"/>
                <a:cs typeface="Calibri"/>
                <a:sym typeface="Calibri"/>
              </a:rPr>
              <a:t> from step 3</a:t>
            </a:r>
            <a:endParaRPr dirty="0"/>
          </a:p>
          <a:p>
            <a:pPr marL="342900" marR="0" lvl="0" indent="-228600" algn="l" rtl="0">
              <a:spcBef>
                <a:spcPts val="0"/>
              </a:spcBef>
              <a:spcAft>
                <a:spcPts val="0"/>
              </a:spcAft>
              <a:buClr>
                <a:schemeClr val="dk1"/>
              </a:buClr>
              <a:buSzPts val="1800"/>
              <a:buFont typeface="Calibri"/>
              <a:buNone/>
            </a:pPr>
            <a:endParaRPr sz="1800" dirty="0">
              <a:solidFill>
                <a:schemeClr val="dk1"/>
              </a:solidFill>
              <a:latin typeface="Calibri"/>
              <a:ea typeface="Calibri"/>
              <a:cs typeface="Calibri"/>
              <a:sym typeface="Calibri"/>
            </a:endParaRPr>
          </a:p>
        </p:txBody>
      </p:sp>
      <p:sp>
        <p:nvSpPr>
          <p:cNvPr id="1910" name="Google Shape;1910;p108"/>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err="1">
                <a:solidFill>
                  <a:srgbClr val="FFC000"/>
                </a:solidFill>
                <a:latin typeface="Cooper Black" panose="0208090404030B020404" pitchFamily="18" charset="0"/>
                <a:ea typeface="Corben"/>
                <a:cs typeface="Corben"/>
                <a:sym typeface="Corben"/>
              </a:rPr>
              <a:t>Git</a:t>
            </a:r>
            <a:r>
              <a:rPr lang="en-US" sz="3599" dirty="0">
                <a:solidFill>
                  <a:srgbClr val="FFC000"/>
                </a:solidFill>
                <a:latin typeface="Cooper Black" panose="0208090404030B020404" pitchFamily="18" charset="0"/>
                <a:ea typeface="Corben"/>
                <a:cs typeface="Corben"/>
                <a:sym typeface="Corben"/>
              </a:rPr>
              <a:t> and ABAP on </a:t>
            </a:r>
            <a:r>
              <a:rPr lang="en-US" sz="3599" dirty="0" err="1">
                <a:solidFill>
                  <a:srgbClr val="FFC000"/>
                </a:solidFill>
                <a:latin typeface="Cooper Black" panose="0208090404030B020404" pitchFamily="18" charset="0"/>
                <a:ea typeface="Corben"/>
                <a:cs typeface="Corben"/>
                <a:sym typeface="Corben"/>
              </a:rPr>
              <a:t>git</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solidFill>
                  <a:schemeClr val="accent1"/>
                </a:solidFill>
              </a:rPr>
              <a:t>Git and Git HUB</a:t>
            </a:r>
          </a:p>
        </p:txBody>
      </p:sp>
      <p:pic>
        <p:nvPicPr>
          <p:cNvPr id="47" name="Picture 46">
            <a:extLst>
              <a:ext uri="{FF2B5EF4-FFF2-40B4-BE49-F238E27FC236}">
                <a16:creationId xmlns:a16="http://schemas.microsoft.com/office/drawing/2014/main" id="{56007C54-3524-9466-6672-46E876D55D02}"/>
              </a:ext>
            </a:extLst>
          </p:cNvPr>
          <p:cNvPicPr>
            <a:picLocks noChangeAspect="1"/>
          </p:cNvPicPr>
          <p:nvPr/>
        </p:nvPicPr>
        <p:blipFill>
          <a:blip r:embed="rId3"/>
          <a:stretch>
            <a:fillRect/>
          </a:stretch>
        </p:blipFill>
        <p:spPr>
          <a:xfrm>
            <a:off x="477787" y="980728"/>
            <a:ext cx="10969943" cy="5519564"/>
          </a:xfrm>
          <a:prstGeom prst="rect">
            <a:avLst/>
          </a:prstGeom>
        </p:spPr>
      </p:pic>
    </p:spTree>
    <p:extLst>
      <p:ext uri="{BB962C8B-B14F-4D97-AF65-F5344CB8AC3E}">
        <p14:creationId xmlns:p14="http://schemas.microsoft.com/office/powerpoint/2010/main" val="1145430302"/>
      </p:ext>
    </p:extLst>
  </p:cSld>
  <p:clrMapOvr>
    <a:overrideClrMapping bg1="lt1" tx1="dk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15</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themeOverride>
</file>

<file path=docProps/app.xml><?xml version="1.0" encoding="utf-8"?>
<Properties xmlns="http://schemas.openxmlformats.org/officeDocument/2006/extended-properties" xmlns:vt="http://schemas.openxmlformats.org/officeDocument/2006/docPropsVTypes">
  <TotalTime>2441</TotalTime>
  <Words>1099</Words>
  <Application>Microsoft Office PowerPoint</Application>
  <PresentationFormat>Custom</PresentationFormat>
  <Paragraphs>106</Paragraphs>
  <Slides>14</Slides>
  <Notes>11</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14</vt:i4>
      </vt:variant>
    </vt:vector>
  </HeadingPairs>
  <TitlesOfParts>
    <vt:vector size="28" baseType="lpstr">
      <vt:lpstr>Arial Black</vt:lpstr>
      <vt:lpstr>Consolas</vt:lpstr>
      <vt:lpstr>Segoe UI</vt:lpstr>
      <vt:lpstr>Cambria</vt:lpstr>
      <vt:lpstr>Segoe UI Light</vt:lpstr>
      <vt:lpstr>Corben</vt:lpstr>
      <vt:lpstr>Arial</vt:lpstr>
      <vt:lpstr>Calibri</vt:lpstr>
      <vt:lpstr>Open Sans</vt:lpstr>
      <vt:lpstr>Cooper Black</vt:lpstr>
      <vt:lpstr>Quattrocento Sans</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 and Git HUB</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110</cp:revision>
  <dcterms:created xsi:type="dcterms:W3CDTF">2023-10-03T21:33:12Z</dcterms:created>
  <dcterms:modified xsi:type="dcterms:W3CDTF">2026-02-22T17:01:42Z</dcterms:modified>
</cp:coreProperties>
</file>