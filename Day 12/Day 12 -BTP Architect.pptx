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76" r:id="rId2"/>
    <p:sldId id="4122" r:id="rId3"/>
    <p:sldId id="277" r:id="rId4"/>
    <p:sldId id="4802" r:id="rId5"/>
    <p:sldId id="4773" r:id="rId6"/>
    <p:sldId id="4774" r:id="rId7"/>
    <p:sldId id="4811" r:id="rId8"/>
    <p:sldId id="4812" r:id="rId9"/>
    <p:sldId id="4775" r:id="rId10"/>
    <p:sldId id="4776" r:id="rId11"/>
    <p:sldId id="4817" r:id="rId12"/>
    <p:sldId id="4754" r:id="rId13"/>
    <p:sldId id="4813" r:id="rId14"/>
    <p:sldId id="4814" r:id="rId15"/>
    <p:sldId id="4815" r:id="rId16"/>
    <p:sldId id="4816" r:id="rId17"/>
    <p:sldId id="4732" r:id="rId18"/>
    <p:sldId id="282" r:id="rId19"/>
    <p:sldId id="280" r:id="rId20"/>
    <p:sldId id="4711" r:id="rId2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5"/>
    </inkml:context>
    <inkml:brush xml:id="br0">
      <inkml:brushProperty name="width" value="0.05" units="cm"/>
      <inkml:brushProperty name="height" value="0.05" units="cm"/>
    </inkml:brush>
  </inkml:definitions>
  <inkml:trace contextRef="#ctx0" brushRef="#br0">11 31 24575,'-1'0'0,"1"0"0,0 0 0,0 0 0,-1 1 0,1-1 0,0 0 0,0 0 0,-1 0 0,1 0 0,0 0 0,-1 0 0,1 0 0,0 0 0,0 0 0,-1 0 0,1 0 0,0 0 0,0 0 0,-1 0 0,1 0 0,0 0 0,-1 0 0,1 0 0,0-1 0,0 1 0,-1 0 0,1 0 0,0 0 0,0 0 0,-1-1 0,1 1 0,0 0 0,0 0 0,0 0 0,0-1 0,-1 1 0,1 0 0,0 0 0,0-1 0,0 1 0,0 0 0,0 0 0,0-1 0,-1 1 0,1 0 0,0 0 0,0-1 0,0 1 0,0 0 0,0-1 0,0 1 0,0 0 0,0 0 0,0-1 0,1 1 0,-1 0 0,0-1 0,0 1 0,0 0 0,0 0 0,0-1 0,0 1 0,1 0 0,0-2 0,0 1 0,0 0 0,0 0 0,0 0 0,0 0 0,0 1 0,0-1 0,0 0 0,1 0 0,-1 1 0,0-1 0,3 0 0,23-3 0,0 0 0,0 2 0,54 4 0,-30-1 0,463 0-1365,-471-1-5461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30T04:39:20.086"/>
    </inkml:context>
    <inkml:brush xml:id="br0">
      <inkml:brushProperty name="width" value="0.05" units="cm"/>
      <inkml:brushProperty name="height" value="0.05" units="cm"/>
    </inkml:brush>
  </inkml:definitions>
  <inkml:trace contextRef="#ctx0" brushRef="#br0">1 29 24575,'5'0'0,"6"0"0,6 0 0,9 0 0,5 0 0,6 0 0,7 0 0,4-5 0,9-1 0,3 0 0,6 1 0,1 2 0,-2 1 0,-7 1 0,-13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2-29T05:49:54.250"/>
    </inkml:context>
    <inkml:brush xml:id="br0">
      <inkml:brushProperty name="width" value="0.05" units="cm"/>
      <inkml:brushProperty name="height" value="0.05" units="cm"/>
      <inkml:brushProperty name="color" value="#F6630D"/>
    </inkml:brush>
  </inkml:definitions>
  <inkml:trace contextRef="#ctx0" brushRef="#br0">1 3 24575,'3'-3'0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8T04:27:54.088"/>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9T04:58:18.397"/>
    </inkml:context>
    <inkml:brush xml:id="br0">
      <inkml:brushProperty name="width" value="0.05" units="cm"/>
      <inkml:brushProperty name="height" value="0.05" units="cm"/>
      <inkml:brushProperty name="color" value="#FF0066"/>
    </inkml:brush>
  </inkml:definitions>
  <inkml:trace contextRef="#ctx0" brushRef="#br0">0 1 24575,'6'0'0,"14"0"0,20 0 0,35 0 0,26 6 0,22 2 0,24-1 0,20-1 0,5-2 0,-9-1 0,-20-2 0,-32 0 0,-34-1-8191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1/29/2026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1/29/2026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4" Type="http://schemas.openxmlformats.org/officeDocument/2006/relationships/customXml" Target="../ink/ink3.xml"/><Relationship Id="rId33" Type="http://schemas.openxmlformats.org/officeDocument/2006/relationships/image" Target="../media/image1321.png"/><Relationship Id="rId2" Type="http://schemas.openxmlformats.org/officeDocument/2006/relationships/customXml" Target="../ink/ink1.xml"/><Relationship Id="rId1" Type="http://schemas.openxmlformats.org/officeDocument/2006/relationships/slideLayout" Target="../slideLayouts/slideLayout2.xml"/><Relationship Id="rId32" Type="http://schemas.openxmlformats.org/officeDocument/2006/relationships/customXml" Target="../ink/ink2.xml"/><Relationship Id="rId31" Type="http://schemas.openxmlformats.org/officeDocument/2006/relationships/image" Target="../media/image1320.png"/><Relationship Id="rId35" Type="http://schemas.openxmlformats.org/officeDocument/2006/relationships/image" Target="../media/image24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17" Type="http://schemas.openxmlformats.org/officeDocument/2006/relationships/image" Target="../media/image690.png"/><Relationship Id="rId2" Type="http://schemas.openxmlformats.org/officeDocument/2006/relationships/customXml" Target="../ink/ink4.xml"/><Relationship Id="rId1" Type="http://schemas.openxmlformats.org/officeDocument/2006/relationships/slideLayout" Target="../slideLayouts/slideLayout2.xml"/><Relationship Id="rId119" Type="http://schemas.openxmlformats.org/officeDocument/2006/relationships/image" Target="../media/image12.jpeg"/><Relationship Id="rId118"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jurnaloftalmologi.org/index.php/announce/viewarticle/122" TargetMode="Externa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pixabay.com/en/computer-user-icon-peolpe-avatar-1331579/" TargetMode="Externa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customXml" Target="../ink/ink5.xml"/><Relationship Id="rId85" Type="http://schemas.openxmlformats.org/officeDocument/2006/relationships/image" Target="../media/image90.png"/><Relationship Id="rId3" Type="http://schemas.openxmlformats.org/officeDocument/2006/relationships/hyperlink" Target="https://jurnaloftalmologi.org/index.php/announce/viewarticle/122" TargetMode="External"/><Relationship Id="rId7" Type="http://schemas.openxmlformats.org/officeDocument/2006/relationships/hyperlink" Target="https://pixabay.com/en/computer-user-icon-peolpe-avatar-1331579/" TargetMode="Externa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jurnaloftalmologi.org/index.php/announce/viewarticle/122" TargetMode="Externa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pixabay.com/en/computer-user-icon-peolpe-avatar-1331579/" TargetMode="Externa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hyperlink" Target="http://www.dribbble.com/"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3.tiff"/><Relationship Id="rId5" Type="http://schemas.openxmlformats.org/officeDocument/2006/relationships/image" Target="../media/image22.tiff"/><Relationship Id="rId4" Type="http://schemas.openxmlformats.org/officeDocument/2006/relationships/image" Target="../media/image21.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453886" y="134076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453886" y="309649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453886" y="4852213"/>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4118572" y="1593781"/>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HANA Cloud</a:t>
              </a:r>
              <a:endPar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4118572" y="3349500"/>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923979"/>
              <a:ext cx="2236930" cy="958755"/>
            </a:xfrm>
            <a:prstGeom prst="rect">
              <a:avLst/>
            </a:prstGeom>
            <a:noFill/>
          </p:spPr>
          <p:txBody>
            <a:bodyPr wrap="square" lIns="0" tIns="0" rIns="0" bIns="0" rtlCol="0" anchor="ctr">
              <a:spAutoFit/>
            </a:bodyPr>
            <a:lstStyle/>
            <a:p>
              <a:r>
                <a:rPr lang="en-US" sz="1800" dirty="0">
                  <a:solidFill>
                    <a:srgbClr val="FFFFFF"/>
                  </a:solidFill>
                  <a:latin typeface="Segoe UI" panose="020B0502040204020203" pitchFamily="34" charset="0"/>
                  <a:ea typeface="Calibri Light" panose="020F0302020204030204" pitchFamily="34" charset="0"/>
                  <a:cs typeface="Segoe UI" panose="020B0502040204020203" pitchFamily="34" charset="0"/>
                </a:rPr>
                <a:t>Authentication v/s Authorization</a:t>
              </a:r>
            </a:p>
            <a:p>
              <a:r>
                <a:rPr lang="en-US" sz="1800" dirty="0">
                  <a:solidFill>
                    <a:schemeClr val="bg1"/>
                  </a:solidFill>
                  <a:latin typeface="Segoe UI" panose="020B0502040204020203" pitchFamily="34" charset="0"/>
                  <a:ea typeface="Calibri Light" charset="0"/>
                  <a:cs typeface="Segoe UI" panose="020B0502040204020203" pitchFamily="34" charset="0"/>
                </a:rPr>
                <a:t>XSUAA</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4118572" y="5105223"/>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243563"/>
              <a:ext cx="2236930" cy="319585"/>
            </a:xfrm>
            <a:prstGeom prst="rect">
              <a:avLst/>
            </a:prstGeom>
            <a:noFill/>
          </p:spPr>
          <p:txBody>
            <a:bodyPr wrap="square" lIns="0" tIns="0" rIns="0" bIns="0" rtlCol="0" anchor="ctr">
              <a:spAutoFit/>
            </a:bodyPr>
            <a:lstStyle/>
            <a:p>
              <a:pPr marL="0" algn="l" rtl="0" eaLnBrk="1" latinLnBrk="0" hangingPunct="1">
                <a:spcBef>
                  <a:spcPts val="0"/>
                </a:spcBef>
                <a:spcAft>
                  <a:spcPts val="0"/>
                </a:spcAft>
              </a:pPr>
              <a:r>
                <a:rPr lang="en-US" sz="1800" kern="120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Adding Security</a:t>
              </a:r>
              <a:endParaRPr lang="en-US" sz="1400" dirty="0">
                <a:effectLst/>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12</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Introduction to HANA Cloud</a:t>
            </a:r>
          </a:p>
        </p:txBody>
      </p:sp>
      <p:sp>
        <p:nvSpPr>
          <p:cNvPr id="4" name="TextBox 3">
            <a:extLst>
              <a:ext uri="{FF2B5EF4-FFF2-40B4-BE49-F238E27FC236}">
                <a16:creationId xmlns:a16="http://schemas.microsoft.com/office/drawing/2014/main" id="{4CD1B822-FD1F-30ED-76E7-5E494D6E61DA}"/>
              </a:ext>
            </a:extLst>
          </p:cNvPr>
          <p:cNvSpPr txBox="1"/>
          <p:nvPr/>
        </p:nvSpPr>
        <p:spPr>
          <a:xfrm>
            <a:off x="405781" y="974164"/>
            <a:ext cx="11161643" cy="1477328"/>
          </a:xfrm>
          <a:prstGeom prst="rect">
            <a:avLst/>
          </a:prstGeom>
          <a:noFill/>
        </p:spPr>
        <p:txBody>
          <a:bodyPr wrap="square" rtlCol="0">
            <a:spAutoFit/>
          </a:bodyPr>
          <a:lstStyle/>
          <a:p>
            <a:pPr algn="just" defTabSz="914400"/>
            <a:r>
              <a:rPr lang="en-US" sz="1800" dirty="0">
                <a:solidFill>
                  <a:schemeClr val="bg1"/>
                </a:solidFill>
                <a:latin typeface="Calibri" panose="020F0502020204030204"/>
              </a:rPr>
              <a:t>SAP HANA Cloud is a fully managed, in-memory, cloud database as a service (DBaaS). It is the cloud-based data foundation for SAP Business Technology Platform. With SAP HANA Cloud you can create, run, and extend new and existing applications.</a:t>
            </a:r>
          </a:p>
          <a:p>
            <a:pPr algn="just" defTabSz="914400"/>
            <a:r>
              <a:rPr lang="en-US" sz="1800" dirty="0">
                <a:solidFill>
                  <a:schemeClr val="bg1"/>
                </a:solidFill>
                <a:latin typeface="Calibri" panose="020F0502020204030204"/>
              </a:rPr>
              <a:t>SAP HANA Cloud includes a number of software components. The core component is SAP HANA Database, but other components can be added at any time, such as a data lake.</a:t>
            </a:r>
          </a:p>
        </p:txBody>
      </p:sp>
      <p:sp>
        <p:nvSpPr>
          <p:cNvPr id="5" name="TextBox 4">
            <a:extLst>
              <a:ext uri="{FF2B5EF4-FFF2-40B4-BE49-F238E27FC236}">
                <a16:creationId xmlns:a16="http://schemas.microsoft.com/office/drawing/2014/main" id="{2C22E0C3-2785-33E1-C2AE-1D0F297AB256}"/>
              </a:ext>
            </a:extLst>
          </p:cNvPr>
          <p:cNvSpPr txBox="1"/>
          <p:nvPr/>
        </p:nvSpPr>
        <p:spPr>
          <a:xfrm>
            <a:off x="405780" y="2451492"/>
            <a:ext cx="5834237" cy="3693319"/>
          </a:xfrm>
          <a:prstGeom prst="rect">
            <a:avLst/>
          </a:prstGeom>
          <a:noFill/>
        </p:spPr>
        <p:txBody>
          <a:bodyPr wrap="square">
            <a:spAutoFit/>
          </a:bodyPr>
          <a:lstStyle/>
          <a:p>
            <a:pPr algn="just" defTabSz="914400"/>
            <a:r>
              <a:rPr lang="en-US" sz="1800" b="1" dirty="0">
                <a:solidFill>
                  <a:schemeClr val="bg1"/>
                </a:solidFill>
                <a:latin typeface="Calibri" panose="020F0502020204030204"/>
              </a:rPr>
              <a:t>Key Components of SAP HANA Cloud</a:t>
            </a:r>
          </a:p>
          <a:p>
            <a:pPr algn="just" defTabSz="914400"/>
            <a:r>
              <a:rPr lang="en-US" sz="1800" dirty="0">
                <a:solidFill>
                  <a:schemeClr val="bg1"/>
                </a:solidFill>
                <a:latin typeface="Calibri" panose="020F0502020204030204"/>
              </a:rPr>
              <a:t>There are four key components of SAP HANA Cloud:</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SAP HANA Database</a:t>
            </a:r>
          </a:p>
          <a:p>
            <a:pPr marL="457200" lvl="1" algn="just" defTabSz="914400"/>
            <a:r>
              <a:rPr lang="en-US" sz="1800" dirty="0">
                <a:solidFill>
                  <a:schemeClr val="bg1"/>
                </a:solidFill>
                <a:latin typeface="Calibri" panose="020F0502020204030204"/>
              </a:rPr>
              <a:t>In-memory database with built-in advanced analytics (spatial, graph, text, etc.)</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data lake</a:t>
            </a:r>
          </a:p>
          <a:p>
            <a:pPr marL="457200" lvl="1" algn="just" defTabSz="914400"/>
            <a:r>
              <a:rPr lang="en-US" sz="1800" dirty="0">
                <a:solidFill>
                  <a:schemeClr val="bg1"/>
                </a:solidFill>
                <a:latin typeface="Calibri" panose="020F0502020204030204"/>
              </a:rPr>
              <a:t>Store and query large data sets and most file types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a:t>
            </a:r>
          </a:p>
          <a:p>
            <a:pPr marL="457200" lvl="1" algn="just" defTabSz="914400"/>
            <a:r>
              <a:rPr lang="en-US" sz="1800" dirty="0">
                <a:solidFill>
                  <a:schemeClr val="bg1"/>
                </a:solidFill>
                <a:latin typeface="Calibri" panose="020F0502020204030204"/>
              </a:rPr>
              <a:t>Support for extreme –performance transactional applications</a:t>
            </a:r>
          </a:p>
          <a:p>
            <a:pPr marL="285750" indent="-285750" algn="just" defTabSz="914400">
              <a:buFont typeface="Arial" panose="020B0604020202020204" pitchFamily="34" charset="0"/>
              <a:buChar char="•"/>
            </a:pPr>
            <a:r>
              <a:rPr lang="en-US" sz="1800" b="1" dirty="0">
                <a:solidFill>
                  <a:schemeClr val="bg1"/>
                </a:solidFill>
                <a:latin typeface="Calibri" panose="020F0502020204030204"/>
              </a:rPr>
              <a:t>SAP HANA Cloud, adaptive server enterprise replication</a:t>
            </a:r>
          </a:p>
          <a:p>
            <a:pPr marL="457200" lvl="1" algn="just" defTabSz="914400"/>
            <a:r>
              <a:rPr lang="en-US" sz="1800" dirty="0">
                <a:solidFill>
                  <a:schemeClr val="bg1"/>
                </a:solidFill>
                <a:latin typeface="Calibri" panose="020F0502020204030204"/>
              </a:rPr>
              <a:t>Bi-directional real time data replication across databases</a:t>
            </a:r>
          </a:p>
        </p:txBody>
      </p:sp>
      <p:pic>
        <p:nvPicPr>
          <p:cNvPr id="6" name="Picture 6">
            <a:extLst>
              <a:ext uri="{FF2B5EF4-FFF2-40B4-BE49-F238E27FC236}">
                <a16:creationId xmlns:a16="http://schemas.microsoft.com/office/drawing/2014/main" id="{5E110644-46D4-5748-42EC-748B8BEACA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736" r="15934"/>
          <a:stretch/>
        </p:blipFill>
        <p:spPr bwMode="auto">
          <a:xfrm>
            <a:off x="6454452" y="2252115"/>
            <a:ext cx="5212531" cy="43087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9237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01A0C-49FC-7BA3-CF59-A7C15038F9D2}"/>
              </a:ext>
            </a:extLst>
          </p:cNvPr>
          <p:cNvSpPr>
            <a:spLocks noGrp="1"/>
          </p:cNvSpPr>
          <p:nvPr>
            <p:ph type="title"/>
          </p:nvPr>
        </p:nvSpPr>
        <p:spPr/>
        <p:txBody>
          <a:bodyPr/>
          <a:lstStyle/>
          <a:p>
            <a:r>
              <a:rPr lang="en-US" dirty="0"/>
              <a:t>HANA Cloud v/s On-premise</a:t>
            </a:r>
          </a:p>
        </p:txBody>
      </p:sp>
      <p:pic>
        <p:nvPicPr>
          <p:cNvPr id="5" name="Picture 2">
            <a:extLst>
              <a:ext uri="{FF2B5EF4-FFF2-40B4-BE49-F238E27FC236}">
                <a16:creationId xmlns:a16="http://schemas.microsoft.com/office/drawing/2014/main" id="{4EC22E48-21CE-5727-AE45-AAC559F4DE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51" r="4389"/>
          <a:stretch/>
        </p:blipFill>
        <p:spPr bwMode="auto">
          <a:xfrm>
            <a:off x="163242" y="2276872"/>
            <a:ext cx="6278151" cy="36021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FDD2028-068C-7296-D417-1CF7F3B9981E}"/>
              </a:ext>
            </a:extLst>
          </p:cNvPr>
          <p:cNvSpPr txBox="1"/>
          <p:nvPr/>
        </p:nvSpPr>
        <p:spPr>
          <a:xfrm>
            <a:off x="6653380" y="1076543"/>
            <a:ext cx="5390323" cy="1200329"/>
          </a:xfrm>
          <a:prstGeom prst="rect">
            <a:avLst/>
          </a:prstGeom>
          <a:noFill/>
        </p:spPr>
        <p:txBody>
          <a:bodyPr wrap="square">
            <a:spAutoFit/>
          </a:bodyPr>
          <a:lstStyle/>
          <a:p>
            <a:pPr defTabSz="914400"/>
            <a:r>
              <a:rPr lang="en-US" sz="1800" b="1" dirty="0">
                <a:solidFill>
                  <a:schemeClr val="bg1"/>
                </a:solidFill>
                <a:latin typeface="Calibri" panose="020F0502020204030204"/>
              </a:rPr>
              <a:t>Feature Differences</a:t>
            </a:r>
          </a:p>
          <a:p>
            <a:pPr defTabSz="914400"/>
            <a:r>
              <a:rPr lang="en-US" sz="1800" dirty="0">
                <a:solidFill>
                  <a:schemeClr val="bg1"/>
                </a:solidFill>
                <a:latin typeface="Calibri" panose="020F0502020204030204"/>
              </a:rPr>
              <a:t>SAP HANA Cloud compares very closely with SAP HANA on-premise in terms of features but there are some differences.</a:t>
            </a:r>
            <a:endParaRPr lang="en-US" sz="1800" b="1" dirty="0">
              <a:solidFill>
                <a:schemeClr val="bg1"/>
              </a:solidFill>
              <a:latin typeface="Calibri" panose="020F0502020204030204"/>
            </a:endParaRPr>
          </a:p>
        </p:txBody>
      </p:sp>
      <p:pic>
        <p:nvPicPr>
          <p:cNvPr id="7" name="Picture 4">
            <a:extLst>
              <a:ext uri="{FF2B5EF4-FFF2-40B4-BE49-F238E27FC236}">
                <a16:creationId xmlns:a16="http://schemas.microsoft.com/office/drawing/2014/main" id="{C2A828B7-B381-42D5-A741-CD7079B2ED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38" r="2147"/>
          <a:stretch/>
        </p:blipFill>
        <p:spPr bwMode="auto">
          <a:xfrm>
            <a:off x="6753498" y="2276872"/>
            <a:ext cx="5190086" cy="3838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51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0ACD8-99C5-715D-47B1-B722AF07636E}"/>
              </a:ext>
            </a:extLst>
          </p:cNvPr>
          <p:cNvSpPr>
            <a:spLocks noGrp="1"/>
          </p:cNvSpPr>
          <p:nvPr>
            <p:ph type="title"/>
          </p:nvPr>
        </p:nvSpPr>
        <p:spPr/>
        <p:txBody>
          <a:bodyPr/>
          <a:lstStyle/>
          <a:p>
            <a:r>
              <a:rPr lang="en-US" dirty="0"/>
              <a:t>What is Schema in HANA</a:t>
            </a:r>
          </a:p>
        </p:txBody>
      </p:sp>
      <p:sp>
        <p:nvSpPr>
          <p:cNvPr id="3" name="TextBox 2">
            <a:extLst>
              <a:ext uri="{FF2B5EF4-FFF2-40B4-BE49-F238E27FC236}">
                <a16:creationId xmlns:a16="http://schemas.microsoft.com/office/drawing/2014/main" id="{5F163BFF-9905-49BA-CDA8-491A130A9728}"/>
              </a:ext>
            </a:extLst>
          </p:cNvPr>
          <p:cNvSpPr txBox="1"/>
          <p:nvPr/>
        </p:nvSpPr>
        <p:spPr>
          <a:xfrm>
            <a:off x="338571" y="884478"/>
            <a:ext cx="11850254" cy="1754326"/>
          </a:xfrm>
          <a:prstGeom prst="rect">
            <a:avLst/>
          </a:prstGeom>
          <a:noFill/>
        </p:spPr>
        <p:txBody>
          <a:bodyPr wrap="square" rtlCol="0">
            <a:spAutoFit/>
          </a:bodyPr>
          <a:lstStyle/>
          <a:p>
            <a:pPr defTabSz="914400"/>
            <a:r>
              <a:rPr lang="en-US" sz="1800" dirty="0">
                <a:solidFill>
                  <a:schemeClr val="bg1"/>
                </a:solidFill>
                <a:latin typeface="Calibri" panose="020F0502020204030204"/>
              </a:rPr>
              <a:t>Schema – Is a mandatory database object of database which stores other database objects. </a:t>
            </a:r>
          </a:p>
          <a:p>
            <a:pPr marL="285750" indent="-285750" defTabSz="914400">
              <a:buFontTx/>
              <a:buChar char="-"/>
            </a:pPr>
            <a:r>
              <a:rPr lang="en-US" sz="1800" dirty="0">
                <a:solidFill>
                  <a:schemeClr val="bg1"/>
                </a:solidFill>
                <a:latin typeface="Calibri" panose="020F0502020204030204"/>
              </a:rPr>
              <a:t>It’s a logical separation of database objects.</a:t>
            </a:r>
          </a:p>
          <a:p>
            <a:pPr marL="285750" indent="-285750" defTabSz="914400">
              <a:buFontTx/>
              <a:buChar char="-"/>
            </a:pPr>
            <a:r>
              <a:rPr lang="en-US" sz="1800" dirty="0">
                <a:solidFill>
                  <a:schemeClr val="bg1"/>
                </a:solidFill>
                <a:latin typeface="Calibri" panose="020F0502020204030204"/>
              </a:rPr>
              <a:t>It is home of all the runtime object</a:t>
            </a:r>
          </a:p>
          <a:p>
            <a:pPr marL="285750" indent="-285750" defTabSz="914400">
              <a:buFontTx/>
              <a:buChar char="-"/>
            </a:pPr>
            <a:r>
              <a:rPr lang="en-US" sz="1800" dirty="0">
                <a:solidFill>
                  <a:schemeClr val="bg1"/>
                </a:solidFill>
                <a:latin typeface="Calibri" panose="020F0502020204030204"/>
              </a:rPr>
              <a:t>Security</a:t>
            </a:r>
          </a:p>
          <a:p>
            <a:pPr marL="285750" indent="-285750" defTabSz="914400">
              <a:buFontTx/>
              <a:buChar char="-"/>
            </a:pPr>
            <a:endParaRPr lang="en-US" sz="1800" dirty="0">
              <a:solidFill>
                <a:schemeClr val="bg1"/>
              </a:solidFill>
              <a:latin typeface="Calibri" panose="020F0502020204030204"/>
            </a:endParaRPr>
          </a:p>
          <a:p>
            <a:pPr marL="285750" indent="-285750" defTabSz="914400">
              <a:buFontTx/>
              <a:buChar char="-"/>
            </a:pPr>
            <a:endParaRPr lang="en-US" sz="1800" dirty="0">
              <a:solidFill>
                <a:schemeClr val="bg1"/>
              </a:solidFill>
              <a:latin typeface="Calibri" panose="020F0502020204030204"/>
            </a:endParaRPr>
          </a:p>
        </p:txBody>
      </p:sp>
      <p:sp>
        <p:nvSpPr>
          <p:cNvPr id="4" name="Flowchart: Magnetic Disk 3">
            <a:extLst>
              <a:ext uri="{FF2B5EF4-FFF2-40B4-BE49-F238E27FC236}">
                <a16:creationId xmlns:a16="http://schemas.microsoft.com/office/drawing/2014/main" id="{2DF3AC68-4734-9C09-3F5B-A68E318F20A5}"/>
              </a:ext>
            </a:extLst>
          </p:cNvPr>
          <p:cNvSpPr/>
          <p:nvPr/>
        </p:nvSpPr>
        <p:spPr>
          <a:xfrm>
            <a:off x="3251200" y="4572000"/>
            <a:ext cx="8432800" cy="1985818"/>
          </a:xfrm>
          <a:prstGeom prst="flowChartMagneticDisk">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 HANA  600GB</a:t>
            </a:r>
          </a:p>
        </p:txBody>
      </p:sp>
      <p:sp>
        <p:nvSpPr>
          <p:cNvPr id="5" name="Rectangle 4">
            <a:extLst>
              <a:ext uri="{FF2B5EF4-FFF2-40B4-BE49-F238E27FC236}">
                <a16:creationId xmlns:a16="http://schemas.microsoft.com/office/drawing/2014/main" id="{B358302C-9592-6298-CC80-D07CD85A71B4}"/>
              </a:ext>
            </a:extLst>
          </p:cNvPr>
          <p:cNvSpPr/>
          <p:nvPr/>
        </p:nvSpPr>
        <p:spPr>
          <a:xfrm>
            <a:off x="3860800"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FED573D-9479-5606-E379-F344204ADF77}"/>
              </a:ext>
            </a:extLst>
          </p:cNvPr>
          <p:cNvSpPr/>
          <p:nvPr/>
        </p:nvSpPr>
        <p:spPr>
          <a:xfrm>
            <a:off x="6400799" y="3224645"/>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A9B5E973-27E9-815C-F666-ABA22AE46148}"/>
              </a:ext>
            </a:extLst>
          </p:cNvPr>
          <p:cNvSpPr/>
          <p:nvPr/>
        </p:nvSpPr>
        <p:spPr>
          <a:xfrm>
            <a:off x="8811491" y="3241964"/>
            <a:ext cx="1874982" cy="72967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S/4HANA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717456D9-F5B2-364F-8358-081A37CF0A32}"/>
              </a:ext>
            </a:extLst>
          </p:cNvPr>
          <p:cNvCxnSpPr>
            <a:stCxn id="5" idx="2"/>
          </p:cNvCxnSpPr>
          <p:nvPr/>
        </p:nvCxnSpPr>
        <p:spPr>
          <a:xfrm flipH="1">
            <a:off x="4793673" y="3971636"/>
            <a:ext cx="4618" cy="692728"/>
          </a:xfrm>
          <a:prstGeom prst="straightConnector1">
            <a:avLst/>
          </a:prstGeom>
          <a:noFill/>
          <a:ln w="6350" cap="flat" cmpd="sng" algn="ctr">
            <a:solidFill>
              <a:srgbClr val="4E67C8"/>
            </a:solidFill>
            <a:prstDash val="solid"/>
            <a:miter lim="800000"/>
            <a:tailEnd type="triangle"/>
          </a:ln>
          <a:effectLst/>
        </p:spPr>
      </p:cxnSp>
      <p:cxnSp>
        <p:nvCxnSpPr>
          <p:cNvPr id="9" name="Connector: Elbow 8">
            <a:extLst>
              <a:ext uri="{FF2B5EF4-FFF2-40B4-BE49-F238E27FC236}">
                <a16:creationId xmlns:a16="http://schemas.microsoft.com/office/drawing/2014/main" id="{5C2FA129-2D8A-4A91-6B3B-CC328101A3FE}"/>
              </a:ext>
            </a:extLst>
          </p:cNvPr>
          <p:cNvCxnSpPr>
            <a:cxnSpLocks/>
          </p:cNvCxnSpPr>
          <p:nvPr/>
        </p:nvCxnSpPr>
        <p:spPr>
          <a:xfrm>
            <a:off x="2004292" y="4828309"/>
            <a:ext cx="1246908" cy="510309"/>
          </a:xfrm>
          <a:prstGeom prst="bentConnector3">
            <a:avLst/>
          </a:prstGeom>
          <a:noFill/>
          <a:ln w="6350" cap="flat" cmpd="sng" algn="ctr">
            <a:solidFill>
              <a:srgbClr val="4E67C8"/>
            </a:solidFill>
            <a:prstDash val="solid"/>
            <a:miter lim="800000"/>
            <a:tailEnd type="triangle"/>
          </a:ln>
          <a:effectLst/>
        </p:spPr>
      </p:cxnSp>
      <p:sp>
        <p:nvSpPr>
          <p:cNvPr id="10" name="Rectangle 9">
            <a:extLst>
              <a:ext uri="{FF2B5EF4-FFF2-40B4-BE49-F238E27FC236}">
                <a16:creationId xmlns:a16="http://schemas.microsoft.com/office/drawing/2014/main" id="{5E5E059E-EB61-7991-66E4-B76378D45CC9}"/>
              </a:ext>
            </a:extLst>
          </p:cNvPr>
          <p:cNvSpPr/>
          <p:nvPr/>
        </p:nvSpPr>
        <p:spPr>
          <a:xfrm>
            <a:off x="4544291"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SCBW</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C72A8368-9E25-7960-31FA-777489354C47}"/>
              </a:ext>
            </a:extLst>
          </p:cNvPr>
          <p:cNvSpPr/>
          <p:nvPr/>
        </p:nvSpPr>
        <p:spPr>
          <a:xfrm>
            <a:off x="6638636" y="4846781"/>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ECC001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38A8DE3-3559-C1BD-D746-6D5AF1FBAE8C}"/>
              </a:ext>
            </a:extLst>
          </p:cNvPr>
          <p:cNvSpPr/>
          <p:nvPr/>
        </p:nvSpPr>
        <p:spPr>
          <a:xfrm>
            <a:off x="9172863" y="4828309"/>
            <a:ext cx="1399309" cy="842818"/>
          </a:xfrm>
          <a:prstGeom prst="rect">
            <a:avLst/>
          </a:prstGeom>
          <a:solidFill>
            <a:srgbClr val="A7EA52">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SAPS4C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cxnSp>
        <p:nvCxnSpPr>
          <p:cNvPr id="13" name="Connector: Elbow 12">
            <a:extLst>
              <a:ext uri="{FF2B5EF4-FFF2-40B4-BE49-F238E27FC236}">
                <a16:creationId xmlns:a16="http://schemas.microsoft.com/office/drawing/2014/main" id="{38CA6B91-6F24-F3A1-5739-8970D1C15756}"/>
              </a:ext>
            </a:extLst>
          </p:cNvPr>
          <p:cNvCxnSpPr>
            <a:stCxn id="6" idx="2"/>
            <a:endCxn id="11" idx="0"/>
          </p:cNvCxnSpPr>
          <p:nvPr/>
        </p:nvCxnSpPr>
        <p:spPr>
          <a:xfrm rot="16200000" flipH="1">
            <a:off x="6892058" y="4400548"/>
            <a:ext cx="892464" cy="1"/>
          </a:xfrm>
          <a:prstGeom prst="bentConnector3">
            <a:avLst/>
          </a:prstGeom>
          <a:noFill/>
          <a:ln w="6350" cap="flat" cmpd="sng" algn="ctr">
            <a:solidFill>
              <a:srgbClr val="4E67C8"/>
            </a:solidFill>
            <a:prstDash val="solid"/>
            <a:miter lim="800000"/>
            <a:tailEnd type="triangle"/>
          </a:ln>
          <a:effectLst/>
        </p:spPr>
      </p:cxnSp>
      <p:cxnSp>
        <p:nvCxnSpPr>
          <p:cNvPr id="14" name="Connector: Elbow 13">
            <a:extLst>
              <a:ext uri="{FF2B5EF4-FFF2-40B4-BE49-F238E27FC236}">
                <a16:creationId xmlns:a16="http://schemas.microsoft.com/office/drawing/2014/main" id="{A729AECB-71DB-3B69-271E-9D8C01DDF96F}"/>
              </a:ext>
            </a:extLst>
          </p:cNvPr>
          <p:cNvCxnSpPr>
            <a:stCxn id="7" idx="2"/>
            <a:endCxn id="12" idx="0"/>
          </p:cNvCxnSpPr>
          <p:nvPr/>
        </p:nvCxnSpPr>
        <p:spPr>
          <a:xfrm rot="16200000" flipH="1">
            <a:off x="9382414" y="4338204"/>
            <a:ext cx="856673" cy="123536"/>
          </a:xfrm>
          <a:prstGeom prst="bentConnector3">
            <a:avLst/>
          </a:prstGeom>
          <a:noFill/>
          <a:ln w="6350" cap="flat" cmpd="sng" algn="ctr">
            <a:solidFill>
              <a:srgbClr val="4E67C8"/>
            </a:solidFill>
            <a:prstDash val="solid"/>
            <a:miter lim="800000"/>
            <a:tailEnd type="triangle"/>
          </a:ln>
          <a:effectLst/>
        </p:spPr>
      </p:cxnSp>
      <p:sp>
        <p:nvSpPr>
          <p:cNvPr id="15" name="Rectangle 14">
            <a:extLst>
              <a:ext uri="{FF2B5EF4-FFF2-40B4-BE49-F238E27FC236}">
                <a16:creationId xmlns:a16="http://schemas.microsoft.com/office/drawing/2014/main" id="{8137D824-B767-6D55-ACC8-B8B9FE76895A}"/>
              </a:ext>
            </a:extLst>
          </p:cNvPr>
          <p:cNvSpPr/>
          <p:nvPr/>
        </p:nvSpPr>
        <p:spPr>
          <a:xfrm>
            <a:off x="4544290" y="5837382"/>
            <a:ext cx="1399309" cy="517451"/>
          </a:xfrm>
          <a:prstGeom prst="rect">
            <a:avLst/>
          </a:prstGeom>
          <a:solidFill>
            <a:srgbClr val="F14124">
              <a:lumMod val="75000"/>
            </a:srgbClr>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SYS</a:t>
            </a:r>
          </a:p>
        </p:txBody>
      </p:sp>
      <p:sp>
        <p:nvSpPr>
          <p:cNvPr id="16" name="Rectangle 15">
            <a:extLst>
              <a:ext uri="{FF2B5EF4-FFF2-40B4-BE49-F238E27FC236}">
                <a16:creationId xmlns:a16="http://schemas.microsoft.com/office/drawing/2014/main" id="{EF516C57-7745-1FE5-9227-E054E963BBC9}"/>
              </a:ext>
            </a:extLst>
          </p:cNvPr>
          <p:cNvSpPr/>
          <p:nvPr/>
        </p:nvSpPr>
        <p:spPr>
          <a:xfrm>
            <a:off x="3251200" y="5082309"/>
            <a:ext cx="997527" cy="681182"/>
          </a:xfrm>
          <a:prstGeom prst="rect">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rPr>
              <a:t>MIG</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chemeClr val="bg1"/>
                </a:solidFill>
                <a:effectLst/>
                <a:uLnTx/>
                <a:uFillTx/>
                <a:latin typeface="Calibri" panose="020F0502020204030204"/>
                <a:ea typeface="+mn-ea"/>
                <a:cs typeface="+mn-cs"/>
              </a:rPr>
              <a:t>ekko</a:t>
            </a:r>
            <a:endParaRPr kumimoji="0" lang="en-US" sz="1800" b="0" i="0" u="none" strike="noStrike" kern="0" cap="none" spc="0" normalizeH="0" baseline="0" noProof="0" dirty="0">
              <a:ln>
                <a:noFill/>
              </a:ln>
              <a:solidFill>
                <a:schemeClr val="bg1"/>
              </a:solidFill>
              <a:effectLst/>
              <a:uLnTx/>
              <a:uFillTx/>
              <a:latin typeface="Calibri" panose="020F0502020204030204"/>
              <a:ea typeface="+mn-ea"/>
              <a:cs typeface="+mn-cs"/>
            </a:endParaRPr>
          </a:p>
        </p:txBody>
      </p:sp>
      <p:grpSp>
        <p:nvGrpSpPr>
          <p:cNvPr id="20" name="Group 19">
            <a:extLst>
              <a:ext uri="{FF2B5EF4-FFF2-40B4-BE49-F238E27FC236}">
                <a16:creationId xmlns:a16="http://schemas.microsoft.com/office/drawing/2014/main" id="{1A9A7B03-0E45-C520-605C-FF4A229EC65B}"/>
              </a:ext>
            </a:extLst>
          </p:cNvPr>
          <p:cNvGrpSpPr/>
          <p:nvPr/>
        </p:nvGrpSpPr>
        <p:grpSpPr>
          <a:xfrm>
            <a:off x="7134383" y="5573524"/>
            <a:ext cx="284400" cy="60480"/>
            <a:chOff x="7134383" y="5573524"/>
            <a:chExt cx="284400" cy="60480"/>
          </a:xfrm>
        </p:grpSpPr>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818FDB6C-5815-0A00-C001-BB777DFA20C5}"/>
                    </a:ext>
                  </a:extLst>
                </p14:cNvPr>
                <p14:cNvContentPartPr/>
                <p14:nvPr/>
              </p14:nvContentPartPr>
              <p14:xfrm>
                <a:off x="7134383" y="5573524"/>
                <a:ext cx="284400" cy="11880"/>
              </p14:xfrm>
            </p:contentPart>
          </mc:Choice>
          <mc:Fallback xmlns="">
            <p:pic>
              <p:nvPicPr>
                <p:cNvPr id="34" name="Ink 33">
                  <a:extLst>
                    <a:ext uri="{FF2B5EF4-FFF2-40B4-BE49-F238E27FC236}">
                      <a16:creationId xmlns:a16="http://schemas.microsoft.com/office/drawing/2014/main" id="{D2F3F907-6AC8-9E5B-18A3-032277223210}"/>
                    </a:ext>
                  </a:extLst>
                </p:cNvPr>
                <p:cNvPicPr/>
                <p:nvPr/>
              </p:nvPicPr>
              <p:blipFill>
                <a:blip r:embed="rId31"/>
                <a:stretch>
                  <a:fillRect/>
                </a:stretch>
              </p:blipFill>
              <p:spPr>
                <a:xfrm>
                  <a:off x="7125383" y="5564524"/>
                  <a:ext cx="30204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A4E8E2BB-AF00-7485-B4FF-D8C379630C01}"/>
                    </a:ext>
                  </a:extLst>
                </p14:cNvPr>
                <p14:cNvContentPartPr/>
                <p14:nvPr/>
              </p14:nvContentPartPr>
              <p14:xfrm>
                <a:off x="7157423" y="5623564"/>
                <a:ext cx="229680" cy="10440"/>
              </p14:xfrm>
            </p:contentPart>
          </mc:Choice>
          <mc:Fallback xmlns="">
            <p:pic>
              <p:nvPicPr>
                <p:cNvPr id="35" name="Ink 34">
                  <a:extLst>
                    <a:ext uri="{FF2B5EF4-FFF2-40B4-BE49-F238E27FC236}">
                      <a16:creationId xmlns:a16="http://schemas.microsoft.com/office/drawing/2014/main" id="{BD9170FC-C85B-7048-08A3-6118F66FD4D9}"/>
                    </a:ext>
                  </a:extLst>
                </p:cNvPr>
                <p:cNvPicPr/>
                <p:nvPr/>
              </p:nvPicPr>
              <p:blipFill>
                <a:blip r:embed="rId33"/>
                <a:stretch>
                  <a:fillRect/>
                </a:stretch>
              </p:blipFill>
              <p:spPr>
                <a:xfrm>
                  <a:off x="7148783" y="5614564"/>
                  <a:ext cx="247320" cy="28080"/>
                </a:xfrm>
                <a:prstGeom prst="rect">
                  <a:avLst/>
                </a:prstGeom>
              </p:spPr>
            </p:pic>
          </mc:Fallback>
        </mc:AlternateContent>
      </p:grpSp>
      <p:sp>
        <p:nvSpPr>
          <p:cNvPr id="26" name="Rectangle 25">
            <a:extLst>
              <a:ext uri="{FF2B5EF4-FFF2-40B4-BE49-F238E27FC236}">
                <a16:creationId xmlns:a16="http://schemas.microsoft.com/office/drawing/2014/main" id="{42AC1E59-BF40-61BD-2778-D1F7EEACDEDE}"/>
              </a:ext>
            </a:extLst>
          </p:cNvPr>
          <p:cNvSpPr/>
          <p:nvPr/>
        </p:nvSpPr>
        <p:spPr>
          <a:xfrm>
            <a:off x="693812" y="4365104"/>
            <a:ext cx="1422470" cy="717205"/>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Non-SAP</a:t>
            </a:r>
          </a:p>
        </p:txBody>
      </p:sp>
      <mc:AlternateContent xmlns:mc="http://schemas.openxmlformats.org/markup-compatibility/2006" xmlns:p14="http://schemas.microsoft.com/office/powerpoint/2010/main">
        <mc:Choice Requires="p14">
          <p:contentPart p14:bwMode="auto" r:id="rId34">
            <p14:nvContentPartPr>
              <p14:cNvPr id="17" name="Ink 16">
                <a:extLst>
                  <a:ext uri="{FF2B5EF4-FFF2-40B4-BE49-F238E27FC236}">
                    <a16:creationId xmlns:a16="http://schemas.microsoft.com/office/drawing/2014/main" id="{88F7F230-C806-6E21-22EE-26497A2D3C3A}"/>
                  </a:ext>
                </a:extLst>
              </p14:cNvPr>
              <p14:cNvContentPartPr/>
              <p14:nvPr/>
            </p14:nvContentPartPr>
            <p14:xfrm>
              <a:off x="7890015" y="2687710"/>
              <a:ext cx="1440" cy="1440"/>
            </p14:xfrm>
          </p:contentPart>
        </mc:Choice>
        <mc:Fallback xmlns="">
          <p:pic>
            <p:nvPicPr>
              <p:cNvPr id="17" name="Ink 16">
                <a:extLst>
                  <a:ext uri="{FF2B5EF4-FFF2-40B4-BE49-F238E27FC236}">
                    <a16:creationId xmlns:a16="http://schemas.microsoft.com/office/drawing/2014/main" id="{88F7F230-C806-6E21-22EE-26497A2D3C3A}"/>
                  </a:ext>
                </a:extLst>
              </p:cNvPr>
              <p:cNvPicPr/>
              <p:nvPr/>
            </p:nvPicPr>
            <p:blipFill>
              <a:blip r:embed="rId35"/>
              <a:stretch>
                <a:fillRect/>
              </a:stretch>
            </p:blipFill>
            <p:spPr>
              <a:xfrm>
                <a:off x="7881375" y="2678710"/>
                <a:ext cx="19080" cy="19080"/>
              </a:xfrm>
              <a:prstGeom prst="rect">
                <a:avLst/>
              </a:prstGeom>
            </p:spPr>
          </p:pic>
        </mc:Fallback>
      </mc:AlternateContent>
    </p:spTree>
    <p:extLst>
      <p:ext uri="{BB962C8B-B14F-4D97-AF65-F5344CB8AC3E}">
        <p14:creationId xmlns:p14="http://schemas.microsoft.com/office/powerpoint/2010/main" val="1988133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B2C1-2D72-48F5-D6C5-A17C95C8F7F8}"/>
              </a:ext>
            </a:extLst>
          </p:cNvPr>
          <p:cNvSpPr>
            <a:spLocks noGrp="1"/>
          </p:cNvSpPr>
          <p:nvPr>
            <p:ph type="title"/>
          </p:nvPr>
        </p:nvSpPr>
        <p:spPr/>
        <p:txBody>
          <a:bodyPr/>
          <a:lstStyle/>
          <a:p>
            <a:r>
              <a:rPr lang="en-US" dirty="0"/>
              <a:t>HDI Container</a:t>
            </a:r>
          </a:p>
        </p:txBody>
      </p:sp>
      <p:sp>
        <p:nvSpPr>
          <p:cNvPr id="3" name="TextBox 2">
            <a:extLst>
              <a:ext uri="{FF2B5EF4-FFF2-40B4-BE49-F238E27FC236}">
                <a16:creationId xmlns:a16="http://schemas.microsoft.com/office/drawing/2014/main" id="{7C36AE77-6D9D-323A-80AD-336A21B8B2E3}"/>
              </a:ext>
            </a:extLst>
          </p:cNvPr>
          <p:cNvSpPr txBox="1"/>
          <p:nvPr/>
        </p:nvSpPr>
        <p:spPr>
          <a:xfrm>
            <a:off x="164670" y="784925"/>
            <a:ext cx="11161643" cy="3970318"/>
          </a:xfrm>
          <a:prstGeom prst="rect">
            <a:avLst/>
          </a:prstGeom>
          <a:noFill/>
        </p:spPr>
        <p:txBody>
          <a:bodyPr wrap="square" rtlCol="0">
            <a:spAutoFit/>
          </a:bodyPr>
          <a:lstStyle/>
          <a:p>
            <a:pPr defTabSz="914400">
              <a:defRPr/>
            </a:pPr>
            <a:r>
              <a:rPr lang="en-US" sz="1800" dirty="0">
                <a:solidFill>
                  <a:schemeClr val="bg1"/>
                </a:solidFill>
                <a:latin typeface="Calibri"/>
              </a:rPr>
              <a:t>An HDI Container is also a </a:t>
            </a:r>
            <a:r>
              <a:rPr lang="en-US" sz="1800" b="1" dirty="0">
                <a:solidFill>
                  <a:schemeClr val="bg1"/>
                </a:solidFill>
                <a:latin typeface="Calibri"/>
              </a:rPr>
              <a:t>schema</a:t>
            </a:r>
            <a:r>
              <a:rPr lang="en-US" sz="1800" dirty="0">
                <a:solidFill>
                  <a:schemeClr val="bg1"/>
                </a:solidFill>
                <a:latin typeface="Calibri"/>
              </a:rPr>
              <a:t>. But it is managed differently from a normal schema.</a:t>
            </a:r>
          </a:p>
          <a:p>
            <a:pPr defTabSz="914400">
              <a:defRPr/>
            </a:pPr>
            <a:endParaRPr lang="en-US" sz="1800" b="1" dirty="0">
              <a:solidFill>
                <a:schemeClr val="bg1"/>
              </a:solidFill>
              <a:latin typeface="Calibri"/>
            </a:endParaRPr>
          </a:p>
          <a:p>
            <a:pPr defTabSz="914400">
              <a:defRPr/>
            </a:pPr>
            <a:r>
              <a:rPr lang="en-US" sz="1800" b="1" dirty="0">
                <a:solidFill>
                  <a:schemeClr val="bg1"/>
                </a:solidFill>
                <a:latin typeface="Calibri"/>
              </a:rPr>
              <a:t>Schema -- How its created?</a:t>
            </a:r>
          </a:p>
          <a:p>
            <a:pPr marL="342900" indent="-342900" defTabSz="914400">
              <a:buFontTx/>
              <a:buAutoNum type="arabicPeriod"/>
              <a:defRPr/>
            </a:pPr>
            <a:r>
              <a:rPr lang="en-US" sz="1800" dirty="0">
                <a:solidFill>
                  <a:schemeClr val="bg1"/>
                </a:solidFill>
                <a:latin typeface="Calibri"/>
              </a:rPr>
              <a:t>Manually create it in BTP</a:t>
            </a:r>
          </a:p>
          <a:p>
            <a:pPr marL="342900" indent="-342900" defTabSz="914400">
              <a:buFontTx/>
              <a:buAutoNum type="arabicPeriod"/>
              <a:defRPr/>
            </a:pPr>
            <a:r>
              <a:rPr lang="en-US" sz="1800" dirty="0">
                <a:solidFill>
                  <a:schemeClr val="bg1"/>
                </a:solidFill>
                <a:latin typeface="Calibri"/>
              </a:rPr>
              <a:t>Application Managed HDI Container (You as developer ONLY work with App, App will talk to HANA to create and manage this schema to store/read data internally)</a:t>
            </a:r>
          </a:p>
          <a:p>
            <a:pPr defTabSz="914400">
              <a:defRPr/>
            </a:pPr>
            <a:r>
              <a:rPr lang="en-US" sz="1800" dirty="0">
                <a:solidFill>
                  <a:schemeClr val="bg1"/>
                </a:solidFill>
                <a:latin typeface="Calibri"/>
              </a:rPr>
              <a:t>You cant access HDI Container using HANA Studio (Deprecated tool), We can use new SAP HANA Database Explorer, SAP HANA </a:t>
            </a:r>
            <a:r>
              <a:rPr lang="en-US" sz="1800" dirty="0" err="1">
                <a:solidFill>
                  <a:schemeClr val="bg1"/>
                </a:solidFill>
                <a:latin typeface="Calibri"/>
              </a:rPr>
              <a:t>WebIDE</a:t>
            </a:r>
            <a:r>
              <a:rPr lang="en-US" sz="1800" dirty="0">
                <a:solidFill>
                  <a:schemeClr val="bg1"/>
                </a:solidFill>
                <a:latin typeface="Calibri"/>
              </a:rPr>
              <a:t> for OP or BAS to access HDI Container.</a:t>
            </a:r>
          </a:p>
          <a:p>
            <a:pPr defTabSz="914400">
              <a:defRPr/>
            </a:pPr>
            <a:endParaRPr lang="en-US" sz="1800" dirty="0">
              <a:solidFill>
                <a:schemeClr val="bg1"/>
              </a:solidFill>
              <a:latin typeface="Calibri"/>
            </a:endParaRPr>
          </a:p>
          <a:p>
            <a:pPr defTabSz="914400">
              <a:defRPr/>
            </a:pPr>
            <a:r>
              <a:rPr lang="en-US" sz="1800" b="1" dirty="0">
                <a:solidFill>
                  <a:schemeClr val="bg1"/>
                </a:solidFill>
                <a:latin typeface="Calibri"/>
              </a:rPr>
              <a:t>HDI -- Who creates it?</a:t>
            </a:r>
          </a:p>
          <a:p>
            <a:pPr defTabSz="914400">
              <a:defRPr/>
            </a:pPr>
            <a:r>
              <a:rPr lang="en-US" sz="1800" dirty="0">
                <a:solidFill>
                  <a:schemeClr val="bg1"/>
                </a:solidFill>
                <a:latin typeface="Calibri"/>
              </a:rPr>
              <a:t>There is a new service in SAP HANA called SAP HDI (HANA Deployer Infrastructure) which is just a microservice responsible to managing the container. HDI Deployer is a component which is used to talk to this service from our app.</a:t>
            </a:r>
          </a:p>
          <a:p>
            <a:pPr defTabSz="914400"/>
            <a:endParaRPr lang="en-US" sz="1800" dirty="0">
              <a:solidFill>
                <a:schemeClr val="bg1"/>
              </a:solidFill>
              <a:latin typeface="Calibri"/>
            </a:endParaRPr>
          </a:p>
        </p:txBody>
      </p:sp>
    </p:spTree>
    <p:extLst>
      <p:ext uri="{BB962C8B-B14F-4D97-AF65-F5344CB8AC3E}">
        <p14:creationId xmlns:p14="http://schemas.microsoft.com/office/powerpoint/2010/main" val="3636112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2947-8BD4-1919-0AE6-C14C8F6FE0D7}"/>
              </a:ext>
            </a:extLst>
          </p:cNvPr>
          <p:cNvSpPr>
            <a:spLocks noGrp="1"/>
          </p:cNvSpPr>
          <p:nvPr>
            <p:ph type="title"/>
          </p:nvPr>
        </p:nvSpPr>
        <p:spPr/>
        <p:txBody>
          <a:bodyPr/>
          <a:lstStyle/>
          <a:p>
            <a:r>
              <a:rPr lang="en-US" dirty="0"/>
              <a:t>Hands on - Create HANA Cloud Instance</a:t>
            </a:r>
          </a:p>
        </p:txBody>
      </p:sp>
      <p:pic>
        <p:nvPicPr>
          <p:cNvPr id="3" name="Picture 2">
            <a:extLst>
              <a:ext uri="{FF2B5EF4-FFF2-40B4-BE49-F238E27FC236}">
                <a16:creationId xmlns:a16="http://schemas.microsoft.com/office/drawing/2014/main" id="{8CB5A8D5-EF9E-9286-069A-7C912612B4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8256" r="7337"/>
          <a:stretch/>
        </p:blipFill>
        <p:spPr bwMode="auto">
          <a:xfrm>
            <a:off x="190016" y="1702420"/>
            <a:ext cx="5174395" cy="18377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653BBD-DA91-2996-8A54-0B82D95D8890}"/>
              </a:ext>
            </a:extLst>
          </p:cNvPr>
          <p:cNvSpPr txBox="1"/>
          <p:nvPr/>
        </p:nvSpPr>
        <p:spPr>
          <a:xfrm>
            <a:off x="261763" y="779090"/>
            <a:ext cx="5174395" cy="954107"/>
          </a:xfrm>
          <a:prstGeom prst="rect">
            <a:avLst/>
          </a:prstGeom>
          <a:noFill/>
        </p:spPr>
        <p:txBody>
          <a:bodyPr wrap="square" rtlCol="0">
            <a:spAutoFit/>
          </a:bodyPr>
          <a:lstStyle/>
          <a:p>
            <a:pPr marL="342900" indent="-342900" algn="just" defTabSz="914400">
              <a:buFontTx/>
              <a:buAutoNum type="arabicPeriod"/>
            </a:pPr>
            <a:r>
              <a:rPr lang="en-US" sz="1400" dirty="0">
                <a:solidFill>
                  <a:schemeClr val="bg1"/>
                </a:solidFill>
                <a:latin typeface="Calibri" panose="020F0502020204030204"/>
              </a:rPr>
              <a:t>Login to your trial and navigate to your </a:t>
            </a:r>
            <a:r>
              <a:rPr lang="en-US" sz="1400" b="1" dirty="0">
                <a:solidFill>
                  <a:schemeClr val="bg1"/>
                </a:solidFill>
                <a:latin typeface="Calibri" panose="020F0502020204030204"/>
              </a:rPr>
              <a:t>dev </a:t>
            </a:r>
            <a:r>
              <a:rPr lang="en-US" sz="1400" dirty="0">
                <a:solidFill>
                  <a:schemeClr val="bg1"/>
                </a:solidFill>
                <a:latin typeface="Calibri" panose="020F0502020204030204"/>
              </a:rPr>
              <a:t>space</a:t>
            </a:r>
          </a:p>
          <a:p>
            <a:pPr marL="342900" indent="-342900" algn="just" defTabSz="914400">
              <a:buFontTx/>
              <a:buAutoNum type="arabicPeriod"/>
            </a:pPr>
            <a:r>
              <a:rPr lang="en-US" sz="1400" dirty="0">
                <a:solidFill>
                  <a:schemeClr val="bg1"/>
                </a:solidFill>
                <a:latin typeface="Calibri" panose="020F0502020204030204"/>
              </a:rPr>
              <a:t>Select </a:t>
            </a:r>
            <a:r>
              <a:rPr lang="en-US" sz="1400" b="1" dirty="0">
                <a:solidFill>
                  <a:schemeClr val="bg1"/>
                </a:solidFill>
                <a:latin typeface="Calibri" panose="020F0502020204030204"/>
              </a:rPr>
              <a:t>SAP HANA Cloud</a:t>
            </a:r>
          </a:p>
          <a:p>
            <a:pPr marL="342900" indent="-342900" algn="just"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Manage SAP HANA Cloud </a:t>
            </a:r>
            <a:r>
              <a:rPr lang="en-US" sz="1400" dirty="0">
                <a:solidFill>
                  <a:schemeClr val="bg1"/>
                </a:solidFill>
                <a:latin typeface="Calibri" panose="020F0502020204030204"/>
              </a:rPr>
              <a:t>button to start the SAP HANA Cloud Central</a:t>
            </a:r>
          </a:p>
        </p:txBody>
      </p:sp>
      <p:pic>
        <p:nvPicPr>
          <p:cNvPr id="5" name="Picture 4">
            <a:extLst>
              <a:ext uri="{FF2B5EF4-FFF2-40B4-BE49-F238E27FC236}">
                <a16:creationId xmlns:a16="http://schemas.microsoft.com/office/drawing/2014/main" id="{CE3EF897-818D-A144-9DAA-ED76C105C4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 t="15296"/>
          <a:stretch/>
        </p:blipFill>
        <p:spPr bwMode="auto">
          <a:xfrm>
            <a:off x="6674485" y="1527830"/>
            <a:ext cx="4543262" cy="197835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hevron 5">
            <a:extLst>
              <a:ext uri="{FF2B5EF4-FFF2-40B4-BE49-F238E27FC236}">
                <a16:creationId xmlns:a16="http://schemas.microsoft.com/office/drawing/2014/main" id="{F9ED8215-03AA-D8FB-EE7A-028B143BC7BD}"/>
              </a:ext>
            </a:extLst>
          </p:cNvPr>
          <p:cNvSpPr/>
          <p:nvPr/>
        </p:nvSpPr>
        <p:spPr>
          <a:xfrm>
            <a:off x="5617029" y="1733197"/>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7" name="Arrow: Chevron 6">
            <a:extLst>
              <a:ext uri="{FF2B5EF4-FFF2-40B4-BE49-F238E27FC236}">
                <a16:creationId xmlns:a16="http://schemas.microsoft.com/office/drawing/2014/main" id="{65EBF26E-6D84-D4F3-490D-2C8E2ECA0675}"/>
              </a:ext>
            </a:extLst>
          </p:cNvPr>
          <p:cNvSpPr/>
          <p:nvPr/>
        </p:nvSpPr>
        <p:spPr>
          <a:xfrm rot="5400000">
            <a:off x="8770215" y="3566145"/>
            <a:ext cx="351801" cy="474214"/>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8" name="Picture 6">
            <a:extLst>
              <a:ext uri="{FF2B5EF4-FFF2-40B4-BE49-F238E27FC236}">
                <a16:creationId xmlns:a16="http://schemas.microsoft.com/office/drawing/2014/main" id="{462670FC-3E42-A072-DD2C-754FA0F8C9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4485" y="4017448"/>
            <a:ext cx="4805728" cy="26519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0BE4A37-E533-D631-EC68-7557BDA35E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614" y="3938076"/>
            <a:ext cx="5328976" cy="2701263"/>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hevron 9">
            <a:extLst>
              <a:ext uri="{FF2B5EF4-FFF2-40B4-BE49-F238E27FC236}">
                <a16:creationId xmlns:a16="http://schemas.microsoft.com/office/drawing/2014/main" id="{35D2515A-A0D2-B87A-B280-CC3F1560B881}"/>
              </a:ext>
            </a:extLst>
          </p:cNvPr>
          <p:cNvSpPr/>
          <p:nvPr/>
        </p:nvSpPr>
        <p:spPr>
          <a:xfrm rot="10800000">
            <a:off x="5926368" y="5151312"/>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24B66864-1F90-CAC7-3886-475219B67685}"/>
              </a:ext>
            </a:extLst>
          </p:cNvPr>
          <p:cNvCxnSpPr/>
          <p:nvPr/>
        </p:nvCxnSpPr>
        <p:spPr>
          <a:xfrm>
            <a:off x="190016" y="3753010"/>
            <a:ext cx="5915500" cy="0"/>
          </a:xfrm>
          <a:prstGeom prst="line">
            <a:avLst/>
          </a:prstGeom>
          <a:noFill/>
          <a:ln w="6350" cap="flat" cmpd="sng" algn="ctr">
            <a:solidFill>
              <a:srgbClr val="4E67C8"/>
            </a:solidFill>
            <a:prstDash val="solid"/>
            <a:miter lim="800000"/>
          </a:ln>
          <a:effectLst/>
        </p:spPr>
      </p:cxnSp>
      <p:sp>
        <p:nvSpPr>
          <p:cNvPr id="12" name="TextBox 11">
            <a:extLst>
              <a:ext uri="{FF2B5EF4-FFF2-40B4-BE49-F238E27FC236}">
                <a16:creationId xmlns:a16="http://schemas.microsoft.com/office/drawing/2014/main" id="{A38502F2-40B4-4D81-DD19-83B489ECC97A}"/>
              </a:ext>
            </a:extLst>
          </p:cNvPr>
          <p:cNvSpPr txBox="1"/>
          <p:nvPr/>
        </p:nvSpPr>
        <p:spPr>
          <a:xfrm>
            <a:off x="6105516" y="779090"/>
            <a:ext cx="5681200" cy="738664"/>
          </a:xfrm>
          <a:prstGeom prst="rect">
            <a:avLst/>
          </a:prstGeom>
          <a:noFill/>
        </p:spPr>
        <p:txBody>
          <a:bodyPr wrap="square" rtlCol="0">
            <a:spAutoFit/>
          </a:bodyPr>
          <a:lstStyle/>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Create </a:t>
            </a:r>
            <a:r>
              <a:rPr lang="en-US" sz="1400" dirty="0">
                <a:solidFill>
                  <a:schemeClr val="bg1"/>
                </a:solidFill>
                <a:latin typeface="Calibri" panose="020F0502020204030204"/>
              </a:rPr>
              <a:t>button to start the wizard</a:t>
            </a:r>
          </a:p>
          <a:p>
            <a:pPr marL="342900" indent="-342900" defTabSz="914400">
              <a:buFontTx/>
              <a:buAutoNum type="arabicPeriod"/>
            </a:pPr>
            <a:r>
              <a:rPr lang="en-US" sz="1400" dirty="0">
                <a:solidFill>
                  <a:schemeClr val="bg1"/>
                </a:solidFill>
                <a:latin typeface="Calibri" panose="020F0502020204030204"/>
              </a:rPr>
              <a:t>Select the SAP HANA Cloud instance Type to create</a:t>
            </a:r>
          </a:p>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Next Step </a:t>
            </a:r>
            <a:r>
              <a:rPr lang="en-US" sz="1400" dirty="0">
                <a:solidFill>
                  <a:schemeClr val="bg1"/>
                </a:solidFill>
                <a:latin typeface="Calibri" panose="020F0502020204030204"/>
              </a:rPr>
              <a:t>button to continue</a:t>
            </a:r>
          </a:p>
        </p:txBody>
      </p:sp>
    </p:spTree>
    <p:extLst>
      <p:ext uri="{BB962C8B-B14F-4D97-AF65-F5344CB8AC3E}">
        <p14:creationId xmlns:p14="http://schemas.microsoft.com/office/powerpoint/2010/main" val="3235868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3B2C1-2D72-48F5-D6C5-A17C95C8F7F8}"/>
              </a:ext>
            </a:extLst>
          </p:cNvPr>
          <p:cNvSpPr>
            <a:spLocks noGrp="1"/>
          </p:cNvSpPr>
          <p:nvPr>
            <p:ph type="title"/>
          </p:nvPr>
        </p:nvSpPr>
        <p:spPr/>
        <p:txBody>
          <a:bodyPr/>
          <a:lstStyle/>
          <a:p>
            <a:r>
              <a:rPr lang="en-US" dirty="0"/>
              <a:t>HDI Container</a:t>
            </a:r>
          </a:p>
        </p:txBody>
      </p:sp>
      <p:sp>
        <p:nvSpPr>
          <p:cNvPr id="3" name="TextBox 2">
            <a:extLst>
              <a:ext uri="{FF2B5EF4-FFF2-40B4-BE49-F238E27FC236}">
                <a16:creationId xmlns:a16="http://schemas.microsoft.com/office/drawing/2014/main" id="{7C36AE77-6D9D-323A-80AD-336A21B8B2E3}"/>
              </a:ext>
            </a:extLst>
          </p:cNvPr>
          <p:cNvSpPr txBox="1"/>
          <p:nvPr/>
        </p:nvSpPr>
        <p:spPr>
          <a:xfrm>
            <a:off x="164670" y="784925"/>
            <a:ext cx="11161643" cy="3970318"/>
          </a:xfrm>
          <a:prstGeom prst="rect">
            <a:avLst/>
          </a:prstGeom>
          <a:noFill/>
        </p:spPr>
        <p:txBody>
          <a:bodyPr wrap="square" rtlCol="0">
            <a:spAutoFit/>
          </a:bodyPr>
          <a:lstStyle/>
          <a:p>
            <a:pPr defTabSz="914400">
              <a:defRPr/>
            </a:pPr>
            <a:r>
              <a:rPr lang="en-US" sz="1800" dirty="0">
                <a:solidFill>
                  <a:schemeClr val="bg1"/>
                </a:solidFill>
                <a:latin typeface="Calibri"/>
              </a:rPr>
              <a:t>An HDI Container is also a </a:t>
            </a:r>
            <a:r>
              <a:rPr lang="en-US" sz="1800" b="1" dirty="0">
                <a:solidFill>
                  <a:schemeClr val="bg1"/>
                </a:solidFill>
                <a:latin typeface="Calibri"/>
              </a:rPr>
              <a:t>schema</a:t>
            </a:r>
            <a:r>
              <a:rPr lang="en-US" sz="1800" dirty="0">
                <a:solidFill>
                  <a:schemeClr val="bg1"/>
                </a:solidFill>
                <a:latin typeface="Calibri"/>
              </a:rPr>
              <a:t>. But it is managed differently from a normal schema.</a:t>
            </a:r>
          </a:p>
          <a:p>
            <a:pPr defTabSz="914400">
              <a:defRPr/>
            </a:pPr>
            <a:endParaRPr lang="en-US" sz="1800" b="1" dirty="0">
              <a:solidFill>
                <a:schemeClr val="bg1"/>
              </a:solidFill>
              <a:latin typeface="Calibri"/>
            </a:endParaRPr>
          </a:p>
          <a:p>
            <a:pPr defTabSz="914400">
              <a:defRPr/>
            </a:pPr>
            <a:r>
              <a:rPr lang="en-US" sz="1800" b="1" dirty="0">
                <a:solidFill>
                  <a:schemeClr val="bg1"/>
                </a:solidFill>
                <a:latin typeface="Calibri"/>
              </a:rPr>
              <a:t>Schema -- How its created?</a:t>
            </a:r>
          </a:p>
          <a:p>
            <a:pPr marL="342900" indent="-342900" defTabSz="914400">
              <a:buFontTx/>
              <a:buAutoNum type="arabicPeriod"/>
              <a:defRPr/>
            </a:pPr>
            <a:r>
              <a:rPr lang="en-US" sz="1800" dirty="0">
                <a:solidFill>
                  <a:schemeClr val="bg1"/>
                </a:solidFill>
                <a:latin typeface="Calibri"/>
              </a:rPr>
              <a:t>Manually create it in BTP</a:t>
            </a:r>
          </a:p>
          <a:p>
            <a:pPr marL="342900" indent="-342900" defTabSz="914400">
              <a:buFontTx/>
              <a:buAutoNum type="arabicPeriod"/>
              <a:defRPr/>
            </a:pPr>
            <a:r>
              <a:rPr lang="en-US" sz="1800" dirty="0">
                <a:solidFill>
                  <a:schemeClr val="bg1"/>
                </a:solidFill>
                <a:latin typeface="Calibri"/>
              </a:rPr>
              <a:t>Application Managed HDI Container (You as developer ONLY work with App, App will talk to HANA to create and manage this schema to store/read data internally)</a:t>
            </a:r>
          </a:p>
          <a:p>
            <a:pPr defTabSz="914400">
              <a:defRPr/>
            </a:pPr>
            <a:r>
              <a:rPr lang="en-US" sz="1800" dirty="0">
                <a:solidFill>
                  <a:schemeClr val="bg1"/>
                </a:solidFill>
                <a:latin typeface="Calibri"/>
              </a:rPr>
              <a:t>You cant access HDI Container using HANA Studio (Deprecated tool), We can use new SAP HANA Database Explorer, SAP HANA </a:t>
            </a:r>
            <a:r>
              <a:rPr lang="en-US" sz="1800" dirty="0" err="1">
                <a:solidFill>
                  <a:schemeClr val="bg1"/>
                </a:solidFill>
                <a:latin typeface="Calibri"/>
              </a:rPr>
              <a:t>WebIDE</a:t>
            </a:r>
            <a:r>
              <a:rPr lang="en-US" sz="1800" dirty="0">
                <a:solidFill>
                  <a:schemeClr val="bg1"/>
                </a:solidFill>
                <a:latin typeface="Calibri"/>
              </a:rPr>
              <a:t> for OP or BAS to access HDI Container.</a:t>
            </a:r>
          </a:p>
          <a:p>
            <a:pPr defTabSz="914400">
              <a:defRPr/>
            </a:pPr>
            <a:endParaRPr lang="en-US" sz="1800" dirty="0">
              <a:solidFill>
                <a:schemeClr val="bg1"/>
              </a:solidFill>
              <a:latin typeface="Calibri"/>
            </a:endParaRPr>
          </a:p>
          <a:p>
            <a:pPr defTabSz="914400">
              <a:defRPr/>
            </a:pPr>
            <a:r>
              <a:rPr lang="en-US" sz="1800" b="1" dirty="0">
                <a:solidFill>
                  <a:schemeClr val="bg1"/>
                </a:solidFill>
                <a:latin typeface="Calibri"/>
              </a:rPr>
              <a:t>HDI -- Who creates it?</a:t>
            </a:r>
          </a:p>
          <a:p>
            <a:pPr defTabSz="914400">
              <a:defRPr/>
            </a:pPr>
            <a:r>
              <a:rPr lang="en-US" sz="1800" dirty="0">
                <a:solidFill>
                  <a:schemeClr val="bg1"/>
                </a:solidFill>
                <a:latin typeface="Calibri"/>
              </a:rPr>
              <a:t>There is a new service in SAP HANA called SAP HDI (HANA Deployer Infrastructure) which is just a microservice responsible to managing the container. HDI Deployer is a component which is used to talk to this service from our app.</a:t>
            </a:r>
          </a:p>
          <a:p>
            <a:pPr defTabSz="914400"/>
            <a:endParaRPr lang="en-US" sz="1800" dirty="0">
              <a:solidFill>
                <a:schemeClr val="bg1"/>
              </a:solidFill>
              <a:latin typeface="Calibri"/>
            </a:endParaRPr>
          </a:p>
        </p:txBody>
      </p:sp>
    </p:spTree>
    <p:extLst>
      <p:ext uri="{BB962C8B-B14F-4D97-AF65-F5344CB8AC3E}">
        <p14:creationId xmlns:p14="http://schemas.microsoft.com/office/powerpoint/2010/main" val="1295559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2947-8BD4-1919-0AE6-C14C8F6FE0D7}"/>
              </a:ext>
            </a:extLst>
          </p:cNvPr>
          <p:cNvSpPr>
            <a:spLocks noGrp="1"/>
          </p:cNvSpPr>
          <p:nvPr>
            <p:ph type="title"/>
          </p:nvPr>
        </p:nvSpPr>
        <p:spPr/>
        <p:txBody>
          <a:bodyPr/>
          <a:lstStyle/>
          <a:p>
            <a:r>
              <a:rPr lang="en-US" dirty="0"/>
              <a:t>Hands on - Create HANA Cloud Instance</a:t>
            </a:r>
          </a:p>
        </p:txBody>
      </p:sp>
      <p:pic>
        <p:nvPicPr>
          <p:cNvPr id="3" name="Picture 2">
            <a:extLst>
              <a:ext uri="{FF2B5EF4-FFF2-40B4-BE49-F238E27FC236}">
                <a16:creationId xmlns:a16="http://schemas.microsoft.com/office/drawing/2014/main" id="{8CB5A8D5-EF9E-9286-069A-7C912612B4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8256" r="7337"/>
          <a:stretch/>
        </p:blipFill>
        <p:spPr bwMode="auto">
          <a:xfrm>
            <a:off x="190016" y="1702420"/>
            <a:ext cx="5174395" cy="183777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653BBD-DA91-2996-8A54-0B82D95D8890}"/>
              </a:ext>
            </a:extLst>
          </p:cNvPr>
          <p:cNvSpPr txBox="1"/>
          <p:nvPr/>
        </p:nvSpPr>
        <p:spPr>
          <a:xfrm>
            <a:off x="261763" y="779090"/>
            <a:ext cx="5174395" cy="954107"/>
          </a:xfrm>
          <a:prstGeom prst="rect">
            <a:avLst/>
          </a:prstGeom>
          <a:noFill/>
        </p:spPr>
        <p:txBody>
          <a:bodyPr wrap="square" rtlCol="0">
            <a:spAutoFit/>
          </a:bodyPr>
          <a:lstStyle/>
          <a:p>
            <a:pPr marL="342900" indent="-342900" algn="just" defTabSz="914400">
              <a:buFontTx/>
              <a:buAutoNum type="arabicPeriod"/>
            </a:pPr>
            <a:r>
              <a:rPr lang="en-US" sz="1400" dirty="0">
                <a:solidFill>
                  <a:schemeClr val="bg1"/>
                </a:solidFill>
                <a:latin typeface="Calibri" panose="020F0502020204030204"/>
              </a:rPr>
              <a:t>Login to your trial and navigate to your </a:t>
            </a:r>
            <a:r>
              <a:rPr lang="en-US" sz="1400" b="1" dirty="0">
                <a:solidFill>
                  <a:schemeClr val="bg1"/>
                </a:solidFill>
                <a:latin typeface="Calibri" panose="020F0502020204030204"/>
              </a:rPr>
              <a:t>dev </a:t>
            </a:r>
            <a:r>
              <a:rPr lang="en-US" sz="1400" dirty="0">
                <a:solidFill>
                  <a:schemeClr val="bg1"/>
                </a:solidFill>
                <a:latin typeface="Calibri" panose="020F0502020204030204"/>
              </a:rPr>
              <a:t>space</a:t>
            </a:r>
          </a:p>
          <a:p>
            <a:pPr marL="342900" indent="-342900" algn="just" defTabSz="914400">
              <a:buFontTx/>
              <a:buAutoNum type="arabicPeriod"/>
            </a:pPr>
            <a:r>
              <a:rPr lang="en-US" sz="1400" dirty="0">
                <a:solidFill>
                  <a:schemeClr val="bg1"/>
                </a:solidFill>
                <a:latin typeface="Calibri" panose="020F0502020204030204"/>
              </a:rPr>
              <a:t>Select </a:t>
            </a:r>
            <a:r>
              <a:rPr lang="en-US" sz="1400" b="1" dirty="0">
                <a:solidFill>
                  <a:schemeClr val="bg1"/>
                </a:solidFill>
                <a:latin typeface="Calibri" panose="020F0502020204030204"/>
              </a:rPr>
              <a:t>SAP HANA Cloud</a:t>
            </a:r>
          </a:p>
          <a:p>
            <a:pPr marL="342900" indent="-342900" algn="just"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Manage SAP HANA Cloud </a:t>
            </a:r>
            <a:r>
              <a:rPr lang="en-US" sz="1400" dirty="0">
                <a:solidFill>
                  <a:schemeClr val="bg1"/>
                </a:solidFill>
                <a:latin typeface="Calibri" panose="020F0502020204030204"/>
              </a:rPr>
              <a:t>button to start the SAP HANA Cloud Central</a:t>
            </a:r>
          </a:p>
        </p:txBody>
      </p:sp>
      <p:pic>
        <p:nvPicPr>
          <p:cNvPr id="5" name="Picture 4">
            <a:extLst>
              <a:ext uri="{FF2B5EF4-FFF2-40B4-BE49-F238E27FC236}">
                <a16:creationId xmlns:a16="http://schemas.microsoft.com/office/drawing/2014/main" id="{CE3EF897-818D-A144-9DAA-ED76C105C49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96" t="15296"/>
          <a:stretch/>
        </p:blipFill>
        <p:spPr bwMode="auto">
          <a:xfrm>
            <a:off x="6674485" y="1527830"/>
            <a:ext cx="4543262" cy="197835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hevron 5">
            <a:extLst>
              <a:ext uri="{FF2B5EF4-FFF2-40B4-BE49-F238E27FC236}">
                <a16:creationId xmlns:a16="http://schemas.microsoft.com/office/drawing/2014/main" id="{F9ED8215-03AA-D8FB-EE7A-028B143BC7BD}"/>
              </a:ext>
            </a:extLst>
          </p:cNvPr>
          <p:cNvSpPr/>
          <p:nvPr/>
        </p:nvSpPr>
        <p:spPr>
          <a:xfrm>
            <a:off x="5617029" y="1733197"/>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sp>
        <p:nvSpPr>
          <p:cNvPr id="7" name="Arrow: Chevron 6">
            <a:extLst>
              <a:ext uri="{FF2B5EF4-FFF2-40B4-BE49-F238E27FC236}">
                <a16:creationId xmlns:a16="http://schemas.microsoft.com/office/drawing/2014/main" id="{65EBF26E-6D84-D4F3-490D-2C8E2ECA0675}"/>
              </a:ext>
            </a:extLst>
          </p:cNvPr>
          <p:cNvSpPr/>
          <p:nvPr/>
        </p:nvSpPr>
        <p:spPr>
          <a:xfrm rot="5400000">
            <a:off x="8770215" y="3566145"/>
            <a:ext cx="351801" cy="474214"/>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pic>
        <p:nvPicPr>
          <p:cNvPr id="8" name="Picture 6">
            <a:extLst>
              <a:ext uri="{FF2B5EF4-FFF2-40B4-BE49-F238E27FC236}">
                <a16:creationId xmlns:a16="http://schemas.microsoft.com/office/drawing/2014/main" id="{462670FC-3E42-A072-DD2C-754FA0F8C9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4485" y="4017448"/>
            <a:ext cx="4805728" cy="265191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F0BE4A37-E533-D631-EC68-7557BDA35E2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2614" y="3938076"/>
            <a:ext cx="5328976" cy="2701263"/>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hevron 9">
            <a:extLst>
              <a:ext uri="{FF2B5EF4-FFF2-40B4-BE49-F238E27FC236}">
                <a16:creationId xmlns:a16="http://schemas.microsoft.com/office/drawing/2014/main" id="{35D2515A-A0D2-B87A-B280-CC3F1560B881}"/>
              </a:ext>
            </a:extLst>
          </p:cNvPr>
          <p:cNvSpPr/>
          <p:nvPr/>
        </p:nvSpPr>
        <p:spPr>
          <a:xfrm rot="10800000">
            <a:off x="5926368" y="5151312"/>
            <a:ext cx="296160" cy="590450"/>
          </a:xfrm>
          <a:prstGeom prst="chevron">
            <a:avLst/>
          </a:prstGeom>
          <a:solidFill>
            <a:srgbClr val="4E67C8"/>
          </a:solidFill>
          <a:ln w="12700" cap="flat" cmpd="sng" algn="ctr">
            <a:solidFill>
              <a:srgbClr val="4E67C8">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24B66864-1F90-CAC7-3886-475219B67685}"/>
              </a:ext>
            </a:extLst>
          </p:cNvPr>
          <p:cNvCxnSpPr/>
          <p:nvPr/>
        </p:nvCxnSpPr>
        <p:spPr>
          <a:xfrm>
            <a:off x="190016" y="3753010"/>
            <a:ext cx="5915500" cy="0"/>
          </a:xfrm>
          <a:prstGeom prst="line">
            <a:avLst/>
          </a:prstGeom>
          <a:noFill/>
          <a:ln w="6350" cap="flat" cmpd="sng" algn="ctr">
            <a:solidFill>
              <a:srgbClr val="4E67C8"/>
            </a:solidFill>
            <a:prstDash val="solid"/>
            <a:miter lim="800000"/>
          </a:ln>
          <a:effectLst/>
        </p:spPr>
      </p:cxnSp>
      <p:sp>
        <p:nvSpPr>
          <p:cNvPr id="12" name="TextBox 11">
            <a:extLst>
              <a:ext uri="{FF2B5EF4-FFF2-40B4-BE49-F238E27FC236}">
                <a16:creationId xmlns:a16="http://schemas.microsoft.com/office/drawing/2014/main" id="{A38502F2-40B4-4D81-DD19-83B489ECC97A}"/>
              </a:ext>
            </a:extLst>
          </p:cNvPr>
          <p:cNvSpPr txBox="1"/>
          <p:nvPr/>
        </p:nvSpPr>
        <p:spPr>
          <a:xfrm>
            <a:off x="6105516" y="779090"/>
            <a:ext cx="5681200" cy="738664"/>
          </a:xfrm>
          <a:prstGeom prst="rect">
            <a:avLst/>
          </a:prstGeom>
          <a:noFill/>
        </p:spPr>
        <p:txBody>
          <a:bodyPr wrap="square" rtlCol="0">
            <a:spAutoFit/>
          </a:bodyPr>
          <a:lstStyle/>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Create </a:t>
            </a:r>
            <a:r>
              <a:rPr lang="en-US" sz="1400" dirty="0">
                <a:solidFill>
                  <a:schemeClr val="bg1"/>
                </a:solidFill>
                <a:latin typeface="Calibri" panose="020F0502020204030204"/>
              </a:rPr>
              <a:t>button to start the wizard</a:t>
            </a:r>
          </a:p>
          <a:p>
            <a:pPr marL="342900" indent="-342900" defTabSz="914400">
              <a:buFontTx/>
              <a:buAutoNum type="arabicPeriod"/>
            </a:pPr>
            <a:r>
              <a:rPr lang="en-US" sz="1400" dirty="0">
                <a:solidFill>
                  <a:schemeClr val="bg1"/>
                </a:solidFill>
                <a:latin typeface="Calibri" panose="020F0502020204030204"/>
              </a:rPr>
              <a:t>Select the SAP HANA Cloud instance Type to create</a:t>
            </a:r>
          </a:p>
          <a:p>
            <a:pPr marL="342900" indent="-342900" defTabSz="914400">
              <a:buFontTx/>
              <a:buAutoNum type="arabicPeriod"/>
            </a:pPr>
            <a:r>
              <a:rPr lang="en-US" sz="1400" dirty="0">
                <a:solidFill>
                  <a:schemeClr val="bg1"/>
                </a:solidFill>
                <a:latin typeface="Calibri" panose="020F0502020204030204"/>
              </a:rPr>
              <a:t>Select the </a:t>
            </a:r>
            <a:r>
              <a:rPr lang="en-US" sz="1400" b="1" dirty="0">
                <a:solidFill>
                  <a:schemeClr val="bg1"/>
                </a:solidFill>
                <a:latin typeface="Calibri" panose="020F0502020204030204"/>
              </a:rPr>
              <a:t>Next Step </a:t>
            </a:r>
            <a:r>
              <a:rPr lang="en-US" sz="1400" dirty="0">
                <a:solidFill>
                  <a:schemeClr val="bg1"/>
                </a:solidFill>
                <a:latin typeface="Calibri" panose="020F0502020204030204"/>
              </a:rPr>
              <a:t>button to continue</a:t>
            </a:r>
          </a:p>
        </p:txBody>
      </p:sp>
    </p:spTree>
    <p:extLst>
      <p:ext uri="{BB962C8B-B14F-4D97-AF65-F5344CB8AC3E}">
        <p14:creationId xmlns:p14="http://schemas.microsoft.com/office/powerpoint/2010/main" val="384817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AF90-E623-BB88-6CCD-1830BB1A34D7}"/>
              </a:ext>
            </a:extLst>
          </p:cNvPr>
          <p:cNvSpPr>
            <a:spLocks noGrp="1"/>
          </p:cNvSpPr>
          <p:nvPr>
            <p:ph type="title"/>
          </p:nvPr>
        </p:nvSpPr>
        <p:spPr/>
        <p:txBody>
          <a:bodyPr/>
          <a:lstStyle/>
          <a:p>
            <a:r>
              <a:rPr lang="en-IN" dirty="0"/>
              <a:t>Design time</a:t>
            </a:r>
          </a:p>
        </p:txBody>
      </p:sp>
      <mc:AlternateContent xmlns:mc="http://schemas.openxmlformats.org/markup-compatibility/2006" xmlns:p14="http://schemas.microsoft.com/office/powerpoint/2010/main">
        <mc:Choice Requires="p14">
          <p:contentPart p14:bwMode="auto" r:id="rId2">
            <p14:nvContentPartPr>
              <p14:cNvPr id="199" name="Ink 198">
                <a:extLst>
                  <a:ext uri="{FF2B5EF4-FFF2-40B4-BE49-F238E27FC236}">
                    <a16:creationId xmlns:a16="http://schemas.microsoft.com/office/drawing/2014/main" id="{92AA2931-853A-434B-3245-46E773FF9620}"/>
                  </a:ext>
                </a:extLst>
              </p14:cNvPr>
              <p14:cNvContentPartPr/>
              <p14:nvPr/>
            </p14:nvContentPartPr>
            <p14:xfrm>
              <a:off x="7565558" y="5648903"/>
              <a:ext cx="360" cy="360"/>
            </p14:xfrm>
          </p:contentPart>
        </mc:Choice>
        <mc:Fallback xmlns="">
          <p:pic>
            <p:nvPicPr>
              <p:cNvPr id="199" name="Ink 198">
                <a:extLst>
                  <a:ext uri="{FF2B5EF4-FFF2-40B4-BE49-F238E27FC236}">
                    <a16:creationId xmlns:a16="http://schemas.microsoft.com/office/drawing/2014/main" id="{92AA2931-853A-434B-3245-46E773FF9620}"/>
                  </a:ext>
                </a:extLst>
              </p:cNvPr>
              <p:cNvPicPr/>
              <p:nvPr/>
            </p:nvPicPr>
            <p:blipFill>
              <a:blip r:embed="rId117"/>
              <a:stretch>
                <a:fillRect/>
              </a:stretch>
            </p:blipFill>
            <p:spPr>
              <a:xfrm>
                <a:off x="7556918" y="5640263"/>
                <a:ext cx="18000" cy="18000"/>
              </a:xfrm>
              <a:prstGeom prst="rect">
                <a:avLst/>
              </a:prstGeom>
            </p:spPr>
          </p:pic>
        </mc:Fallback>
      </mc:AlternateContent>
      <p:pic>
        <p:nvPicPr>
          <p:cNvPr id="1026" name="Picture 2" descr="PNG Mickey Mouse Disney Round Logo | Citypng">
            <a:extLst>
              <a:ext uri="{FF2B5EF4-FFF2-40B4-BE49-F238E27FC236}">
                <a16:creationId xmlns:a16="http://schemas.microsoft.com/office/drawing/2014/main" id="{DEDB62D9-B2D4-A2EA-45E3-94F4A10FBC9F}"/>
              </a:ext>
            </a:extLst>
          </p:cNvPr>
          <p:cNvPicPr>
            <a:picLocks noChangeAspect="1" noChangeArrowheads="1"/>
          </p:cNvPicPr>
          <p:nvPr/>
        </p:nvPicPr>
        <p:blipFill>
          <a:blip r:embed="rId118" cstate="print">
            <a:extLst>
              <a:ext uri="{28A0092B-C50C-407E-A947-70E740481C1C}">
                <a14:useLocalDpi xmlns:a14="http://schemas.microsoft.com/office/drawing/2010/main" val="0"/>
              </a:ext>
            </a:extLst>
          </a:blip>
          <a:srcRect/>
          <a:stretch>
            <a:fillRect/>
          </a:stretch>
        </p:blipFill>
        <p:spPr bwMode="auto">
          <a:xfrm>
            <a:off x="10558908" y="177356"/>
            <a:ext cx="504056" cy="50405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onald duck cartoon 22026266 Vector Art at Vecteezy">
            <a:extLst>
              <a:ext uri="{FF2B5EF4-FFF2-40B4-BE49-F238E27FC236}">
                <a16:creationId xmlns:a16="http://schemas.microsoft.com/office/drawing/2014/main" id="{46010C6D-1E6A-668E-8F6A-1479DAB4A063}"/>
              </a:ext>
            </a:extLst>
          </p:cNvPr>
          <p:cNvPicPr>
            <a:picLocks noChangeAspect="1" noChangeArrowheads="1"/>
          </p:cNvPicPr>
          <p:nvPr/>
        </p:nvPicPr>
        <p:blipFill>
          <a:blip r:embed="rId119" cstate="print">
            <a:extLst>
              <a:ext uri="{28A0092B-C50C-407E-A947-70E740481C1C}">
                <a14:useLocalDpi xmlns:a14="http://schemas.microsoft.com/office/drawing/2010/main" val="0"/>
              </a:ext>
            </a:extLst>
          </a:blip>
          <a:srcRect/>
          <a:stretch>
            <a:fillRect/>
          </a:stretch>
        </p:blipFill>
        <p:spPr bwMode="auto">
          <a:xfrm>
            <a:off x="9958583" y="177356"/>
            <a:ext cx="503590" cy="504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325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 HANA Cloud Integration</a:t>
            </a:r>
            <a:endParaRPr lang="en-IN" sz="3600" dirty="0">
              <a:latin typeface="Cooper Black" panose="0208090404030B020404" pitchFamily="18" charset="0"/>
            </a:endParaRPr>
          </a:p>
        </p:txBody>
      </p:sp>
      <p:sp>
        <p:nvSpPr>
          <p:cNvPr id="13" name="TextBox 12">
            <a:extLst>
              <a:ext uri="{FF2B5EF4-FFF2-40B4-BE49-F238E27FC236}">
                <a16:creationId xmlns:a16="http://schemas.microsoft.com/office/drawing/2014/main" id="{78B33051-A262-4738-BE23-009A377F6D2B}"/>
              </a:ext>
            </a:extLst>
          </p:cNvPr>
          <p:cNvSpPr txBox="1"/>
          <p:nvPr/>
        </p:nvSpPr>
        <p:spPr>
          <a:xfrm>
            <a:off x="189756" y="908720"/>
            <a:ext cx="11809312" cy="5293757"/>
          </a:xfrm>
          <a:prstGeom prst="rect">
            <a:avLst/>
          </a:prstGeom>
          <a:noFill/>
        </p:spPr>
        <p:txBody>
          <a:bodyPr wrap="square" rtlCol="0">
            <a:spAutoFit/>
          </a:bodyPr>
          <a:lstStyle/>
          <a:p>
            <a:r>
              <a:rPr lang="en-US" sz="1800" dirty="0">
                <a:solidFill>
                  <a:schemeClr val="bg1"/>
                </a:solidFill>
              </a:rPr>
              <a:t>Pre-requisites</a:t>
            </a:r>
          </a:p>
          <a:p>
            <a:pPr marL="457200" indent="-457200">
              <a:buAutoNum type="arabicPeriod"/>
            </a:pPr>
            <a:r>
              <a:rPr lang="en-US" sz="1800" dirty="0">
                <a:solidFill>
                  <a:schemeClr val="bg1"/>
                </a:solidFill>
              </a:rPr>
              <a:t>Check the version of CDS (which must be &gt; 2.0) </a:t>
            </a:r>
            <a:r>
              <a:rPr lang="en-US" sz="1800" b="1" dirty="0" err="1">
                <a:solidFill>
                  <a:schemeClr val="bg1"/>
                </a:solidFill>
              </a:rPr>
              <a:t>cds</a:t>
            </a:r>
            <a:r>
              <a:rPr lang="en-US" sz="1800" b="1" dirty="0">
                <a:solidFill>
                  <a:schemeClr val="bg1"/>
                </a:solidFill>
              </a:rPr>
              <a:t> –v</a:t>
            </a:r>
          </a:p>
          <a:p>
            <a:pPr marL="342900" indent="-342900">
              <a:buAutoNum type="arabicPeriod"/>
            </a:pPr>
            <a:r>
              <a:rPr lang="en-US" sz="1800" dirty="0">
                <a:solidFill>
                  <a:schemeClr val="bg1"/>
                </a:solidFill>
              </a:rPr>
              <a:t>Start a HANA cloud instance in SAP BTP</a:t>
            </a:r>
          </a:p>
          <a:p>
            <a:r>
              <a:rPr lang="en-US" sz="1800" dirty="0">
                <a:solidFill>
                  <a:schemeClr val="bg1"/>
                </a:solidFill>
              </a:rPr>
              <a:t>Main steps</a:t>
            </a:r>
          </a:p>
          <a:p>
            <a:pPr marL="342900" indent="-342900">
              <a:buAutoNum type="arabicPeriod"/>
            </a:pPr>
            <a:r>
              <a:rPr lang="en-US" sz="1800" dirty="0">
                <a:solidFill>
                  <a:schemeClr val="bg1"/>
                </a:solidFill>
              </a:rPr>
              <a:t>Add </a:t>
            </a:r>
            <a:r>
              <a:rPr lang="en-US" sz="1800" dirty="0" err="1">
                <a:solidFill>
                  <a:schemeClr val="bg1"/>
                </a:solidFill>
              </a:rPr>
              <a:t>hana</a:t>
            </a:r>
            <a:r>
              <a:rPr lang="en-US" sz="1800" dirty="0">
                <a:solidFill>
                  <a:schemeClr val="bg1"/>
                </a:solidFill>
              </a:rPr>
              <a:t> configuration to our app, which tell cap framework that the default </a:t>
            </a:r>
            <a:r>
              <a:rPr lang="en-US" sz="1800" dirty="0" err="1">
                <a:solidFill>
                  <a:schemeClr val="bg1"/>
                </a:solidFill>
              </a:rPr>
              <a:t>db</a:t>
            </a:r>
            <a:r>
              <a:rPr lang="en-US" sz="1800" dirty="0">
                <a:solidFill>
                  <a:schemeClr val="bg1"/>
                </a:solidFill>
              </a:rPr>
              <a:t> is now </a:t>
            </a:r>
            <a:r>
              <a:rPr lang="en-US" sz="1800" dirty="0" err="1">
                <a:solidFill>
                  <a:schemeClr val="bg1"/>
                </a:solidFill>
              </a:rPr>
              <a:t>hana</a:t>
            </a:r>
            <a:r>
              <a:rPr lang="en-US" sz="1800" dirty="0">
                <a:solidFill>
                  <a:schemeClr val="bg1"/>
                </a:solidFill>
              </a:rPr>
              <a:t> – </a:t>
            </a:r>
            <a:r>
              <a:rPr lang="en-US" sz="1800" b="1" dirty="0" err="1">
                <a:solidFill>
                  <a:schemeClr val="bg1"/>
                </a:solidFill>
              </a:rPr>
              <a:t>cds</a:t>
            </a:r>
            <a:r>
              <a:rPr lang="en-US" sz="1800" b="1" dirty="0">
                <a:solidFill>
                  <a:schemeClr val="bg1"/>
                </a:solidFill>
              </a:rPr>
              <a:t> add </a:t>
            </a:r>
            <a:r>
              <a:rPr lang="en-US" sz="1800" b="1" dirty="0" err="1">
                <a:solidFill>
                  <a:schemeClr val="bg1"/>
                </a:solidFill>
              </a:rPr>
              <a:t>hana</a:t>
            </a:r>
            <a:endParaRPr lang="en-US" sz="1800" b="1" dirty="0">
              <a:solidFill>
                <a:schemeClr val="bg1"/>
              </a:solidFill>
            </a:endParaRPr>
          </a:p>
          <a:p>
            <a:r>
              <a:rPr lang="en-IN" sz="1600" dirty="0">
                <a:solidFill>
                  <a:schemeClr val="bg1"/>
                </a:solidFill>
              </a:rPr>
              <a:t>2.   Add the </a:t>
            </a:r>
            <a:r>
              <a:rPr lang="en-IN" sz="1600" dirty="0" err="1">
                <a:solidFill>
                  <a:schemeClr val="bg1"/>
                </a:solidFill>
              </a:rPr>
              <a:t>hana</a:t>
            </a:r>
            <a:r>
              <a:rPr lang="en-IN" sz="1600" dirty="0">
                <a:solidFill>
                  <a:schemeClr val="bg1"/>
                </a:solidFill>
              </a:rPr>
              <a:t> specific deployment format name to our project under </a:t>
            </a:r>
            <a:r>
              <a:rPr lang="en-IN" sz="1600" dirty="0" err="1">
                <a:solidFill>
                  <a:schemeClr val="bg1"/>
                </a:solidFill>
              </a:rPr>
              <a:t>cds</a:t>
            </a:r>
            <a:r>
              <a:rPr lang="en-IN" sz="1600" dirty="0">
                <a:solidFill>
                  <a:schemeClr val="bg1"/>
                </a:solidFill>
              </a:rPr>
              <a:t> section as below inside </a:t>
            </a:r>
            <a:r>
              <a:rPr lang="en-IN" sz="1600" dirty="0" err="1">
                <a:solidFill>
                  <a:schemeClr val="bg1"/>
                </a:solidFill>
              </a:rPr>
              <a:t>package.json</a:t>
            </a:r>
            <a:r>
              <a:rPr lang="en-IN" sz="1600" dirty="0">
                <a:solidFill>
                  <a:schemeClr val="bg1"/>
                </a:solidFill>
              </a:rPr>
              <a:t> file</a:t>
            </a:r>
            <a:br>
              <a:rPr lang="en-IN" sz="1600" dirty="0">
                <a:solidFill>
                  <a:schemeClr val="bg1"/>
                </a:solidFill>
              </a:rPr>
            </a:br>
            <a:r>
              <a:rPr lang="en-US" sz="1200" b="0" dirty="0">
                <a:solidFill>
                  <a:schemeClr val="bg1"/>
                </a:solidFill>
                <a:effectLst/>
                <a:latin typeface="Consolas" panose="020B0609020204030204" pitchFamily="49" charset="0"/>
              </a:rPr>
              <a:t>"</a:t>
            </a:r>
            <a:r>
              <a:rPr lang="en-US" sz="1200" b="0" dirty="0" err="1">
                <a:solidFill>
                  <a:schemeClr val="bg1"/>
                </a:solidFill>
                <a:effectLst/>
                <a:latin typeface="Consolas" panose="020B0609020204030204" pitchFamily="49" charset="0"/>
              </a:rPr>
              <a:t>hana</a:t>
            </a:r>
            <a:r>
              <a:rPr lang="en-US" sz="1200" b="0" dirty="0">
                <a:solidFill>
                  <a:schemeClr val="bg1"/>
                </a:solidFill>
                <a:effectLst/>
                <a:latin typeface="Consolas" panose="020B0609020204030204" pitchFamily="49" charset="0"/>
              </a:rPr>
              <a:t>":{</a:t>
            </a:r>
          </a:p>
          <a:p>
            <a:r>
              <a:rPr lang="en-US" sz="1200" b="0" dirty="0">
                <a:solidFill>
                  <a:schemeClr val="bg1"/>
                </a:solidFill>
                <a:effectLst/>
                <a:latin typeface="Consolas" panose="020B0609020204030204" pitchFamily="49" charset="0"/>
              </a:rPr>
              <a:t>      "deploy-format":"</a:t>
            </a:r>
            <a:r>
              <a:rPr lang="en-US" sz="1200" b="0" dirty="0" err="1">
                <a:solidFill>
                  <a:schemeClr val="bg1"/>
                </a:solidFill>
                <a:effectLst/>
                <a:latin typeface="Consolas" panose="020B0609020204030204" pitchFamily="49" charset="0"/>
              </a:rPr>
              <a:t>hdbtable</a:t>
            </a:r>
            <a:r>
              <a:rPr lang="en-US" sz="1200" b="0" dirty="0">
                <a:solidFill>
                  <a:schemeClr val="bg1"/>
                </a:solidFill>
                <a:effectLst/>
                <a:latin typeface="Consolas" panose="020B0609020204030204" pitchFamily="49" charset="0"/>
              </a:rPr>
              <a:t>"</a:t>
            </a:r>
          </a:p>
          <a:p>
            <a:r>
              <a:rPr lang="en-US" sz="1200" b="0" dirty="0">
                <a:solidFill>
                  <a:schemeClr val="bg1"/>
                </a:solidFill>
                <a:effectLst/>
                <a:latin typeface="Consolas" panose="020B0609020204030204" pitchFamily="49" charset="0"/>
              </a:rPr>
              <a:t>    }</a:t>
            </a:r>
          </a:p>
          <a:p>
            <a:r>
              <a:rPr lang="en-IN" sz="1600" dirty="0">
                <a:solidFill>
                  <a:schemeClr val="bg1"/>
                </a:solidFill>
              </a:rPr>
              <a:t>3. Since the first step added the </a:t>
            </a:r>
            <a:r>
              <a:rPr lang="en-IN" sz="1600" dirty="0" err="1">
                <a:solidFill>
                  <a:schemeClr val="bg1"/>
                </a:solidFill>
              </a:rPr>
              <a:t>hdb</a:t>
            </a:r>
            <a:r>
              <a:rPr lang="en-IN" sz="1600" dirty="0">
                <a:solidFill>
                  <a:schemeClr val="bg1"/>
                </a:solidFill>
              </a:rPr>
              <a:t> node module, we need to install it. Run </a:t>
            </a:r>
            <a:r>
              <a:rPr lang="en-IN" sz="1600" b="1" dirty="0" err="1">
                <a:solidFill>
                  <a:schemeClr val="bg1"/>
                </a:solidFill>
              </a:rPr>
              <a:t>npm</a:t>
            </a:r>
            <a:r>
              <a:rPr lang="en-IN" sz="1600" b="1" dirty="0">
                <a:solidFill>
                  <a:schemeClr val="bg1"/>
                </a:solidFill>
              </a:rPr>
              <a:t> install</a:t>
            </a:r>
          </a:p>
          <a:p>
            <a:r>
              <a:rPr lang="en-IN" sz="1600" dirty="0">
                <a:solidFill>
                  <a:schemeClr val="bg1"/>
                </a:solidFill>
              </a:rPr>
              <a:t>4. We need to perform a build, which will create all the </a:t>
            </a:r>
            <a:r>
              <a:rPr lang="en-IN" sz="1600" dirty="0" err="1">
                <a:solidFill>
                  <a:schemeClr val="bg1"/>
                </a:solidFill>
              </a:rPr>
              <a:t>hana</a:t>
            </a:r>
            <a:r>
              <a:rPr lang="en-IN" sz="1600" dirty="0">
                <a:solidFill>
                  <a:schemeClr val="bg1"/>
                </a:solidFill>
              </a:rPr>
              <a:t> specific files which will be deployed to HANA cloud. </a:t>
            </a:r>
            <a:r>
              <a:rPr lang="en-IN" sz="1600" b="1" dirty="0" err="1">
                <a:solidFill>
                  <a:schemeClr val="bg1"/>
                </a:solidFill>
              </a:rPr>
              <a:t>cds</a:t>
            </a:r>
            <a:r>
              <a:rPr lang="en-IN" sz="1600" b="1" dirty="0">
                <a:solidFill>
                  <a:schemeClr val="bg1"/>
                </a:solidFill>
              </a:rPr>
              <a:t> build --production</a:t>
            </a:r>
            <a:endParaRPr lang="en-IN" sz="1600" dirty="0">
              <a:solidFill>
                <a:schemeClr val="bg1"/>
              </a:solidFill>
            </a:endParaRPr>
          </a:p>
          <a:p>
            <a:r>
              <a:rPr lang="en-IN" sz="1600" dirty="0">
                <a:solidFill>
                  <a:schemeClr val="bg1"/>
                </a:solidFill>
              </a:rPr>
              <a:t>5. We need to login to cloud foundry from BAS – </a:t>
            </a:r>
            <a:r>
              <a:rPr lang="en-IN" sz="1600" b="1" dirty="0" err="1">
                <a:solidFill>
                  <a:schemeClr val="bg1"/>
                </a:solidFill>
              </a:rPr>
              <a:t>cf</a:t>
            </a:r>
            <a:r>
              <a:rPr lang="en-IN" sz="1600" b="1" dirty="0">
                <a:solidFill>
                  <a:schemeClr val="bg1"/>
                </a:solidFill>
              </a:rPr>
              <a:t> login</a:t>
            </a:r>
          </a:p>
          <a:p>
            <a:r>
              <a:rPr lang="en-IN" sz="1600" dirty="0">
                <a:solidFill>
                  <a:schemeClr val="bg1"/>
                </a:solidFill>
              </a:rPr>
              <a:t>6. Finally we need to deploy the DB and everything to SAP HANA Cloud – </a:t>
            </a:r>
            <a:r>
              <a:rPr lang="en-IN" sz="1600" b="1" dirty="0" err="1">
                <a:solidFill>
                  <a:schemeClr val="bg1"/>
                </a:solidFill>
              </a:rPr>
              <a:t>cds</a:t>
            </a:r>
            <a:r>
              <a:rPr lang="en-IN" sz="1600" b="1" dirty="0">
                <a:solidFill>
                  <a:schemeClr val="bg1"/>
                </a:solidFill>
              </a:rPr>
              <a:t> deploy --to </a:t>
            </a:r>
            <a:r>
              <a:rPr lang="en-IN" sz="1600" b="1" dirty="0" err="1">
                <a:solidFill>
                  <a:schemeClr val="bg1"/>
                </a:solidFill>
              </a:rPr>
              <a:t>hana:batman</a:t>
            </a:r>
            <a:endParaRPr lang="en-IN" sz="1600" b="1" dirty="0">
              <a:solidFill>
                <a:schemeClr val="bg1"/>
              </a:solidFill>
            </a:endParaRPr>
          </a:p>
          <a:p>
            <a:r>
              <a:rPr lang="en-IN" sz="1600" dirty="0">
                <a:solidFill>
                  <a:schemeClr val="bg1"/>
                </a:solidFill>
              </a:rPr>
              <a:t>7. We fixed issues related to excel format of HANA and changed the size of field </a:t>
            </a:r>
            <a:r>
              <a:rPr lang="en-IN" sz="1600" dirty="0" err="1">
                <a:solidFill>
                  <a:schemeClr val="bg1"/>
                </a:solidFill>
              </a:rPr>
              <a:t>bankid</a:t>
            </a:r>
            <a:r>
              <a:rPr lang="en-IN" sz="1600" dirty="0">
                <a:solidFill>
                  <a:schemeClr val="bg1"/>
                </a:solidFill>
              </a:rPr>
              <a:t> for employee, redo the build and deploy</a:t>
            </a:r>
          </a:p>
          <a:p>
            <a:r>
              <a:rPr lang="en-IN" sz="1600" dirty="0">
                <a:solidFill>
                  <a:schemeClr val="bg1"/>
                </a:solidFill>
              </a:rPr>
              <a:t>8. If deployment worked, a new file </a:t>
            </a:r>
            <a:r>
              <a:rPr lang="en-IN" sz="1600" b="1" dirty="0" err="1">
                <a:solidFill>
                  <a:schemeClr val="bg1"/>
                </a:solidFill>
              </a:rPr>
              <a:t>cdsrc-private.json</a:t>
            </a:r>
            <a:r>
              <a:rPr lang="en-IN" sz="1600" b="1" dirty="0">
                <a:solidFill>
                  <a:schemeClr val="bg1"/>
                </a:solidFill>
              </a:rPr>
              <a:t> </a:t>
            </a:r>
            <a:r>
              <a:rPr lang="en-IN" sz="1600" dirty="0">
                <a:solidFill>
                  <a:schemeClr val="bg1"/>
                </a:solidFill>
              </a:rPr>
              <a:t>gets created automatically, this file contain the information about which container in SAP BTP HANA Cloud to connect to. And the private key is stored in this file.</a:t>
            </a:r>
          </a:p>
          <a:p>
            <a:r>
              <a:rPr lang="en-IN" sz="1600" dirty="0">
                <a:solidFill>
                  <a:schemeClr val="bg1"/>
                </a:solidFill>
              </a:rPr>
              <a:t>9. Provide the credentials which will be used to connect database, start using </a:t>
            </a:r>
            <a:r>
              <a:rPr lang="en-IN" sz="1600" b="1" dirty="0" err="1">
                <a:solidFill>
                  <a:schemeClr val="bg1"/>
                </a:solidFill>
              </a:rPr>
              <a:t>cds</a:t>
            </a:r>
            <a:r>
              <a:rPr lang="en-IN" sz="1600" b="1" dirty="0">
                <a:solidFill>
                  <a:schemeClr val="bg1"/>
                </a:solidFill>
              </a:rPr>
              <a:t> watch --profile hybrid</a:t>
            </a:r>
            <a:endParaRPr lang="en-IN" sz="1600" dirty="0">
              <a:solidFill>
                <a:schemeClr val="bg1"/>
              </a:solidFill>
            </a:endParaRPr>
          </a:p>
          <a:p>
            <a:r>
              <a:rPr lang="en-US" sz="1200" b="0" dirty="0">
                <a:solidFill>
                  <a:schemeClr val="bg1"/>
                </a:solidFill>
                <a:effectLst/>
                <a:latin typeface="Consolas" panose="020B0609020204030204" pitchFamily="49" charset="0"/>
              </a:rPr>
              <a:t>"credentials": {</a:t>
            </a:r>
          </a:p>
          <a:p>
            <a:r>
              <a:rPr lang="en-US" sz="1200" b="0" dirty="0">
                <a:solidFill>
                  <a:schemeClr val="bg1"/>
                </a:solidFill>
                <a:effectLst/>
                <a:latin typeface="Consolas" panose="020B0609020204030204" pitchFamily="49" charset="0"/>
              </a:rPr>
              <a:t>          "database": "batman-key"</a:t>
            </a:r>
          </a:p>
          <a:p>
            <a:r>
              <a:rPr lang="en-US" sz="1200" b="0" dirty="0">
                <a:solidFill>
                  <a:schemeClr val="bg1"/>
                </a:solidFill>
                <a:effectLst/>
                <a:latin typeface="Consolas" panose="020B0609020204030204" pitchFamily="49" charset="0"/>
              </a:rPr>
              <a:t>        }</a:t>
            </a:r>
          </a:p>
          <a:p>
            <a:endParaRPr lang="en-IN" sz="1600" dirty="0">
              <a:solidFill>
                <a:schemeClr val="bg1"/>
              </a:solidFill>
            </a:endParaRPr>
          </a:p>
        </p:txBody>
      </p:sp>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Authentication v/s Authorization</a:t>
            </a:r>
            <a:endParaRPr lang="en-IN" dirty="0"/>
          </a:p>
        </p:txBody>
      </p:sp>
      <p:sp>
        <p:nvSpPr>
          <p:cNvPr id="12" name="TextBox 11">
            <a:extLst>
              <a:ext uri="{FF2B5EF4-FFF2-40B4-BE49-F238E27FC236}">
                <a16:creationId xmlns:a16="http://schemas.microsoft.com/office/drawing/2014/main" id="{6F10F899-F228-C7A0-F638-DA5009D28E9C}"/>
              </a:ext>
            </a:extLst>
          </p:cNvPr>
          <p:cNvSpPr txBox="1"/>
          <p:nvPr/>
        </p:nvSpPr>
        <p:spPr>
          <a:xfrm>
            <a:off x="183628" y="785615"/>
            <a:ext cx="11806237" cy="4215441"/>
          </a:xfrm>
          <a:prstGeom prst="rect">
            <a:avLst/>
          </a:prstGeom>
          <a:noFill/>
        </p:spPr>
        <p:txBody>
          <a:bodyPr wrap="square" rtlCol="0">
            <a:spAutoFit/>
          </a:bodyPr>
          <a:lstStyle/>
          <a:p>
            <a:pPr>
              <a:defRPr/>
            </a:pPr>
            <a:r>
              <a:rPr lang="en-US" sz="1400" b="1" kern="0" dirty="0">
                <a:solidFill>
                  <a:prstClr val="white"/>
                </a:solidFill>
                <a:latin typeface="Segoe UI"/>
              </a:rPr>
              <a:t>Authentication</a:t>
            </a:r>
            <a:r>
              <a:rPr lang="en-US" sz="1400" kern="0" dirty="0">
                <a:solidFill>
                  <a:prstClr val="white"/>
                </a:solidFill>
                <a:latin typeface="Segoe UI"/>
              </a:rPr>
              <a:t> – It ensures that is our user a valid user? Has he/she entered valid credentials to login to our app. It is enforced by a login screen. This login screen can also come from IDP like SSO, LDAP, Social integration.</a:t>
            </a:r>
          </a:p>
          <a:p>
            <a:pPr>
              <a:defRPr/>
            </a:pPr>
            <a:endParaRPr lang="en-US" sz="1400" kern="0" dirty="0">
              <a:solidFill>
                <a:prstClr val="white"/>
              </a:solidFill>
              <a:latin typeface="Segoe UI"/>
            </a:endParaRPr>
          </a:p>
          <a:p>
            <a:pPr>
              <a:defRPr/>
            </a:pPr>
            <a:r>
              <a:rPr lang="en-US" sz="1400" b="1" kern="0" dirty="0">
                <a:solidFill>
                  <a:prstClr val="white"/>
                </a:solidFill>
                <a:latin typeface="Segoe UI"/>
              </a:rPr>
              <a:t>Authorization</a:t>
            </a:r>
            <a:r>
              <a:rPr lang="en-US" sz="1400" kern="0" dirty="0">
                <a:solidFill>
                  <a:prstClr val="white"/>
                </a:solidFill>
                <a:latin typeface="Segoe UI"/>
              </a:rPr>
              <a:t> – Once user is authentication, then the authorization comes into play. It ensures, is our user allowed to do certain activities inside app. What is the level of access. E.g. create, update, delete, approve, view.</a:t>
            </a:r>
          </a:p>
          <a:p>
            <a:pPr>
              <a:defRPr/>
            </a:pPr>
            <a:endParaRPr lang="en-US" sz="1600" kern="0" dirty="0">
              <a:solidFill>
                <a:prstClr val="white"/>
              </a:solidFill>
              <a:latin typeface="Segoe UI"/>
            </a:endParaRPr>
          </a:p>
          <a:p>
            <a:pPr>
              <a:defRPr/>
            </a:pPr>
            <a:r>
              <a:rPr lang="en-US" sz="1400" kern="0" dirty="0">
                <a:solidFill>
                  <a:prstClr val="white"/>
                </a:solidFill>
                <a:latin typeface="Segoe UI"/>
              </a:rPr>
              <a:t>SAP BTP </a:t>
            </a:r>
            <a:r>
              <a:rPr lang="en-US" sz="1400" kern="0" dirty="0" err="1">
                <a:solidFill>
                  <a:prstClr val="white"/>
                </a:solidFill>
                <a:latin typeface="Segoe UI"/>
              </a:rPr>
              <a:t>cf</a:t>
            </a:r>
            <a:r>
              <a:rPr lang="en-US" sz="1400" kern="0" dirty="0">
                <a:solidFill>
                  <a:prstClr val="white"/>
                </a:solidFill>
                <a:latin typeface="Segoe UI"/>
              </a:rPr>
              <a:t> environment has a special component called XSUAA – </a:t>
            </a:r>
          </a:p>
          <a:p>
            <a:pPr>
              <a:defRPr/>
            </a:pPr>
            <a:r>
              <a:rPr lang="en-US" sz="1400" kern="0" dirty="0">
                <a:solidFill>
                  <a:prstClr val="white"/>
                </a:solidFill>
                <a:latin typeface="Segoe UI"/>
              </a:rPr>
              <a:t>XS – </a:t>
            </a:r>
            <a:r>
              <a:rPr lang="en-US" sz="1400" kern="0" dirty="0" err="1">
                <a:solidFill>
                  <a:prstClr val="white"/>
                </a:solidFill>
                <a:latin typeface="Segoe UI"/>
              </a:rPr>
              <a:t>eXtended</a:t>
            </a:r>
            <a:r>
              <a:rPr lang="en-US" sz="1400" kern="0" dirty="0">
                <a:solidFill>
                  <a:prstClr val="white"/>
                </a:solidFill>
                <a:latin typeface="Segoe UI"/>
              </a:rPr>
              <a:t> Services</a:t>
            </a:r>
          </a:p>
          <a:p>
            <a:pPr>
              <a:defRPr/>
            </a:pPr>
            <a:r>
              <a:rPr lang="en-US" sz="1400" kern="0" dirty="0">
                <a:solidFill>
                  <a:prstClr val="white"/>
                </a:solidFill>
                <a:latin typeface="Segoe UI"/>
              </a:rPr>
              <a:t>UAA – User Account and Authorization</a:t>
            </a:r>
          </a:p>
          <a:p>
            <a:pPr marL="342797" indent="-342797">
              <a:buFont typeface="Arial" panose="020B0604020202020204" pitchFamily="34" charset="0"/>
              <a:buChar char="•"/>
              <a:defRPr/>
            </a:pPr>
            <a:r>
              <a:rPr lang="en-IN" sz="1400" kern="0" dirty="0">
                <a:solidFill>
                  <a:prstClr val="white"/>
                </a:solidFill>
                <a:latin typeface="Segoe UI"/>
              </a:rPr>
              <a:t>This is an in-built component inside of CF</a:t>
            </a:r>
          </a:p>
          <a:p>
            <a:pPr marL="342797" indent="-342797">
              <a:buFont typeface="Arial" panose="020B0604020202020204" pitchFamily="34" charset="0"/>
              <a:buChar char="•"/>
              <a:defRPr/>
            </a:pPr>
            <a:r>
              <a:rPr lang="en-IN" sz="1400" kern="0" dirty="0">
                <a:solidFill>
                  <a:prstClr val="white"/>
                </a:solidFill>
                <a:latin typeface="Segoe UI"/>
              </a:rPr>
              <a:t>It is responsible to control the user account and authorization</a:t>
            </a:r>
          </a:p>
          <a:p>
            <a:pPr marL="342797" indent="-342797">
              <a:buFont typeface="Arial" panose="020B0604020202020204" pitchFamily="34" charset="0"/>
              <a:buChar char="•"/>
              <a:defRPr/>
            </a:pPr>
            <a:r>
              <a:rPr lang="en-IN" sz="1400" kern="0" dirty="0">
                <a:solidFill>
                  <a:prstClr val="white"/>
                </a:solidFill>
                <a:latin typeface="Segoe UI"/>
              </a:rPr>
              <a:t>It manages our application security</a:t>
            </a:r>
          </a:p>
          <a:p>
            <a:pPr marL="342797" indent="-342797">
              <a:buFont typeface="Arial" panose="020B0604020202020204" pitchFamily="34" charset="0"/>
              <a:buChar char="•"/>
              <a:defRPr/>
            </a:pPr>
            <a:r>
              <a:rPr lang="en-IN" sz="1400" kern="0" dirty="0">
                <a:solidFill>
                  <a:prstClr val="white"/>
                </a:solidFill>
                <a:latin typeface="Segoe UI"/>
              </a:rPr>
              <a:t>In CF we use modular approach to address security</a:t>
            </a:r>
          </a:p>
          <a:p>
            <a:pPr marL="342797" indent="-342797">
              <a:buFont typeface="Arial" panose="020B0604020202020204" pitchFamily="34" charset="0"/>
              <a:buChar char="•"/>
              <a:defRPr/>
            </a:pPr>
            <a:r>
              <a:rPr lang="en-IN" sz="1400" kern="0" dirty="0">
                <a:solidFill>
                  <a:prstClr val="white"/>
                </a:solidFill>
                <a:latin typeface="Segoe UI"/>
              </a:rPr>
              <a:t>As a developer we need to decide what roles and level of security we need in our app. Example, we need to secure </a:t>
            </a:r>
            <a:r>
              <a:rPr lang="en-IN" sz="1400" kern="0" dirty="0" err="1">
                <a:solidFill>
                  <a:prstClr val="white"/>
                </a:solidFill>
                <a:latin typeface="Segoe UI"/>
              </a:rPr>
              <a:t>odata</a:t>
            </a:r>
            <a:r>
              <a:rPr lang="en-IN" sz="1400" kern="0" dirty="0">
                <a:solidFill>
                  <a:prstClr val="white"/>
                </a:solidFill>
                <a:latin typeface="Segoe UI"/>
              </a:rPr>
              <a:t> resource /</a:t>
            </a:r>
            <a:r>
              <a:rPr lang="en-IN" sz="1400" kern="0" dirty="0" err="1">
                <a:solidFill>
                  <a:prstClr val="white"/>
                </a:solidFill>
                <a:latin typeface="Segoe UI"/>
              </a:rPr>
              <a:t>Anubhav.svc</a:t>
            </a:r>
            <a:endParaRPr lang="en-IN" sz="1400" kern="0" dirty="0">
              <a:solidFill>
                <a:prstClr val="white"/>
              </a:solidFill>
              <a:latin typeface="Segoe UI"/>
            </a:endParaRPr>
          </a:p>
          <a:p>
            <a:pPr marL="342797" indent="-342797">
              <a:buFont typeface="Arial" panose="020B0604020202020204" pitchFamily="34" charset="0"/>
              <a:buChar char="•"/>
              <a:defRPr/>
            </a:pPr>
            <a:r>
              <a:rPr lang="en-IN" sz="1400" kern="0" dirty="0">
                <a:solidFill>
                  <a:prstClr val="white"/>
                </a:solidFill>
                <a:latin typeface="Segoe UI"/>
              </a:rPr>
              <a:t>Usually we define Viewer, Editor</a:t>
            </a:r>
          </a:p>
          <a:p>
            <a:pPr marL="342797" indent="-342797">
              <a:buFont typeface="Arial" panose="020B0604020202020204" pitchFamily="34" charset="0"/>
              <a:buChar char="•"/>
              <a:defRPr/>
            </a:pPr>
            <a:r>
              <a:rPr lang="en-IN" sz="1400" kern="0" dirty="0">
                <a:solidFill>
                  <a:prstClr val="white"/>
                </a:solidFill>
                <a:latin typeface="Segoe UI"/>
              </a:rPr>
              <a:t>We need to define our scope and role templates inside a special file called </a:t>
            </a:r>
            <a:r>
              <a:rPr lang="en-IN" sz="1400" b="1" kern="0" dirty="0" err="1">
                <a:solidFill>
                  <a:prstClr val="white"/>
                </a:solidFill>
                <a:latin typeface="Segoe UI"/>
              </a:rPr>
              <a:t>xs-security.json</a:t>
            </a:r>
            <a:r>
              <a:rPr lang="en-IN" sz="1400" b="1" kern="0" dirty="0">
                <a:solidFill>
                  <a:prstClr val="white"/>
                </a:solidFill>
                <a:latin typeface="Segoe UI"/>
              </a:rPr>
              <a:t> </a:t>
            </a:r>
            <a:r>
              <a:rPr lang="en-IN" sz="1400" kern="0" dirty="0">
                <a:solidFill>
                  <a:prstClr val="white"/>
                </a:solidFill>
                <a:latin typeface="Segoe UI"/>
              </a:rPr>
              <a:t>file</a:t>
            </a:r>
          </a:p>
          <a:p>
            <a:pPr marL="342797" indent="-342797">
              <a:buFont typeface="Arial" panose="020B0604020202020204" pitchFamily="34" charset="0"/>
              <a:buChar char="•"/>
              <a:defRPr/>
            </a:pPr>
            <a:r>
              <a:rPr lang="en-IN" sz="1400" kern="0" dirty="0">
                <a:solidFill>
                  <a:prstClr val="white"/>
                </a:solidFill>
                <a:latin typeface="Segoe UI"/>
              </a:rPr>
              <a:t>XSUAA Communicates to the </a:t>
            </a:r>
            <a:r>
              <a:rPr lang="en-IN" sz="1400" b="1" kern="0" dirty="0">
                <a:solidFill>
                  <a:prstClr val="white"/>
                </a:solidFill>
                <a:latin typeface="Segoe UI"/>
              </a:rPr>
              <a:t>IDP – Identity Provider</a:t>
            </a:r>
          </a:p>
          <a:p>
            <a:pPr marL="342797" indent="-342797">
              <a:buFont typeface="Arial" panose="020B0604020202020204" pitchFamily="34" charset="0"/>
              <a:buChar char="•"/>
              <a:defRPr/>
            </a:pPr>
            <a:r>
              <a:rPr lang="en-IN" sz="1400" kern="0" dirty="0">
                <a:solidFill>
                  <a:prstClr val="white"/>
                </a:solidFill>
                <a:latin typeface="Segoe UI"/>
              </a:rPr>
              <a:t>Issues </a:t>
            </a:r>
            <a:r>
              <a:rPr lang="en-IN" sz="1400" b="1" kern="0" dirty="0">
                <a:solidFill>
                  <a:prstClr val="white"/>
                </a:solidFill>
                <a:latin typeface="Segoe UI"/>
              </a:rPr>
              <a:t>JWT (JSON web Token) </a:t>
            </a:r>
            <a:r>
              <a:rPr lang="en-IN" sz="1400" kern="0" dirty="0">
                <a:solidFill>
                  <a:prstClr val="white"/>
                </a:solidFill>
                <a:latin typeface="Segoe UI"/>
              </a:rPr>
              <a:t>to cloud foundry router which let user access the app based on permission.</a:t>
            </a:r>
          </a:p>
        </p:txBody>
      </p:sp>
      <p:sp>
        <p:nvSpPr>
          <p:cNvPr id="13" name="Rectangle 12">
            <a:extLst>
              <a:ext uri="{FF2B5EF4-FFF2-40B4-BE49-F238E27FC236}">
                <a16:creationId xmlns:a16="http://schemas.microsoft.com/office/drawing/2014/main" id="{3643048D-A7CA-D41E-C7AC-CCAB701256CA}"/>
              </a:ext>
            </a:extLst>
          </p:cNvPr>
          <p:cNvSpPr/>
          <p:nvPr/>
        </p:nvSpPr>
        <p:spPr>
          <a:xfrm>
            <a:off x="162341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Scope</a:t>
            </a:r>
          </a:p>
          <a:p>
            <a:pPr algn="ctr">
              <a:defRPr/>
            </a:pPr>
            <a:r>
              <a:rPr lang="en-US" sz="2000" kern="0" dirty="0">
                <a:solidFill>
                  <a:prstClr val="white"/>
                </a:solidFill>
                <a:latin typeface="Segoe UI"/>
              </a:rPr>
              <a:t>(permission)</a:t>
            </a:r>
          </a:p>
        </p:txBody>
      </p:sp>
      <p:sp>
        <p:nvSpPr>
          <p:cNvPr id="14" name="Rectangle 13">
            <a:extLst>
              <a:ext uri="{FF2B5EF4-FFF2-40B4-BE49-F238E27FC236}">
                <a16:creationId xmlns:a16="http://schemas.microsoft.com/office/drawing/2014/main" id="{CAF1E737-A025-646B-E1D2-2FDCC17E4BD0}"/>
              </a:ext>
            </a:extLst>
          </p:cNvPr>
          <p:cNvSpPr/>
          <p:nvPr/>
        </p:nvSpPr>
        <p:spPr>
          <a:xfrm>
            <a:off x="5438843"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Template</a:t>
            </a:r>
          </a:p>
        </p:txBody>
      </p:sp>
      <p:cxnSp>
        <p:nvCxnSpPr>
          <p:cNvPr id="15" name="Straight Connector 14">
            <a:extLst>
              <a:ext uri="{FF2B5EF4-FFF2-40B4-BE49-F238E27FC236}">
                <a16:creationId xmlns:a16="http://schemas.microsoft.com/office/drawing/2014/main" id="{40BB33BA-B03F-9320-17D7-F05B3766B37A}"/>
              </a:ext>
            </a:extLst>
          </p:cNvPr>
          <p:cNvCxnSpPr>
            <a:stCxn id="13" idx="3"/>
            <a:endCxn id="14" idx="1"/>
          </p:cNvCxnSpPr>
          <p:nvPr/>
        </p:nvCxnSpPr>
        <p:spPr>
          <a:xfrm>
            <a:off x="3351155" y="5874152"/>
            <a:ext cx="2087688" cy="0"/>
          </a:xfrm>
          <a:prstGeom prst="line">
            <a:avLst/>
          </a:prstGeom>
          <a:noFill/>
          <a:ln w="9525" cap="flat" cmpd="sng" algn="ctr">
            <a:solidFill>
              <a:srgbClr val="202B50">
                <a:shade val="95000"/>
                <a:satMod val="105000"/>
              </a:srgbClr>
            </a:solidFill>
            <a:prstDash val="solid"/>
          </a:ln>
          <a:effectLst/>
        </p:spPr>
      </p:cxnSp>
      <p:sp>
        <p:nvSpPr>
          <p:cNvPr id="16" name="TextBox 15">
            <a:extLst>
              <a:ext uri="{FF2B5EF4-FFF2-40B4-BE49-F238E27FC236}">
                <a16:creationId xmlns:a16="http://schemas.microsoft.com/office/drawing/2014/main" id="{7B3AAFBE-55E6-7165-C524-D53C89F1869D}"/>
              </a:ext>
            </a:extLst>
          </p:cNvPr>
          <p:cNvSpPr txBox="1"/>
          <p:nvPr/>
        </p:nvSpPr>
        <p:spPr>
          <a:xfrm>
            <a:off x="3351155" y="5426323"/>
            <a:ext cx="2375645"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17" name="Rectangle 16">
            <a:extLst>
              <a:ext uri="{FF2B5EF4-FFF2-40B4-BE49-F238E27FC236}">
                <a16:creationId xmlns:a16="http://schemas.microsoft.com/office/drawing/2014/main" id="{11A855E9-5463-D35A-F9B3-9506DDDF0ED5}"/>
              </a:ext>
            </a:extLst>
          </p:cNvPr>
          <p:cNvSpPr/>
          <p:nvPr/>
        </p:nvSpPr>
        <p:spPr>
          <a:xfrm>
            <a:off x="8390402" y="5426324"/>
            <a:ext cx="1727742" cy="895658"/>
          </a:xfrm>
          <a:prstGeom prst="rect">
            <a:avLst/>
          </a:prstGeom>
          <a:solidFill>
            <a:srgbClr val="202B50"/>
          </a:solidFill>
          <a:ln w="25400" cap="flat" cmpd="sng" algn="ctr">
            <a:solidFill>
              <a:srgbClr val="202B50">
                <a:shade val="50000"/>
              </a:srgbClr>
            </a:solidFill>
            <a:prstDash val="solid"/>
          </a:ln>
          <a:effectLst/>
        </p:spPr>
        <p:txBody>
          <a:bodyPr rtlCol="0" anchor="ctr"/>
          <a:lstStyle/>
          <a:p>
            <a:pPr algn="ctr">
              <a:defRPr/>
            </a:pPr>
            <a:r>
              <a:rPr lang="en-US" sz="2399" kern="0" dirty="0">
                <a:solidFill>
                  <a:prstClr val="white"/>
                </a:solidFill>
                <a:latin typeface="Segoe UI"/>
              </a:rPr>
              <a:t>Role Collection</a:t>
            </a:r>
          </a:p>
        </p:txBody>
      </p:sp>
      <p:cxnSp>
        <p:nvCxnSpPr>
          <p:cNvPr id="18" name="Straight Connector 17">
            <a:extLst>
              <a:ext uri="{FF2B5EF4-FFF2-40B4-BE49-F238E27FC236}">
                <a16:creationId xmlns:a16="http://schemas.microsoft.com/office/drawing/2014/main" id="{AD307554-17F7-7992-5053-6F85F367361B}"/>
              </a:ext>
            </a:extLst>
          </p:cNvPr>
          <p:cNvCxnSpPr>
            <a:stCxn id="14" idx="3"/>
            <a:endCxn id="17" idx="1"/>
          </p:cNvCxnSpPr>
          <p:nvPr/>
        </p:nvCxnSpPr>
        <p:spPr>
          <a:xfrm>
            <a:off x="7166585" y="5874152"/>
            <a:ext cx="1223817" cy="0"/>
          </a:xfrm>
          <a:prstGeom prst="line">
            <a:avLst/>
          </a:prstGeom>
          <a:noFill/>
          <a:ln w="9525" cap="flat" cmpd="sng" algn="ctr">
            <a:solidFill>
              <a:srgbClr val="202B50">
                <a:shade val="95000"/>
                <a:satMod val="105000"/>
              </a:srgbClr>
            </a:solidFill>
            <a:prstDash val="solid"/>
          </a:ln>
          <a:effectLst/>
        </p:spPr>
      </p:cxnSp>
      <p:sp>
        <p:nvSpPr>
          <p:cNvPr id="19" name="TextBox 18">
            <a:extLst>
              <a:ext uri="{FF2B5EF4-FFF2-40B4-BE49-F238E27FC236}">
                <a16:creationId xmlns:a16="http://schemas.microsoft.com/office/drawing/2014/main" id="{67E8CB7F-3920-0EEF-4648-0869E7E16F62}"/>
              </a:ext>
            </a:extLst>
          </p:cNvPr>
          <p:cNvSpPr txBox="1"/>
          <p:nvPr/>
        </p:nvSpPr>
        <p:spPr>
          <a:xfrm>
            <a:off x="7166585" y="5426323"/>
            <a:ext cx="1295806" cy="461417"/>
          </a:xfrm>
          <a:prstGeom prst="rect">
            <a:avLst/>
          </a:prstGeom>
          <a:noFill/>
        </p:spPr>
        <p:txBody>
          <a:bodyPr wrap="square" rtlCol="0">
            <a:spAutoFit/>
          </a:bodyPr>
          <a:lstStyle/>
          <a:p>
            <a:pPr>
              <a:defRPr/>
            </a:pPr>
            <a:r>
              <a:rPr lang="en-US" sz="2399" kern="0" dirty="0">
                <a:solidFill>
                  <a:prstClr val="white"/>
                </a:solidFill>
                <a:latin typeface="Segoe UI"/>
              </a:rPr>
              <a:t>*         *</a:t>
            </a:r>
          </a:p>
        </p:txBody>
      </p:sp>
      <p:sp>
        <p:nvSpPr>
          <p:cNvPr id="20" name="Smiley Face 19">
            <a:extLst>
              <a:ext uri="{FF2B5EF4-FFF2-40B4-BE49-F238E27FC236}">
                <a16:creationId xmlns:a16="http://schemas.microsoft.com/office/drawing/2014/main" id="{DC9EB602-77FC-D2F5-43BC-C520B7ED05D9}"/>
              </a:ext>
            </a:extLst>
          </p:cNvPr>
          <p:cNvSpPr/>
          <p:nvPr/>
        </p:nvSpPr>
        <p:spPr>
          <a:xfrm>
            <a:off x="11054004" y="5334014"/>
            <a:ext cx="719892" cy="646163"/>
          </a:xfrm>
          <a:prstGeom prst="smileyFace">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ysClr val="windowText" lastClr="000000">
                <a:lumMod val="95000"/>
                <a:lumOff val="5000"/>
              </a:sysClr>
            </a:solidFill>
            <a:prstDash val="solid"/>
          </a:ln>
          <a:effectLst>
            <a:outerShdw blurRad="40000" dist="20000" dir="5400000" rotWithShape="0">
              <a:srgbClr val="000000">
                <a:alpha val="38000"/>
              </a:srgbClr>
            </a:outerShdw>
          </a:effectLst>
        </p:spPr>
        <p:txBody>
          <a:bodyPr rtlCol="0" anchor="ctr"/>
          <a:lstStyle/>
          <a:p>
            <a:pPr algn="ctr">
              <a:defRPr/>
            </a:pPr>
            <a:endParaRPr lang="en-US" sz="2399" b="1" kern="0" dirty="0">
              <a:solidFill>
                <a:prstClr val="white"/>
              </a:solidFill>
              <a:latin typeface="Segoe UI"/>
            </a:endParaRPr>
          </a:p>
        </p:txBody>
      </p:sp>
      <p:cxnSp>
        <p:nvCxnSpPr>
          <p:cNvPr id="21" name="Connector: Elbow 20">
            <a:extLst>
              <a:ext uri="{FF2B5EF4-FFF2-40B4-BE49-F238E27FC236}">
                <a16:creationId xmlns:a16="http://schemas.microsoft.com/office/drawing/2014/main" id="{39FB7B0B-43C4-53CC-F7CB-9A6A0904A3A3}"/>
              </a:ext>
            </a:extLst>
          </p:cNvPr>
          <p:cNvCxnSpPr>
            <a:stCxn id="17" idx="3"/>
            <a:endCxn id="20" idx="4"/>
          </p:cNvCxnSpPr>
          <p:nvPr/>
        </p:nvCxnSpPr>
        <p:spPr>
          <a:xfrm>
            <a:off x="10118144" y="5874154"/>
            <a:ext cx="1295806" cy="106023"/>
          </a:xfrm>
          <a:prstGeom prst="bentConnector4">
            <a:avLst>
              <a:gd name="adj1" fmla="val 36111"/>
              <a:gd name="adj2" fmla="val 315557"/>
            </a:avLst>
          </a:prstGeom>
          <a:noFill/>
          <a:ln w="9525" cap="flat" cmpd="sng" algn="ctr">
            <a:solidFill>
              <a:srgbClr val="202B50">
                <a:shade val="95000"/>
                <a:satMod val="105000"/>
              </a:srgbClr>
            </a:solidFill>
            <a:prstDash val="solid"/>
            <a:tailEnd type="triangle"/>
          </a:ln>
          <a:effectLst/>
        </p:spPr>
      </p:cxnSp>
    </p:spTree>
    <p:extLst>
      <p:ext uri="{BB962C8B-B14F-4D97-AF65-F5344CB8AC3E}">
        <p14:creationId xmlns:p14="http://schemas.microsoft.com/office/powerpoint/2010/main" val="308907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defTabSz="1218621"/>
            <a:fld id="{96E69268-9C8B-4EBF-A9EE-DC5DC2D48DC3}" type="slidenum">
              <a:rPr lang="en-US">
                <a:solidFill>
                  <a:prstClr val="white"/>
                </a:solidFill>
                <a:latin typeface="Segoe UI"/>
              </a:rPr>
              <a:pPr defTabSz="1218621"/>
              <a:t>14</a:t>
            </a:fld>
            <a:endParaRPr lang="en-US" dirty="0">
              <a:solidFill>
                <a:prstClr val="white"/>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defTabSz="1218621"/>
            <a:r>
              <a:rPr lang="en-US" sz="1600" dirty="0">
                <a:solidFill>
                  <a:prstClr val="white"/>
                </a:solidFill>
                <a:latin typeface="Segoe UI"/>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lang="en-IN" sz="1600" dirty="0">
              <a:solidFill>
                <a:prstClr val="white"/>
              </a:solidFill>
              <a:latin typeface="Segoe UI"/>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indent="-342797" defTabSz="1218621">
              <a:buFont typeface="Arial" panose="020B0604020202020204" pitchFamily="34" charset="0"/>
              <a:buChar char="•"/>
            </a:pPr>
            <a:r>
              <a:rPr lang="en-US" sz="1600" dirty="0">
                <a:solidFill>
                  <a:prstClr val="white"/>
                </a:solidFill>
                <a:latin typeface="Segoe UI"/>
              </a:rPr>
              <a:t>User/email/password</a:t>
            </a:r>
          </a:p>
          <a:p>
            <a:pPr marL="342797" indent="-342797" defTabSz="1218621">
              <a:buFont typeface="Arial" panose="020B0604020202020204" pitchFamily="34" charset="0"/>
              <a:buChar char="•"/>
            </a:pPr>
            <a:r>
              <a:rPr lang="en-US" sz="1600" dirty="0">
                <a:solidFill>
                  <a:prstClr val="white"/>
                </a:solidFill>
                <a:latin typeface="Segoe UI"/>
              </a:rPr>
              <a:t>Single source of truth</a:t>
            </a:r>
          </a:p>
          <a:p>
            <a:pPr marL="342797" indent="-342797" defTabSz="1218621">
              <a:buFont typeface="Arial" panose="020B0604020202020204" pitchFamily="34" charset="0"/>
              <a:buChar char="•"/>
            </a:pPr>
            <a:r>
              <a:rPr lang="en-US" sz="1600" dirty="0">
                <a:solidFill>
                  <a:prstClr val="white"/>
                </a:solidFill>
                <a:latin typeface="Segoe UI"/>
              </a:rPr>
              <a:t>Trust relation</a:t>
            </a:r>
          </a:p>
          <a:p>
            <a:pPr marL="342797" indent="-342797" defTabSz="1218621">
              <a:buFont typeface="Arial" panose="020B0604020202020204" pitchFamily="34" charset="0"/>
              <a:buChar char="•"/>
            </a:pPr>
            <a:r>
              <a:rPr lang="en-US" sz="1600" dirty="0">
                <a:solidFill>
                  <a:prstClr val="white"/>
                </a:solidFill>
                <a:latin typeface="Segoe UI"/>
              </a:rPr>
              <a:t>Scope- clerk, manager, </a:t>
            </a:r>
            <a:r>
              <a:rPr lang="en-US" sz="1600" dirty="0" err="1">
                <a:solidFill>
                  <a:prstClr val="white"/>
                </a:solidFill>
                <a:latin typeface="Segoe UI"/>
              </a:rPr>
              <a:t>ceo</a:t>
            </a:r>
            <a:endParaRPr lang="en-US" sz="1600" dirty="0">
              <a:solidFill>
                <a:prstClr val="white"/>
              </a:solidFill>
              <a:latin typeface="Segoe UI"/>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xsuaa</a:t>
            </a:r>
            <a:endParaRPr lang="en-US" sz="2399" dirty="0">
              <a:solidFill>
                <a:prstClr val="white"/>
              </a:solidFill>
              <a:latin typeface="Segoe UI"/>
            </a:endParaRPr>
          </a:p>
        </p:txBody>
      </p:sp>
      <p:cxnSp>
        <p:nvCxnSpPr>
          <p:cNvPr id="32" name="Straight Arrow Connector 31">
            <a:extLst>
              <a:ext uri="{FF2B5EF4-FFF2-40B4-BE49-F238E27FC236}">
                <a16:creationId xmlns:a16="http://schemas.microsoft.com/office/drawing/2014/main" id="{056403A1-F029-1521-C4A5-66552EAC5E74}"/>
              </a:ext>
            </a:extLst>
          </p:cNvPr>
          <p:cNvCxnSpPr>
            <a:cxnSpLocks/>
            <a:stCxn id="31" idx="2"/>
            <a:endCxn id="29" idx="0"/>
          </p:cNvCxnSpPr>
          <p:nvPr/>
        </p:nvCxnSpPr>
        <p:spPr>
          <a:xfrm flipH="1">
            <a:off x="4438659" y="5661105"/>
            <a:ext cx="1439785" cy="438793"/>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GSuite</a:t>
            </a:r>
            <a:endParaRPr lang="en-US" sz="2399" dirty="0">
              <a:solidFill>
                <a:prstClr val="white"/>
              </a:solidFill>
              <a:latin typeface="Segoe UI"/>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spTree>
    <p:extLst>
      <p:ext uri="{BB962C8B-B14F-4D97-AF65-F5344CB8AC3E}">
        <p14:creationId xmlns:p14="http://schemas.microsoft.com/office/powerpoint/2010/main" val="34121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How it works behind scenes</a:t>
            </a:r>
            <a:endParaRPr lang="en-IN" dirty="0"/>
          </a:p>
        </p:txBody>
      </p:sp>
      <p:pic>
        <p:nvPicPr>
          <p:cNvPr id="4" name="Picture 3" descr="Icon&#10;&#10;Description automatically generated">
            <a:extLst>
              <a:ext uri="{FF2B5EF4-FFF2-40B4-BE49-F238E27FC236}">
                <a16:creationId xmlns:a16="http://schemas.microsoft.com/office/drawing/2014/main" id="{814846B4-B965-238F-DDE0-4674D196BA3B}"/>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306857" y="773693"/>
            <a:ext cx="982807" cy="991115"/>
          </a:xfrm>
          <a:prstGeom prst="rect">
            <a:avLst/>
          </a:prstGeom>
          <a:ln>
            <a:solidFill>
              <a:schemeClr val="bg1"/>
            </a:solidFill>
          </a:ln>
        </p:spPr>
      </p:pic>
      <p:sp>
        <p:nvSpPr>
          <p:cNvPr id="5" name="Rectangle 4">
            <a:extLst>
              <a:ext uri="{FF2B5EF4-FFF2-40B4-BE49-F238E27FC236}">
                <a16:creationId xmlns:a16="http://schemas.microsoft.com/office/drawing/2014/main" id="{AB771F5C-5323-B558-B82A-B5BD808B9CD2}"/>
              </a:ext>
            </a:extLst>
          </p:cNvPr>
          <p:cNvSpPr/>
          <p:nvPr/>
        </p:nvSpPr>
        <p:spPr>
          <a:xfrm>
            <a:off x="4536797" y="1917179"/>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App</a:t>
            </a:r>
          </a:p>
        </p:txBody>
      </p:sp>
      <p:cxnSp>
        <p:nvCxnSpPr>
          <p:cNvPr id="6" name="Straight Arrow Connector 5">
            <a:extLst>
              <a:ext uri="{FF2B5EF4-FFF2-40B4-BE49-F238E27FC236}">
                <a16:creationId xmlns:a16="http://schemas.microsoft.com/office/drawing/2014/main" id="{FC337487-243A-994B-4FAA-77EE83073B1D}"/>
              </a:ext>
            </a:extLst>
          </p:cNvPr>
          <p:cNvCxnSpPr>
            <a:cxnSpLocks/>
            <a:endCxn id="5" idx="1"/>
          </p:cNvCxnSpPr>
          <p:nvPr/>
        </p:nvCxnSpPr>
        <p:spPr>
          <a:xfrm>
            <a:off x="1415112" y="2349114"/>
            <a:ext cx="312168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1E2EEC2-0FD1-4EF2-2CEF-862F70DDF4F5}"/>
              </a:ext>
            </a:extLst>
          </p:cNvPr>
          <p:cNvSpPr/>
          <p:nvPr/>
        </p:nvSpPr>
        <p:spPr>
          <a:xfrm>
            <a:off x="6382444" y="2699961"/>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2399" dirty="0" err="1">
                <a:solidFill>
                  <a:prstClr val="white"/>
                </a:solidFill>
                <a:latin typeface="Segoe UI"/>
              </a:rPr>
              <a:t>ourxsuaa</a:t>
            </a:r>
            <a:endParaRPr lang="en-US" sz="2399" dirty="0">
              <a:solidFill>
                <a:prstClr val="white"/>
              </a:solidFill>
              <a:latin typeface="Segoe UI"/>
            </a:endParaRPr>
          </a:p>
        </p:txBody>
      </p:sp>
      <p:sp>
        <p:nvSpPr>
          <p:cNvPr id="8" name="Rectangle 7">
            <a:extLst>
              <a:ext uri="{FF2B5EF4-FFF2-40B4-BE49-F238E27FC236}">
                <a16:creationId xmlns:a16="http://schemas.microsoft.com/office/drawing/2014/main" id="{79496F2E-B052-6CF3-F4F6-A3F880430DE7}"/>
              </a:ext>
            </a:extLst>
          </p:cNvPr>
          <p:cNvSpPr/>
          <p:nvPr/>
        </p:nvSpPr>
        <p:spPr>
          <a:xfrm>
            <a:off x="4766365" y="1648114"/>
            <a:ext cx="1511774" cy="431935"/>
          </a:xfrm>
          <a:prstGeom prst="rect">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1218621"/>
            <a:r>
              <a:rPr lang="en-US" sz="1100" dirty="0">
                <a:solidFill>
                  <a:prstClr val="white"/>
                </a:solidFill>
                <a:latin typeface="Segoe UI"/>
              </a:rPr>
              <a:t>code</a:t>
            </a:r>
          </a:p>
        </p:txBody>
      </p:sp>
      <p:cxnSp>
        <p:nvCxnSpPr>
          <p:cNvPr id="9" name="Straight Arrow Connector 8">
            <a:extLst>
              <a:ext uri="{FF2B5EF4-FFF2-40B4-BE49-F238E27FC236}">
                <a16:creationId xmlns:a16="http://schemas.microsoft.com/office/drawing/2014/main" id="{C1E86AEA-54EF-33A3-5854-9BC5C342905A}"/>
              </a:ext>
            </a:extLst>
          </p:cNvPr>
          <p:cNvCxnSpPr>
            <a:cxnSpLocks/>
          </p:cNvCxnSpPr>
          <p:nvPr/>
        </p:nvCxnSpPr>
        <p:spPr>
          <a:xfrm flipH="1">
            <a:off x="1289663" y="2603549"/>
            <a:ext cx="324713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DD80DE9-A6FA-9AF2-B628-38DF7869A775}"/>
              </a:ext>
            </a:extLst>
          </p:cNvPr>
          <p:cNvSpPr/>
          <p:nvPr/>
        </p:nvSpPr>
        <p:spPr>
          <a:xfrm>
            <a:off x="191294" y="2061206"/>
            <a:ext cx="1151828"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Browser</a:t>
            </a:r>
          </a:p>
          <a:p>
            <a:pPr algn="ctr" defTabSz="1218621"/>
            <a:r>
              <a:rPr lang="en-US" sz="1800" dirty="0">
                <a:solidFill>
                  <a:prstClr val="white"/>
                </a:solidFill>
                <a:latin typeface="Segoe UI"/>
              </a:rPr>
              <a:t>postman</a:t>
            </a:r>
          </a:p>
        </p:txBody>
      </p:sp>
      <p:cxnSp>
        <p:nvCxnSpPr>
          <p:cNvPr id="11" name="Straight Arrow Connector 10">
            <a:extLst>
              <a:ext uri="{FF2B5EF4-FFF2-40B4-BE49-F238E27FC236}">
                <a16:creationId xmlns:a16="http://schemas.microsoft.com/office/drawing/2014/main" id="{571200EF-86F1-DED3-88FA-2AE359C65A33}"/>
              </a:ext>
            </a:extLst>
          </p:cNvPr>
          <p:cNvCxnSpPr>
            <a:cxnSpLocks/>
            <a:stCxn id="10" idx="2"/>
          </p:cNvCxnSpPr>
          <p:nvPr/>
        </p:nvCxnSpPr>
        <p:spPr>
          <a:xfrm>
            <a:off x="767209" y="2781052"/>
            <a:ext cx="3769589" cy="14647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44D77AC-6B43-B0F9-C898-A96C51C6F15E}"/>
              </a:ext>
            </a:extLst>
          </p:cNvPr>
          <p:cNvSpPr/>
          <p:nvPr/>
        </p:nvSpPr>
        <p:spPr>
          <a:xfrm>
            <a:off x="4536797" y="4051173"/>
            <a:ext cx="2015699" cy="863871"/>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13" name="Straight Arrow Connector 12">
            <a:extLst>
              <a:ext uri="{FF2B5EF4-FFF2-40B4-BE49-F238E27FC236}">
                <a16:creationId xmlns:a16="http://schemas.microsoft.com/office/drawing/2014/main" id="{40E1B0E9-F615-7826-1EFF-CC76DA4E6B5A}"/>
              </a:ext>
            </a:extLst>
          </p:cNvPr>
          <p:cNvCxnSpPr>
            <a:cxnSpLocks/>
            <a:stCxn id="12" idx="1"/>
          </p:cNvCxnSpPr>
          <p:nvPr/>
        </p:nvCxnSpPr>
        <p:spPr>
          <a:xfrm flipH="1" flipV="1">
            <a:off x="479252" y="2853088"/>
            <a:ext cx="4057546" cy="163002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744B89-AE01-1AFE-2D0C-7B80EAD834E7}"/>
              </a:ext>
            </a:extLst>
          </p:cNvPr>
          <p:cNvCxnSpPr/>
          <p:nvPr/>
        </p:nvCxnSpPr>
        <p:spPr>
          <a:xfrm>
            <a:off x="191294"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A7D5A2F-2282-43D3-91D7-A4E86F116D4C}"/>
              </a:ext>
            </a:extLst>
          </p:cNvPr>
          <p:cNvSpPr/>
          <p:nvPr/>
        </p:nvSpPr>
        <p:spPr>
          <a:xfrm>
            <a:off x="119304" y="5444701"/>
            <a:ext cx="1655753" cy="71984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IdP</a:t>
            </a:r>
          </a:p>
        </p:txBody>
      </p:sp>
      <p:pic>
        <p:nvPicPr>
          <p:cNvPr id="16" name="Picture 15">
            <a:extLst>
              <a:ext uri="{FF2B5EF4-FFF2-40B4-BE49-F238E27FC236}">
                <a16:creationId xmlns:a16="http://schemas.microsoft.com/office/drawing/2014/main" id="{E6BA8F46-8075-2E91-8004-686B5EF95376}"/>
              </a:ext>
            </a:extLst>
          </p:cNvPr>
          <p:cNvPicPr>
            <a:picLocks noChangeAspect="1"/>
          </p:cNvPicPr>
          <p:nvPr/>
        </p:nvPicPr>
        <p:blipFill>
          <a:blip r:embed="rId4"/>
          <a:stretch>
            <a:fillRect/>
          </a:stretch>
        </p:blipFill>
        <p:spPr>
          <a:xfrm>
            <a:off x="5950433" y="5114448"/>
            <a:ext cx="2015699" cy="1361082"/>
          </a:xfrm>
          <a:prstGeom prst="rect">
            <a:avLst/>
          </a:prstGeom>
          <a:ln>
            <a:solidFill>
              <a:schemeClr val="bg1"/>
            </a:solidFill>
          </a:ln>
        </p:spPr>
      </p:pic>
      <p:pic>
        <p:nvPicPr>
          <p:cNvPr id="17" name="Picture 16">
            <a:extLst>
              <a:ext uri="{FF2B5EF4-FFF2-40B4-BE49-F238E27FC236}">
                <a16:creationId xmlns:a16="http://schemas.microsoft.com/office/drawing/2014/main" id="{F06141F9-53BD-36FF-9942-866DDB500278}"/>
              </a:ext>
            </a:extLst>
          </p:cNvPr>
          <p:cNvPicPr>
            <a:picLocks noChangeAspect="1"/>
          </p:cNvPicPr>
          <p:nvPr/>
        </p:nvPicPr>
        <p:blipFill>
          <a:blip r:embed="rId5"/>
          <a:stretch>
            <a:fillRect/>
          </a:stretch>
        </p:blipFill>
        <p:spPr>
          <a:xfrm>
            <a:off x="8057337" y="5075713"/>
            <a:ext cx="2428420" cy="1390183"/>
          </a:xfrm>
          <a:prstGeom prst="rect">
            <a:avLst/>
          </a:prstGeom>
          <a:ln>
            <a:solidFill>
              <a:schemeClr val="bg1"/>
            </a:solidFill>
          </a:ln>
        </p:spPr>
      </p:pic>
      <p:cxnSp>
        <p:nvCxnSpPr>
          <p:cNvPr id="18" name="Straight Arrow Connector 17">
            <a:extLst>
              <a:ext uri="{FF2B5EF4-FFF2-40B4-BE49-F238E27FC236}">
                <a16:creationId xmlns:a16="http://schemas.microsoft.com/office/drawing/2014/main" id="{B3A99372-D1C6-AE14-51F0-4C81FB668B99}"/>
              </a:ext>
            </a:extLst>
          </p:cNvPr>
          <p:cNvCxnSpPr/>
          <p:nvPr/>
        </p:nvCxnSpPr>
        <p:spPr>
          <a:xfrm flipV="1">
            <a:off x="479251" y="2806829"/>
            <a:ext cx="0" cy="26378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19FBE10-64FE-EB83-3880-2BD272348A3D}"/>
              </a:ext>
            </a:extLst>
          </p:cNvPr>
          <p:cNvSpPr txBox="1"/>
          <p:nvPr/>
        </p:nvSpPr>
        <p:spPr>
          <a:xfrm>
            <a:off x="623229" y="4652819"/>
            <a:ext cx="1799731" cy="471262"/>
          </a:xfrm>
          <a:prstGeom prst="rect">
            <a:avLst/>
          </a:prstGeom>
          <a:noFill/>
          <a:ln>
            <a:noFill/>
          </a:ln>
        </p:spPr>
        <p:txBody>
          <a:bodyPr wrap="square" rtlCol="0">
            <a:spAutoFit/>
          </a:bodyPr>
          <a:lstStyle/>
          <a:p>
            <a:pPr defTabSz="1218621"/>
            <a:r>
              <a:rPr lang="en-US" sz="2399" b="1" dirty="0">
                <a:solidFill>
                  <a:prstClr val="white"/>
                </a:solidFill>
                <a:latin typeface="Segoe UI"/>
              </a:rPr>
              <a:t>SAML</a:t>
            </a:r>
          </a:p>
        </p:txBody>
      </p:sp>
      <p:cxnSp>
        <p:nvCxnSpPr>
          <p:cNvPr id="20" name="Straight Arrow Connector 19">
            <a:extLst>
              <a:ext uri="{FF2B5EF4-FFF2-40B4-BE49-F238E27FC236}">
                <a16:creationId xmlns:a16="http://schemas.microsoft.com/office/drawing/2014/main" id="{D9AF08C7-9B1E-5055-6265-B06EBF10AFCB}"/>
              </a:ext>
            </a:extLst>
          </p:cNvPr>
          <p:cNvCxnSpPr/>
          <p:nvPr/>
        </p:nvCxnSpPr>
        <p:spPr>
          <a:xfrm flipH="1">
            <a:off x="1775058" y="4854133"/>
            <a:ext cx="2761740" cy="590566"/>
          </a:xfrm>
          <a:prstGeom prst="straightConnector1">
            <a:avLst/>
          </a:prstGeom>
          <a:ln>
            <a:solidFill>
              <a:schemeClr val="bg1"/>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68CCD73E-4261-3A94-70B7-1A81CE4325B8}"/>
              </a:ext>
            </a:extLst>
          </p:cNvPr>
          <p:cNvSpPr txBox="1"/>
          <p:nvPr/>
        </p:nvSpPr>
        <p:spPr>
          <a:xfrm>
            <a:off x="2422960" y="4915045"/>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0" name="TextBox 39">
            <a:extLst>
              <a:ext uri="{FF2B5EF4-FFF2-40B4-BE49-F238E27FC236}">
                <a16:creationId xmlns:a16="http://schemas.microsoft.com/office/drawing/2014/main" id="{61E0A965-EFB8-7809-B73B-AB5E04FB25C2}"/>
              </a:ext>
            </a:extLst>
          </p:cNvPr>
          <p:cNvSpPr txBox="1"/>
          <p:nvPr/>
        </p:nvSpPr>
        <p:spPr>
          <a:xfrm>
            <a:off x="6614252" y="4145382"/>
            <a:ext cx="1243510" cy="461545"/>
          </a:xfrm>
          <a:prstGeom prst="rect">
            <a:avLst/>
          </a:prstGeom>
          <a:noFill/>
          <a:ln>
            <a:noFill/>
          </a:ln>
        </p:spPr>
        <p:txBody>
          <a:bodyPr wrap="square" rtlCol="0">
            <a:spAutoFit/>
          </a:bodyPr>
          <a:lstStyle/>
          <a:p>
            <a:pPr defTabSz="1218621"/>
            <a:r>
              <a:rPr lang="en-US" sz="2399" b="1" dirty="0">
                <a:solidFill>
                  <a:prstClr val="white"/>
                </a:solidFill>
                <a:latin typeface="Segoe UI"/>
              </a:rPr>
              <a:t>Scope</a:t>
            </a:r>
          </a:p>
        </p:txBody>
      </p:sp>
      <p:sp>
        <p:nvSpPr>
          <p:cNvPr id="41" name="TextBox 40">
            <a:extLst>
              <a:ext uri="{FF2B5EF4-FFF2-40B4-BE49-F238E27FC236}">
                <a16:creationId xmlns:a16="http://schemas.microsoft.com/office/drawing/2014/main" id="{E0CF7A11-09D3-9A03-994C-9B5415A0635B}"/>
              </a:ext>
            </a:extLst>
          </p:cNvPr>
          <p:cNvSpPr txBox="1"/>
          <p:nvPr/>
        </p:nvSpPr>
        <p:spPr>
          <a:xfrm>
            <a:off x="1598314" y="3429001"/>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sp>
        <p:nvSpPr>
          <p:cNvPr id="42" name="TextBox 41">
            <a:extLst>
              <a:ext uri="{FF2B5EF4-FFF2-40B4-BE49-F238E27FC236}">
                <a16:creationId xmlns:a16="http://schemas.microsoft.com/office/drawing/2014/main" id="{15874FC5-7E19-DFA2-286C-82B3AB00B89A}"/>
              </a:ext>
            </a:extLst>
          </p:cNvPr>
          <p:cNvSpPr txBox="1"/>
          <p:nvPr/>
        </p:nvSpPr>
        <p:spPr>
          <a:xfrm>
            <a:off x="2356928" y="1870833"/>
            <a:ext cx="1112605" cy="461545"/>
          </a:xfrm>
          <a:prstGeom prst="rect">
            <a:avLst/>
          </a:prstGeom>
          <a:noFill/>
          <a:ln>
            <a:noFill/>
          </a:ln>
        </p:spPr>
        <p:txBody>
          <a:bodyPr wrap="square" rtlCol="0">
            <a:spAutoFit/>
          </a:bodyPr>
          <a:lstStyle/>
          <a:p>
            <a:pPr defTabSz="1218621"/>
            <a:r>
              <a:rPr lang="en-US" sz="2399" b="1" dirty="0">
                <a:solidFill>
                  <a:prstClr val="white"/>
                </a:solidFill>
                <a:latin typeface="Segoe UI"/>
              </a:rPr>
              <a:t>JWT</a:t>
            </a:r>
          </a:p>
        </p:txBody>
      </p:sp>
      <p:cxnSp>
        <p:nvCxnSpPr>
          <p:cNvPr id="43" name="Connector: Elbow 42">
            <a:extLst>
              <a:ext uri="{FF2B5EF4-FFF2-40B4-BE49-F238E27FC236}">
                <a16:creationId xmlns:a16="http://schemas.microsoft.com/office/drawing/2014/main" id="{1D0116CF-EE39-A7C8-9798-757DF33C7C88}"/>
              </a:ext>
            </a:extLst>
          </p:cNvPr>
          <p:cNvCxnSpPr>
            <a:cxnSpLocks/>
            <a:stCxn id="7" idx="2"/>
            <a:endCxn id="12" idx="0"/>
          </p:cNvCxnSpPr>
          <p:nvPr/>
        </p:nvCxnSpPr>
        <p:spPr>
          <a:xfrm rot="5400000">
            <a:off x="5881851" y="2794692"/>
            <a:ext cx="919277" cy="1593684"/>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76D3AC8-122B-01F5-F952-46EB61FF54A8}"/>
              </a:ext>
            </a:extLst>
          </p:cNvPr>
          <p:cNvSpPr txBox="1"/>
          <p:nvPr/>
        </p:nvSpPr>
        <p:spPr>
          <a:xfrm>
            <a:off x="6342839" y="3246283"/>
            <a:ext cx="1079839" cy="461545"/>
          </a:xfrm>
          <a:prstGeom prst="rect">
            <a:avLst/>
          </a:prstGeom>
          <a:noFill/>
          <a:ln>
            <a:noFill/>
          </a:ln>
        </p:spPr>
        <p:txBody>
          <a:bodyPr wrap="square" rtlCol="0">
            <a:spAutoFit/>
          </a:bodyPr>
          <a:lstStyle/>
          <a:p>
            <a:pPr defTabSz="1218621"/>
            <a:r>
              <a:rPr lang="en-US" sz="2399" b="1" dirty="0">
                <a:solidFill>
                  <a:prstClr val="white"/>
                </a:solidFill>
                <a:latin typeface="Segoe UI"/>
              </a:rPr>
              <a:t>trust</a:t>
            </a:r>
          </a:p>
        </p:txBody>
      </p:sp>
      <p:sp>
        <p:nvSpPr>
          <p:cNvPr id="45" name="TextBox 44">
            <a:extLst>
              <a:ext uri="{FF2B5EF4-FFF2-40B4-BE49-F238E27FC236}">
                <a16:creationId xmlns:a16="http://schemas.microsoft.com/office/drawing/2014/main" id="{B0AEC2F2-77E4-4A70-FC14-BFC5C17C8189}"/>
              </a:ext>
            </a:extLst>
          </p:cNvPr>
          <p:cNvSpPr txBox="1"/>
          <p:nvPr/>
        </p:nvSpPr>
        <p:spPr>
          <a:xfrm>
            <a:off x="6614251" y="969725"/>
            <a:ext cx="5383280" cy="1568739"/>
          </a:xfrm>
          <a:prstGeom prst="rect">
            <a:avLst/>
          </a:prstGeom>
          <a:noFill/>
          <a:ln>
            <a:solidFill>
              <a:schemeClr val="bg1"/>
            </a:solidFill>
          </a:ln>
        </p:spPr>
        <p:txBody>
          <a:bodyPr wrap="square" rtlCol="0">
            <a:spAutoFit/>
          </a:bodyPr>
          <a:lstStyle/>
          <a:p>
            <a:pPr defTabSz="1218621"/>
            <a:r>
              <a:rPr lang="en-US" sz="2399" dirty="0" err="1">
                <a:solidFill>
                  <a:prstClr val="white"/>
                </a:solidFill>
                <a:latin typeface="Segoe UI"/>
              </a:rPr>
              <a:t>xs-security.json</a:t>
            </a:r>
            <a:r>
              <a:rPr lang="en-US" sz="2399" dirty="0">
                <a:solidFill>
                  <a:prstClr val="white"/>
                </a:solidFill>
                <a:latin typeface="Segoe UI"/>
              </a:rPr>
              <a:t> contains information which we need to register to define what are all permissions required in our app</a:t>
            </a:r>
          </a:p>
        </p:txBody>
      </p:sp>
      <p:pic>
        <p:nvPicPr>
          <p:cNvPr id="46" name="Picture 45" descr="Icon&#10;&#10;Description automatically generated">
            <a:extLst>
              <a:ext uri="{FF2B5EF4-FFF2-40B4-BE49-F238E27FC236}">
                <a16:creationId xmlns:a16="http://schemas.microsoft.com/office/drawing/2014/main" id="{C5D15A3F-1701-C50C-9063-827697F8AEE5}"/>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386852" y="5607186"/>
            <a:ext cx="666351" cy="666351"/>
          </a:xfrm>
          <a:prstGeom prst="rect">
            <a:avLst/>
          </a:prstGeom>
          <a:ln>
            <a:solidFill>
              <a:schemeClr val="bg1"/>
            </a:solidFill>
          </a:ln>
        </p:spPr>
      </p:pic>
      <mc:AlternateContent xmlns:mc="http://schemas.openxmlformats.org/markup-compatibility/2006" xmlns:p14="http://schemas.microsoft.com/office/powerpoint/2010/main">
        <mc:Choice Requires="p14">
          <p:contentPart p14:bwMode="auto" r:id="rId8">
            <p14:nvContentPartPr>
              <p14:cNvPr id="29" name="Ink 28">
                <a:extLst>
                  <a:ext uri="{FF2B5EF4-FFF2-40B4-BE49-F238E27FC236}">
                    <a16:creationId xmlns:a16="http://schemas.microsoft.com/office/drawing/2014/main" id="{80C3F50C-0F81-5543-8B72-884B7F88A756}"/>
                  </a:ext>
                </a:extLst>
              </p14:cNvPr>
              <p14:cNvContentPartPr/>
              <p14:nvPr/>
            </p14:nvContentPartPr>
            <p14:xfrm>
              <a:off x="7033478" y="3106223"/>
              <a:ext cx="484560" cy="13320"/>
            </p14:xfrm>
          </p:contentPart>
        </mc:Choice>
        <mc:Fallback xmlns="">
          <p:pic>
            <p:nvPicPr>
              <p:cNvPr id="29" name="Ink 28">
                <a:extLst>
                  <a:ext uri="{FF2B5EF4-FFF2-40B4-BE49-F238E27FC236}">
                    <a16:creationId xmlns:a16="http://schemas.microsoft.com/office/drawing/2014/main" id="{80C3F50C-0F81-5543-8B72-884B7F88A756}"/>
                  </a:ext>
                </a:extLst>
              </p:cNvPr>
              <p:cNvPicPr/>
              <p:nvPr/>
            </p:nvPicPr>
            <p:blipFill>
              <a:blip r:embed="rId85"/>
              <a:stretch>
                <a:fillRect/>
              </a:stretch>
            </p:blipFill>
            <p:spPr>
              <a:xfrm>
                <a:off x="7024478" y="3097583"/>
                <a:ext cx="502200" cy="30960"/>
              </a:xfrm>
              <a:prstGeom prst="rect">
                <a:avLst/>
              </a:prstGeom>
            </p:spPr>
          </p:pic>
        </mc:Fallback>
      </mc:AlternateContent>
    </p:spTree>
    <p:extLst>
      <p:ext uri="{BB962C8B-B14F-4D97-AF65-F5344CB8AC3E}">
        <p14:creationId xmlns:p14="http://schemas.microsoft.com/office/powerpoint/2010/main" val="471212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Hands-on Add Security and Test Microservice</a:t>
            </a:r>
          </a:p>
        </p:txBody>
      </p:sp>
      <p:pic>
        <p:nvPicPr>
          <p:cNvPr id="1026" name="Picture 2" descr="Page 34 | Identity Access Management Images - Free Download on Freepik">
            <a:extLst>
              <a:ext uri="{FF2B5EF4-FFF2-40B4-BE49-F238E27FC236}">
                <a16:creationId xmlns:a16="http://schemas.microsoft.com/office/drawing/2014/main" id="{BB81E557-BBEB-08A0-6A2C-2FE38C6F6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8148" y="2132856"/>
            <a:ext cx="3428107" cy="342810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CFC04D6-78E0-8064-4A47-0E7C46BB694F}"/>
              </a:ext>
            </a:extLst>
          </p:cNvPr>
          <p:cNvSpPr txBox="1"/>
          <p:nvPr/>
        </p:nvSpPr>
        <p:spPr>
          <a:xfrm>
            <a:off x="189756" y="908720"/>
            <a:ext cx="6048672" cy="461665"/>
          </a:xfrm>
          <a:prstGeom prst="rect">
            <a:avLst/>
          </a:prstGeom>
          <a:noFill/>
        </p:spPr>
        <p:txBody>
          <a:bodyPr wrap="square" rtlCol="0">
            <a:spAutoFit/>
          </a:bodyPr>
          <a:lstStyle/>
          <a:p>
            <a:r>
              <a:rPr lang="en-US" dirty="0" err="1">
                <a:solidFill>
                  <a:schemeClr val="bg1"/>
                </a:solidFill>
              </a:rPr>
              <a:t>cds</a:t>
            </a:r>
            <a:r>
              <a:rPr lang="en-US" dirty="0">
                <a:solidFill>
                  <a:schemeClr val="bg1"/>
                </a:solidFill>
              </a:rPr>
              <a:t> add </a:t>
            </a:r>
            <a:r>
              <a:rPr lang="en-US" dirty="0" err="1">
                <a:solidFill>
                  <a:schemeClr val="bg1"/>
                </a:solidFill>
              </a:rPr>
              <a:t>xsuaa</a:t>
            </a:r>
            <a:endParaRPr lang="en-US" dirty="0">
              <a:solidFill>
                <a:schemeClr val="bg1"/>
              </a:solidFill>
            </a:endParaRPr>
          </a:p>
        </p:txBody>
      </p:sp>
    </p:spTree>
    <p:extLst>
      <p:ext uri="{BB962C8B-B14F-4D97-AF65-F5344CB8AC3E}">
        <p14:creationId xmlns:p14="http://schemas.microsoft.com/office/powerpoint/2010/main" val="24607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IDP – Identity Provider</a:t>
            </a:r>
            <a:endParaRPr lang="en-IN" dirty="0"/>
          </a:p>
        </p:txBody>
      </p:sp>
      <p:sp>
        <p:nvSpPr>
          <p:cNvPr id="10" name="Slide Number Placeholder 3">
            <a:extLst>
              <a:ext uri="{FF2B5EF4-FFF2-40B4-BE49-F238E27FC236}">
                <a16:creationId xmlns:a16="http://schemas.microsoft.com/office/drawing/2014/main" id="{2F3035AE-3E52-4994-6211-AE55192D28F5}"/>
              </a:ext>
            </a:extLst>
          </p:cNvPr>
          <p:cNvSpPr>
            <a:spLocks noGrp="1"/>
          </p:cNvSpPr>
          <p:nvPr>
            <p:ph type="sldNum" sz="quarter" idx="12"/>
          </p:nvPr>
        </p:nvSpPr>
        <p:spPr>
          <a:xfrm flipH="1">
            <a:off x="11637584" y="6596527"/>
            <a:ext cx="218945" cy="143978"/>
          </a:xfrm>
          <a:ln>
            <a:solidFill>
              <a:schemeClr val="bg1"/>
            </a:solidFill>
          </a:ln>
        </p:spPr>
        <p:txBody>
          <a:bodyPr/>
          <a:lstStyle/>
          <a:p>
            <a:pPr defTabSz="1218621"/>
            <a:fld id="{96E69268-9C8B-4EBF-A9EE-DC5DC2D48DC3}" type="slidenum">
              <a:rPr lang="en-US">
                <a:solidFill>
                  <a:prstClr val="white"/>
                </a:solidFill>
                <a:latin typeface="Segoe UI"/>
              </a:rPr>
              <a:pPr defTabSz="1218621"/>
              <a:t>17</a:t>
            </a:fld>
            <a:endParaRPr lang="en-US" dirty="0">
              <a:solidFill>
                <a:prstClr val="white"/>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2362F458-B5B7-154C-F189-BA5A239E04AA}"/>
              </a:ext>
            </a:extLst>
          </p:cNvPr>
          <p:cNvSpPr txBox="1"/>
          <p:nvPr/>
        </p:nvSpPr>
        <p:spPr>
          <a:xfrm>
            <a:off x="191294" y="745067"/>
            <a:ext cx="11806237" cy="830781"/>
          </a:xfrm>
          <a:prstGeom prst="rect">
            <a:avLst/>
          </a:prstGeom>
          <a:noFill/>
          <a:ln>
            <a:noFill/>
          </a:ln>
        </p:spPr>
        <p:txBody>
          <a:bodyPr wrap="square" rtlCol="0">
            <a:spAutoFit/>
          </a:bodyPr>
          <a:lstStyle/>
          <a:p>
            <a:pPr defTabSz="1218621"/>
            <a:r>
              <a:rPr lang="en-US" sz="1600" dirty="0">
                <a:solidFill>
                  <a:prstClr val="white"/>
                </a:solidFill>
                <a:latin typeface="Segoe UI"/>
              </a:rPr>
              <a:t>An identity provider is a software or group of software which stores all the user credentials and their scopes (roles) in itself. This will centralize the user management in company and simplify the login process to different apps. This way user do not need to remember multiple passwords to multiple apps.</a:t>
            </a:r>
            <a:endParaRPr lang="en-IN" sz="1600" dirty="0">
              <a:solidFill>
                <a:prstClr val="white"/>
              </a:solidFill>
              <a:latin typeface="Segoe UI"/>
            </a:endParaRPr>
          </a:p>
        </p:txBody>
      </p:sp>
      <p:sp>
        <p:nvSpPr>
          <p:cNvPr id="12" name="Rectangle 11">
            <a:extLst>
              <a:ext uri="{FF2B5EF4-FFF2-40B4-BE49-F238E27FC236}">
                <a16:creationId xmlns:a16="http://schemas.microsoft.com/office/drawing/2014/main" id="{1713AAA2-6DEA-AA00-A36C-E150CA26CDC0}"/>
              </a:ext>
            </a:extLst>
          </p:cNvPr>
          <p:cNvSpPr/>
          <p:nvPr/>
        </p:nvSpPr>
        <p:spPr>
          <a:xfrm>
            <a:off x="3502799" y="1773200"/>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Portal</a:t>
            </a:r>
          </a:p>
        </p:txBody>
      </p:sp>
      <p:sp>
        <p:nvSpPr>
          <p:cNvPr id="13" name="Rectangle 12">
            <a:extLst>
              <a:ext uri="{FF2B5EF4-FFF2-40B4-BE49-F238E27FC236}">
                <a16:creationId xmlns:a16="http://schemas.microsoft.com/office/drawing/2014/main" id="{9E1B9187-7A51-944A-FE75-AE7CA8C09B1E}"/>
              </a:ext>
            </a:extLst>
          </p:cNvPr>
          <p:cNvSpPr/>
          <p:nvPr/>
        </p:nvSpPr>
        <p:spPr>
          <a:xfrm>
            <a:off x="3502799" y="2459418"/>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Launchpad</a:t>
            </a:r>
          </a:p>
        </p:txBody>
      </p:sp>
      <p:sp>
        <p:nvSpPr>
          <p:cNvPr id="14" name="Rectangle 13">
            <a:extLst>
              <a:ext uri="{FF2B5EF4-FFF2-40B4-BE49-F238E27FC236}">
                <a16:creationId xmlns:a16="http://schemas.microsoft.com/office/drawing/2014/main" id="{9FCB960D-CAA4-5664-1FA8-E37E384BDDA6}"/>
              </a:ext>
            </a:extLst>
          </p:cNvPr>
          <p:cNvSpPr/>
          <p:nvPr/>
        </p:nvSpPr>
        <p:spPr>
          <a:xfrm>
            <a:off x="3502799" y="3155302"/>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Dedicated SRM</a:t>
            </a:r>
          </a:p>
        </p:txBody>
      </p:sp>
      <p:sp>
        <p:nvSpPr>
          <p:cNvPr id="15" name="Rectangle 14">
            <a:extLst>
              <a:ext uri="{FF2B5EF4-FFF2-40B4-BE49-F238E27FC236}">
                <a16:creationId xmlns:a16="http://schemas.microsoft.com/office/drawing/2014/main" id="{9913C176-6984-A538-324D-90535DAEDDF5}"/>
              </a:ext>
            </a:extLst>
          </p:cNvPr>
          <p:cNvSpPr/>
          <p:nvPr/>
        </p:nvSpPr>
        <p:spPr>
          <a:xfrm>
            <a:off x="3502799" y="3838466"/>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SAP Server</a:t>
            </a:r>
          </a:p>
        </p:txBody>
      </p:sp>
      <p:sp>
        <p:nvSpPr>
          <p:cNvPr id="16" name="Rectangle 15">
            <a:extLst>
              <a:ext uri="{FF2B5EF4-FFF2-40B4-BE49-F238E27FC236}">
                <a16:creationId xmlns:a16="http://schemas.microsoft.com/office/drawing/2014/main" id="{589C4928-B238-BC26-0800-90E199EC2DA8}"/>
              </a:ext>
            </a:extLst>
          </p:cNvPr>
          <p:cNvSpPr/>
          <p:nvPr/>
        </p:nvSpPr>
        <p:spPr>
          <a:xfrm>
            <a:off x="3505536" y="4501267"/>
            <a:ext cx="1871720" cy="57591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Outlook</a:t>
            </a:r>
          </a:p>
        </p:txBody>
      </p:sp>
      <p:pic>
        <p:nvPicPr>
          <p:cNvPr id="17" name="Picture 16" descr="Icon&#10;&#10;Description automatically generated">
            <a:extLst>
              <a:ext uri="{FF2B5EF4-FFF2-40B4-BE49-F238E27FC236}">
                <a16:creationId xmlns:a16="http://schemas.microsoft.com/office/drawing/2014/main" id="{39D951F8-AAB4-A0F2-64B5-B0695D8D1380}"/>
              </a:ext>
            </a:extLst>
          </p:cNvPr>
          <p:cNvPicPr>
            <a:picLocks noChangeAspect="1"/>
          </p:cNvPicPr>
          <p:nvPr/>
        </p:nvPicPr>
        <p:blipFill rotWithShape="1">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1512" t="9401" r="10243" b="17538"/>
          <a:stretch/>
        </p:blipFill>
        <p:spPr>
          <a:xfrm>
            <a:off x="407263" y="1853558"/>
            <a:ext cx="982807" cy="991115"/>
          </a:xfrm>
          <a:prstGeom prst="rect">
            <a:avLst/>
          </a:prstGeom>
          <a:ln>
            <a:solidFill>
              <a:schemeClr val="bg1"/>
            </a:solidFill>
          </a:ln>
        </p:spPr>
      </p:pic>
      <p:sp>
        <p:nvSpPr>
          <p:cNvPr id="18" name="Rectangle 17">
            <a:extLst>
              <a:ext uri="{FF2B5EF4-FFF2-40B4-BE49-F238E27FC236}">
                <a16:creationId xmlns:a16="http://schemas.microsoft.com/office/drawing/2014/main" id="{36D70D1E-84DF-C8FB-E0C6-192510CBE30B}"/>
              </a:ext>
            </a:extLst>
          </p:cNvPr>
          <p:cNvSpPr/>
          <p:nvPr/>
        </p:nvSpPr>
        <p:spPr>
          <a:xfrm>
            <a:off x="389118" y="3807751"/>
            <a:ext cx="98280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SSO</a:t>
            </a:r>
          </a:p>
        </p:txBody>
      </p:sp>
      <p:sp>
        <p:nvSpPr>
          <p:cNvPr id="19" name="TextBox 18">
            <a:extLst>
              <a:ext uri="{FF2B5EF4-FFF2-40B4-BE49-F238E27FC236}">
                <a16:creationId xmlns:a16="http://schemas.microsoft.com/office/drawing/2014/main" id="{8E35FBE6-EE4A-7358-7C15-CA18584BCB9F}"/>
              </a:ext>
            </a:extLst>
          </p:cNvPr>
          <p:cNvSpPr txBox="1"/>
          <p:nvPr/>
        </p:nvSpPr>
        <p:spPr>
          <a:xfrm>
            <a:off x="107446" y="4582175"/>
            <a:ext cx="3239516" cy="1076937"/>
          </a:xfrm>
          <a:prstGeom prst="rect">
            <a:avLst/>
          </a:prstGeom>
          <a:noFill/>
          <a:ln>
            <a:noFill/>
          </a:ln>
        </p:spPr>
        <p:txBody>
          <a:bodyPr wrap="square" rtlCol="0">
            <a:spAutoFit/>
          </a:bodyPr>
          <a:lstStyle/>
          <a:p>
            <a:pPr marL="342797" indent="-342797" defTabSz="1218621">
              <a:buFont typeface="Arial" panose="020B0604020202020204" pitchFamily="34" charset="0"/>
              <a:buChar char="•"/>
            </a:pPr>
            <a:r>
              <a:rPr lang="en-US" sz="1600" dirty="0">
                <a:solidFill>
                  <a:prstClr val="white"/>
                </a:solidFill>
                <a:latin typeface="Segoe UI"/>
              </a:rPr>
              <a:t>User/email/password</a:t>
            </a:r>
          </a:p>
          <a:p>
            <a:pPr marL="342797" indent="-342797" defTabSz="1218621">
              <a:buFont typeface="Arial" panose="020B0604020202020204" pitchFamily="34" charset="0"/>
              <a:buChar char="•"/>
            </a:pPr>
            <a:r>
              <a:rPr lang="en-US" sz="1600" dirty="0">
                <a:solidFill>
                  <a:prstClr val="white"/>
                </a:solidFill>
                <a:latin typeface="Segoe UI"/>
              </a:rPr>
              <a:t>Single source of truth</a:t>
            </a:r>
          </a:p>
          <a:p>
            <a:pPr marL="342797" indent="-342797" defTabSz="1218621">
              <a:buFont typeface="Arial" panose="020B0604020202020204" pitchFamily="34" charset="0"/>
              <a:buChar char="•"/>
            </a:pPr>
            <a:r>
              <a:rPr lang="en-US" sz="1600" dirty="0">
                <a:solidFill>
                  <a:prstClr val="white"/>
                </a:solidFill>
                <a:latin typeface="Segoe UI"/>
              </a:rPr>
              <a:t>Trust relation</a:t>
            </a:r>
          </a:p>
          <a:p>
            <a:pPr marL="342797" indent="-342797" defTabSz="1218621">
              <a:buFont typeface="Arial" panose="020B0604020202020204" pitchFamily="34" charset="0"/>
              <a:buChar char="•"/>
            </a:pPr>
            <a:r>
              <a:rPr lang="en-US" sz="1600" dirty="0">
                <a:solidFill>
                  <a:prstClr val="white"/>
                </a:solidFill>
                <a:latin typeface="Segoe UI"/>
              </a:rPr>
              <a:t>Scope- clerk, manager, </a:t>
            </a:r>
            <a:r>
              <a:rPr lang="en-US" sz="1600" dirty="0" err="1">
                <a:solidFill>
                  <a:prstClr val="white"/>
                </a:solidFill>
                <a:latin typeface="Segoe UI"/>
              </a:rPr>
              <a:t>ceo</a:t>
            </a:r>
            <a:endParaRPr lang="en-US" sz="1600" dirty="0">
              <a:solidFill>
                <a:prstClr val="white"/>
              </a:solidFill>
              <a:latin typeface="Segoe UI"/>
            </a:endParaRPr>
          </a:p>
        </p:txBody>
      </p:sp>
      <p:cxnSp>
        <p:nvCxnSpPr>
          <p:cNvPr id="20" name="Connector: Elbow 19">
            <a:extLst>
              <a:ext uri="{FF2B5EF4-FFF2-40B4-BE49-F238E27FC236}">
                <a16:creationId xmlns:a16="http://schemas.microsoft.com/office/drawing/2014/main" id="{A06E4B9A-E55F-7DAF-07FF-C736E0A752F5}"/>
              </a:ext>
            </a:extLst>
          </p:cNvPr>
          <p:cNvCxnSpPr>
            <a:stCxn id="18" idx="3"/>
            <a:endCxn id="12" idx="1"/>
          </p:cNvCxnSpPr>
          <p:nvPr/>
        </p:nvCxnSpPr>
        <p:spPr>
          <a:xfrm flipV="1">
            <a:off x="1371925" y="2061157"/>
            <a:ext cx="2130876" cy="2013332"/>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56443317-E2EA-2C86-ECE8-16E203402076}"/>
              </a:ext>
            </a:extLst>
          </p:cNvPr>
          <p:cNvCxnSpPr>
            <a:stCxn id="18" idx="3"/>
            <a:endCxn id="13" idx="1"/>
          </p:cNvCxnSpPr>
          <p:nvPr/>
        </p:nvCxnSpPr>
        <p:spPr>
          <a:xfrm flipV="1">
            <a:off x="1371925" y="2747375"/>
            <a:ext cx="2130876" cy="132711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08849323-73AD-A813-42B8-53A87C2E44C2}"/>
              </a:ext>
            </a:extLst>
          </p:cNvPr>
          <p:cNvCxnSpPr>
            <a:stCxn id="18" idx="3"/>
            <a:endCxn id="16" idx="1"/>
          </p:cNvCxnSpPr>
          <p:nvPr/>
        </p:nvCxnSpPr>
        <p:spPr>
          <a:xfrm>
            <a:off x="1371923" y="4074490"/>
            <a:ext cx="2133612" cy="714735"/>
          </a:xfrm>
          <a:prstGeom prst="bentConnector3">
            <a:avLst>
              <a:gd name="adj1" fmla="val 68889"/>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4AB3834-6AC9-C350-02E7-3D7213F7E79A}"/>
              </a:ext>
            </a:extLst>
          </p:cNvPr>
          <p:cNvCxnSpPr>
            <a:stCxn id="18" idx="3"/>
            <a:endCxn id="14" idx="1"/>
          </p:cNvCxnSpPr>
          <p:nvPr/>
        </p:nvCxnSpPr>
        <p:spPr>
          <a:xfrm flipV="1">
            <a:off x="1371925" y="3443259"/>
            <a:ext cx="2130876" cy="63123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39DA4809-328C-6EED-69FE-2327C386C972}"/>
              </a:ext>
            </a:extLst>
          </p:cNvPr>
          <p:cNvCxnSpPr>
            <a:stCxn id="18" idx="3"/>
            <a:endCxn id="15" idx="1"/>
          </p:cNvCxnSpPr>
          <p:nvPr/>
        </p:nvCxnSpPr>
        <p:spPr>
          <a:xfrm>
            <a:off x="1371925" y="4074489"/>
            <a:ext cx="2130876" cy="51934"/>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row: Right 24">
            <a:extLst>
              <a:ext uri="{FF2B5EF4-FFF2-40B4-BE49-F238E27FC236}">
                <a16:creationId xmlns:a16="http://schemas.microsoft.com/office/drawing/2014/main" id="{3669FCA9-87D0-AC5F-55AA-0597B8F77F08}"/>
              </a:ext>
            </a:extLst>
          </p:cNvPr>
          <p:cNvSpPr/>
          <p:nvPr/>
        </p:nvSpPr>
        <p:spPr>
          <a:xfrm>
            <a:off x="1371925" y="1989763"/>
            <a:ext cx="2130876" cy="45707"/>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sp>
        <p:nvSpPr>
          <p:cNvPr id="26" name="Arrow: Down 25">
            <a:extLst>
              <a:ext uri="{FF2B5EF4-FFF2-40B4-BE49-F238E27FC236}">
                <a16:creationId xmlns:a16="http://schemas.microsoft.com/office/drawing/2014/main" id="{A8345884-5E1C-A794-D6F2-A15B553F7C24}"/>
              </a:ext>
            </a:extLst>
          </p:cNvPr>
          <p:cNvSpPr/>
          <p:nvPr/>
        </p:nvSpPr>
        <p:spPr>
          <a:xfrm rot="2714639">
            <a:off x="2318350" y="1942625"/>
            <a:ext cx="143978" cy="2185413"/>
          </a:xfrm>
          <a:prstGeom prst="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endParaRPr lang="en-US" sz="2399">
              <a:solidFill>
                <a:prstClr val="white"/>
              </a:solidFill>
              <a:latin typeface="Segoe UI"/>
            </a:endParaRPr>
          </a:p>
        </p:txBody>
      </p:sp>
      <p:pic>
        <p:nvPicPr>
          <p:cNvPr id="27" name="Picture 26" descr="Icon&#10;&#10;Description automatically generated">
            <a:extLst>
              <a:ext uri="{FF2B5EF4-FFF2-40B4-BE49-F238E27FC236}">
                <a16:creationId xmlns:a16="http://schemas.microsoft.com/office/drawing/2014/main" id="{08CC5429-0F02-836F-E9B5-6972D4792749}"/>
              </a:ext>
            </a:extLst>
          </p:cNvPr>
          <p:cNvPicPr>
            <a:picLocks noChangeAspect="1"/>
          </p:cNvPicPr>
          <p:nvPr/>
        </p:nvPicPr>
        <p:blipFill>
          <a:blip r:embed="rId4" cstate="print">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159077" y="3706055"/>
            <a:ext cx="666351" cy="666351"/>
          </a:xfrm>
          <a:prstGeom prst="rect">
            <a:avLst/>
          </a:prstGeom>
          <a:ln>
            <a:solidFill>
              <a:schemeClr val="bg1"/>
            </a:solidFill>
          </a:ln>
        </p:spPr>
      </p:pic>
      <p:sp>
        <p:nvSpPr>
          <p:cNvPr id="28" name="Rectangle 27">
            <a:extLst>
              <a:ext uri="{FF2B5EF4-FFF2-40B4-BE49-F238E27FC236}">
                <a16:creationId xmlns:a16="http://schemas.microsoft.com/office/drawing/2014/main" id="{968180D4-9E3E-DBC4-F148-C59BD00E9B2C}"/>
              </a:ext>
            </a:extLst>
          </p:cNvPr>
          <p:cNvSpPr/>
          <p:nvPr/>
        </p:nvSpPr>
        <p:spPr>
          <a:xfrm>
            <a:off x="3505536" y="5184432"/>
            <a:ext cx="1871720" cy="374843"/>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1800" dirty="0">
                <a:solidFill>
                  <a:prstClr val="white"/>
                </a:solidFill>
                <a:latin typeface="Segoe UI"/>
              </a:rPr>
              <a:t>Our cloud app</a:t>
            </a:r>
          </a:p>
        </p:txBody>
      </p:sp>
      <p:sp>
        <p:nvSpPr>
          <p:cNvPr id="29" name="Rectangle 28">
            <a:extLst>
              <a:ext uri="{FF2B5EF4-FFF2-40B4-BE49-F238E27FC236}">
                <a16:creationId xmlns:a16="http://schemas.microsoft.com/office/drawing/2014/main" id="{10601AA0-415A-129A-44AA-F47497DD9974}"/>
              </a:ext>
            </a:extLst>
          </p:cNvPr>
          <p:cNvSpPr/>
          <p:nvPr/>
        </p:nvSpPr>
        <p:spPr>
          <a:xfrm>
            <a:off x="3502799" y="6099898"/>
            <a:ext cx="1871720" cy="777349"/>
          </a:xfrm>
          <a:prstGeom prst="rect">
            <a:avLst/>
          </a:prstGeom>
          <a:solidFill>
            <a:schemeClr val="accent2">
              <a:lumMod val="50000"/>
            </a:schemeClr>
          </a:solidFill>
          <a:ln>
            <a:solidFill>
              <a:schemeClr val="bg1"/>
            </a:solidFill>
          </a:ln>
        </p:spPr>
        <p:style>
          <a:lnRef idx="0">
            <a:schemeClr val="accent2"/>
          </a:lnRef>
          <a:fillRef idx="3">
            <a:schemeClr val="accent2"/>
          </a:fillRef>
          <a:effectRef idx="3">
            <a:schemeClr val="accent2"/>
          </a:effectRef>
          <a:fontRef idx="minor">
            <a:schemeClr val="lt1"/>
          </a:fontRef>
        </p:style>
        <p:txBody>
          <a:bodyPr rtlCol="0" anchor="ctr"/>
          <a:lstStyle/>
          <a:p>
            <a:pPr algn="ctr" defTabSz="1218621"/>
            <a:r>
              <a:rPr lang="en-US" sz="2399" dirty="0">
                <a:solidFill>
                  <a:prstClr val="white"/>
                </a:solidFill>
                <a:latin typeface="Segoe UI"/>
              </a:rPr>
              <a:t>XSUAA</a:t>
            </a:r>
          </a:p>
        </p:txBody>
      </p:sp>
      <p:cxnSp>
        <p:nvCxnSpPr>
          <p:cNvPr id="30" name="Connector: Elbow 29">
            <a:extLst>
              <a:ext uri="{FF2B5EF4-FFF2-40B4-BE49-F238E27FC236}">
                <a16:creationId xmlns:a16="http://schemas.microsoft.com/office/drawing/2014/main" id="{6B494515-9A9A-1712-7726-F5038BA946F9}"/>
              </a:ext>
            </a:extLst>
          </p:cNvPr>
          <p:cNvCxnSpPr>
            <a:cxnSpLocks/>
            <a:stCxn id="33" idx="2"/>
            <a:endCxn id="29" idx="3"/>
          </p:cNvCxnSpPr>
          <p:nvPr/>
        </p:nvCxnSpPr>
        <p:spPr>
          <a:xfrm rot="5400000">
            <a:off x="5906799" y="3961307"/>
            <a:ext cx="1994984" cy="3059543"/>
          </a:xfrm>
          <a:prstGeom prst="bentConnector2">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59AE44EF-AE51-A6DC-5A0F-D8B3211751E9}"/>
              </a:ext>
            </a:extLst>
          </p:cNvPr>
          <p:cNvSpPr/>
          <p:nvPr/>
        </p:nvSpPr>
        <p:spPr>
          <a:xfrm>
            <a:off x="5302530" y="5371853"/>
            <a:ext cx="1151828" cy="28925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xsuaa</a:t>
            </a:r>
            <a:endParaRPr lang="en-US" sz="2399" dirty="0">
              <a:solidFill>
                <a:prstClr val="white"/>
              </a:solidFill>
              <a:latin typeface="Segoe UI"/>
            </a:endParaRPr>
          </a:p>
        </p:txBody>
      </p:sp>
      <p:cxnSp>
        <p:nvCxnSpPr>
          <p:cNvPr id="32" name="Straight Arrow Connector 31">
            <a:extLst>
              <a:ext uri="{FF2B5EF4-FFF2-40B4-BE49-F238E27FC236}">
                <a16:creationId xmlns:a16="http://schemas.microsoft.com/office/drawing/2014/main" id="{056403A1-F029-1521-C4A5-66552EAC5E74}"/>
              </a:ext>
            </a:extLst>
          </p:cNvPr>
          <p:cNvCxnSpPr>
            <a:endCxn id="29" idx="0"/>
          </p:cNvCxnSpPr>
          <p:nvPr/>
        </p:nvCxnSpPr>
        <p:spPr>
          <a:xfrm flipH="1">
            <a:off x="4438659" y="5559276"/>
            <a:ext cx="1511774" cy="540622"/>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E2764941-BC4D-1F67-1326-598557175FB7}"/>
              </a:ext>
            </a:extLst>
          </p:cNvPr>
          <p:cNvSpPr/>
          <p:nvPr/>
        </p:nvSpPr>
        <p:spPr>
          <a:xfrm>
            <a:off x="731822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err="1">
                <a:solidFill>
                  <a:prstClr val="white"/>
                </a:solidFill>
                <a:latin typeface="Segoe UI"/>
              </a:rPr>
              <a:t>GSuite</a:t>
            </a:r>
            <a:endParaRPr lang="en-US" sz="2399" dirty="0">
              <a:solidFill>
                <a:prstClr val="white"/>
              </a:solidFill>
              <a:latin typeface="Segoe UI"/>
            </a:endParaRPr>
          </a:p>
        </p:txBody>
      </p:sp>
      <p:sp>
        <p:nvSpPr>
          <p:cNvPr id="34" name="Rectangle 33">
            <a:extLst>
              <a:ext uri="{FF2B5EF4-FFF2-40B4-BE49-F238E27FC236}">
                <a16:creationId xmlns:a16="http://schemas.microsoft.com/office/drawing/2014/main" id="{2324E37F-AA76-6411-2D82-89A33007BA18}"/>
              </a:ext>
            </a:extLst>
          </p:cNvPr>
          <p:cNvSpPr/>
          <p:nvPr/>
        </p:nvSpPr>
        <p:spPr>
          <a:xfrm>
            <a:off x="9720709" y="3960112"/>
            <a:ext cx="2231667" cy="53347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621"/>
            <a:r>
              <a:rPr lang="en-US" sz="2399" dirty="0">
                <a:solidFill>
                  <a:prstClr val="white"/>
                </a:solidFill>
                <a:latin typeface="Segoe UI"/>
              </a:rPr>
              <a:t>LDAP</a:t>
            </a:r>
          </a:p>
        </p:txBody>
      </p:sp>
      <p:pic>
        <p:nvPicPr>
          <p:cNvPr id="35" name="Picture 34">
            <a:extLst>
              <a:ext uri="{FF2B5EF4-FFF2-40B4-BE49-F238E27FC236}">
                <a16:creationId xmlns:a16="http://schemas.microsoft.com/office/drawing/2014/main" id="{7AB56319-F7EE-8C5A-E21A-23E397AD6269}"/>
              </a:ext>
            </a:extLst>
          </p:cNvPr>
          <p:cNvPicPr>
            <a:picLocks noChangeAspect="1"/>
          </p:cNvPicPr>
          <p:nvPr/>
        </p:nvPicPr>
        <p:blipFill>
          <a:blip r:embed="rId6"/>
          <a:stretch>
            <a:fillRect/>
          </a:stretch>
        </p:blipFill>
        <p:spPr>
          <a:xfrm>
            <a:off x="6568249" y="1771665"/>
            <a:ext cx="2981648" cy="2013332"/>
          </a:xfrm>
          <a:prstGeom prst="rect">
            <a:avLst/>
          </a:prstGeom>
          <a:ln>
            <a:solidFill>
              <a:schemeClr val="bg1"/>
            </a:solidFill>
          </a:ln>
        </p:spPr>
      </p:pic>
    </p:spTree>
    <p:extLst>
      <p:ext uri="{BB962C8B-B14F-4D97-AF65-F5344CB8AC3E}">
        <p14:creationId xmlns:p14="http://schemas.microsoft.com/office/powerpoint/2010/main" val="2864685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12</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7665</TotalTime>
  <Words>1574</Words>
  <Application>Microsoft Office PowerPoint</Application>
  <PresentationFormat>Custom</PresentationFormat>
  <Paragraphs>208</Paragraphs>
  <Slides>20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Amasis MT Pro Black</vt:lpstr>
      <vt:lpstr>Arial</vt:lpstr>
      <vt:lpstr>Arial Black</vt:lpstr>
      <vt:lpstr>Calibri</vt:lpstr>
      <vt:lpstr>Consolas</vt:lpstr>
      <vt:lpstr>Cooper Black</vt:lpstr>
      <vt:lpstr>Segoe UI</vt:lpstr>
      <vt:lpstr>Segoe UI Black</vt:lpstr>
      <vt:lpstr>Segoe UI Light</vt:lpstr>
      <vt:lpstr>Office Theme</vt:lpstr>
      <vt:lpstr>SAP BTP Extension Suite Training</vt:lpstr>
      <vt:lpstr>PowerPoint Presentation</vt:lpstr>
      <vt:lpstr>Agenda – Day 12</vt:lpstr>
      <vt:lpstr>Introduction to HANA Cloud</vt:lpstr>
      <vt:lpstr>HANA Cloud v/s On-premise</vt:lpstr>
      <vt:lpstr>What is Schema in HANA</vt:lpstr>
      <vt:lpstr>HDI Container</vt:lpstr>
      <vt:lpstr>Hands on - Create HANA Cloud Instance</vt:lpstr>
      <vt:lpstr>HDI Container</vt:lpstr>
      <vt:lpstr>Hands on - Create HANA Cloud Instance</vt:lpstr>
      <vt:lpstr>Design time</vt:lpstr>
      <vt:lpstr>Hands on – HANA Cloud Integration</vt:lpstr>
      <vt:lpstr>Authentication v/s Authorization</vt:lpstr>
      <vt:lpstr>IDP – Identity Provider</vt:lpstr>
      <vt:lpstr>How it works behind scenes</vt:lpstr>
      <vt:lpstr>Hands-on Add Security and Test Microservice</vt:lpstr>
      <vt:lpstr>IDP – Identity Provider</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288</cp:revision>
  <dcterms:created xsi:type="dcterms:W3CDTF">2013-09-12T13:05:01Z</dcterms:created>
  <dcterms:modified xsi:type="dcterms:W3CDTF">2026-01-29T07:54:46Z</dcterms:modified>
</cp:coreProperties>
</file>