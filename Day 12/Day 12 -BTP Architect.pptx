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76" r:id="rId2"/>
    <p:sldId id="4122" r:id="rId3"/>
    <p:sldId id="277" r:id="rId4"/>
    <p:sldId id="4813" r:id="rId5"/>
    <p:sldId id="4814" r:id="rId6"/>
    <p:sldId id="4815" r:id="rId7"/>
    <p:sldId id="4816" r:id="rId8"/>
    <p:sldId id="4732" r:id="rId9"/>
    <p:sldId id="282" r:id="rId10"/>
    <p:sldId id="280" r:id="rId11"/>
    <p:sldId id="4711" r:id="rId12"/>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8E8"/>
    <a:srgbClr val="074D92"/>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240" autoAdjust="0"/>
    <p:restoredTop sz="95033" autoAdjust="0"/>
  </p:normalViewPr>
  <p:slideViewPr>
    <p:cSldViewPr>
      <p:cViewPr varScale="1">
        <p:scale>
          <a:sx n="102" d="100"/>
          <a:sy n="102" d="100"/>
        </p:scale>
        <p:origin x="640" y="288"/>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9T04:58:18.397"/>
    </inkml:context>
    <inkml:brush xml:id="br0">
      <inkml:brushProperty name="width" value="0.05" units="cm"/>
      <inkml:brushProperty name="height" value="0.05" units="cm"/>
      <inkml:brushProperty name="color" value="#FF0066"/>
    </inkml:brush>
  </inkml:definitions>
  <inkml:trace contextRef="#ctx0" brushRef="#br0">0 1 24575,'6'0'0,"14"0"0,20 0 0,35 0 0,26 6 0,22 2 0,24-1 0,20-1 0,5-2 0,-9-1 0,-20-2 0,-32 0 0,-34-1-8191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1/28/2026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1/28/2026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1/28/2026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1/28/2026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1/28/2026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jurnaloftalmologi.org/index.php/announce/viewarticle/122" TargetMode="External"/><Relationship Id="rId2" Type="http://schemas.openxmlformats.org/officeDocument/2006/relationships/image" Target="../media/image4.jpe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hyperlink" Target="https://pixabay.com/en/computer-user-icon-peolpe-avatar-1331579/" TargetMode="Externa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customXml" Target="../ink/ink1.xml"/><Relationship Id="rId85" Type="http://schemas.openxmlformats.org/officeDocument/2006/relationships/image" Target="../media/image9.png"/><Relationship Id="rId3" Type="http://schemas.openxmlformats.org/officeDocument/2006/relationships/hyperlink" Target="https://jurnaloftalmologi.org/index.php/announce/viewarticle/122" TargetMode="External"/><Relationship Id="rId7" Type="http://schemas.openxmlformats.org/officeDocument/2006/relationships/hyperlink" Target="https://pixabay.com/en/computer-user-icon-peolpe-avatar-1331579/" TargetMode="External"/><Relationship Id="rId2" Type="http://schemas.openxmlformats.org/officeDocument/2006/relationships/image" Target="../media/image4.jpe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jurnaloftalmologi.org/index.php/announce/viewarticle/122" TargetMode="External"/><Relationship Id="rId2" Type="http://schemas.openxmlformats.org/officeDocument/2006/relationships/image" Target="../media/image4.jpe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hyperlink" Target="https://pixabay.com/en/computer-user-icon-peolpe-avatar-1331579/" TargetMode="Externa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10.png"/><Relationship Id="rId4" Type="http://schemas.openxmlformats.org/officeDocument/2006/relationships/hyperlink" Target="http://www.dribbble.com/" TargetMode="External"/></Relationships>
</file>

<file path=ppt/slides/_rels/slide11.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image" Target="../media/image11.jpeg"/><Relationship Id="rId7" Type="http://schemas.openxmlformats.org/officeDocument/2006/relationships/image" Target="../media/image15.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14.tiff"/><Relationship Id="rId5" Type="http://schemas.openxmlformats.org/officeDocument/2006/relationships/image" Target="../media/image13.tiff"/><Relationship Id="rId4" Type="http://schemas.openxmlformats.org/officeDocument/2006/relationships/image" Target="../media/image12.tiff"/><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12</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3453886" y="1340768"/>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3453886" y="3096490"/>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3453886" y="4852213"/>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4118572" y="1593781"/>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1083772"/>
              <a:ext cx="2236930" cy="639170"/>
            </a:xfrm>
            <a:prstGeom prst="rect">
              <a:avLst/>
            </a:prstGeom>
            <a:noFill/>
          </p:spPr>
          <p:txBody>
            <a:bodyPr wrap="square" lIns="0" tIns="0" rIns="0" bIns="0" rtlCol="0" anchor="ctr">
              <a:spAutoFit/>
            </a:bodyPr>
            <a:lstStyle/>
            <a:p>
              <a:r>
                <a:rPr lang="en-US" sz="1800" dirty="0">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Authentication v/s Authorization</a:t>
              </a: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4118572" y="3349500"/>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243564"/>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XSUAA</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4118572" y="5105223"/>
            <a:ext cx="3951680" cy="922336"/>
            <a:chOff x="1395616" y="871285"/>
            <a:chExt cx="3825734"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243563"/>
              <a:ext cx="2236930" cy="319585"/>
            </a:xfrm>
            <a:prstGeom prst="rect">
              <a:avLst/>
            </a:prstGeom>
            <a:noFill/>
          </p:spPr>
          <p:txBody>
            <a:bodyPr wrap="square" lIns="0" tIns="0" rIns="0" bIns="0" rtlCol="0" anchor="ctr">
              <a:spAutoFit/>
            </a:bodyPr>
            <a:lstStyle/>
            <a:p>
              <a:pPr marL="0" algn="l" rtl="0" eaLnBrk="1" latinLnBrk="0" hangingPunct="1">
                <a:spcBef>
                  <a:spcPts val="0"/>
                </a:spcBef>
                <a:spcAft>
                  <a:spcPts val="0"/>
                </a:spcAft>
              </a:pPr>
              <a:r>
                <a:rPr lang="en-US" sz="1800" kern="1200">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Adding Security</a:t>
              </a:r>
              <a:endParaRPr lang="en-US" sz="1400" dirty="0">
                <a:effectLst/>
              </a:endParaRP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12</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Authentication v/s Authorization</a:t>
            </a:r>
            <a:endParaRPr lang="en-IN" dirty="0"/>
          </a:p>
        </p:txBody>
      </p:sp>
      <p:sp>
        <p:nvSpPr>
          <p:cNvPr id="12" name="TextBox 11">
            <a:extLst>
              <a:ext uri="{FF2B5EF4-FFF2-40B4-BE49-F238E27FC236}">
                <a16:creationId xmlns:a16="http://schemas.microsoft.com/office/drawing/2014/main" id="{6F10F899-F228-C7A0-F638-DA5009D28E9C}"/>
              </a:ext>
            </a:extLst>
          </p:cNvPr>
          <p:cNvSpPr txBox="1"/>
          <p:nvPr/>
        </p:nvSpPr>
        <p:spPr>
          <a:xfrm>
            <a:off x="183628" y="785615"/>
            <a:ext cx="11806237" cy="4215441"/>
          </a:xfrm>
          <a:prstGeom prst="rect">
            <a:avLst/>
          </a:prstGeom>
          <a:noFill/>
        </p:spPr>
        <p:txBody>
          <a:bodyPr wrap="square" rtlCol="0">
            <a:spAutoFit/>
          </a:bodyPr>
          <a:lstStyle/>
          <a:p>
            <a:pPr>
              <a:defRPr/>
            </a:pPr>
            <a:r>
              <a:rPr lang="en-US" sz="1400" b="1" kern="0" dirty="0">
                <a:solidFill>
                  <a:prstClr val="white"/>
                </a:solidFill>
                <a:latin typeface="Segoe UI"/>
              </a:rPr>
              <a:t>Authentication</a:t>
            </a:r>
            <a:r>
              <a:rPr lang="en-US" sz="1400" kern="0" dirty="0">
                <a:solidFill>
                  <a:prstClr val="white"/>
                </a:solidFill>
                <a:latin typeface="Segoe UI"/>
              </a:rPr>
              <a:t> – It ensures that is our user a valid user? Has he/she entered valid credentials to login to our app. It is enforced by a login screen. This login screen can also come from IDP like SSO, LDAP, Social integration.</a:t>
            </a:r>
          </a:p>
          <a:p>
            <a:pPr>
              <a:defRPr/>
            </a:pPr>
            <a:endParaRPr lang="en-US" sz="1400" kern="0" dirty="0">
              <a:solidFill>
                <a:prstClr val="white"/>
              </a:solidFill>
              <a:latin typeface="Segoe UI"/>
            </a:endParaRPr>
          </a:p>
          <a:p>
            <a:pPr>
              <a:defRPr/>
            </a:pPr>
            <a:r>
              <a:rPr lang="en-US" sz="1400" b="1" kern="0" dirty="0">
                <a:solidFill>
                  <a:prstClr val="white"/>
                </a:solidFill>
                <a:latin typeface="Segoe UI"/>
              </a:rPr>
              <a:t>Authorization</a:t>
            </a:r>
            <a:r>
              <a:rPr lang="en-US" sz="1400" kern="0" dirty="0">
                <a:solidFill>
                  <a:prstClr val="white"/>
                </a:solidFill>
                <a:latin typeface="Segoe UI"/>
              </a:rPr>
              <a:t> – Once user is authentication, then the authorization comes into play. It ensures, is our user allowed to do certain activities inside app. What is the level of access. E.g. create, update, delete, approve, view.</a:t>
            </a:r>
          </a:p>
          <a:p>
            <a:pPr>
              <a:defRPr/>
            </a:pPr>
            <a:endParaRPr lang="en-US" sz="1600" kern="0" dirty="0">
              <a:solidFill>
                <a:prstClr val="white"/>
              </a:solidFill>
              <a:latin typeface="Segoe UI"/>
            </a:endParaRPr>
          </a:p>
          <a:p>
            <a:pPr>
              <a:defRPr/>
            </a:pPr>
            <a:r>
              <a:rPr lang="en-US" sz="1400" kern="0" dirty="0">
                <a:solidFill>
                  <a:prstClr val="white"/>
                </a:solidFill>
                <a:latin typeface="Segoe UI"/>
              </a:rPr>
              <a:t>SAP BTP </a:t>
            </a:r>
            <a:r>
              <a:rPr lang="en-US" sz="1400" kern="0" dirty="0" err="1">
                <a:solidFill>
                  <a:prstClr val="white"/>
                </a:solidFill>
                <a:latin typeface="Segoe UI"/>
              </a:rPr>
              <a:t>cf</a:t>
            </a:r>
            <a:r>
              <a:rPr lang="en-US" sz="1400" kern="0" dirty="0">
                <a:solidFill>
                  <a:prstClr val="white"/>
                </a:solidFill>
                <a:latin typeface="Segoe UI"/>
              </a:rPr>
              <a:t> environment has a special component called XSUAA – </a:t>
            </a:r>
          </a:p>
          <a:p>
            <a:pPr>
              <a:defRPr/>
            </a:pPr>
            <a:r>
              <a:rPr lang="en-US" sz="1400" kern="0" dirty="0">
                <a:solidFill>
                  <a:prstClr val="white"/>
                </a:solidFill>
                <a:latin typeface="Segoe UI"/>
              </a:rPr>
              <a:t>XS – </a:t>
            </a:r>
            <a:r>
              <a:rPr lang="en-US" sz="1400" kern="0" dirty="0" err="1">
                <a:solidFill>
                  <a:prstClr val="white"/>
                </a:solidFill>
                <a:latin typeface="Segoe UI"/>
              </a:rPr>
              <a:t>eXtended</a:t>
            </a:r>
            <a:r>
              <a:rPr lang="en-US" sz="1400" kern="0" dirty="0">
                <a:solidFill>
                  <a:prstClr val="white"/>
                </a:solidFill>
                <a:latin typeface="Segoe UI"/>
              </a:rPr>
              <a:t> Services</a:t>
            </a:r>
          </a:p>
          <a:p>
            <a:pPr>
              <a:defRPr/>
            </a:pPr>
            <a:r>
              <a:rPr lang="en-US" sz="1400" kern="0" dirty="0">
                <a:solidFill>
                  <a:prstClr val="white"/>
                </a:solidFill>
                <a:latin typeface="Segoe UI"/>
              </a:rPr>
              <a:t>UAA – User Account and Authorization</a:t>
            </a:r>
          </a:p>
          <a:p>
            <a:pPr marL="342797" indent="-342797">
              <a:buFont typeface="Arial" panose="020B0604020202020204" pitchFamily="34" charset="0"/>
              <a:buChar char="•"/>
              <a:defRPr/>
            </a:pPr>
            <a:r>
              <a:rPr lang="en-IN" sz="1400" kern="0" dirty="0">
                <a:solidFill>
                  <a:prstClr val="white"/>
                </a:solidFill>
                <a:latin typeface="Segoe UI"/>
              </a:rPr>
              <a:t>This is an in-built component inside of CF</a:t>
            </a:r>
          </a:p>
          <a:p>
            <a:pPr marL="342797" indent="-342797">
              <a:buFont typeface="Arial" panose="020B0604020202020204" pitchFamily="34" charset="0"/>
              <a:buChar char="•"/>
              <a:defRPr/>
            </a:pPr>
            <a:r>
              <a:rPr lang="en-IN" sz="1400" kern="0" dirty="0">
                <a:solidFill>
                  <a:prstClr val="white"/>
                </a:solidFill>
                <a:latin typeface="Segoe UI"/>
              </a:rPr>
              <a:t>It is responsible to control the user account and authorization</a:t>
            </a:r>
          </a:p>
          <a:p>
            <a:pPr marL="342797" indent="-342797">
              <a:buFont typeface="Arial" panose="020B0604020202020204" pitchFamily="34" charset="0"/>
              <a:buChar char="•"/>
              <a:defRPr/>
            </a:pPr>
            <a:r>
              <a:rPr lang="en-IN" sz="1400" kern="0" dirty="0">
                <a:solidFill>
                  <a:prstClr val="white"/>
                </a:solidFill>
                <a:latin typeface="Segoe UI"/>
              </a:rPr>
              <a:t>It manages our application security</a:t>
            </a:r>
          </a:p>
          <a:p>
            <a:pPr marL="342797" indent="-342797">
              <a:buFont typeface="Arial" panose="020B0604020202020204" pitchFamily="34" charset="0"/>
              <a:buChar char="•"/>
              <a:defRPr/>
            </a:pPr>
            <a:r>
              <a:rPr lang="en-IN" sz="1400" kern="0" dirty="0">
                <a:solidFill>
                  <a:prstClr val="white"/>
                </a:solidFill>
                <a:latin typeface="Segoe UI"/>
              </a:rPr>
              <a:t>In CF we use modular approach to address security</a:t>
            </a:r>
          </a:p>
          <a:p>
            <a:pPr marL="342797" indent="-342797">
              <a:buFont typeface="Arial" panose="020B0604020202020204" pitchFamily="34" charset="0"/>
              <a:buChar char="•"/>
              <a:defRPr/>
            </a:pPr>
            <a:r>
              <a:rPr lang="en-IN" sz="1400" kern="0" dirty="0">
                <a:solidFill>
                  <a:prstClr val="white"/>
                </a:solidFill>
                <a:latin typeface="Segoe UI"/>
              </a:rPr>
              <a:t>As a developer we need to decide what roles and level of security we need in our app. Example, we need to secure </a:t>
            </a:r>
            <a:r>
              <a:rPr lang="en-IN" sz="1400" kern="0" dirty="0" err="1">
                <a:solidFill>
                  <a:prstClr val="white"/>
                </a:solidFill>
                <a:latin typeface="Segoe UI"/>
              </a:rPr>
              <a:t>odata</a:t>
            </a:r>
            <a:r>
              <a:rPr lang="en-IN" sz="1400" kern="0" dirty="0">
                <a:solidFill>
                  <a:prstClr val="white"/>
                </a:solidFill>
                <a:latin typeface="Segoe UI"/>
              </a:rPr>
              <a:t> resource /</a:t>
            </a:r>
            <a:r>
              <a:rPr lang="en-IN" sz="1400" kern="0" dirty="0" err="1">
                <a:solidFill>
                  <a:prstClr val="white"/>
                </a:solidFill>
                <a:latin typeface="Segoe UI"/>
              </a:rPr>
              <a:t>Anubhav.svc</a:t>
            </a:r>
            <a:endParaRPr lang="en-IN" sz="1400" kern="0" dirty="0">
              <a:solidFill>
                <a:prstClr val="white"/>
              </a:solidFill>
              <a:latin typeface="Segoe UI"/>
            </a:endParaRPr>
          </a:p>
          <a:p>
            <a:pPr marL="342797" indent="-342797">
              <a:buFont typeface="Arial" panose="020B0604020202020204" pitchFamily="34" charset="0"/>
              <a:buChar char="•"/>
              <a:defRPr/>
            </a:pPr>
            <a:r>
              <a:rPr lang="en-IN" sz="1400" kern="0" dirty="0">
                <a:solidFill>
                  <a:prstClr val="white"/>
                </a:solidFill>
                <a:latin typeface="Segoe UI"/>
              </a:rPr>
              <a:t>Usually we define Viewer, Editor</a:t>
            </a:r>
          </a:p>
          <a:p>
            <a:pPr marL="342797" indent="-342797">
              <a:buFont typeface="Arial" panose="020B0604020202020204" pitchFamily="34" charset="0"/>
              <a:buChar char="•"/>
              <a:defRPr/>
            </a:pPr>
            <a:r>
              <a:rPr lang="en-IN" sz="1400" kern="0" dirty="0">
                <a:solidFill>
                  <a:prstClr val="white"/>
                </a:solidFill>
                <a:latin typeface="Segoe UI"/>
              </a:rPr>
              <a:t>We need to define our scope and role templates inside a special file called </a:t>
            </a:r>
            <a:r>
              <a:rPr lang="en-IN" sz="1400" b="1" kern="0" dirty="0" err="1">
                <a:solidFill>
                  <a:prstClr val="white"/>
                </a:solidFill>
                <a:latin typeface="Segoe UI"/>
              </a:rPr>
              <a:t>xs-security.json</a:t>
            </a:r>
            <a:r>
              <a:rPr lang="en-IN" sz="1400" b="1" kern="0" dirty="0">
                <a:solidFill>
                  <a:prstClr val="white"/>
                </a:solidFill>
                <a:latin typeface="Segoe UI"/>
              </a:rPr>
              <a:t> </a:t>
            </a:r>
            <a:r>
              <a:rPr lang="en-IN" sz="1400" kern="0" dirty="0">
                <a:solidFill>
                  <a:prstClr val="white"/>
                </a:solidFill>
                <a:latin typeface="Segoe UI"/>
              </a:rPr>
              <a:t>file</a:t>
            </a:r>
          </a:p>
          <a:p>
            <a:pPr marL="342797" indent="-342797">
              <a:buFont typeface="Arial" panose="020B0604020202020204" pitchFamily="34" charset="0"/>
              <a:buChar char="•"/>
              <a:defRPr/>
            </a:pPr>
            <a:r>
              <a:rPr lang="en-IN" sz="1400" kern="0" dirty="0">
                <a:solidFill>
                  <a:prstClr val="white"/>
                </a:solidFill>
                <a:latin typeface="Segoe UI"/>
              </a:rPr>
              <a:t>XSUAA Communicates to the </a:t>
            </a:r>
            <a:r>
              <a:rPr lang="en-IN" sz="1400" b="1" kern="0" dirty="0">
                <a:solidFill>
                  <a:prstClr val="white"/>
                </a:solidFill>
                <a:latin typeface="Segoe UI"/>
              </a:rPr>
              <a:t>IDP – Identity Provider</a:t>
            </a:r>
          </a:p>
          <a:p>
            <a:pPr marL="342797" indent="-342797">
              <a:buFont typeface="Arial" panose="020B0604020202020204" pitchFamily="34" charset="0"/>
              <a:buChar char="•"/>
              <a:defRPr/>
            </a:pPr>
            <a:r>
              <a:rPr lang="en-IN" sz="1400" kern="0" dirty="0">
                <a:solidFill>
                  <a:prstClr val="white"/>
                </a:solidFill>
                <a:latin typeface="Segoe UI"/>
              </a:rPr>
              <a:t>Issues </a:t>
            </a:r>
            <a:r>
              <a:rPr lang="en-IN" sz="1400" b="1" kern="0" dirty="0">
                <a:solidFill>
                  <a:prstClr val="white"/>
                </a:solidFill>
                <a:latin typeface="Segoe UI"/>
              </a:rPr>
              <a:t>JWT (JSON web Token) </a:t>
            </a:r>
            <a:r>
              <a:rPr lang="en-IN" sz="1400" kern="0" dirty="0">
                <a:solidFill>
                  <a:prstClr val="white"/>
                </a:solidFill>
                <a:latin typeface="Segoe UI"/>
              </a:rPr>
              <a:t>to cloud foundry router which let user access the app based on permission.</a:t>
            </a:r>
          </a:p>
        </p:txBody>
      </p:sp>
      <p:sp>
        <p:nvSpPr>
          <p:cNvPr id="13" name="Rectangle 12">
            <a:extLst>
              <a:ext uri="{FF2B5EF4-FFF2-40B4-BE49-F238E27FC236}">
                <a16:creationId xmlns:a16="http://schemas.microsoft.com/office/drawing/2014/main" id="{3643048D-A7CA-D41E-C7AC-CCAB701256CA}"/>
              </a:ext>
            </a:extLst>
          </p:cNvPr>
          <p:cNvSpPr/>
          <p:nvPr/>
        </p:nvSpPr>
        <p:spPr>
          <a:xfrm>
            <a:off x="1623413" y="5426324"/>
            <a:ext cx="1727742" cy="895658"/>
          </a:xfrm>
          <a:prstGeom prst="rect">
            <a:avLst/>
          </a:prstGeom>
          <a:solidFill>
            <a:srgbClr val="202B50"/>
          </a:solidFill>
          <a:ln w="25400" cap="flat" cmpd="sng" algn="ctr">
            <a:solidFill>
              <a:srgbClr val="202B50">
                <a:shade val="50000"/>
              </a:srgbClr>
            </a:solidFill>
            <a:prstDash val="solid"/>
          </a:ln>
          <a:effectLst/>
        </p:spPr>
        <p:txBody>
          <a:bodyPr rtlCol="0" anchor="ctr"/>
          <a:lstStyle/>
          <a:p>
            <a:pPr algn="ctr">
              <a:defRPr/>
            </a:pPr>
            <a:r>
              <a:rPr lang="en-US" sz="2399" kern="0" dirty="0">
                <a:solidFill>
                  <a:prstClr val="white"/>
                </a:solidFill>
                <a:latin typeface="Segoe UI"/>
              </a:rPr>
              <a:t>Scope</a:t>
            </a:r>
          </a:p>
          <a:p>
            <a:pPr algn="ctr">
              <a:defRPr/>
            </a:pPr>
            <a:r>
              <a:rPr lang="en-US" sz="2000" kern="0" dirty="0">
                <a:solidFill>
                  <a:prstClr val="white"/>
                </a:solidFill>
                <a:latin typeface="Segoe UI"/>
              </a:rPr>
              <a:t>(permission)</a:t>
            </a:r>
          </a:p>
        </p:txBody>
      </p:sp>
      <p:sp>
        <p:nvSpPr>
          <p:cNvPr id="14" name="Rectangle 13">
            <a:extLst>
              <a:ext uri="{FF2B5EF4-FFF2-40B4-BE49-F238E27FC236}">
                <a16:creationId xmlns:a16="http://schemas.microsoft.com/office/drawing/2014/main" id="{CAF1E737-A025-646B-E1D2-2FDCC17E4BD0}"/>
              </a:ext>
            </a:extLst>
          </p:cNvPr>
          <p:cNvSpPr/>
          <p:nvPr/>
        </p:nvSpPr>
        <p:spPr>
          <a:xfrm>
            <a:off x="5438843" y="5426324"/>
            <a:ext cx="1727742" cy="895658"/>
          </a:xfrm>
          <a:prstGeom prst="rect">
            <a:avLst/>
          </a:prstGeom>
          <a:solidFill>
            <a:srgbClr val="202B50"/>
          </a:solidFill>
          <a:ln w="25400" cap="flat" cmpd="sng" algn="ctr">
            <a:solidFill>
              <a:srgbClr val="202B50">
                <a:shade val="50000"/>
              </a:srgbClr>
            </a:solidFill>
            <a:prstDash val="solid"/>
          </a:ln>
          <a:effectLst/>
        </p:spPr>
        <p:txBody>
          <a:bodyPr rtlCol="0" anchor="ctr"/>
          <a:lstStyle/>
          <a:p>
            <a:pPr algn="ctr">
              <a:defRPr/>
            </a:pPr>
            <a:r>
              <a:rPr lang="en-US" sz="2399" kern="0" dirty="0">
                <a:solidFill>
                  <a:prstClr val="white"/>
                </a:solidFill>
                <a:latin typeface="Segoe UI"/>
              </a:rPr>
              <a:t>Role Template</a:t>
            </a:r>
          </a:p>
        </p:txBody>
      </p:sp>
      <p:cxnSp>
        <p:nvCxnSpPr>
          <p:cNvPr id="15" name="Straight Connector 14">
            <a:extLst>
              <a:ext uri="{FF2B5EF4-FFF2-40B4-BE49-F238E27FC236}">
                <a16:creationId xmlns:a16="http://schemas.microsoft.com/office/drawing/2014/main" id="{40BB33BA-B03F-9320-17D7-F05B3766B37A}"/>
              </a:ext>
            </a:extLst>
          </p:cNvPr>
          <p:cNvCxnSpPr>
            <a:stCxn id="13" idx="3"/>
            <a:endCxn id="14" idx="1"/>
          </p:cNvCxnSpPr>
          <p:nvPr/>
        </p:nvCxnSpPr>
        <p:spPr>
          <a:xfrm>
            <a:off x="3351155" y="5874152"/>
            <a:ext cx="2087688" cy="0"/>
          </a:xfrm>
          <a:prstGeom prst="line">
            <a:avLst/>
          </a:prstGeom>
          <a:noFill/>
          <a:ln w="9525" cap="flat" cmpd="sng" algn="ctr">
            <a:solidFill>
              <a:srgbClr val="202B50">
                <a:shade val="95000"/>
                <a:satMod val="105000"/>
              </a:srgbClr>
            </a:solidFill>
            <a:prstDash val="solid"/>
          </a:ln>
          <a:effectLst/>
        </p:spPr>
      </p:cxnSp>
      <p:sp>
        <p:nvSpPr>
          <p:cNvPr id="16" name="TextBox 15">
            <a:extLst>
              <a:ext uri="{FF2B5EF4-FFF2-40B4-BE49-F238E27FC236}">
                <a16:creationId xmlns:a16="http://schemas.microsoft.com/office/drawing/2014/main" id="{7B3AAFBE-55E6-7165-C524-D53C89F1869D}"/>
              </a:ext>
            </a:extLst>
          </p:cNvPr>
          <p:cNvSpPr txBox="1"/>
          <p:nvPr/>
        </p:nvSpPr>
        <p:spPr>
          <a:xfrm>
            <a:off x="3351155" y="5426323"/>
            <a:ext cx="2375645" cy="461417"/>
          </a:xfrm>
          <a:prstGeom prst="rect">
            <a:avLst/>
          </a:prstGeom>
          <a:noFill/>
        </p:spPr>
        <p:txBody>
          <a:bodyPr wrap="square" rtlCol="0">
            <a:spAutoFit/>
          </a:bodyPr>
          <a:lstStyle/>
          <a:p>
            <a:pPr>
              <a:defRPr/>
            </a:pPr>
            <a:r>
              <a:rPr lang="en-US" sz="2399" kern="0" dirty="0">
                <a:solidFill>
                  <a:prstClr val="white"/>
                </a:solidFill>
                <a:latin typeface="Segoe UI"/>
              </a:rPr>
              <a:t>*	     *</a:t>
            </a:r>
          </a:p>
        </p:txBody>
      </p:sp>
      <p:sp>
        <p:nvSpPr>
          <p:cNvPr id="17" name="Rectangle 16">
            <a:extLst>
              <a:ext uri="{FF2B5EF4-FFF2-40B4-BE49-F238E27FC236}">
                <a16:creationId xmlns:a16="http://schemas.microsoft.com/office/drawing/2014/main" id="{11A855E9-5463-D35A-F9B3-9506DDDF0ED5}"/>
              </a:ext>
            </a:extLst>
          </p:cNvPr>
          <p:cNvSpPr/>
          <p:nvPr/>
        </p:nvSpPr>
        <p:spPr>
          <a:xfrm>
            <a:off x="8390402" y="5426324"/>
            <a:ext cx="1727742" cy="895658"/>
          </a:xfrm>
          <a:prstGeom prst="rect">
            <a:avLst/>
          </a:prstGeom>
          <a:solidFill>
            <a:srgbClr val="202B50"/>
          </a:solidFill>
          <a:ln w="25400" cap="flat" cmpd="sng" algn="ctr">
            <a:solidFill>
              <a:srgbClr val="202B50">
                <a:shade val="50000"/>
              </a:srgbClr>
            </a:solidFill>
            <a:prstDash val="solid"/>
          </a:ln>
          <a:effectLst/>
        </p:spPr>
        <p:txBody>
          <a:bodyPr rtlCol="0" anchor="ctr"/>
          <a:lstStyle/>
          <a:p>
            <a:pPr algn="ctr">
              <a:defRPr/>
            </a:pPr>
            <a:r>
              <a:rPr lang="en-US" sz="2399" kern="0" dirty="0">
                <a:solidFill>
                  <a:prstClr val="white"/>
                </a:solidFill>
                <a:latin typeface="Segoe UI"/>
              </a:rPr>
              <a:t>Role Collection</a:t>
            </a:r>
          </a:p>
        </p:txBody>
      </p:sp>
      <p:cxnSp>
        <p:nvCxnSpPr>
          <p:cNvPr id="18" name="Straight Connector 17">
            <a:extLst>
              <a:ext uri="{FF2B5EF4-FFF2-40B4-BE49-F238E27FC236}">
                <a16:creationId xmlns:a16="http://schemas.microsoft.com/office/drawing/2014/main" id="{AD307554-17F7-7992-5053-6F85F367361B}"/>
              </a:ext>
            </a:extLst>
          </p:cNvPr>
          <p:cNvCxnSpPr>
            <a:stCxn id="14" idx="3"/>
            <a:endCxn id="17" idx="1"/>
          </p:cNvCxnSpPr>
          <p:nvPr/>
        </p:nvCxnSpPr>
        <p:spPr>
          <a:xfrm>
            <a:off x="7166585" y="5874152"/>
            <a:ext cx="1223817" cy="0"/>
          </a:xfrm>
          <a:prstGeom prst="line">
            <a:avLst/>
          </a:prstGeom>
          <a:noFill/>
          <a:ln w="9525" cap="flat" cmpd="sng" algn="ctr">
            <a:solidFill>
              <a:srgbClr val="202B50">
                <a:shade val="95000"/>
                <a:satMod val="105000"/>
              </a:srgbClr>
            </a:solidFill>
            <a:prstDash val="solid"/>
          </a:ln>
          <a:effectLst/>
        </p:spPr>
      </p:cxnSp>
      <p:sp>
        <p:nvSpPr>
          <p:cNvPr id="19" name="TextBox 18">
            <a:extLst>
              <a:ext uri="{FF2B5EF4-FFF2-40B4-BE49-F238E27FC236}">
                <a16:creationId xmlns:a16="http://schemas.microsoft.com/office/drawing/2014/main" id="{67E8CB7F-3920-0EEF-4648-0869E7E16F62}"/>
              </a:ext>
            </a:extLst>
          </p:cNvPr>
          <p:cNvSpPr txBox="1"/>
          <p:nvPr/>
        </p:nvSpPr>
        <p:spPr>
          <a:xfrm>
            <a:off x="7166585" y="5426323"/>
            <a:ext cx="1295806" cy="461417"/>
          </a:xfrm>
          <a:prstGeom prst="rect">
            <a:avLst/>
          </a:prstGeom>
          <a:noFill/>
        </p:spPr>
        <p:txBody>
          <a:bodyPr wrap="square" rtlCol="0">
            <a:spAutoFit/>
          </a:bodyPr>
          <a:lstStyle/>
          <a:p>
            <a:pPr>
              <a:defRPr/>
            </a:pPr>
            <a:r>
              <a:rPr lang="en-US" sz="2399" kern="0" dirty="0">
                <a:solidFill>
                  <a:prstClr val="white"/>
                </a:solidFill>
                <a:latin typeface="Segoe UI"/>
              </a:rPr>
              <a:t>*         *</a:t>
            </a:r>
          </a:p>
        </p:txBody>
      </p:sp>
      <p:sp>
        <p:nvSpPr>
          <p:cNvPr id="20" name="Smiley Face 19">
            <a:extLst>
              <a:ext uri="{FF2B5EF4-FFF2-40B4-BE49-F238E27FC236}">
                <a16:creationId xmlns:a16="http://schemas.microsoft.com/office/drawing/2014/main" id="{DC9EB602-77FC-D2F5-43BC-C520B7ED05D9}"/>
              </a:ext>
            </a:extLst>
          </p:cNvPr>
          <p:cNvSpPr/>
          <p:nvPr/>
        </p:nvSpPr>
        <p:spPr>
          <a:xfrm>
            <a:off x="11054004" y="5334014"/>
            <a:ext cx="719892" cy="646163"/>
          </a:xfrm>
          <a:prstGeom prst="smileyFace">
            <a:avLst/>
          </a:prstGeom>
          <a:gradFill rotWithShape="1">
            <a:gsLst>
              <a:gs pos="0">
                <a:srgbClr val="38C6C6">
                  <a:tint val="50000"/>
                  <a:satMod val="300000"/>
                </a:srgbClr>
              </a:gs>
              <a:gs pos="35000">
                <a:srgbClr val="38C6C6">
                  <a:tint val="37000"/>
                  <a:satMod val="300000"/>
                </a:srgbClr>
              </a:gs>
              <a:gs pos="100000">
                <a:srgbClr val="38C6C6">
                  <a:tint val="15000"/>
                  <a:satMod val="350000"/>
                </a:srgbClr>
              </a:gs>
            </a:gsLst>
            <a:lin ang="16200000" scaled="1"/>
          </a:gradFill>
          <a:ln w="9525" cap="flat" cmpd="sng" algn="ctr">
            <a:solidFill>
              <a:sysClr val="windowText" lastClr="000000">
                <a:lumMod val="95000"/>
                <a:lumOff val="5000"/>
              </a:sysClr>
            </a:solidFill>
            <a:prstDash val="solid"/>
          </a:ln>
          <a:effectLst>
            <a:outerShdw blurRad="40000" dist="20000" dir="5400000" rotWithShape="0">
              <a:srgbClr val="000000">
                <a:alpha val="38000"/>
              </a:srgbClr>
            </a:outerShdw>
          </a:effectLst>
        </p:spPr>
        <p:txBody>
          <a:bodyPr rtlCol="0" anchor="ctr"/>
          <a:lstStyle/>
          <a:p>
            <a:pPr algn="ctr">
              <a:defRPr/>
            </a:pPr>
            <a:endParaRPr lang="en-US" sz="2399" b="1" kern="0" dirty="0">
              <a:solidFill>
                <a:prstClr val="white"/>
              </a:solidFill>
              <a:latin typeface="Segoe UI"/>
            </a:endParaRPr>
          </a:p>
        </p:txBody>
      </p:sp>
      <p:cxnSp>
        <p:nvCxnSpPr>
          <p:cNvPr id="21" name="Connector: Elbow 20">
            <a:extLst>
              <a:ext uri="{FF2B5EF4-FFF2-40B4-BE49-F238E27FC236}">
                <a16:creationId xmlns:a16="http://schemas.microsoft.com/office/drawing/2014/main" id="{39FB7B0B-43C4-53CC-F7CB-9A6A0904A3A3}"/>
              </a:ext>
            </a:extLst>
          </p:cNvPr>
          <p:cNvCxnSpPr>
            <a:stCxn id="17" idx="3"/>
            <a:endCxn id="20" idx="4"/>
          </p:cNvCxnSpPr>
          <p:nvPr/>
        </p:nvCxnSpPr>
        <p:spPr>
          <a:xfrm>
            <a:off x="10118144" y="5874154"/>
            <a:ext cx="1295806" cy="106023"/>
          </a:xfrm>
          <a:prstGeom prst="bentConnector4">
            <a:avLst>
              <a:gd name="adj1" fmla="val 36111"/>
              <a:gd name="adj2" fmla="val 315557"/>
            </a:avLst>
          </a:prstGeom>
          <a:noFill/>
          <a:ln w="9525" cap="flat" cmpd="sng" algn="ctr">
            <a:solidFill>
              <a:srgbClr val="202B50">
                <a:shade val="95000"/>
                <a:satMod val="105000"/>
              </a:srgbClr>
            </a:solidFill>
            <a:prstDash val="solid"/>
            <a:tailEnd type="triangle"/>
          </a:ln>
          <a:effectLst/>
        </p:spPr>
      </p:cxnSp>
    </p:spTree>
    <p:extLst>
      <p:ext uri="{BB962C8B-B14F-4D97-AF65-F5344CB8AC3E}">
        <p14:creationId xmlns:p14="http://schemas.microsoft.com/office/powerpoint/2010/main" val="308907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IDP – Identity Provider</a:t>
            </a:r>
            <a:endParaRPr lang="en-IN" dirty="0"/>
          </a:p>
        </p:txBody>
      </p:sp>
      <p:sp>
        <p:nvSpPr>
          <p:cNvPr id="10" name="Slide Number Placeholder 3">
            <a:extLst>
              <a:ext uri="{FF2B5EF4-FFF2-40B4-BE49-F238E27FC236}">
                <a16:creationId xmlns:a16="http://schemas.microsoft.com/office/drawing/2014/main" id="{2F3035AE-3E52-4994-6211-AE55192D28F5}"/>
              </a:ext>
            </a:extLst>
          </p:cNvPr>
          <p:cNvSpPr>
            <a:spLocks noGrp="1"/>
          </p:cNvSpPr>
          <p:nvPr>
            <p:ph type="sldNum" sz="quarter" idx="12"/>
          </p:nvPr>
        </p:nvSpPr>
        <p:spPr>
          <a:xfrm flipH="1">
            <a:off x="11637584" y="6596527"/>
            <a:ext cx="218945" cy="143978"/>
          </a:xfrm>
          <a:ln>
            <a:solidFill>
              <a:schemeClr val="bg1"/>
            </a:solidFill>
          </a:ln>
        </p:spPr>
        <p:txBody>
          <a:bodyPr/>
          <a:lstStyle/>
          <a:p>
            <a:pPr defTabSz="1218621"/>
            <a:fld id="{96E69268-9C8B-4EBF-A9EE-DC5DC2D48DC3}" type="slidenum">
              <a:rPr lang="en-US">
                <a:solidFill>
                  <a:prstClr val="white"/>
                </a:solidFill>
                <a:latin typeface="Segoe UI"/>
              </a:rPr>
              <a:pPr defTabSz="1218621"/>
              <a:t>5</a:t>
            </a:fld>
            <a:endParaRPr lang="en-US" dirty="0">
              <a:solidFill>
                <a:prstClr val="white"/>
              </a:solidFill>
              <a:latin typeface="Segoe UI Black" panose="020B0A02040204020203" pitchFamily="34" charset="0"/>
              <a:ea typeface="Segoe UI Black" panose="020B0A02040204020203" pitchFamily="34" charset="0"/>
            </a:endParaRPr>
          </a:p>
        </p:txBody>
      </p:sp>
      <p:sp>
        <p:nvSpPr>
          <p:cNvPr id="11" name="TextBox 10">
            <a:extLst>
              <a:ext uri="{FF2B5EF4-FFF2-40B4-BE49-F238E27FC236}">
                <a16:creationId xmlns:a16="http://schemas.microsoft.com/office/drawing/2014/main" id="{2362F458-B5B7-154C-F189-BA5A239E04AA}"/>
              </a:ext>
            </a:extLst>
          </p:cNvPr>
          <p:cNvSpPr txBox="1"/>
          <p:nvPr/>
        </p:nvSpPr>
        <p:spPr>
          <a:xfrm>
            <a:off x="191294" y="745067"/>
            <a:ext cx="11806237" cy="830781"/>
          </a:xfrm>
          <a:prstGeom prst="rect">
            <a:avLst/>
          </a:prstGeom>
          <a:noFill/>
          <a:ln>
            <a:noFill/>
          </a:ln>
        </p:spPr>
        <p:txBody>
          <a:bodyPr wrap="square" rtlCol="0">
            <a:spAutoFit/>
          </a:bodyPr>
          <a:lstStyle/>
          <a:p>
            <a:pPr defTabSz="1218621"/>
            <a:r>
              <a:rPr lang="en-US" sz="1600" dirty="0">
                <a:solidFill>
                  <a:prstClr val="white"/>
                </a:solidFill>
                <a:latin typeface="Segoe UI"/>
              </a:rPr>
              <a:t>An identity provider is a software or group of software which stores all the user credentials and their scopes (roles) in itself. This will centralize the user management in company and simplify the login process to different apps. This way user do not need to remember multiple passwords to multiple apps.</a:t>
            </a:r>
            <a:endParaRPr lang="en-IN" sz="1600" dirty="0">
              <a:solidFill>
                <a:prstClr val="white"/>
              </a:solidFill>
              <a:latin typeface="Segoe UI"/>
            </a:endParaRPr>
          </a:p>
        </p:txBody>
      </p:sp>
      <p:sp>
        <p:nvSpPr>
          <p:cNvPr id="12" name="Rectangle 11">
            <a:extLst>
              <a:ext uri="{FF2B5EF4-FFF2-40B4-BE49-F238E27FC236}">
                <a16:creationId xmlns:a16="http://schemas.microsoft.com/office/drawing/2014/main" id="{1713AAA2-6DEA-AA00-A36C-E150CA26CDC0}"/>
              </a:ext>
            </a:extLst>
          </p:cNvPr>
          <p:cNvSpPr/>
          <p:nvPr/>
        </p:nvSpPr>
        <p:spPr>
          <a:xfrm>
            <a:off x="3502799" y="1773200"/>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Portal</a:t>
            </a:r>
          </a:p>
        </p:txBody>
      </p:sp>
      <p:sp>
        <p:nvSpPr>
          <p:cNvPr id="13" name="Rectangle 12">
            <a:extLst>
              <a:ext uri="{FF2B5EF4-FFF2-40B4-BE49-F238E27FC236}">
                <a16:creationId xmlns:a16="http://schemas.microsoft.com/office/drawing/2014/main" id="{9E1B9187-7A51-944A-FE75-AE7CA8C09B1E}"/>
              </a:ext>
            </a:extLst>
          </p:cNvPr>
          <p:cNvSpPr/>
          <p:nvPr/>
        </p:nvSpPr>
        <p:spPr>
          <a:xfrm>
            <a:off x="3502799" y="2459418"/>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Launchpad</a:t>
            </a:r>
          </a:p>
        </p:txBody>
      </p:sp>
      <p:sp>
        <p:nvSpPr>
          <p:cNvPr id="14" name="Rectangle 13">
            <a:extLst>
              <a:ext uri="{FF2B5EF4-FFF2-40B4-BE49-F238E27FC236}">
                <a16:creationId xmlns:a16="http://schemas.microsoft.com/office/drawing/2014/main" id="{9FCB960D-CAA4-5664-1FA8-E37E384BDDA6}"/>
              </a:ext>
            </a:extLst>
          </p:cNvPr>
          <p:cNvSpPr/>
          <p:nvPr/>
        </p:nvSpPr>
        <p:spPr>
          <a:xfrm>
            <a:off x="3502799" y="3155302"/>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Dedicated SRM</a:t>
            </a:r>
          </a:p>
        </p:txBody>
      </p:sp>
      <p:sp>
        <p:nvSpPr>
          <p:cNvPr id="15" name="Rectangle 14">
            <a:extLst>
              <a:ext uri="{FF2B5EF4-FFF2-40B4-BE49-F238E27FC236}">
                <a16:creationId xmlns:a16="http://schemas.microsoft.com/office/drawing/2014/main" id="{9913C176-6984-A538-324D-90535DAEDDF5}"/>
              </a:ext>
            </a:extLst>
          </p:cNvPr>
          <p:cNvSpPr/>
          <p:nvPr/>
        </p:nvSpPr>
        <p:spPr>
          <a:xfrm>
            <a:off x="3502799" y="3838466"/>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SAP Server</a:t>
            </a:r>
          </a:p>
        </p:txBody>
      </p:sp>
      <p:sp>
        <p:nvSpPr>
          <p:cNvPr id="16" name="Rectangle 15">
            <a:extLst>
              <a:ext uri="{FF2B5EF4-FFF2-40B4-BE49-F238E27FC236}">
                <a16:creationId xmlns:a16="http://schemas.microsoft.com/office/drawing/2014/main" id="{589C4928-B238-BC26-0800-90E199EC2DA8}"/>
              </a:ext>
            </a:extLst>
          </p:cNvPr>
          <p:cNvSpPr/>
          <p:nvPr/>
        </p:nvSpPr>
        <p:spPr>
          <a:xfrm>
            <a:off x="3505536" y="4501267"/>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Outlook</a:t>
            </a:r>
          </a:p>
        </p:txBody>
      </p:sp>
      <p:pic>
        <p:nvPicPr>
          <p:cNvPr id="17" name="Picture 16" descr="Icon&#10;&#10;Description automatically generated">
            <a:extLst>
              <a:ext uri="{FF2B5EF4-FFF2-40B4-BE49-F238E27FC236}">
                <a16:creationId xmlns:a16="http://schemas.microsoft.com/office/drawing/2014/main" id="{39D951F8-AAB4-A0F2-64B5-B0695D8D1380}"/>
              </a:ext>
            </a:extLst>
          </p:cNvPr>
          <p:cNvPicPr>
            <a:picLocks noChangeAspect="1"/>
          </p:cNvPicPr>
          <p:nvPr/>
        </p:nvPicPr>
        <p:blipFill rotWithShape="1">
          <a:blip r:embed="rId2" cstate="print">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1512" t="9401" r="10243" b="17538"/>
          <a:stretch/>
        </p:blipFill>
        <p:spPr>
          <a:xfrm>
            <a:off x="407263" y="1853558"/>
            <a:ext cx="982807" cy="991115"/>
          </a:xfrm>
          <a:prstGeom prst="rect">
            <a:avLst/>
          </a:prstGeom>
          <a:ln>
            <a:solidFill>
              <a:schemeClr val="bg1"/>
            </a:solidFill>
          </a:ln>
        </p:spPr>
      </p:pic>
      <p:sp>
        <p:nvSpPr>
          <p:cNvPr id="18" name="Rectangle 17">
            <a:extLst>
              <a:ext uri="{FF2B5EF4-FFF2-40B4-BE49-F238E27FC236}">
                <a16:creationId xmlns:a16="http://schemas.microsoft.com/office/drawing/2014/main" id="{36D70D1E-84DF-C8FB-E0C6-192510CBE30B}"/>
              </a:ext>
            </a:extLst>
          </p:cNvPr>
          <p:cNvSpPr/>
          <p:nvPr/>
        </p:nvSpPr>
        <p:spPr>
          <a:xfrm>
            <a:off x="389118" y="3807751"/>
            <a:ext cx="982807" cy="53347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SSO</a:t>
            </a:r>
          </a:p>
        </p:txBody>
      </p:sp>
      <p:sp>
        <p:nvSpPr>
          <p:cNvPr id="19" name="TextBox 18">
            <a:extLst>
              <a:ext uri="{FF2B5EF4-FFF2-40B4-BE49-F238E27FC236}">
                <a16:creationId xmlns:a16="http://schemas.microsoft.com/office/drawing/2014/main" id="{8E35FBE6-EE4A-7358-7C15-CA18584BCB9F}"/>
              </a:ext>
            </a:extLst>
          </p:cNvPr>
          <p:cNvSpPr txBox="1"/>
          <p:nvPr/>
        </p:nvSpPr>
        <p:spPr>
          <a:xfrm>
            <a:off x="107446" y="4582175"/>
            <a:ext cx="3239516" cy="1076937"/>
          </a:xfrm>
          <a:prstGeom prst="rect">
            <a:avLst/>
          </a:prstGeom>
          <a:noFill/>
          <a:ln>
            <a:noFill/>
          </a:ln>
        </p:spPr>
        <p:txBody>
          <a:bodyPr wrap="square" rtlCol="0">
            <a:spAutoFit/>
          </a:bodyPr>
          <a:lstStyle/>
          <a:p>
            <a:pPr marL="342797" indent="-342797" defTabSz="1218621">
              <a:buFont typeface="Arial" panose="020B0604020202020204" pitchFamily="34" charset="0"/>
              <a:buChar char="•"/>
            </a:pPr>
            <a:r>
              <a:rPr lang="en-US" sz="1600" dirty="0">
                <a:solidFill>
                  <a:prstClr val="white"/>
                </a:solidFill>
                <a:latin typeface="Segoe UI"/>
              </a:rPr>
              <a:t>User/email/password</a:t>
            </a:r>
          </a:p>
          <a:p>
            <a:pPr marL="342797" indent="-342797" defTabSz="1218621">
              <a:buFont typeface="Arial" panose="020B0604020202020204" pitchFamily="34" charset="0"/>
              <a:buChar char="•"/>
            </a:pPr>
            <a:r>
              <a:rPr lang="en-US" sz="1600" dirty="0">
                <a:solidFill>
                  <a:prstClr val="white"/>
                </a:solidFill>
                <a:latin typeface="Segoe UI"/>
              </a:rPr>
              <a:t>Single source of truth</a:t>
            </a:r>
          </a:p>
          <a:p>
            <a:pPr marL="342797" indent="-342797" defTabSz="1218621">
              <a:buFont typeface="Arial" panose="020B0604020202020204" pitchFamily="34" charset="0"/>
              <a:buChar char="•"/>
            </a:pPr>
            <a:r>
              <a:rPr lang="en-US" sz="1600" dirty="0">
                <a:solidFill>
                  <a:prstClr val="white"/>
                </a:solidFill>
                <a:latin typeface="Segoe UI"/>
              </a:rPr>
              <a:t>Trust relation</a:t>
            </a:r>
          </a:p>
          <a:p>
            <a:pPr marL="342797" indent="-342797" defTabSz="1218621">
              <a:buFont typeface="Arial" panose="020B0604020202020204" pitchFamily="34" charset="0"/>
              <a:buChar char="•"/>
            </a:pPr>
            <a:r>
              <a:rPr lang="en-US" sz="1600" dirty="0">
                <a:solidFill>
                  <a:prstClr val="white"/>
                </a:solidFill>
                <a:latin typeface="Segoe UI"/>
              </a:rPr>
              <a:t>Scope- clerk, manager, </a:t>
            </a:r>
            <a:r>
              <a:rPr lang="en-US" sz="1600" dirty="0" err="1">
                <a:solidFill>
                  <a:prstClr val="white"/>
                </a:solidFill>
                <a:latin typeface="Segoe UI"/>
              </a:rPr>
              <a:t>ceo</a:t>
            </a:r>
            <a:endParaRPr lang="en-US" sz="1600" dirty="0">
              <a:solidFill>
                <a:prstClr val="white"/>
              </a:solidFill>
              <a:latin typeface="Segoe UI"/>
            </a:endParaRPr>
          </a:p>
        </p:txBody>
      </p:sp>
      <p:cxnSp>
        <p:nvCxnSpPr>
          <p:cNvPr id="20" name="Connector: Elbow 19">
            <a:extLst>
              <a:ext uri="{FF2B5EF4-FFF2-40B4-BE49-F238E27FC236}">
                <a16:creationId xmlns:a16="http://schemas.microsoft.com/office/drawing/2014/main" id="{A06E4B9A-E55F-7DAF-07FF-C736E0A752F5}"/>
              </a:ext>
            </a:extLst>
          </p:cNvPr>
          <p:cNvCxnSpPr>
            <a:stCxn id="18" idx="3"/>
            <a:endCxn id="12" idx="1"/>
          </p:cNvCxnSpPr>
          <p:nvPr/>
        </p:nvCxnSpPr>
        <p:spPr>
          <a:xfrm flipV="1">
            <a:off x="1371925" y="2061157"/>
            <a:ext cx="2130876" cy="2013332"/>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1" name="Connector: Elbow 20">
            <a:extLst>
              <a:ext uri="{FF2B5EF4-FFF2-40B4-BE49-F238E27FC236}">
                <a16:creationId xmlns:a16="http://schemas.microsoft.com/office/drawing/2014/main" id="{56443317-E2EA-2C86-ECE8-16E203402076}"/>
              </a:ext>
            </a:extLst>
          </p:cNvPr>
          <p:cNvCxnSpPr>
            <a:stCxn id="18" idx="3"/>
            <a:endCxn id="13" idx="1"/>
          </p:cNvCxnSpPr>
          <p:nvPr/>
        </p:nvCxnSpPr>
        <p:spPr>
          <a:xfrm flipV="1">
            <a:off x="1371925" y="2747375"/>
            <a:ext cx="2130876" cy="1327114"/>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Connector: Elbow 21">
            <a:extLst>
              <a:ext uri="{FF2B5EF4-FFF2-40B4-BE49-F238E27FC236}">
                <a16:creationId xmlns:a16="http://schemas.microsoft.com/office/drawing/2014/main" id="{08849323-73AD-A813-42B8-53A87C2E44C2}"/>
              </a:ext>
            </a:extLst>
          </p:cNvPr>
          <p:cNvCxnSpPr>
            <a:stCxn id="18" idx="3"/>
            <a:endCxn id="16" idx="1"/>
          </p:cNvCxnSpPr>
          <p:nvPr/>
        </p:nvCxnSpPr>
        <p:spPr>
          <a:xfrm>
            <a:off x="1371923" y="4074490"/>
            <a:ext cx="2133612" cy="714735"/>
          </a:xfrm>
          <a:prstGeom prst="bentConnector3">
            <a:avLst>
              <a:gd name="adj1" fmla="val 68889"/>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B4AB3834-6AC9-C350-02E7-3D7213F7E79A}"/>
              </a:ext>
            </a:extLst>
          </p:cNvPr>
          <p:cNvCxnSpPr>
            <a:stCxn id="18" idx="3"/>
            <a:endCxn id="14" idx="1"/>
          </p:cNvCxnSpPr>
          <p:nvPr/>
        </p:nvCxnSpPr>
        <p:spPr>
          <a:xfrm flipV="1">
            <a:off x="1371925" y="3443259"/>
            <a:ext cx="2130876" cy="631230"/>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39DA4809-328C-6EED-69FE-2327C386C972}"/>
              </a:ext>
            </a:extLst>
          </p:cNvPr>
          <p:cNvCxnSpPr>
            <a:stCxn id="18" idx="3"/>
            <a:endCxn id="15" idx="1"/>
          </p:cNvCxnSpPr>
          <p:nvPr/>
        </p:nvCxnSpPr>
        <p:spPr>
          <a:xfrm>
            <a:off x="1371925" y="4074489"/>
            <a:ext cx="2130876" cy="51934"/>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5" name="Arrow: Right 24">
            <a:extLst>
              <a:ext uri="{FF2B5EF4-FFF2-40B4-BE49-F238E27FC236}">
                <a16:creationId xmlns:a16="http://schemas.microsoft.com/office/drawing/2014/main" id="{3669FCA9-87D0-AC5F-55AA-0597B8F77F08}"/>
              </a:ext>
            </a:extLst>
          </p:cNvPr>
          <p:cNvSpPr/>
          <p:nvPr/>
        </p:nvSpPr>
        <p:spPr>
          <a:xfrm>
            <a:off x="1371925" y="1989763"/>
            <a:ext cx="2130876" cy="45707"/>
          </a:xfrm>
          <a:prstGeom prst="right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endParaRPr lang="en-US" sz="2399">
              <a:solidFill>
                <a:prstClr val="white"/>
              </a:solidFill>
              <a:latin typeface="Segoe UI"/>
            </a:endParaRPr>
          </a:p>
        </p:txBody>
      </p:sp>
      <p:sp>
        <p:nvSpPr>
          <p:cNvPr id="26" name="Arrow: Down 25">
            <a:extLst>
              <a:ext uri="{FF2B5EF4-FFF2-40B4-BE49-F238E27FC236}">
                <a16:creationId xmlns:a16="http://schemas.microsoft.com/office/drawing/2014/main" id="{A8345884-5E1C-A794-D6F2-A15B553F7C24}"/>
              </a:ext>
            </a:extLst>
          </p:cNvPr>
          <p:cNvSpPr/>
          <p:nvPr/>
        </p:nvSpPr>
        <p:spPr>
          <a:xfrm rot="2714639">
            <a:off x="2318350" y="1942625"/>
            <a:ext cx="143978" cy="2185413"/>
          </a:xfrm>
          <a:prstGeom prst="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endParaRPr lang="en-US" sz="2399">
              <a:solidFill>
                <a:prstClr val="white"/>
              </a:solidFill>
              <a:latin typeface="Segoe UI"/>
            </a:endParaRPr>
          </a:p>
        </p:txBody>
      </p:sp>
      <p:pic>
        <p:nvPicPr>
          <p:cNvPr id="27" name="Picture 26" descr="Icon&#10;&#10;Description automatically generated">
            <a:extLst>
              <a:ext uri="{FF2B5EF4-FFF2-40B4-BE49-F238E27FC236}">
                <a16:creationId xmlns:a16="http://schemas.microsoft.com/office/drawing/2014/main" id="{08CC5429-0F02-836F-E9B5-6972D4792749}"/>
              </a:ext>
            </a:extLst>
          </p:cNvPr>
          <p:cNvPicPr>
            <a:picLocks noChangeAspect="1"/>
          </p:cNvPicPr>
          <p:nvPr/>
        </p:nvPicPr>
        <p:blipFill>
          <a:blip r:embed="rId4" cstate="print">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1159077" y="3706055"/>
            <a:ext cx="666351" cy="666351"/>
          </a:xfrm>
          <a:prstGeom prst="rect">
            <a:avLst/>
          </a:prstGeom>
          <a:ln>
            <a:solidFill>
              <a:schemeClr val="bg1"/>
            </a:solidFill>
          </a:ln>
        </p:spPr>
      </p:pic>
      <p:sp>
        <p:nvSpPr>
          <p:cNvPr id="28" name="Rectangle 27">
            <a:extLst>
              <a:ext uri="{FF2B5EF4-FFF2-40B4-BE49-F238E27FC236}">
                <a16:creationId xmlns:a16="http://schemas.microsoft.com/office/drawing/2014/main" id="{968180D4-9E3E-DBC4-F148-C59BD00E9B2C}"/>
              </a:ext>
            </a:extLst>
          </p:cNvPr>
          <p:cNvSpPr/>
          <p:nvPr/>
        </p:nvSpPr>
        <p:spPr>
          <a:xfrm>
            <a:off x="3505536" y="5184432"/>
            <a:ext cx="1871720" cy="374843"/>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1800" dirty="0">
                <a:solidFill>
                  <a:prstClr val="white"/>
                </a:solidFill>
                <a:latin typeface="Segoe UI"/>
              </a:rPr>
              <a:t>Our cloud app</a:t>
            </a:r>
          </a:p>
        </p:txBody>
      </p:sp>
      <p:sp>
        <p:nvSpPr>
          <p:cNvPr id="29" name="Rectangle 28">
            <a:extLst>
              <a:ext uri="{FF2B5EF4-FFF2-40B4-BE49-F238E27FC236}">
                <a16:creationId xmlns:a16="http://schemas.microsoft.com/office/drawing/2014/main" id="{10601AA0-415A-129A-44AA-F47497DD9974}"/>
              </a:ext>
            </a:extLst>
          </p:cNvPr>
          <p:cNvSpPr/>
          <p:nvPr/>
        </p:nvSpPr>
        <p:spPr>
          <a:xfrm>
            <a:off x="3502799" y="6099898"/>
            <a:ext cx="1871720" cy="777349"/>
          </a:xfrm>
          <a:prstGeom prst="rect">
            <a:avLst/>
          </a:prstGeom>
          <a:solidFill>
            <a:schemeClr val="accent2">
              <a:lumMod val="50000"/>
            </a:schemeClr>
          </a:solidFill>
          <a:ln>
            <a:solidFill>
              <a:schemeClr val="bg1"/>
            </a:solidFill>
          </a:ln>
        </p:spPr>
        <p:style>
          <a:lnRef idx="0">
            <a:schemeClr val="accent2"/>
          </a:lnRef>
          <a:fillRef idx="3">
            <a:schemeClr val="accent2"/>
          </a:fillRef>
          <a:effectRef idx="3">
            <a:schemeClr val="accent2"/>
          </a:effectRef>
          <a:fontRef idx="minor">
            <a:schemeClr val="lt1"/>
          </a:fontRef>
        </p:style>
        <p:txBody>
          <a:bodyPr rtlCol="0" anchor="ctr"/>
          <a:lstStyle/>
          <a:p>
            <a:pPr algn="ctr" defTabSz="1218621"/>
            <a:r>
              <a:rPr lang="en-US" sz="2399" dirty="0">
                <a:solidFill>
                  <a:prstClr val="white"/>
                </a:solidFill>
                <a:latin typeface="Segoe UI"/>
              </a:rPr>
              <a:t>XSUAA</a:t>
            </a:r>
          </a:p>
        </p:txBody>
      </p:sp>
      <p:cxnSp>
        <p:nvCxnSpPr>
          <p:cNvPr id="30" name="Connector: Elbow 29">
            <a:extLst>
              <a:ext uri="{FF2B5EF4-FFF2-40B4-BE49-F238E27FC236}">
                <a16:creationId xmlns:a16="http://schemas.microsoft.com/office/drawing/2014/main" id="{6B494515-9A9A-1712-7726-F5038BA946F9}"/>
              </a:ext>
            </a:extLst>
          </p:cNvPr>
          <p:cNvCxnSpPr>
            <a:cxnSpLocks/>
            <a:stCxn id="33" idx="2"/>
            <a:endCxn id="29" idx="3"/>
          </p:cNvCxnSpPr>
          <p:nvPr/>
        </p:nvCxnSpPr>
        <p:spPr>
          <a:xfrm rot="5400000">
            <a:off x="5906799" y="3961307"/>
            <a:ext cx="1994984" cy="3059543"/>
          </a:xfrm>
          <a:prstGeom prst="bentConnector2">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59AE44EF-AE51-A6DC-5A0F-D8B3211751E9}"/>
              </a:ext>
            </a:extLst>
          </p:cNvPr>
          <p:cNvSpPr/>
          <p:nvPr/>
        </p:nvSpPr>
        <p:spPr>
          <a:xfrm>
            <a:off x="5302530" y="5371853"/>
            <a:ext cx="1151828" cy="289252"/>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err="1">
                <a:solidFill>
                  <a:prstClr val="white"/>
                </a:solidFill>
                <a:latin typeface="Segoe UI"/>
              </a:rPr>
              <a:t>xsuaa</a:t>
            </a:r>
            <a:endParaRPr lang="en-US" sz="2399" dirty="0">
              <a:solidFill>
                <a:prstClr val="white"/>
              </a:solidFill>
              <a:latin typeface="Segoe UI"/>
            </a:endParaRPr>
          </a:p>
        </p:txBody>
      </p:sp>
      <p:cxnSp>
        <p:nvCxnSpPr>
          <p:cNvPr id="32" name="Straight Arrow Connector 31">
            <a:extLst>
              <a:ext uri="{FF2B5EF4-FFF2-40B4-BE49-F238E27FC236}">
                <a16:creationId xmlns:a16="http://schemas.microsoft.com/office/drawing/2014/main" id="{056403A1-F029-1521-C4A5-66552EAC5E74}"/>
              </a:ext>
            </a:extLst>
          </p:cNvPr>
          <p:cNvCxnSpPr>
            <a:cxnSpLocks/>
            <a:stCxn id="31" idx="2"/>
            <a:endCxn id="29" idx="0"/>
          </p:cNvCxnSpPr>
          <p:nvPr/>
        </p:nvCxnSpPr>
        <p:spPr>
          <a:xfrm flipH="1">
            <a:off x="4438659" y="5661105"/>
            <a:ext cx="1439785" cy="438793"/>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Rectangle 32">
            <a:extLst>
              <a:ext uri="{FF2B5EF4-FFF2-40B4-BE49-F238E27FC236}">
                <a16:creationId xmlns:a16="http://schemas.microsoft.com/office/drawing/2014/main" id="{E2764941-BC4D-1F67-1326-598557175FB7}"/>
              </a:ext>
            </a:extLst>
          </p:cNvPr>
          <p:cNvSpPr/>
          <p:nvPr/>
        </p:nvSpPr>
        <p:spPr>
          <a:xfrm>
            <a:off x="7318229" y="3960112"/>
            <a:ext cx="2231667" cy="53347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err="1">
                <a:solidFill>
                  <a:prstClr val="white"/>
                </a:solidFill>
                <a:latin typeface="Segoe UI"/>
              </a:rPr>
              <a:t>GSuite</a:t>
            </a:r>
            <a:endParaRPr lang="en-US" sz="2399" dirty="0">
              <a:solidFill>
                <a:prstClr val="white"/>
              </a:solidFill>
              <a:latin typeface="Segoe UI"/>
            </a:endParaRPr>
          </a:p>
        </p:txBody>
      </p:sp>
      <p:sp>
        <p:nvSpPr>
          <p:cNvPr id="34" name="Rectangle 33">
            <a:extLst>
              <a:ext uri="{FF2B5EF4-FFF2-40B4-BE49-F238E27FC236}">
                <a16:creationId xmlns:a16="http://schemas.microsoft.com/office/drawing/2014/main" id="{2324E37F-AA76-6411-2D82-89A33007BA18}"/>
              </a:ext>
            </a:extLst>
          </p:cNvPr>
          <p:cNvSpPr/>
          <p:nvPr/>
        </p:nvSpPr>
        <p:spPr>
          <a:xfrm>
            <a:off x="9720709" y="3960112"/>
            <a:ext cx="2231667" cy="53347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LDAP</a:t>
            </a:r>
          </a:p>
        </p:txBody>
      </p:sp>
      <p:pic>
        <p:nvPicPr>
          <p:cNvPr id="35" name="Picture 34">
            <a:extLst>
              <a:ext uri="{FF2B5EF4-FFF2-40B4-BE49-F238E27FC236}">
                <a16:creationId xmlns:a16="http://schemas.microsoft.com/office/drawing/2014/main" id="{7AB56319-F7EE-8C5A-E21A-23E397AD6269}"/>
              </a:ext>
            </a:extLst>
          </p:cNvPr>
          <p:cNvPicPr>
            <a:picLocks noChangeAspect="1"/>
          </p:cNvPicPr>
          <p:nvPr/>
        </p:nvPicPr>
        <p:blipFill>
          <a:blip r:embed="rId6"/>
          <a:stretch>
            <a:fillRect/>
          </a:stretch>
        </p:blipFill>
        <p:spPr>
          <a:xfrm>
            <a:off x="6568249" y="1771665"/>
            <a:ext cx="2981648" cy="2013332"/>
          </a:xfrm>
          <a:prstGeom prst="rect">
            <a:avLst/>
          </a:prstGeom>
          <a:ln>
            <a:solidFill>
              <a:schemeClr val="bg1"/>
            </a:solidFill>
          </a:ln>
        </p:spPr>
      </p:pic>
    </p:spTree>
    <p:extLst>
      <p:ext uri="{BB962C8B-B14F-4D97-AF65-F5344CB8AC3E}">
        <p14:creationId xmlns:p14="http://schemas.microsoft.com/office/powerpoint/2010/main" val="3412109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How it works behind scenes</a:t>
            </a:r>
            <a:endParaRPr lang="en-IN" dirty="0"/>
          </a:p>
        </p:txBody>
      </p:sp>
      <p:pic>
        <p:nvPicPr>
          <p:cNvPr id="4" name="Picture 3" descr="Icon&#10;&#10;Description automatically generated">
            <a:extLst>
              <a:ext uri="{FF2B5EF4-FFF2-40B4-BE49-F238E27FC236}">
                <a16:creationId xmlns:a16="http://schemas.microsoft.com/office/drawing/2014/main" id="{814846B4-B965-238F-DDE0-4674D196BA3B}"/>
              </a:ext>
            </a:extLst>
          </p:cNvPr>
          <p:cNvPicPr>
            <a:picLocks noChangeAspect="1"/>
          </p:cNvPicPr>
          <p:nvPr/>
        </p:nvPicPr>
        <p:blipFill rotWithShape="1">
          <a:blip r:embed="rId2" cstate="print">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1512" t="9401" r="10243" b="17538"/>
          <a:stretch/>
        </p:blipFill>
        <p:spPr>
          <a:xfrm>
            <a:off x="306857" y="773693"/>
            <a:ext cx="982807" cy="991115"/>
          </a:xfrm>
          <a:prstGeom prst="rect">
            <a:avLst/>
          </a:prstGeom>
          <a:ln>
            <a:solidFill>
              <a:schemeClr val="bg1"/>
            </a:solidFill>
          </a:ln>
        </p:spPr>
      </p:pic>
      <p:sp>
        <p:nvSpPr>
          <p:cNvPr id="5" name="Rectangle 4">
            <a:extLst>
              <a:ext uri="{FF2B5EF4-FFF2-40B4-BE49-F238E27FC236}">
                <a16:creationId xmlns:a16="http://schemas.microsoft.com/office/drawing/2014/main" id="{AB771F5C-5323-B558-B82A-B5BD808B9CD2}"/>
              </a:ext>
            </a:extLst>
          </p:cNvPr>
          <p:cNvSpPr/>
          <p:nvPr/>
        </p:nvSpPr>
        <p:spPr>
          <a:xfrm>
            <a:off x="4536797" y="1917179"/>
            <a:ext cx="2015699" cy="863871"/>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App</a:t>
            </a:r>
          </a:p>
        </p:txBody>
      </p:sp>
      <p:cxnSp>
        <p:nvCxnSpPr>
          <p:cNvPr id="6" name="Straight Arrow Connector 5">
            <a:extLst>
              <a:ext uri="{FF2B5EF4-FFF2-40B4-BE49-F238E27FC236}">
                <a16:creationId xmlns:a16="http://schemas.microsoft.com/office/drawing/2014/main" id="{FC337487-243A-994B-4FAA-77EE83073B1D}"/>
              </a:ext>
            </a:extLst>
          </p:cNvPr>
          <p:cNvCxnSpPr>
            <a:cxnSpLocks/>
            <a:endCxn id="5" idx="1"/>
          </p:cNvCxnSpPr>
          <p:nvPr/>
        </p:nvCxnSpPr>
        <p:spPr>
          <a:xfrm>
            <a:off x="1415112" y="2349114"/>
            <a:ext cx="31216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B1E2EEC2-0FD1-4EF2-2CEF-862F70DDF4F5}"/>
              </a:ext>
            </a:extLst>
          </p:cNvPr>
          <p:cNvSpPr/>
          <p:nvPr/>
        </p:nvSpPr>
        <p:spPr>
          <a:xfrm>
            <a:off x="6382444" y="2699961"/>
            <a:ext cx="1511774" cy="431935"/>
          </a:xfrm>
          <a:prstGeom prst="rect">
            <a:avLst/>
          </a:prstGeom>
          <a:ln>
            <a:solidFill>
              <a:schemeClr val="bg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defTabSz="1218621"/>
            <a:r>
              <a:rPr lang="en-US" sz="2399" dirty="0" err="1">
                <a:solidFill>
                  <a:prstClr val="white"/>
                </a:solidFill>
                <a:latin typeface="Segoe UI"/>
              </a:rPr>
              <a:t>ourxsuaa</a:t>
            </a:r>
            <a:endParaRPr lang="en-US" sz="2399" dirty="0">
              <a:solidFill>
                <a:prstClr val="white"/>
              </a:solidFill>
              <a:latin typeface="Segoe UI"/>
            </a:endParaRPr>
          </a:p>
        </p:txBody>
      </p:sp>
      <p:sp>
        <p:nvSpPr>
          <p:cNvPr id="8" name="Rectangle 7">
            <a:extLst>
              <a:ext uri="{FF2B5EF4-FFF2-40B4-BE49-F238E27FC236}">
                <a16:creationId xmlns:a16="http://schemas.microsoft.com/office/drawing/2014/main" id="{79496F2E-B052-6CF3-F4F6-A3F880430DE7}"/>
              </a:ext>
            </a:extLst>
          </p:cNvPr>
          <p:cNvSpPr/>
          <p:nvPr/>
        </p:nvSpPr>
        <p:spPr>
          <a:xfrm>
            <a:off x="4766365" y="1648114"/>
            <a:ext cx="1511774" cy="431935"/>
          </a:xfrm>
          <a:prstGeom prst="rect">
            <a:avLst/>
          </a:prstGeom>
          <a:ln>
            <a:solidFill>
              <a:schemeClr val="bg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defTabSz="1218621"/>
            <a:r>
              <a:rPr lang="en-US" sz="1100" dirty="0">
                <a:solidFill>
                  <a:prstClr val="white"/>
                </a:solidFill>
                <a:latin typeface="Segoe UI"/>
              </a:rPr>
              <a:t>code</a:t>
            </a:r>
          </a:p>
        </p:txBody>
      </p:sp>
      <p:cxnSp>
        <p:nvCxnSpPr>
          <p:cNvPr id="9" name="Straight Arrow Connector 8">
            <a:extLst>
              <a:ext uri="{FF2B5EF4-FFF2-40B4-BE49-F238E27FC236}">
                <a16:creationId xmlns:a16="http://schemas.microsoft.com/office/drawing/2014/main" id="{C1E86AEA-54EF-33A3-5854-9BC5C342905A}"/>
              </a:ext>
            </a:extLst>
          </p:cNvPr>
          <p:cNvCxnSpPr>
            <a:cxnSpLocks/>
          </p:cNvCxnSpPr>
          <p:nvPr/>
        </p:nvCxnSpPr>
        <p:spPr>
          <a:xfrm flipH="1">
            <a:off x="1289663" y="2603549"/>
            <a:ext cx="324713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DD80DE9-A6FA-9AF2-B628-38DF7869A775}"/>
              </a:ext>
            </a:extLst>
          </p:cNvPr>
          <p:cNvSpPr/>
          <p:nvPr/>
        </p:nvSpPr>
        <p:spPr>
          <a:xfrm>
            <a:off x="191294" y="2061206"/>
            <a:ext cx="1151828" cy="71984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1800" dirty="0">
                <a:solidFill>
                  <a:prstClr val="white"/>
                </a:solidFill>
                <a:latin typeface="Segoe UI"/>
              </a:rPr>
              <a:t>Browser</a:t>
            </a:r>
          </a:p>
          <a:p>
            <a:pPr algn="ctr" defTabSz="1218621"/>
            <a:r>
              <a:rPr lang="en-US" sz="1800" dirty="0">
                <a:solidFill>
                  <a:prstClr val="white"/>
                </a:solidFill>
                <a:latin typeface="Segoe UI"/>
              </a:rPr>
              <a:t>postman</a:t>
            </a:r>
          </a:p>
        </p:txBody>
      </p:sp>
      <p:cxnSp>
        <p:nvCxnSpPr>
          <p:cNvPr id="11" name="Straight Arrow Connector 10">
            <a:extLst>
              <a:ext uri="{FF2B5EF4-FFF2-40B4-BE49-F238E27FC236}">
                <a16:creationId xmlns:a16="http://schemas.microsoft.com/office/drawing/2014/main" id="{571200EF-86F1-DED3-88FA-2AE359C65A33}"/>
              </a:ext>
            </a:extLst>
          </p:cNvPr>
          <p:cNvCxnSpPr>
            <a:cxnSpLocks/>
            <a:stCxn id="10" idx="2"/>
          </p:cNvCxnSpPr>
          <p:nvPr/>
        </p:nvCxnSpPr>
        <p:spPr>
          <a:xfrm>
            <a:off x="767209" y="2781052"/>
            <a:ext cx="3769589" cy="146476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944D77AC-6B43-B0F9-C898-A96C51C6F15E}"/>
              </a:ext>
            </a:extLst>
          </p:cNvPr>
          <p:cNvSpPr/>
          <p:nvPr/>
        </p:nvSpPr>
        <p:spPr>
          <a:xfrm>
            <a:off x="4536797" y="4051173"/>
            <a:ext cx="2015699" cy="863871"/>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XSUAA</a:t>
            </a:r>
          </a:p>
        </p:txBody>
      </p:sp>
      <p:cxnSp>
        <p:nvCxnSpPr>
          <p:cNvPr id="13" name="Straight Arrow Connector 12">
            <a:extLst>
              <a:ext uri="{FF2B5EF4-FFF2-40B4-BE49-F238E27FC236}">
                <a16:creationId xmlns:a16="http://schemas.microsoft.com/office/drawing/2014/main" id="{40E1B0E9-F615-7826-1EFF-CC76DA4E6B5A}"/>
              </a:ext>
            </a:extLst>
          </p:cNvPr>
          <p:cNvCxnSpPr>
            <a:cxnSpLocks/>
            <a:stCxn id="12" idx="1"/>
          </p:cNvCxnSpPr>
          <p:nvPr/>
        </p:nvCxnSpPr>
        <p:spPr>
          <a:xfrm flipH="1" flipV="1">
            <a:off x="479252" y="2853088"/>
            <a:ext cx="4057546" cy="163002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A744B89-AE01-1AFE-2D0C-7B80EAD834E7}"/>
              </a:ext>
            </a:extLst>
          </p:cNvPr>
          <p:cNvCxnSpPr/>
          <p:nvPr/>
        </p:nvCxnSpPr>
        <p:spPr>
          <a:xfrm>
            <a:off x="191294" y="2806829"/>
            <a:ext cx="0" cy="263787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DA7D5A2F-2282-43D3-91D7-A4E86F116D4C}"/>
              </a:ext>
            </a:extLst>
          </p:cNvPr>
          <p:cNvSpPr/>
          <p:nvPr/>
        </p:nvSpPr>
        <p:spPr>
          <a:xfrm>
            <a:off x="119304" y="5444701"/>
            <a:ext cx="1655753" cy="71984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IdP</a:t>
            </a:r>
          </a:p>
        </p:txBody>
      </p:sp>
      <p:pic>
        <p:nvPicPr>
          <p:cNvPr id="16" name="Picture 15">
            <a:extLst>
              <a:ext uri="{FF2B5EF4-FFF2-40B4-BE49-F238E27FC236}">
                <a16:creationId xmlns:a16="http://schemas.microsoft.com/office/drawing/2014/main" id="{E6BA8F46-8075-2E91-8004-686B5EF95376}"/>
              </a:ext>
            </a:extLst>
          </p:cNvPr>
          <p:cNvPicPr>
            <a:picLocks noChangeAspect="1"/>
          </p:cNvPicPr>
          <p:nvPr/>
        </p:nvPicPr>
        <p:blipFill>
          <a:blip r:embed="rId4"/>
          <a:stretch>
            <a:fillRect/>
          </a:stretch>
        </p:blipFill>
        <p:spPr>
          <a:xfrm>
            <a:off x="5950433" y="5114448"/>
            <a:ext cx="2015699" cy="1361082"/>
          </a:xfrm>
          <a:prstGeom prst="rect">
            <a:avLst/>
          </a:prstGeom>
          <a:ln>
            <a:solidFill>
              <a:schemeClr val="bg1"/>
            </a:solidFill>
          </a:ln>
        </p:spPr>
      </p:pic>
      <p:pic>
        <p:nvPicPr>
          <p:cNvPr id="17" name="Picture 16">
            <a:extLst>
              <a:ext uri="{FF2B5EF4-FFF2-40B4-BE49-F238E27FC236}">
                <a16:creationId xmlns:a16="http://schemas.microsoft.com/office/drawing/2014/main" id="{F06141F9-53BD-36FF-9942-866DDB500278}"/>
              </a:ext>
            </a:extLst>
          </p:cNvPr>
          <p:cNvPicPr>
            <a:picLocks noChangeAspect="1"/>
          </p:cNvPicPr>
          <p:nvPr/>
        </p:nvPicPr>
        <p:blipFill>
          <a:blip r:embed="rId5"/>
          <a:stretch>
            <a:fillRect/>
          </a:stretch>
        </p:blipFill>
        <p:spPr>
          <a:xfrm>
            <a:off x="8057337" y="5075713"/>
            <a:ext cx="2428420" cy="1390183"/>
          </a:xfrm>
          <a:prstGeom prst="rect">
            <a:avLst/>
          </a:prstGeom>
          <a:ln>
            <a:solidFill>
              <a:schemeClr val="bg1"/>
            </a:solidFill>
          </a:ln>
        </p:spPr>
      </p:pic>
      <p:cxnSp>
        <p:nvCxnSpPr>
          <p:cNvPr id="18" name="Straight Arrow Connector 17">
            <a:extLst>
              <a:ext uri="{FF2B5EF4-FFF2-40B4-BE49-F238E27FC236}">
                <a16:creationId xmlns:a16="http://schemas.microsoft.com/office/drawing/2014/main" id="{B3A99372-D1C6-AE14-51F0-4C81FB668B99}"/>
              </a:ext>
            </a:extLst>
          </p:cNvPr>
          <p:cNvCxnSpPr/>
          <p:nvPr/>
        </p:nvCxnSpPr>
        <p:spPr>
          <a:xfrm flipV="1">
            <a:off x="479251" y="2806829"/>
            <a:ext cx="0" cy="263787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619FBE10-64FE-EB83-3880-2BD272348A3D}"/>
              </a:ext>
            </a:extLst>
          </p:cNvPr>
          <p:cNvSpPr txBox="1"/>
          <p:nvPr/>
        </p:nvSpPr>
        <p:spPr>
          <a:xfrm>
            <a:off x="623229" y="4652819"/>
            <a:ext cx="1799731" cy="471262"/>
          </a:xfrm>
          <a:prstGeom prst="rect">
            <a:avLst/>
          </a:prstGeom>
          <a:noFill/>
          <a:ln>
            <a:noFill/>
          </a:ln>
        </p:spPr>
        <p:txBody>
          <a:bodyPr wrap="square" rtlCol="0">
            <a:spAutoFit/>
          </a:bodyPr>
          <a:lstStyle/>
          <a:p>
            <a:pPr defTabSz="1218621"/>
            <a:r>
              <a:rPr lang="en-US" sz="2399" b="1" dirty="0">
                <a:solidFill>
                  <a:prstClr val="white"/>
                </a:solidFill>
                <a:latin typeface="Segoe UI"/>
              </a:rPr>
              <a:t>SAML</a:t>
            </a:r>
          </a:p>
        </p:txBody>
      </p:sp>
      <p:cxnSp>
        <p:nvCxnSpPr>
          <p:cNvPr id="20" name="Straight Arrow Connector 19">
            <a:extLst>
              <a:ext uri="{FF2B5EF4-FFF2-40B4-BE49-F238E27FC236}">
                <a16:creationId xmlns:a16="http://schemas.microsoft.com/office/drawing/2014/main" id="{D9AF08C7-9B1E-5055-6265-B06EBF10AFCB}"/>
              </a:ext>
            </a:extLst>
          </p:cNvPr>
          <p:cNvCxnSpPr/>
          <p:nvPr/>
        </p:nvCxnSpPr>
        <p:spPr>
          <a:xfrm flipH="1">
            <a:off x="1775058" y="4854133"/>
            <a:ext cx="2761740" cy="590566"/>
          </a:xfrm>
          <a:prstGeom prst="straightConnector1">
            <a:avLst/>
          </a:prstGeom>
          <a:ln>
            <a:solidFill>
              <a:schemeClr val="bg1"/>
            </a:solidFill>
            <a:headEnd type="triangle"/>
            <a:tailEnd type="triangle"/>
          </a:ln>
        </p:spPr>
        <p:style>
          <a:lnRef idx="1">
            <a:schemeClr val="accent2"/>
          </a:lnRef>
          <a:fillRef idx="0">
            <a:schemeClr val="accent2"/>
          </a:fillRef>
          <a:effectRef idx="0">
            <a:schemeClr val="accent2"/>
          </a:effectRef>
          <a:fontRef idx="minor">
            <a:schemeClr val="tx1"/>
          </a:fontRef>
        </p:style>
      </p:cxnSp>
      <p:sp>
        <p:nvSpPr>
          <p:cNvPr id="21" name="TextBox 20">
            <a:extLst>
              <a:ext uri="{FF2B5EF4-FFF2-40B4-BE49-F238E27FC236}">
                <a16:creationId xmlns:a16="http://schemas.microsoft.com/office/drawing/2014/main" id="{68CCD73E-4261-3A94-70B7-1A81CE4325B8}"/>
              </a:ext>
            </a:extLst>
          </p:cNvPr>
          <p:cNvSpPr txBox="1"/>
          <p:nvPr/>
        </p:nvSpPr>
        <p:spPr>
          <a:xfrm>
            <a:off x="2422960" y="4915045"/>
            <a:ext cx="1079839" cy="461545"/>
          </a:xfrm>
          <a:prstGeom prst="rect">
            <a:avLst/>
          </a:prstGeom>
          <a:noFill/>
          <a:ln>
            <a:noFill/>
          </a:ln>
        </p:spPr>
        <p:txBody>
          <a:bodyPr wrap="square" rtlCol="0">
            <a:spAutoFit/>
          </a:bodyPr>
          <a:lstStyle/>
          <a:p>
            <a:pPr defTabSz="1218621"/>
            <a:r>
              <a:rPr lang="en-US" sz="2399" b="1" dirty="0">
                <a:solidFill>
                  <a:prstClr val="white"/>
                </a:solidFill>
                <a:latin typeface="Segoe UI"/>
              </a:rPr>
              <a:t>trust</a:t>
            </a:r>
          </a:p>
        </p:txBody>
      </p:sp>
      <p:sp>
        <p:nvSpPr>
          <p:cNvPr id="40" name="TextBox 39">
            <a:extLst>
              <a:ext uri="{FF2B5EF4-FFF2-40B4-BE49-F238E27FC236}">
                <a16:creationId xmlns:a16="http://schemas.microsoft.com/office/drawing/2014/main" id="{61E0A965-EFB8-7809-B73B-AB5E04FB25C2}"/>
              </a:ext>
            </a:extLst>
          </p:cNvPr>
          <p:cNvSpPr txBox="1"/>
          <p:nvPr/>
        </p:nvSpPr>
        <p:spPr>
          <a:xfrm>
            <a:off x="6614252" y="4145382"/>
            <a:ext cx="1243510" cy="461545"/>
          </a:xfrm>
          <a:prstGeom prst="rect">
            <a:avLst/>
          </a:prstGeom>
          <a:noFill/>
          <a:ln>
            <a:noFill/>
          </a:ln>
        </p:spPr>
        <p:txBody>
          <a:bodyPr wrap="square" rtlCol="0">
            <a:spAutoFit/>
          </a:bodyPr>
          <a:lstStyle/>
          <a:p>
            <a:pPr defTabSz="1218621"/>
            <a:r>
              <a:rPr lang="en-US" sz="2399" b="1" dirty="0">
                <a:solidFill>
                  <a:prstClr val="white"/>
                </a:solidFill>
                <a:latin typeface="Segoe UI"/>
              </a:rPr>
              <a:t>Scope</a:t>
            </a:r>
          </a:p>
        </p:txBody>
      </p:sp>
      <p:sp>
        <p:nvSpPr>
          <p:cNvPr id="41" name="TextBox 40">
            <a:extLst>
              <a:ext uri="{FF2B5EF4-FFF2-40B4-BE49-F238E27FC236}">
                <a16:creationId xmlns:a16="http://schemas.microsoft.com/office/drawing/2014/main" id="{E0CF7A11-09D3-9A03-994C-9B5415A0635B}"/>
              </a:ext>
            </a:extLst>
          </p:cNvPr>
          <p:cNvSpPr txBox="1"/>
          <p:nvPr/>
        </p:nvSpPr>
        <p:spPr>
          <a:xfrm>
            <a:off x="1598314" y="3429001"/>
            <a:ext cx="1112605" cy="461545"/>
          </a:xfrm>
          <a:prstGeom prst="rect">
            <a:avLst/>
          </a:prstGeom>
          <a:noFill/>
          <a:ln>
            <a:noFill/>
          </a:ln>
        </p:spPr>
        <p:txBody>
          <a:bodyPr wrap="square" rtlCol="0">
            <a:spAutoFit/>
          </a:bodyPr>
          <a:lstStyle/>
          <a:p>
            <a:pPr defTabSz="1218621"/>
            <a:r>
              <a:rPr lang="en-US" sz="2399" b="1" dirty="0">
                <a:solidFill>
                  <a:prstClr val="white"/>
                </a:solidFill>
                <a:latin typeface="Segoe UI"/>
              </a:rPr>
              <a:t>JWT</a:t>
            </a:r>
          </a:p>
        </p:txBody>
      </p:sp>
      <p:sp>
        <p:nvSpPr>
          <p:cNvPr id="42" name="TextBox 41">
            <a:extLst>
              <a:ext uri="{FF2B5EF4-FFF2-40B4-BE49-F238E27FC236}">
                <a16:creationId xmlns:a16="http://schemas.microsoft.com/office/drawing/2014/main" id="{15874FC5-7E19-DFA2-286C-82B3AB00B89A}"/>
              </a:ext>
            </a:extLst>
          </p:cNvPr>
          <p:cNvSpPr txBox="1"/>
          <p:nvPr/>
        </p:nvSpPr>
        <p:spPr>
          <a:xfrm>
            <a:off x="2356928" y="1870833"/>
            <a:ext cx="1112605" cy="461545"/>
          </a:xfrm>
          <a:prstGeom prst="rect">
            <a:avLst/>
          </a:prstGeom>
          <a:noFill/>
          <a:ln>
            <a:noFill/>
          </a:ln>
        </p:spPr>
        <p:txBody>
          <a:bodyPr wrap="square" rtlCol="0">
            <a:spAutoFit/>
          </a:bodyPr>
          <a:lstStyle/>
          <a:p>
            <a:pPr defTabSz="1218621"/>
            <a:r>
              <a:rPr lang="en-US" sz="2399" b="1" dirty="0">
                <a:solidFill>
                  <a:prstClr val="white"/>
                </a:solidFill>
                <a:latin typeface="Segoe UI"/>
              </a:rPr>
              <a:t>JWT</a:t>
            </a:r>
          </a:p>
        </p:txBody>
      </p:sp>
      <p:cxnSp>
        <p:nvCxnSpPr>
          <p:cNvPr id="43" name="Connector: Elbow 42">
            <a:extLst>
              <a:ext uri="{FF2B5EF4-FFF2-40B4-BE49-F238E27FC236}">
                <a16:creationId xmlns:a16="http://schemas.microsoft.com/office/drawing/2014/main" id="{1D0116CF-EE39-A7C8-9798-757DF33C7C88}"/>
              </a:ext>
            </a:extLst>
          </p:cNvPr>
          <p:cNvCxnSpPr>
            <a:cxnSpLocks/>
            <a:stCxn id="7" idx="2"/>
            <a:endCxn id="12" idx="0"/>
          </p:cNvCxnSpPr>
          <p:nvPr/>
        </p:nvCxnSpPr>
        <p:spPr>
          <a:xfrm rot="5400000">
            <a:off x="5881851" y="2794692"/>
            <a:ext cx="919277" cy="1593684"/>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E76D3AC8-122B-01F5-F952-46EB61FF54A8}"/>
              </a:ext>
            </a:extLst>
          </p:cNvPr>
          <p:cNvSpPr txBox="1"/>
          <p:nvPr/>
        </p:nvSpPr>
        <p:spPr>
          <a:xfrm>
            <a:off x="6342839" y="3246283"/>
            <a:ext cx="1079839" cy="461545"/>
          </a:xfrm>
          <a:prstGeom prst="rect">
            <a:avLst/>
          </a:prstGeom>
          <a:noFill/>
          <a:ln>
            <a:noFill/>
          </a:ln>
        </p:spPr>
        <p:txBody>
          <a:bodyPr wrap="square" rtlCol="0">
            <a:spAutoFit/>
          </a:bodyPr>
          <a:lstStyle/>
          <a:p>
            <a:pPr defTabSz="1218621"/>
            <a:r>
              <a:rPr lang="en-US" sz="2399" b="1" dirty="0">
                <a:solidFill>
                  <a:prstClr val="white"/>
                </a:solidFill>
                <a:latin typeface="Segoe UI"/>
              </a:rPr>
              <a:t>trust</a:t>
            </a:r>
          </a:p>
        </p:txBody>
      </p:sp>
      <p:sp>
        <p:nvSpPr>
          <p:cNvPr id="45" name="TextBox 44">
            <a:extLst>
              <a:ext uri="{FF2B5EF4-FFF2-40B4-BE49-F238E27FC236}">
                <a16:creationId xmlns:a16="http://schemas.microsoft.com/office/drawing/2014/main" id="{B0AEC2F2-77E4-4A70-FC14-BFC5C17C8189}"/>
              </a:ext>
            </a:extLst>
          </p:cNvPr>
          <p:cNvSpPr txBox="1"/>
          <p:nvPr/>
        </p:nvSpPr>
        <p:spPr>
          <a:xfrm>
            <a:off x="6614251" y="969725"/>
            <a:ext cx="5383280" cy="1568739"/>
          </a:xfrm>
          <a:prstGeom prst="rect">
            <a:avLst/>
          </a:prstGeom>
          <a:noFill/>
          <a:ln>
            <a:solidFill>
              <a:schemeClr val="bg1"/>
            </a:solidFill>
          </a:ln>
        </p:spPr>
        <p:txBody>
          <a:bodyPr wrap="square" rtlCol="0">
            <a:spAutoFit/>
          </a:bodyPr>
          <a:lstStyle/>
          <a:p>
            <a:pPr defTabSz="1218621"/>
            <a:r>
              <a:rPr lang="en-US" sz="2399" dirty="0" err="1">
                <a:solidFill>
                  <a:prstClr val="white"/>
                </a:solidFill>
                <a:latin typeface="Segoe UI"/>
              </a:rPr>
              <a:t>xs-security.json</a:t>
            </a:r>
            <a:r>
              <a:rPr lang="en-US" sz="2399" dirty="0">
                <a:solidFill>
                  <a:prstClr val="white"/>
                </a:solidFill>
                <a:latin typeface="Segoe UI"/>
              </a:rPr>
              <a:t> contains information which we need to register to define what are all permissions required in our app</a:t>
            </a:r>
          </a:p>
        </p:txBody>
      </p:sp>
      <p:pic>
        <p:nvPicPr>
          <p:cNvPr id="46" name="Picture 45" descr="Icon&#10;&#10;Description automatically generated">
            <a:extLst>
              <a:ext uri="{FF2B5EF4-FFF2-40B4-BE49-F238E27FC236}">
                <a16:creationId xmlns:a16="http://schemas.microsoft.com/office/drawing/2014/main" id="{C5D15A3F-1701-C50C-9063-827697F8AEE5}"/>
              </a:ext>
            </a:extLst>
          </p:cNvPr>
          <p:cNvPicPr>
            <a:picLocks noChangeAspect="1"/>
          </p:cNvPicPr>
          <p:nvPr/>
        </p:nvPicPr>
        <p:blipFill>
          <a:blip r:embed="rId6" cstate="print">
            <a:extLst>
              <a:ext uri="{28A0092B-C50C-407E-A947-70E740481C1C}">
                <a14:useLocalDpi xmlns:a14="http://schemas.microsoft.com/office/drawing/2010/main" val="0"/>
              </a:ext>
              <a:ext uri="{837473B0-CC2E-450A-ABE3-18F120FF3D39}">
                <a1611:picAttrSrcUrl xmlns:a1611="http://schemas.microsoft.com/office/drawing/2016/11/main" r:id="rId7"/>
              </a:ext>
            </a:extLst>
          </a:blip>
          <a:stretch>
            <a:fillRect/>
          </a:stretch>
        </p:blipFill>
        <p:spPr>
          <a:xfrm>
            <a:off x="1386852" y="5607186"/>
            <a:ext cx="666351" cy="666351"/>
          </a:xfrm>
          <a:prstGeom prst="rect">
            <a:avLst/>
          </a:prstGeom>
          <a:ln>
            <a:solidFill>
              <a:schemeClr val="bg1"/>
            </a:solidFill>
          </a:ln>
        </p:spPr>
      </p:pic>
      <mc:AlternateContent xmlns:mc="http://schemas.openxmlformats.org/markup-compatibility/2006" xmlns:p14="http://schemas.microsoft.com/office/powerpoint/2010/main">
        <mc:Choice Requires="p14">
          <p:contentPart p14:bwMode="auto" r:id="rId8">
            <p14:nvContentPartPr>
              <p14:cNvPr id="29" name="Ink 28">
                <a:extLst>
                  <a:ext uri="{FF2B5EF4-FFF2-40B4-BE49-F238E27FC236}">
                    <a16:creationId xmlns:a16="http://schemas.microsoft.com/office/drawing/2014/main" id="{80C3F50C-0F81-5543-8B72-884B7F88A756}"/>
                  </a:ext>
                </a:extLst>
              </p14:cNvPr>
              <p14:cNvContentPartPr/>
              <p14:nvPr/>
            </p14:nvContentPartPr>
            <p14:xfrm>
              <a:off x="7033478" y="3106223"/>
              <a:ext cx="484560" cy="13320"/>
            </p14:xfrm>
          </p:contentPart>
        </mc:Choice>
        <mc:Fallback xmlns="">
          <p:pic>
            <p:nvPicPr>
              <p:cNvPr id="29" name="Ink 28">
                <a:extLst>
                  <a:ext uri="{FF2B5EF4-FFF2-40B4-BE49-F238E27FC236}">
                    <a16:creationId xmlns:a16="http://schemas.microsoft.com/office/drawing/2014/main" id="{80C3F50C-0F81-5543-8B72-884B7F88A756}"/>
                  </a:ext>
                </a:extLst>
              </p:cNvPr>
              <p:cNvPicPr/>
              <p:nvPr/>
            </p:nvPicPr>
            <p:blipFill>
              <a:blip r:embed="rId85"/>
              <a:stretch>
                <a:fillRect/>
              </a:stretch>
            </p:blipFill>
            <p:spPr>
              <a:xfrm>
                <a:off x="7024478" y="3097583"/>
                <a:ext cx="502200" cy="30960"/>
              </a:xfrm>
              <a:prstGeom prst="rect">
                <a:avLst/>
              </a:prstGeom>
            </p:spPr>
          </p:pic>
        </mc:Fallback>
      </mc:AlternateContent>
    </p:spTree>
    <p:extLst>
      <p:ext uri="{BB962C8B-B14F-4D97-AF65-F5344CB8AC3E}">
        <p14:creationId xmlns:p14="http://schemas.microsoft.com/office/powerpoint/2010/main" val="4712122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Hands-on Add Security and Test Microservice</a:t>
            </a:r>
          </a:p>
        </p:txBody>
      </p:sp>
      <p:pic>
        <p:nvPicPr>
          <p:cNvPr id="1026" name="Picture 2" descr="Page 34 | Identity Access Management Images - Free Download on Freepik">
            <a:extLst>
              <a:ext uri="{FF2B5EF4-FFF2-40B4-BE49-F238E27FC236}">
                <a16:creationId xmlns:a16="http://schemas.microsoft.com/office/drawing/2014/main" id="{BB81E557-BBEB-08A0-6A2C-2FE38C6F63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8148" y="2132856"/>
            <a:ext cx="3428107" cy="342810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CFC04D6-78E0-8064-4A47-0E7C46BB694F}"/>
              </a:ext>
            </a:extLst>
          </p:cNvPr>
          <p:cNvSpPr txBox="1"/>
          <p:nvPr/>
        </p:nvSpPr>
        <p:spPr>
          <a:xfrm>
            <a:off x="189756" y="908720"/>
            <a:ext cx="6048672" cy="461665"/>
          </a:xfrm>
          <a:prstGeom prst="rect">
            <a:avLst/>
          </a:prstGeom>
          <a:noFill/>
        </p:spPr>
        <p:txBody>
          <a:bodyPr wrap="square" rtlCol="0">
            <a:spAutoFit/>
          </a:bodyPr>
          <a:lstStyle/>
          <a:p>
            <a:r>
              <a:rPr lang="en-US" dirty="0" err="1">
                <a:solidFill>
                  <a:schemeClr val="bg1"/>
                </a:solidFill>
              </a:rPr>
              <a:t>cds</a:t>
            </a:r>
            <a:r>
              <a:rPr lang="en-US" dirty="0">
                <a:solidFill>
                  <a:schemeClr val="bg1"/>
                </a:solidFill>
              </a:rPr>
              <a:t> add </a:t>
            </a:r>
            <a:r>
              <a:rPr lang="en-US" dirty="0" err="1">
                <a:solidFill>
                  <a:schemeClr val="bg1"/>
                </a:solidFill>
              </a:rPr>
              <a:t>xsuaa</a:t>
            </a:r>
            <a:endParaRPr lang="en-US" dirty="0">
              <a:solidFill>
                <a:schemeClr val="bg1"/>
              </a:solidFill>
            </a:endParaRPr>
          </a:p>
        </p:txBody>
      </p:sp>
    </p:spTree>
    <p:extLst>
      <p:ext uri="{BB962C8B-B14F-4D97-AF65-F5344CB8AC3E}">
        <p14:creationId xmlns:p14="http://schemas.microsoft.com/office/powerpoint/2010/main" val="246073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IDP – Identity Provider</a:t>
            </a:r>
            <a:endParaRPr lang="en-IN" dirty="0"/>
          </a:p>
        </p:txBody>
      </p:sp>
      <p:sp>
        <p:nvSpPr>
          <p:cNvPr id="10" name="Slide Number Placeholder 3">
            <a:extLst>
              <a:ext uri="{FF2B5EF4-FFF2-40B4-BE49-F238E27FC236}">
                <a16:creationId xmlns:a16="http://schemas.microsoft.com/office/drawing/2014/main" id="{2F3035AE-3E52-4994-6211-AE55192D28F5}"/>
              </a:ext>
            </a:extLst>
          </p:cNvPr>
          <p:cNvSpPr>
            <a:spLocks noGrp="1"/>
          </p:cNvSpPr>
          <p:nvPr>
            <p:ph type="sldNum" sz="quarter" idx="12"/>
          </p:nvPr>
        </p:nvSpPr>
        <p:spPr>
          <a:xfrm flipH="1">
            <a:off x="11637584" y="6596527"/>
            <a:ext cx="218945" cy="143978"/>
          </a:xfrm>
          <a:ln>
            <a:solidFill>
              <a:schemeClr val="bg1"/>
            </a:solidFill>
          </a:ln>
        </p:spPr>
        <p:txBody>
          <a:bodyPr/>
          <a:lstStyle/>
          <a:p>
            <a:pPr defTabSz="1218621"/>
            <a:fld id="{96E69268-9C8B-4EBF-A9EE-DC5DC2D48DC3}" type="slidenum">
              <a:rPr lang="en-US">
                <a:solidFill>
                  <a:prstClr val="white"/>
                </a:solidFill>
                <a:latin typeface="Segoe UI"/>
              </a:rPr>
              <a:pPr defTabSz="1218621"/>
              <a:t>8</a:t>
            </a:fld>
            <a:endParaRPr lang="en-US" dirty="0">
              <a:solidFill>
                <a:prstClr val="white"/>
              </a:solidFill>
              <a:latin typeface="Segoe UI Black" panose="020B0A02040204020203" pitchFamily="34" charset="0"/>
              <a:ea typeface="Segoe UI Black" panose="020B0A02040204020203" pitchFamily="34" charset="0"/>
            </a:endParaRPr>
          </a:p>
        </p:txBody>
      </p:sp>
      <p:sp>
        <p:nvSpPr>
          <p:cNvPr id="11" name="TextBox 10">
            <a:extLst>
              <a:ext uri="{FF2B5EF4-FFF2-40B4-BE49-F238E27FC236}">
                <a16:creationId xmlns:a16="http://schemas.microsoft.com/office/drawing/2014/main" id="{2362F458-B5B7-154C-F189-BA5A239E04AA}"/>
              </a:ext>
            </a:extLst>
          </p:cNvPr>
          <p:cNvSpPr txBox="1"/>
          <p:nvPr/>
        </p:nvSpPr>
        <p:spPr>
          <a:xfrm>
            <a:off x="191294" y="745067"/>
            <a:ext cx="11806237" cy="830781"/>
          </a:xfrm>
          <a:prstGeom prst="rect">
            <a:avLst/>
          </a:prstGeom>
          <a:noFill/>
          <a:ln>
            <a:noFill/>
          </a:ln>
        </p:spPr>
        <p:txBody>
          <a:bodyPr wrap="square" rtlCol="0">
            <a:spAutoFit/>
          </a:bodyPr>
          <a:lstStyle/>
          <a:p>
            <a:pPr defTabSz="1218621"/>
            <a:r>
              <a:rPr lang="en-US" sz="1600" dirty="0">
                <a:solidFill>
                  <a:prstClr val="white"/>
                </a:solidFill>
                <a:latin typeface="Segoe UI"/>
              </a:rPr>
              <a:t>An identity provider is a software or group of software which stores all the user credentials and their scopes (roles) in itself. This will centralize the user management in company and simplify the login process to different apps. This way user do not need to remember multiple passwords to multiple apps.</a:t>
            </a:r>
            <a:endParaRPr lang="en-IN" sz="1600" dirty="0">
              <a:solidFill>
                <a:prstClr val="white"/>
              </a:solidFill>
              <a:latin typeface="Segoe UI"/>
            </a:endParaRPr>
          </a:p>
        </p:txBody>
      </p:sp>
      <p:sp>
        <p:nvSpPr>
          <p:cNvPr id="12" name="Rectangle 11">
            <a:extLst>
              <a:ext uri="{FF2B5EF4-FFF2-40B4-BE49-F238E27FC236}">
                <a16:creationId xmlns:a16="http://schemas.microsoft.com/office/drawing/2014/main" id="{1713AAA2-6DEA-AA00-A36C-E150CA26CDC0}"/>
              </a:ext>
            </a:extLst>
          </p:cNvPr>
          <p:cNvSpPr/>
          <p:nvPr/>
        </p:nvSpPr>
        <p:spPr>
          <a:xfrm>
            <a:off x="3502799" y="1773200"/>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Portal</a:t>
            </a:r>
          </a:p>
        </p:txBody>
      </p:sp>
      <p:sp>
        <p:nvSpPr>
          <p:cNvPr id="13" name="Rectangle 12">
            <a:extLst>
              <a:ext uri="{FF2B5EF4-FFF2-40B4-BE49-F238E27FC236}">
                <a16:creationId xmlns:a16="http://schemas.microsoft.com/office/drawing/2014/main" id="{9E1B9187-7A51-944A-FE75-AE7CA8C09B1E}"/>
              </a:ext>
            </a:extLst>
          </p:cNvPr>
          <p:cNvSpPr/>
          <p:nvPr/>
        </p:nvSpPr>
        <p:spPr>
          <a:xfrm>
            <a:off x="3502799" y="2459418"/>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Launchpad</a:t>
            </a:r>
          </a:p>
        </p:txBody>
      </p:sp>
      <p:sp>
        <p:nvSpPr>
          <p:cNvPr id="14" name="Rectangle 13">
            <a:extLst>
              <a:ext uri="{FF2B5EF4-FFF2-40B4-BE49-F238E27FC236}">
                <a16:creationId xmlns:a16="http://schemas.microsoft.com/office/drawing/2014/main" id="{9FCB960D-CAA4-5664-1FA8-E37E384BDDA6}"/>
              </a:ext>
            </a:extLst>
          </p:cNvPr>
          <p:cNvSpPr/>
          <p:nvPr/>
        </p:nvSpPr>
        <p:spPr>
          <a:xfrm>
            <a:off x="3502799" y="3155302"/>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Dedicated SRM</a:t>
            </a:r>
          </a:p>
        </p:txBody>
      </p:sp>
      <p:sp>
        <p:nvSpPr>
          <p:cNvPr id="15" name="Rectangle 14">
            <a:extLst>
              <a:ext uri="{FF2B5EF4-FFF2-40B4-BE49-F238E27FC236}">
                <a16:creationId xmlns:a16="http://schemas.microsoft.com/office/drawing/2014/main" id="{9913C176-6984-A538-324D-90535DAEDDF5}"/>
              </a:ext>
            </a:extLst>
          </p:cNvPr>
          <p:cNvSpPr/>
          <p:nvPr/>
        </p:nvSpPr>
        <p:spPr>
          <a:xfrm>
            <a:off x="3502799" y="3838466"/>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SAP Server</a:t>
            </a:r>
          </a:p>
        </p:txBody>
      </p:sp>
      <p:sp>
        <p:nvSpPr>
          <p:cNvPr id="16" name="Rectangle 15">
            <a:extLst>
              <a:ext uri="{FF2B5EF4-FFF2-40B4-BE49-F238E27FC236}">
                <a16:creationId xmlns:a16="http://schemas.microsoft.com/office/drawing/2014/main" id="{589C4928-B238-BC26-0800-90E199EC2DA8}"/>
              </a:ext>
            </a:extLst>
          </p:cNvPr>
          <p:cNvSpPr/>
          <p:nvPr/>
        </p:nvSpPr>
        <p:spPr>
          <a:xfrm>
            <a:off x="3505536" y="4501267"/>
            <a:ext cx="1871720" cy="57591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Outlook</a:t>
            </a:r>
          </a:p>
        </p:txBody>
      </p:sp>
      <p:pic>
        <p:nvPicPr>
          <p:cNvPr id="17" name="Picture 16" descr="Icon&#10;&#10;Description automatically generated">
            <a:extLst>
              <a:ext uri="{FF2B5EF4-FFF2-40B4-BE49-F238E27FC236}">
                <a16:creationId xmlns:a16="http://schemas.microsoft.com/office/drawing/2014/main" id="{39D951F8-AAB4-A0F2-64B5-B0695D8D1380}"/>
              </a:ext>
            </a:extLst>
          </p:cNvPr>
          <p:cNvPicPr>
            <a:picLocks noChangeAspect="1"/>
          </p:cNvPicPr>
          <p:nvPr/>
        </p:nvPicPr>
        <p:blipFill rotWithShape="1">
          <a:blip r:embed="rId2" cstate="print">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1512" t="9401" r="10243" b="17538"/>
          <a:stretch/>
        </p:blipFill>
        <p:spPr>
          <a:xfrm>
            <a:off x="407263" y="1853558"/>
            <a:ext cx="982807" cy="991115"/>
          </a:xfrm>
          <a:prstGeom prst="rect">
            <a:avLst/>
          </a:prstGeom>
          <a:ln>
            <a:solidFill>
              <a:schemeClr val="bg1"/>
            </a:solidFill>
          </a:ln>
        </p:spPr>
      </p:pic>
      <p:sp>
        <p:nvSpPr>
          <p:cNvPr id="18" name="Rectangle 17">
            <a:extLst>
              <a:ext uri="{FF2B5EF4-FFF2-40B4-BE49-F238E27FC236}">
                <a16:creationId xmlns:a16="http://schemas.microsoft.com/office/drawing/2014/main" id="{36D70D1E-84DF-C8FB-E0C6-192510CBE30B}"/>
              </a:ext>
            </a:extLst>
          </p:cNvPr>
          <p:cNvSpPr/>
          <p:nvPr/>
        </p:nvSpPr>
        <p:spPr>
          <a:xfrm>
            <a:off x="389118" y="3807751"/>
            <a:ext cx="982807" cy="53347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SSO</a:t>
            </a:r>
          </a:p>
        </p:txBody>
      </p:sp>
      <p:sp>
        <p:nvSpPr>
          <p:cNvPr id="19" name="TextBox 18">
            <a:extLst>
              <a:ext uri="{FF2B5EF4-FFF2-40B4-BE49-F238E27FC236}">
                <a16:creationId xmlns:a16="http://schemas.microsoft.com/office/drawing/2014/main" id="{8E35FBE6-EE4A-7358-7C15-CA18584BCB9F}"/>
              </a:ext>
            </a:extLst>
          </p:cNvPr>
          <p:cNvSpPr txBox="1"/>
          <p:nvPr/>
        </p:nvSpPr>
        <p:spPr>
          <a:xfrm>
            <a:off x="107446" y="4582175"/>
            <a:ext cx="3239516" cy="1076937"/>
          </a:xfrm>
          <a:prstGeom prst="rect">
            <a:avLst/>
          </a:prstGeom>
          <a:noFill/>
          <a:ln>
            <a:noFill/>
          </a:ln>
        </p:spPr>
        <p:txBody>
          <a:bodyPr wrap="square" rtlCol="0">
            <a:spAutoFit/>
          </a:bodyPr>
          <a:lstStyle/>
          <a:p>
            <a:pPr marL="342797" indent="-342797" defTabSz="1218621">
              <a:buFont typeface="Arial" panose="020B0604020202020204" pitchFamily="34" charset="0"/>
              <a:buChar char="•"/>
            </a:pPr>
            <a:r>
              <a:rPr lang="en-US" sz="1600" dirty="0">
                <a:solidFill>
                  <a:prstClr val="white"/>
                </a:solidFill>
                <a:latin typeface="Segoe UI"/>
              </a:rPr>
              <a:t>User/email/password</a:t>
            </a:r>
          </a:p>
          <a:p>
            <a:pPr marL="342797" indent="-342797" defTabSz="1218621">
              <a:buFont typeface="Arial" panose="020B0604020202020204" pitchFamily="34" charset="0"/>
              <a:buChar char="•"/>
            </a:pPr>
            <a:r>
              <a:rPr lang="en-US" sz="1600" dirty="0">
                <a:solidFill>
                  <a:prstClr val="white"/>
                </a:solidFill>
                <a:latin typeface="Segoe UI"/>
              </a:rPr>
              <a:t>Single source of truth</a:t>
            </a:r>
          </a:p>
          <a:p>
            <a:pPr marL="342797" indent="-342797" defTabSz="1218621">
              <a:buFont typeface="Arial" panose="020B0604020202020204" pitchFamily="34" charset="0"/>
              <a:buChar char="•"/>
            </a:pPr>
            <a:r>
              <a:rPr lang="en-US" sz="1600" dirty="0">
                <a:solidFill>
                  <a:prstClr val="white"/>
                </a:solidFill>
                <a:latin typeface="Segoe UI"/>
              </a:rPr>
              <a:t>Trust relation</a:t>
            </a:r>
          </a:p>
          <a:p>
            <a:pPr marL="342797" indent="-342797" defTabSz="1218621">
              <a:buFont typeface="Arial" panose="020B0604020202020204" pitchFamily="34" charset="0"/>
              <a:buChar char="•"/>
            </a:pPr>
            <a:r>
              <a:rPr lang="en-US" sz="1600" dirty="0">
                <a:solidFill>
                  <a:prstClr val="white"/>
                </a:solidFill>
                <a:latin typeface="Segoe UI"/>
              </a:rPr>
              <a:t>Scope- clerk, manager, </a:t>
            </a:r>
            <a:r>
              <a:rPr lang="en-US" sz="1600" dirty="0" err="1">
                <a:solidFill>
                  <a:prstClr val="white"/>
                </a:solidFill>
                <a:latin typeface="Segoe UI"/>
              </a:rPr>
              <a:t>ceo</a:t>
            </a:r>
            <a:endParaRPr lang="en-US" sz="1600" dirty="0">
              <a:solidFill>
                <a:prstClr val="white"/>
              </a:solidFill>
              <a:latin typeface="Segoe UI"/>
            </a:endParaRPr>
          </a:p>
        </p:txBody>
      </p:sp>
      <p:cxnSp>
        <p:nvCxnSpPr>
          <p:cNvPr id="20" name="Connector: Elbow 19">
            <a:extLst>
              <a:ext uri="{FF2B5EF4-FFF2-40B4-BE49-F238E27FC236}">
                <a16:creationId xmlns:a16="http://schemas.microsoft.com/office/drawing/2014/main" id="{A06E4B9A-E55F-7DAF-07FF-C736E0A752F5}"/>
              </a:ext>
            </a:extLst>
          </p:cNvPr>
          <p:cNvCxnSpPr>
            <a:stCxn id="18" idx="3"/>
            <a:endCxn id="12" idx="1"/>
          </p:cNvCxnSpPr>
          <p:nvPr/>
        </p:nvCxnSpPr>
        <p:spPr>
          <a:xfrm flipV="1">
            <a:off x="1371925" y="2061157"/>
            <a:ext cx="2130876" cy="2013332"/>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1" name="Connector: Elbow 20">
            <a:extLst>
              <a:ext uri="{FF2B5EF4-FFF2-40B4-BE49-F238E27FC236}">
                <a16:creationId xmlns:a16="http://schemas.microsoft.com/office/drawing/2014/main" id="{56443317-E2EA-2C86-ECE8-16E203402076}"/>
              </a:ext>
            </a:extLst>
          </p:cNvPr>
          <p:cNvCxnSpPr>
            <a:stCxn id="18" idx="3"/>
            <a:endCxn id="13" idx="1"/>
          </p:cNvCxnSpPr>
          <p:nvPr/>
        </p:nvCxnSpPr>
        <p:spPr>
          <a:xfrm flipV="1">
            <a:off x="1371925" y="2747375"/>
            <a:ext cx="2130876" cy="1327114"/>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Connector: Elbow 21">
            <a:extLst>
              <a:ext uri="{FF2B5EF4-FFF2-40B4-BE49-F238E27FC236}">
                <a16:creationId xmlns:a16="http://schemas.microsoft.com/office/drawing/2014/main" id="{08849323-73AD-A813-42B8-53A87C2E44C2}"/>
              </a:ext>
            </a:extLst>
          </p:cNvPr>
          <p:cNvCxnSpPr>
            <a:stCxn id="18" idx="3"/>
            <a:endCxn id="16" idx="1"/>
          </p:cNvCxnSpPr>
          <p:nvPr/>
        </p:nvCxnSpPr>
        <p:spPr>
          <a:xfrm>
            <a:off x="1371923" y="4074490"/>
            <a:ext cx="2133612" cy="714735"/>
          </a:xfrm>
          <a:prstGeom prst="bentConnector3">
            <a:avLst>
              <a:gd name="adj1" fmla="val 68889"/>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B4AB3834-6AC9-C350-02E7-3D7213F7E79A}"/>
              </a:ext>
            </a:extLst>
          </p:cNvPr>
          <p:cNvCxnSpPr>
            <a:stCxn id="18" idx="3"/>
            <a:endCxn id="14" idx="1"/>
          </p:cNvCxnSpPr>
          <p:nvPr/>
        </p:nvCxnSpPr>
        <p:spPr>
          <a:xfrm flipV="1">
            <a:off x="1371925" y="3443259"/>
            <a:ext cx="2130876" cy="631230"/>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39DA4809-328C-6EED-69FE-2327C386C972}"/>
              </a:ext>
            </a:extLst>
          </p:cNvPr>
          <p:cNvCxnSpPr>
            <a:stCxn id="18" idx="3"/>
            <a:endCxn id="15" idx="1"/>
          </p:cNvCxnSpPr>
          <p:nvPr/>
        </p:nvCxnSpPr>
        <p:spPr>
          <a:xfrm>
            <a:off x="1371925" y="4074489"/>
            <a:ext cx="2130876" cy="51934"/>
          </a:xfrm>
          <a:prstGeom prst="bentConnector3">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5" name="Arrow: Right 24">
            <a:extLst>
              <a:ext uri="{FF2B5EF4-FFF2-40B4-BE49-F238E27FC236}">
                <a16:creationId xmlns:a16="http://schemas.microsoft.com/office/drawing/2014/main" id="{3669FCA9-87D0-AC5F-55AA-0597B8F77F08}"/>
              </a:ext>
            </a:extLst>
          </p:cNvPr>
          <p:cNvSpPr/>
          <p:nvPr/>
        </p:nvSpPr>
        <p:spPr>
          <a:xfrm>
            <a:off x="1371925" y="1989763"/>
            <a:ext cx="2130876" cy="45707"/>
          </a:xfrm>
          <a:prstGeom prst="right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endParaRPr lang="en-US" sz="2399">
              <a:solidFill>
                <a:prstClr val="white"/>
              </a:solidFill>
              <a:latin typeface="Segoe UI"/>
            </a:endParaRPr>
          </a:p>
        </p:txBody>
      </p:sp>
      <p:sp>
        <p:nvSpPr>
          <p:cNvPr id="26" name="Arrow: Down 25">
            <a:extLst>
              <a:ext uri="{FF2B5EF4-FFF2-40B4-BE49-F238E27FC236}">
                <a16:creationId xmlns:a16="http://schemas.microsoft.com/office/drawing/2014/main" id="{A8345884-5E1C-A794-D6F2-A15B553F7C24}"/>
              </a:ext>
            </a:extLst>
          </p:cNvPr>
          <p:cNvSpPr/>
          <p:nvPr/>
        </p:nvSpPr>
        <p:spPr>
          <a:xfrm rot="2714639">
            <a:off x="2318350" y="1942625"/>
            <a:ext cx="143978" cy="2185413"/>
          </a:xfrm>
          <a:prstGeom prst="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endParaRPr lang="en-US" sz="2399">
              <a:solidFill>
                <a:prstClr val="white"/>
              </a:solidFill>
              <a:latin typeface="Segoe UI"/>
            </a:endParaRPr>
          </a:p>
        </p:txBody>
      </p:sp>
      <p:pic>
        <p:nvPicPr>
          <p:cNvPr id="27" name="Picture 26" descr="Icon&#10;&#10;Description automatically generated">
            <a:extLst>
              <a:ext uri="{FF2B5EF4-FFF2-40B4-BE49-F238E27FC236}">
                <a16:creationId xmlns:a16="http://schemas.microsoft.com/office/drawing/2014/main" id="{08CC5429-0F02-836F-E9B5-6972D4792749}"/>
              </a:ext>
            </a:extLst>
          </p:cNvPr>
          <p:cNvPicPr>
            <a:picLocks noChangeAspect="1"/>
          </p:cNvPicPr>
          <p:nvPr/>
        </p:nvPicPr>
        <p:blipFill>
          <a:blip r:embed="rId4" cstate="print">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1159077" y="3706055"/>
            <a:ext cx="666351" cy="666351"/>
          </a:xfrm>
          <a:prstGeom prst="rect">
            <a:avLst/>
          </a:prstGeom>
          <a:ln>
            <a:solidFill>
              <a:schemeClr val="bg1"/>
            </a:solidFill>
          </a:ln>
        </p:spPr>
      </p:pic>
      <p:sp>
        <p:nvSpPr>
          <p:cNvPr id="28" name="Rectangle 27">
            <a:extLst>
              <a:ext uri="{FF2B5EF4-FFF2-40B4-BE49-F238E27FC236}">
                <a16:creationId xmlns:a16="http://schemas.microsoft.com/office/drawing/2014/main" id="{968180D4-9E3E-DBC4-F148-C59BD00E9B2C}"/>
              </a:ext>
            </a:extLst>
          </p:cNvPr>
          <p:cNvSpPr/>
          <p:nvPr/>
        </p:nvSpPr>
        <p:spPr>
          <a:xfrm>
            <a:off x="3505536" y="5184432"/>
            <a:ext cx="1871720" cy="374843"/>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1800" dirty="0">
                <a:solidFill>
                  <a:prstClr val="white"/>
                </a:solidFill>
                <a:latin typeface="Segoe UI"/>
              </a:rPr>
              <a:t>Our cloud app</a:t>
            </a:r>
          </a:p>
        </p:txBody>
      </p:sp>
      <p:sp>
        <p:nvSpPr>
          <p:cNvPr id="29" name="Rectangle 28">
            <a:extLst>
              <a:ext uri="{FF2B5EF4-FFF2-40B4-BE49-F238E27FC236}">
                <a16:creationId xmlns:a16="http://schemas.microsoft.com/office/drawing/2014/main" id="{10601AA0-415A-129A-44AA-F47497DD9974}"/>
              </a:ext>
            </a:extLst>
          </p:cNvPr>
          <p:cNvSpPr/>
          <p:nvPr/>
        </p:nvSpPr>
        <p:spPr>
          <a:xfrm>
            <a:off x="3502799" y="6099898"/>
            <a:ext cx="1871720" cy="777349"/>
          </a:xfrm>
          <a:prstGeom prst="rect">
            <a:avLst/>
          </a:prstGeom>
          <a:solidFill>
            <a:schemeClr val="accent2">
              <a:lumMod val="50000"/>
            </a:schemeClr>
          </a:solidFill>
          <a:ln>
            <a:solidFill>
              <a:schemeClr val="bg1"/>
            </a:solidFill>
          </a:ln>
        </p:spPr>
        <p:style>
          <a:lnRef idx="0">
            <a:schemeClr val="accent2"/>
          </a:lnRef>
          <a:fillRef idx="3">
            <a:schemeClr val="accent2"/>
          </a:fillRef>
          <a:effectRef idx="3">
            <a:schemeClr val="accent2"/>
          </a:effectRef>
          <a:fontRef idx="minor">
            <a:schemeClr val="lt1"/>
          </a:fontRef>
        </p:style>
        <p:txBody>
          <a:bodyPr rtlCol="0" anchor="ctr"/>
          <a:lstStyle/>
          <a:p>
            <a:pPr algn="ctr" defTabSz="1218621"/>
            <a:r>
              <a:rPr lang="en-US" sz="2399" dirty="0">
                <a:solidFill>
                  <a:prstClr val="white"/>
                </a:solidFill>
                <a:latin typeface="Segoe UI"/>
              </a:rPr>
              <a:t>XSUAA</a:t>
            </a:r>
          </a:p>
        </p:txBody>
      </p:sp>
      <p:cxnSp>
        <p:nvCxnSpPr>
          <p:cNvPr id="30" name="Connector: Elbow 29">
            <a:extLst>
              <a:ext uri="{FF2B5EF4-FFF2-40B4-BE49-F238E27FC236}">
                <a16:creationId xmlns:a16="http://schemas.microsoft.com/office/drawing/2014/main" id="{6B494515-9A9A-1712-7726-F5038BA946F9}"/>
              </a:ext>
            </a:extLst>
          </p:cNvPr>
          <p:cNvCxnSpPr>
            <a:cxnSpLocks/>
            <a:stCxn id="33" idx="2"/>
            <a:endCxn id="29" idx="3"/>
          </p:cNvCxnSpPr>
          <p:nvPr/>
        </p:nvCxnSpPr>
        <p:spPr>
          <a:xfrm rot="5400000">
            <a:off x="5906799" y="3961307"/>
            <a:ext cx="1994984" cy="3059543"/>
          </a:xfrm>
          <a:prstGeom prst="bentConnector2">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59AE44EF-AE51-A6DC-5A0F-D8B3211751E9}"/>
              </a:ext>
            </a:extLst>
          </p:cNvPr>
          <p:cNvSpPr/>
          <p:nvPr/>
        </p:nvSpPr>
        <p:spPr>
          <a:xfrm>
            <a:off x="5302530" y="5371853"/>
            <a:ext cx="1151828" cy="289252"/>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err="1">
                <a:solidFill>
                  <a:prstClr val="white"/>
                </a:solidFill>
                <a:latin typeface="Segoe UI"/>
              </a:rPr>
              <a:t>xsuaa</a:t>
            </a:r>
            <a:endParaRPr lang="en-US" sz="2399" dirty="0">
              <a:solidFill>
                <a:prstClr val="white"/>
              </a:solidFill>
              <a:latin typeface="Segoe UI"/>
            </a:endParaRPr>
          </a:p>
        </p:txBody>
      </p:sp>
      <p:cxnSp>
        <p:nvCxnSpPr>
          <p:cNvPr id="32" name="Straight Arrow Connector 31">
            <a:extLst>
              <a:ext uri="{FF2B5EF4-FFF2-40B4-BE49-F238E27FC236}">
                <a16:creationId xmlns:a16="http://schemas.microsoft.com/office/drawing/2014/main" id="{056403A1-F029-1521-C4A5-66552EAC5E74}"/>
              </a:ext>
            </a:extLst>
          </p:cNvPr>
          <p:cNvCxnSpPr>
            <a:endCxn id="29" idx="0"/>
          </p:cNvCxnSpPr>
          <p:nvPr/>
        </p:nvCxnSpPr>
        <p:spPr>
          <a:xfrm flipH="1">
            <a:off x="4438659" y="5559276"/>
            <a:ext cx="1511774" cy="540622"/>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Rectangle 32">
            <a:extLst>
              <a:ext uri="{FF2B5EF4-FFF2-40B4-BE49-F238E27FC236}">
                <a16:creationId xmlns:a16="http://schemas.microsoft.com/office/drawing/2014/main" id="{E2764941-BC4D-1F67-1326-598557175FB7}"/>
              </a:ext>
            </a:extLst>
          </p:cNvPr>
          <p:cNvSpPr/>
          <p:nvPr/>
        </p:nvSpPr>
        <p:spPr>
          <a:xfrm>
            <a:off x="7318229" y="3960112"/>
            <a:ext cx="2231667" cy="53347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err="1">
                <a:solidFill>
                  <a:prstClr val="white"/>
                </a:solidFill>
                <a:latin typeface="Segoe UI"/>
              </a:rPr>
              <a:t>GSuite</a:t>
            </a:r>
            <a:endParaRPr lang="en-US" sz="2399" dirty="0">
              <a:solidFill>
                <a:prstClr val="white"/>
              </a:solidFill>
              <a:latin typeface="Segoe UI"/>
            </a:endParaRPr>
          </a:p>
        </p:txBody>
      </p:sp>
      <p:sp>
        <p:nvSpPr>
          <p:cNvPr id="34" name="Rectangle 33">
            <a:extLst>
              <a:ext uri="{FF2B5EF4-FFF2-40B4-BE49-F238E27FC236}">
                <a16:creationId xmlns:a16="http://schemas.microsoft.com/office/drawing/2014/main" id="{2324E37F-AA76-6411-2D82-89A33007BA18}"/>
              </a:ext>
            </a:extLst>
          </p:cNvPr>
          <p:cNvSpPr/>
          <p:nvPr/>
        </p:nvSpPr>
        <p:spPr>
          <a:xfrm>
            <a:off x="9720709" y="3960112"/>
            <a:ext cx="2231667" cy="533475"/>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8621"/>
            <a:r>
              <a:rPr lang="en-US" sz="2399" dirty="0">
                <a:solidFill>
                  <a:prstClr val="white"/>
                </a:solidFill>
                <a:latin typeface="Segoe UI"/>
              </a:rPr>
              <a:t>LDAP</a:t>
            </a:r>
          </a:p>
        </p:txBody>
      </p:sp>
      <p:pic>
        <p:nvPicPr>
          <p:cNvPr id="35" name="Picture 34">
            <a:extLst>
              <a:ext uri="{FF2B5EF4-FFF2-40B4-BE49-F238E27FC236}">
                <a16:creationId xmlns:a16="http://schemas.microsoft.com/office/drawing/2014/main" id="{7AB56319-F7EE-8C5A-E21A-23E397AD6269}"/>
              </a:ext>
            </a:extLst>
          </p:cNvPr>
          <p:cNvPicPr>
            <a:picLocks noChangeAspect="1"/>
          </p:cNvPicPr>
          <p:nvPr/>
        </p:nvPicPr>
        <p:blipFill>
          <a:blip r:embed="rId6"/>
          <a:stretch>
            <a:fillRect/>
          </a:stretch>
        </p:blipFill>
        <p:spPr>
          <a:xfrm>
            <a:off x="6568249" y="1771665"/>
            <a:ext cx="2981648" cy="2013332"/>
          </a:xfrm>
          <a:prstGeom prst="rect">
            <a:avLst/>
          </a:prstGeom>
          <a:ln>
            <a:solidFill>
              <a:schemeClr val="bg1"/>
            </a:solidFill>
          </a:ln>
        </p:spPr>
      </p:pic>
    </p:spTree>
    <p:extLst>
      <p:ext uri="{BB962C8B-B14F-4D97-AF65-F5344CB8AC3E}">
        <p14:creationId xmlns:p14="http://schemas.microsoft.com/office/powerpoint/2010/main" val="28646856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12</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60,000+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7665</TotalTime>
  <Words>631</Words>
  <Application>Microsoft Office PowerPoint</Application>
  <PresentationFormat>Custom</PresentationFormat>
  <Paragraphs>111</Paragraphs>
  <Slides>11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Amasis MT Pro Black</vt:lpstr>
      <vt:lpstr>Arial</vt:lpstr>
      <vt:lpstr>Arial Black</vt:lpstr>
      <vt:lpstr>Calibri</vt:lpstr>
      <vt:lpstr>Cooper Black</vt:lpstr>
      <vt:lpstr>Segoe UI</vt:lpstr>
      <vt:lpstr>Segoe UI Black</vt:lpstr>
      <vt:lpstr>Segoe UI Light</vt:lpstr>
      <vt:lpstr>Office Theme</vt:lpstr>
      <vt:lpstr>SAP BTP Extension Suite Training</vt:lpstr>
      <vt:lpstr>PowerPoint Presentation</vt:lpstr>
      <vt:lpstr>Agenda – Day 12</vt:lpstr>
      <vt:lpstr>Authentication v/s Authorization</vt:lpstr>
      <vt:lpstr>IDP – Identity Provider</vt:lpstr>
      <vt:lpstr>How it works behind scenes</vt:lpstr>
      <vt:lpstr>Hands-on Add Security and Test Microservice</vt:lpstr>
      <vt:lpstr>IDP – Identity Provider</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287</cp:revision>
  <dcterms:created xsi:type="dcterms:W3CDTF">2013-09-12T13:05:01Z</dcterms:created>
  <dcterms:modified xsi:type="dcterms:W3CDTF">2026-01-28T08:09:47Z</dcterms:modified>
</cp:coreProperties>
</file>