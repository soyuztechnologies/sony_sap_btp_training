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6" r:id="rId2"/>
    <p:sldId id="4122" r:id="rId3"/>
    <p:sldId id="277" r:id="rId4"/>
    <p:sldId id="4840" r:id="rId5"/>
    <p:sldId id="4833" r:id="rId6"/>
    <p:sldId id="4834" r:id="rId7"/>
    <p:sldId id="4835" r:id="rId8"/>
    <p:sldId id="4836" r:id="rId9"/>
    <p:sldId id="4798" r:id="rId10"/>
    <p:sldId id="4787" r:id="rId11"/>
    <p:sldId id="4788" r:id="rId12"/>
    <p:sldId id="282" r:id="rId13"/>
    <p:sldId id="280" r:id="rId14"/>
    <p:sldId id="4711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ap.github.io/cloud-sdk/docs/js/getting-starte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hyperlink" Target="http://www.dribbble.com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tiff"/><Relationship Id="rId5" Type="http://schemas.openxmlformats.org/officeDocument/2006/relationships/image" Target="../media/image8.tiff"/><Relationship Id="rId4" Type="http://schemas.openxmlformats.org/officeDocument/2006/relationships/image" Target="../media/image7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17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17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Side by Side Ext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Scenario 2: Sales Order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Freestyle App and Deploy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332656"/>
            <a:ext cx="10969943" cy="711081"/>
          </a:xfrm>
        </p:spPr>
        <p:txBody>
          <a:bodyPr/>
          <a:lstStyle/>
          <a:p>
            <a:r>
              <a:rPr lang="en-US" dirty="0"/>
              <a:t>Hands on: Create Display like App for Sales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4CB00-16D0-210C-CA38-8E01C8CC8797}"/>
              </a:ext>
            </a:extLst>
          </p:cNvPr>
          <p:cNvSpPr txBox="1"/>
          <p:nvPr/>
        </p:nvSpPr>
        <p:spPr>
          <a:xfrm>
            <a:off x="189756" y="1412776"/>
            <a:ext cx="116652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Enabling an OData API on SAP S/4HANA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SAP Cloud Connector and S/4HANA for principal propagation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an SAP BTP BAS Subscription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Developing of a simple Fiori Application with the SAP Business Application Studio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Deploying the application to the HTLM5 repository service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Integrating he application into the Launchpad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DF0D5-C121-4FFF-7DE9-147BC61F721F}"/>
              </a:ext>
            </a:extLst>
          </p:cNvPr>
          <p:cNvSpPr txBox="1"/>
          <p:nvPr/>
        </p:nvSpPr>
        <p:spPr>
          <a:xfrm>
            <a:off x="117748" y="4005064"/>
            <a:ext cx="11809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Destination service – to read the destination from SAP BTP at runtime for the purpose of connection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Connectivity service – once the destination is read, it will use connectivity service to connect to our </a:t>
            </a:r>
            <a:r>
              <a:rPr lang="en-US" sz="2000" dirty="0" err="1">
                <a:solidFill>
                  <a:schemeClr val="bg1"/>
                </a:solidFill>
              </a:rPr>
              <a:t>oData</a:t>
            </a:r>
            <a:r>
              <a:rPr lang="en-US" sz="2000" dirty="0">
                <a:solidFill>
                  <a:schemeClr val="bg1"/>
                </a:solidFill>
              </a:rPr>
              <a:t> source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deployer – this will be used to deploy our app to HTML5 repository.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Repo Runtime – Will load the Fiori app when requested at runtime.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Fiori launchpad service – which displays Fiori apps as a tile.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7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EDE388-1C69-F73B-2341-9A5162010CCC}"/>
              </a:ext>
            </a:extLst>
          </p:cNvPr>
          <p:cNvSpPr/>
          <p:nvPr/>
        </p:nvSpPr>
        <p:spPr>
          <a:xfrm>
            <a:off x="9046740" y="1916832"/>
            <a:ext cx="2592288" cy="194421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SAP or Non SAP API OData which we want to reuse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99C49-CFD9-3CE2-8C2B-3299E8CADDC4}"/>
              </a:ext>
            </a:extLst>
          </p:cNvPr>
          <p:cNvSpPr/>
          <p:nvPr/>
        </p:nvSpPr>
        <p:spPr>
          <a:xfrm>
            <a:off x="3718148" y="2276872"/>
            <a:ext cx="3744416" cy="122413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CAPM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Middleware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manipulation, enrichment, Security, automation, movement, proxy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D867DC-C05A-C396-96F6-E7297E14844B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>
            <a:off x="7462564" y="2888940"/>
            <a:ext cx="158417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55E0D34-71EA-9DC5-8463-A646BB0B45D2}"/>
              </a:ext>
            </a:extLst>
          </p:cNvPr>
          <p:cNvSpPr/>
          <p:nvPr/>
        </p:nvSpPr>
        <p:spPr>
          <a:xfrm>
            <a:off x="4726260" y="4149080"/>
            <a:ext cx="1512168" cy="792088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HANA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2FC8EE1-CF00-157D-2D7E-BC12CDB70012}"/>
              </a:ext>
            </a:extLst>
          </p:cNvPr>
          <p:cNvSpPr/>
          <p:nvPr/>
        </p:nvSpPr>
        <p:spPr>
          <a:xfrm>
            <a:off x="4726260" y="3573016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2B1FAC0-1C04-B82A-A7A6-015191B7C784}"/>
              </a:ext>
            </a:extLst>
          </p:cNvPr>
          <p:cNvSpPr/>
          <p:nvPr/>
        </p:nvSpPr>
        <p:spPr>
          <a:xfrm rot="10800000">
            <a:off x="5590356" y="3559869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B93FE-659E-CEB6-6EEB-7A2BA2DCB497}"/>
              </a:ext>
            </a:extLst>
          </p:cNvPr>
          <p:cNvSpPr/>
          <p:nvPr/>
        </p:nvSpPr>
        <p:spPr>
          <a:xfrm>
            <a:off x="4366220" y="908720"/>
            <a:ext cx="2448272" cy="72008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Fiori 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298F06-C247-4BA9-CF6F-22C72B2A487B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5590356" y="1628800"/>
            <a:ext cx="0" cy="648072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0DFE58B-C58F-5FCB-5DC2-E2B7A641EF99}"/>
              </a:ext>
            </a:extLst>
          </p:cNvPr>
          <p:cNvSpPr/>
          <p:nvPr/>
        </p:nvSpPr>
        <p:spPr>
          <a:xfrm>
            <a:off x="1989956" y="2420888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E4759A3-7ED1-1123-1CD9-2B2B55223900}"/>
              </a:ext>
            </a:extLst>
          </p:cNvPr>
          <p:cNvSpPr/>
          <p:nvPr/>
        </p:nvSpPr>
        <p:spPr>
          <a:xfrm rot="10800000">
            <a:off x="1989956" y="2855170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0883C-2D2F-2F80-6B0F-3A997CA1FE9B}"/>
              </a:ext>
            </a:extLst>
          </p:cNvPr>
          <p:cNvSpPr/>
          <p:nvPr/>
        </p:nvSpPr>
        <p:spPr>
          <a:xfrm>
            <a:off x="261761" y="2132856"/>
            <a:ext cx="1584177" cy="144016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Android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SAP UI5 App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2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B31D3-E342-461D-7674-04DB2CC57CA4}"/>
              </a:ext>
            </a:extLst>
          </p:cNvPr>
          <p:cNvSpPr txBox="1"/>
          <p:nvPr/>
        </p:nvSpPr>
        <p:spPr>
          <a:xfrm>
            <a:off x="189756" y="874455"/>
            <a:ext cx="11809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cap project with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Drag drop </a:t>
            </a:r>
            <a:r>
              <a:rPr lang="en-US" sz="2000" dirty="0" err="1">
                <a:solidFill>
                  <a:schemeClr val="bg1"/>
                </a:solidFill>
              </a:rPr>
              <a:t>edmx</a:t>
            </a:r>
            <a:r>
              <a:rPr lang="en-US" sz="2000" dirty="0">
                <a:solidFill>
                  <a:schemeClr val="bg1"/>
                </a:solidFill>
              </a:rPr>
              <a:t> file downloaded from API hub and perform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import </a:t>
            </a:r>
            <a:r>
              <a:rPr lang="en-US" sz="2000" dirty="0">
                <a:solidFill>
                  <a:schemeClr val="bg1"/>
                </a:solidFill>
              </a:rPr>
              <a:t>PATH_OF_EDMX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Add a new </a:t>
            </a:r>
            <a:r>
              <a:rPr lang="en-US" sz="2000" dirty="0" err="1">
                <a:solidFill>
                  <a:schemeClr val="bg1"/>
                </a:solidFill>
              </a:rPr>
              <a:t>CatalogService.cds</a:t>
            </a:r>
            <a:r>
              <a:rPr lang="en-US" sz="2000" dirty="0">
                <a:solidFill>
                  <a:schemeClr val="bg1"/>
                </a:solidFill>
              </a:rPr>
              <a:t> and CatalogService.js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S4HANA cloud </a:t>
            </a:r>
            <a:r>
              <a:rPr lang="en-US" sz="2000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</a:t>
            </a:r>
            <a:r>
              <a:rPr lang="en-US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is SAP’s portfolio of all the type safe API (node modules) to communicate to SAP APIs.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Install the node module @sap/cloud-sdk-vdm-sales-order-service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Add the configuration to test our </a:t>
            </a:r>
            <a:r>
              <a:rPr lang="en-IN" sz="2000" dirty="0" err="1">
                <a:solidFill>
                  <a:schemeClr val="bg1"/>
                </a:solidFill>
              </a:rPr>
              <a:t>api</a:t>
            </a:r>
            <a:r>
              <a:rPr lang="en-IN" sz="2000" dirty="0">
                <a:solidFill>
                  <a:schemeClr val="bg1"/>
                </a:solidFill>
              </a:rPr>
              <a:t> locally – credentials </a:t>
            </a:r>
          </a:p>
          <a:p>
            <a:pPr marL="457200" indent="-457200"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34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517E-7184-B854-6DC3-2C27B9924D1A}"/>
              </a:ext>
            </a:extLst>
          </p:cNvPr>
          <p:cNvSpPr txBox="1"/>
          <p:nvPr/>
        </p:nvSpPr>
        <p:spPr>
          <a:xfrm>
            <a:off x="189756" y="980728"/>
            <a:ext cx="118093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folder and initialize cap project using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Go inside project and install following modules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2.1 Cloud Foundry Security - @sap/xssec, @sap/xsenv, passport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2.2 OData V2 @sap/cds-odata-v2-adapter-proxy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2.3 Serving </a:t>
            </a:r>
            <a:r>
              <a:rPr lang="en-IN" sz="2000" dirty="0" err="1">
                <a:solidFill>
                  <a:schemeClr val="bg1"/>
                </a:solidFill>
              </a:rPr>
              <a:t>odata</a:t>
            </a:r>
            <a:r>
              <a:rPr lang="en-IN" sz="2000" dirty="0">
                <a:solidFill>
                  <a:schemeClr val="bg1"/>
                </a:solidFill>
              </a:rPr>
              <a:t> v2 over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- @sap-cloud-sdk/odata-v2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2.4 To generate the service code in node </a:t>
            </a:r>
            <a:r>
              <a:rPr lang="en-IN" sz="2000" dirty="0" err="1">
                <a:solidFill>
                  <a:schemeClr val="bg1"/>
                </a:solidFill>
              </a:rPr>
              <a:t>js</a:t>
            </a:r>
            <a:r>
              <a:rPr lang="en-IN" sz="2000" dirty="0">
                <a:solidFill>
                  <a:schemeClr val="bg1"/>
                </a:solidFill>
              </a:rPr>
              <a:t>, install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generator module using @sap-cloud-sdk/generator</a:t>
            </a:r>
          </a:p>
          <a:p>
            <a:r>
              <a:rPr lang="en-IN" sz="2000" dirty="0">
                <a:solidFill>
                  <a:schemeClr val="bg1"/>
                </a:solidFill>
              </a:rPr>
              <a:t>3. Create a new folder service-spec, and </a:t>
            </a:r>
            <a:r>
              <a:rPr lang="en-IN" sz="2000" dirty="0" err="1">
                <a:solidFill>
                  <a:schemeClr val="bg1"/>
                </a:solidFill>
              </a:rPr>
              <a:t>cds</a:t>
            </a:r>
            <a:r>
              <a:rPr lang="en-IN" sz="2000" dirty="0">
                <a:solidFill>
                  <a:schemeClr val="bg1"/>
                </a:solidFill>
              </a:rPr>
              <a:t> watch, after that drag drop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of our service to the folder. It will create external folder</a:t>
            </a:r>
          </a:p>
          <a:p>
            <a:r>
              <a:rPr lang="en-IN" sz="2000" dirty="0">
                <a:solidFill>
                  <a:schemeClr val="bg1"/>
                </a:solidFill>
              </a:rPr>
              <a:t>4. Generate the JS code to automatically get all the calls which will call the service</a:t>
            </a:r>
          </a:p>
          <a:p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npx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generate-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odata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-client --input ./service-spec --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outputDir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./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srv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/sales-order-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endParaRPr lang="en-IN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Give the folder path, not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path</a:t>
            </a:r>
          </a:p>
          <a:p>
            <a:r>
              <a:rPr lang="en-IN" sz="2000" dirty="0">
                <a:solidFill>
                  <a:schemeClr val="bg1"/>
                </a:solidFill>
              </a:rPr>
              <a:t>5. Define the service definition in </a:t>
            </a:r>
            <a:r>
              <a:rPr lang="en-IN" sz="2000" dirty="0" err="1">
                <a:solidFill>
                  <a:schemeClr val="bg1"/>
                </a:solidFill>
              </a:rPr>
              <a:t>CatalogService.cds</a:t>
            </a:r>
            <a:r>
              <a:rPr lang="en-IN" sz="2000" dirty="0">
                <a:solidFill>
                  <a:schemeClr val="bg1"/>
                </a:solidFill>
              </a:rPr>
              <a:t> file by referencing from </a:t>
            </a:r>
            <a:r>
              <a:rPr lang="en-IN" sz="2000" dirty="0" err="1">
                <a:solidFill>
                  <a:schemeClr val="bg1"/>
                </a:solidFill>
              </a:rPr>
              <a:t>csn</a:t>
            </a:r>
            <a:r>
              <a:rPr lang="en-IN" sz="2000" dirty="0">
                <a:solidFill>
                  <a:schemeClr val="bg1"/>
                </a:solidFill>
              </a:rPr>
              <a:t> file generated based on SAP OData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6. Define the service implementation CatalogService.js file and write the code to use the generated type script modules which will act like bridge to communicate to our SAP OData Business API.</a:t>
            </a:r>
          </a:p>
          <a:p>
            <a:r>
              <a:rPr lang="en-IN" sz="2000" dirty="0">
                <a:solidFill>
                  <a:schemeClr val="bg1"/>
                </a:solidFill>
              </a:rPr>
              <a:t>7. Generate a Fiori application using free style with local cap project. </a:t>
            </a:r>
          </a:p>
        </p:txBody>
      </p:sp>
    </p:spTree>
    <p:extLst>
      <p:ext uri="{BB962C8B-B14F-4D97-AF65-F5344CB8AC3E}">
        <p14:creationId xmlns:p14="http://schemas.microsoft.com/office/powerpoint/2010/main" val="366658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7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7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4D82-70AA-2D55-B8BE-4C85B34A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693-4654-2F3D-E4B0-13F99887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29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84C-7FDF-0A54-F147-9C740DC5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A7F2-5068-B234-96CA-9AACF8FF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37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17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8903</TotalTime>
  <Words>932</Words>
  <Application>Microsoft Office PowerPoint</Application>
  <PresentationFormat>Custom</PresentationFormat>
  <Paragraphs>99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Amasis MT Pro Black</vt:lpstr>
      <vt:lpstr>Arial</vt:lpstr>
      <vt:lpstr>Arial Black</vt:lpstr>
      <vt:lpstr>BentonSansRegular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17</vt:lpstr>
      <vt:lpstr>Hands on: Create Display like App for Sales Order</vt:lpstr>
      <vt:lpstr>Scenario 2: </vt:lpstr>
      <vt:lpstr>Hands on: Initialize CAPM Extension</vt:lpstr>
      <vt:lpstr>Hands on: Initialize CAPM Extension</vt:lpstr>
      <vt:lpstr>Hands on Cloud Extension</vt:lpstr>
      <vt:lpstr>Hands on Cloud Extension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319</cp:revision>
  <dcterms:created xsi:type="dcterms:W3CDTF">2013-09-12T13:05:01Z</dcterms:created>
  <dcterms:modified xsi:type="dcterms:W3CDTF">2026-02-10T08:35:34Z</dcterms:modified>
</cp:coreProperties>
</file>