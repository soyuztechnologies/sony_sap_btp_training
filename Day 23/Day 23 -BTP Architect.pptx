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14"/>
  </p:notesMasterIdLst>
  <p:sldIdLst>
    <p:sldId id="276" r:id="rId3"/>
    <p:sldId id="4122" r:id="rId4"/>
    <p:sldId id="277" r:id="rId5"/>
    <p:sldId id="519" r:id="rId6"/>
    <p:sldId id="566" r:id="rId7"/>
    <p:sldId id="303" r:id="rId8"/>
    <p:sldId id="567" r:id="rId9"/>
    <p:sldId id="568" r:id="rId10"/>
    <p:sldId id="282" r:id="rId11"/>
    <p:sldId id="280" r:id="rId12"/>
    <p:sldId id="4711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62" y="1498600"/>
            <a:ext cx="7008574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4799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7662" y="2209800"/>
            <a:ext cx="7008574" cy="12192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4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79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</p:spPr>
        <p:txBody>
          <a:bodyPr anchor="t"/>
          <a:lstStyle>
            <a:lvl1pPr algn="l">
              <a:defRPr sz="4266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48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34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790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23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68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13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58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72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99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76201"/>
            <a:ext cx="10969943" cy="812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5383398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195986" y="1295400"/>
            <a:ext cx="5383398" cy="4876800"/>
          </a:xfrm>
        </p:spPr>
        <p:txBody>
          <a:bodyPr>
            <a:normAutofit/>
          </a:bodyPr>
          <a:lstStyle>
            <a:lvl1pPr marL="0" indent="0"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21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8024310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1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96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03147" y="6375400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22045" y="2794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466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810" y="76201"/>
            <a:ext cx="658210" cy="6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52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03147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13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1092200"/>
            <a:ext cx="4010039" cy="1162051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1092201"/>
            <a:ext cx="6813892" cy="5033964"/>
          </a:xfrm>
        </p:spPr>
        <p:txBody>
          <a:bodyPr>
            <a:normAutofit/>
          </a:bodyPr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2311401"/>
            <a:ext cx="4010039" cy="3814764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732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1193799"/>
            <a:ext cx="7313295" cy="3533775"/>
          </a:xfrm>
        </p:spPr>
        <p:txBody>
          <a:bodyPr/>
          <a:lstStyle>
            <a:lvl1pPr marL="0" indent="0">
              <a:buNone/>
              <a:defRPr sz="4266"/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48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2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1396999"/>
            <a:ext cx="2742486" cy="4729164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396999"/>
            <a:ext cx="8024310" cy="47291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1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441" y="1803400"/>
            <a:ext cx="10969943" cy="1727200"/>
          </a:xfrm>
          <a:prstGeom prst="rect">
            <a:avLst/>
          </a:prstGeom>
        </p:spPr>
        <p:txBody>
          <a:bodyPr/>
          <a:lstStyle>
            <a:lvl1pPr algn="l">
              <a:defRPr sz="7998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441" y="3530600"/>
            <a:ext cx="10969943" cy="12192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3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295401"/>
            <a:ext cx="10969943" cy="4830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May 25,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7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/>
  <p:txStyles>
    <p:titleStyle>
      <a:lvl1pPr algn="l" defTabSz="1218895" rtl="0" eaLnBrk="1" latinLnBrk="0" hangingPunct="1">
        <a:spcBef>
          <a:spcPct val="0"/>
        </a:spcBef>
        <a:buNone/>
        <a:defRPr lang="en-US" sz="3732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hyperlink" Target="http://www.dribbble.co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tiff"/><Relationship Id="rId5" Type="http://schemas.openxmlformats.org/officeDocument/2006/relationships/image" Target="../media/image16.tiff"/><Relationship Id="rId4" Type="http://schemas.openxmlformats.org/officeDocument/2006/relationships/image" Target="../media/image15.tif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23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22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Scanner use case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Variables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Create SO App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3B7F-D73C-B314-685F-FE5912A6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BAD24-F3AE-4B53-2ADD-4DAA3364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6C8C1-160D-9728-CAB8-063F64A7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9AD0A5-FBCE-4FE0-50ED-4BD18899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US" sz="3333" dirty="0"/>
              <a:t>Scenario – Supplier App</a:t>
            </a:r>
            <a:endParaRPr lang="en-IN" sz="3333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CBDE5-5451-80AE-5C54-56D7560461F2}"/>
              </a:ext>
            </a:extLst>
          </p:cNvPr>
          <p:cNvSpPr txBox="1"/>
          <p:nvPr/>
        </p:nvSpPr>
        <p:spPr>
          <a:xfrm>
            <a:off x="203147" y="1438037"/>
            <a:ext cx="11680957" cy="2676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66" b="1" dirty="0"/>
              <a:t>🧑‍💼 Persona: </a:t>
            </a:r>
            <a:r>
              <a:rPr lang="en-US" sz="1866" b="1"/>
              <a:t>Jack Dowson </a:t>
            </a:r>
            <a:r>
              <a:rPr lang="en-US" sz="1866" b="1" dirty="0"/>
              <a:t>– Procurement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Age:</a:t>
            </a:r>
            <a:r>
              <a:rPr lang="en-US" sz="1866" dirty="0"/>
              <a:t> 34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Location:</a:t>
            </a:r>
            <a:r>
              <a:rPr lang="en-US" sz="1866" dirty="0"/>
              <a:t> Chicago, USA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Industry:</a:t>
            </a:r>
            <a:r>
              <a:rPr lang="en-US" sz="1866" dirty="0"/>
              <a:t> Manufacturing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Role:</a:t>
            </a:r>
            <a:r>
              <a:rPr lang="en-US" sz="1866" dirty="0"/>
              <a:t> Manages procurement for factory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Goals:</a:t>
            </a:r>
            <a:endParaRPr lang="en-US" sz="1866" dirty="0"/>
          </a:p>
          <a:p>
            <a:pPr marL="990352" lvl="1" indent="-380905">
              <a:buFont typeface="Arial" panose="020B0604020202020204" pitchFamily="34" charset="0"/>
              <a:buChar char="•"/>
            </a:pPr>
            <a:r>
              <a:rPr lang="en-US" sz="1866" dirty="0"/>
              <a:t>Quickly find suppliers</a:t>
            </a:r>
          </a:p>
          <a:p>
            <a:pPr marL="990352" lvl="1" indent="-380905">
              <a:buFont typeface="Arial" panose="020B0604020202020204" pitchFamily="34" charset="0"/>
              <a:buChar char="•"/>
            </a:pPr>
            <a:r>
              <a:rPr lang="en-US" sz="1866" dirty="0"/>
              <a:t>Ensure availability to take orders based on size</a:t>
            </a:r>
          </a:p>
          <a:p>
            <a:pPr marL="990352" lvl="1" indent="-380905">
              <a:buFont typeface="Arial" panose="020B0604020202020204" pitchFamily="34" charset="0"/>
              <a:buChar char="•"/>
            </a:pPr>
            <a:r>
              <a:rPr lang="en-US" sz="1866" dirty="0"/>
              <a:t>On-board new suppliers with approvals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09F02-65AB-62F5-1542-AD95FB99E009}"/>
              </a:ext>
            </a:extLst>
          </p:cNvPr>
          <p:cNvSpPr txBox="1"/>
          <p:nvPr/>
        </p:nvSpPr>
        <p:spPr>
          <a:xfrm>
            <a:off x="203146" y="4347565"/>
            <a:ext cx="6094413" cy="181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66" b="1" dirty="0"/>
              <a:t>🎯 Objective</a:t>
            </a:r>
          </a:p>
          <a:p>
            <a:pPr>
              <a:buNone/>
            </a:pPr>
            <a:r>
              <a:rPr lang="en-US" sz="1866" dirty="0"/>
              <a:t>Design a user-friendly </a:t>
            </a:r>
            <a:r>
              <a:rPr lang="en-US" sz="1866" b="1" dirty="0"/>
              <a:t>mobile app</a:t>
            </a:r>
            <a:r>
              <a:rPr lang="en-US" sz="1866" dirty="0"/>
              <a:t> that allows Alex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Browse available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View detailed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Add New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Edit Suppliers data</a:t>
            </a:r>
          </a:p>
        </p:txBody>
      </p:sp>
      <p:pic>
        <p:nvPicPr>
          <p:cNvPr id="1026" name="Picture 2" descr="Ceo Avatar PSD, High Quality Free PSD Templates for Download | Freepik">
            <a:extLst>
              <a:ext uri="{FF2B5EF4-FFF2-40B4-BE49-F238E27FC236}">
                <a16:creationId xmlns:a16="http://schemas.microsoft.com/office/drawing/2014/main" id="{8EDCFC9E-DCE1-FBC3-505A-A5232739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580" y="2060848"/>
            <a:ext cx="3717032" cy="37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18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6E87-7996-22E7-C8F4-3BB04C7C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E6596-39B5-ACC3-D2CB-773BEA31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F47D-F0A7-25E8-7A57-232EF1AC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F6E4FF-D8B1-F30D-AE81-FE5B4F6A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SAP BTP Build Process Automation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F95A9-2EF3-6962-61B8-739B7A4F6D5F}"/>
              </a:ext>
            </a:extLst>
          </p:cNvPr>
          <p:cNvSpPr txBox="1"/>
          <p:nvPr/>
        </p:nvSpPr>
        <p:spPr>
          <a:xfrm>
            <a:off x="203146" y="1302293"/>
            <a:ext cx="1137623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SAP Build Process Automation is a citizen developer solution to adapt, improve, and innovate business processes with no-code workflow management and robotic process automation capabilities.</a:t>
            </a:r>
          </a:p>
          <a:p>
            <a:pPr algn="l"/>
            <a:endParaRPr lang="en-US" sz="1600" dirty="0">
              <a:solidFill>
                <a:srgbClr val="333333"/>
              </a:solidFill>
              <a:latin typeface="72" panose="020B0503030000000003" pitchFamily="34" charset="0"/>
            </a:endParaRPr>
          </a:p>
          <a:p>
            <a:pPr algn="l"/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SAP Build Process Automation enables business users and technologists to become citizen developers. With powerful yet intuitive low-code and no-code capabilities, the solution supports you in driving automation by tapping into the expertise of citizen developers.</a:t>
            </a:r>
          </a:p>
          <a:p>
            <a:pPr algn="l"/>
            <a:endParaRPr lang="en-US" sz="1600" dirty="0">
              <a:solidFill>
                <a:srgbClr val="333333"/>
              </a:solidFill>
              <a:latin typeface="72" panose="020B0503030000000003" pitchFamily="34" charset="0"/>
            </a:endParaRPr>
          </a:p>
          <a:p>
            <a:pPr algn="l"/>
            <a:r>
              <a:rPr lang="en-US" sz="1600" b="1" dirty="0">
                <a:solidFill>
                  <a:srgbClr val="333333"/>
                </a:solidFill>
                <a:latin typeface="72" panose="020B0503030000000003" pitchFamily="34" charset="0"/>
              </a:rPr>
              <a:t>Features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Build or adapt processes with an intuitive graphical interface.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Create forms-based workflows using drag-and-drop functionality.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Develop and manage decision logic in tabular, spreadsheet-like decision tables.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Automate repetitive tasks within existing process flows using robotic process automation.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Create intelligent actions and recommendations using machine learning capabilities.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Work efficiently from a unified launchpad and task center.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Hand over projects to professional developers, who can embed actions and advanced workflows into projects initiated by citizen developers.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 Support real-time, event-driven transparency into comprehensive processes and process instances with process visibility dashboards.</a:t>
            </a:r>
          </a:p>
          <a:p>
            <a:pPr algn="l"/>
            <a:r>
              <a:rPr lang="en-US" sz="1600" dirty="0">
                <a:solidFill>
                  <a:srgbClr val="333333"/>
                </a:solidFill>
                <a:latin typeface="72" panose="020B0503030000000003" pitchFamily="34" charset="0"/>
              </a:rPr>
              <a:t>In addition, SAP Build Process Automation offers prebuilt content and features – such as bots, process steps, business rules, and workflow components.</a:t>
            </a:r>
          </a:p>
        </p:txBody>
      </p:sp>
    </p:spTree>
    <p:extLst>
      <p:ext uri="{BB962C8B-B14F-4D97-AF65-F5344CB8AC3E}">
        <p14:creationId xmlns:p14="http://schemas.microsoft.com/office/powerpoint/2010/main" val="212117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5B9C-880A-6C9C-5B1C-1CFAC6B5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930A1-BFDC-7423-6F75-FDEB9B2A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C0387-3DF0-F601-F19F-1AFDE247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16B7C2-D5F2-E63F-F090-68573DC2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46" y="362595"/>
            <a:ext cx="10969943" cy="711016"/>
          </a:xfrm>
        </p:spPr>
        <p:txBody>
          <a:bodyPr/>
          <a:lstStyle/>
          <a:p>
            <a:r>
              <a:rPr lang="en-IN" sz="3333" dirty="0"/>
              <a:t>Product Overview</a:t>
            </a:r>
          </a:p>
        </p:txBody>
      </p:sp>
      <p:pic>
        <p:nvPicPr>
          <p:cNvPr id="13314" name="Picture 2" descr="The figure illustrates the three components of SAP Build Process Automation">
            <a:extLst>
              <a:ext uri="{FF2B5EF4-FFF2-40B4-BE49-F238E27FC236}">
                <a16:creationId xmlns:a16="http://schemas.microsoft.com/office/drawing/2014/main" id="{8C1EE60A-53F8-997F-32A7-69F6EDE0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095" y="1795610"/>
            <a:ext cx="5811477" cy="245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9A8FC7-8B78-937F-3D7A-E4D1B6E419C6}"/>
              </a:ext>
            </a:extLst>
          </p:cNvPr>
          <p:cNvSpPr txBox="1"/>
          <p:nvPr/>
        </p:nvSpPr>
        <p:spPr>
          <a:xfrm>
            <a:off x="228540" y="1702250"/>
            <a:ext cx="609441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23548"/>
                </a:solidFill>
                <a:latin typeface="72 Brand Variable"/>
              </a:rPr>
              <a:t>SAP Build Process Automation is a solution that evolved out of the former stand-alone SAP products - SAP Workflow Management and SAP Intelligent Robotic Process Automation. It provides a new citizen developer experience that didn't exist in either of the two former products.</a:t>
            </a:r>
          </a:p>
          <a:p>
            <a:endParaRPr lang="en-US" sz="1600" dirty="0">
              <a:solidFill>
                <a:srgbClr val="223548"/>
              </a:solidFill>
              <a:latin typeface="72 Brand Variable"/>
            </a:endParaRPr>
          </a:p>
          <a:p>
            <a:r>
              <a:rPr lang="en-US" sz="1600" dirty="0">
                <a:solidFill>
                  <a:srgbClr val="223548"/>
                </a:solidFill>
                <a:latin typeface="72 Brand Variable"/>
              </a:rPr>
              <a:t>As you or your company might have used SAP Workflow Management or SAP Intelligent Robotic Process Automation in the past, you are looking for a path into the joined solution. Fortunately, SAP Build Process Automation is fully compatible with all workflow and automation artifacts that you have created.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1704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FF936-5D85-DD7F-A65D-9D0E2646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erson smiling at a computer&#10;&#10;Description automatically generated">
            <a:extLst>
              <a:ext uri="{FF2B5EF4-FFF2-40B4-BE49-F238E27FC236}">
                <a16:creationId xmlns:a16="http://schemas.microsoft.com/office/drawing/2014/main" id="{C5ADDAA8-09C4-2AD3-B045-D91BD84D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50"/>
          <a:stretch/>
        </p:blipFill>
        <p:spPr bwMode="auto">
          <a:xfrm>
            <a:off x="609441" y="1295956"/>
            <a:ext cx="10969943" cy="48295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C06EE-9546-B2F7-B405-F9DEF20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4515" y="6355588"/>
            <a:ext cx="3859795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dirty="0"/>
              <a:t>www.anubhavtrainings.com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BB865-FBB8-C99B-578D-A0618819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441" y="6355588"/>
            <a:ext cx="2844059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fld id="{B6F15528-21DE-4FAA-801E-634DDDAF4B2B}" type="slidenum">
              <a:rPr lang="en-US" smtClean="0"/>
              <a:pPr>
                <a:lnSpc>
                  <a:spcPct val="90000"/>
                </a:lnSpc>
                <a:spcAft>
                  <a:spcPts val="800"/>
                </a:spcAft>
              </a:pPr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3E2BCE-2B31-8239-DE9D-0379C0E5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84942"/>
            <a:ext cx="10969943" cy="711016"/>
          </a:xfrm>
        </p:spPr>
        <p:txBody>
          <a:bodyPr>
            <a:normAutofit/>
          </a:bodyPr>
          <a:lstStyle/>
          <a:p>
            <a:r>
              <a:rPr lang="en-IN" dirty="0"/>
              <a:t>Hands-on Create process for Alex</a:t>
            </a:r>
          </a:p>
        </p:txBody>
      </p:sp>
    </p:spTree>
    <p:extLst>
      <p:ext uri="{BB962C8B-B14F-4D97-AF65-F5344CB8AC3E}">
        <p14:creationId xmlns:p14="http://schemas.microsoft.com/office/powerpoint/2010/main" val="426398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26BE-246E-3CB9-BEC5-4CAE6312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D2150-2174-5A7B-C866-29655357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9C181-96E2-152C-800E-5C611BD1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96141A-E48C-8765-287D-40A518F1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/>
              <a:t>Core Components</a:t>
            </a:r>
            <a:endParaRPr lang="en-IN" sz="3333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BE8420CB-0CFF-4329-14A1-702F057FA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265" y="1864133"/>
            <a:ext cx="6094413" cy="325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4D922D-6FA8-68E0-B4AC-D0A585E10AF5}"/>
              </a:ext>
            </a:extLst>
          </p:cNvPr>
          <p:cNvSpPr txBox="1"/>
          <p:nvPr/>
        </p:nvSpPr>
        <p:spPr>
          <a:xfrm>
            <a:off x="304720" y="1662573"/>
            <a:ext cx="5383398" cy="4875530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866" b="1" dirty="0"/>
              <a:t>Lobby </a:t>
            </a:r>
            <a:r>
              <a:rPr lang="en-US" sz="1866" dirty="0"/>
              <a:t>– Centrally view and manage all build apps and business processes.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866" b="1" dirty="0"/>
              <a:t>Process Builder- </a:t>
            </a:r>
            <a:r>
              <a:rPr lang="en-US" sz="1866" dirty="0"/>
              <a:t>a LCNC design studio to design the business process and add multiple tasks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866" b="1" dirty="0"/>
              <a:t>Connectors</a:t>
            </a:r>
            <a:r>
              <a:rPr lang="en-US" sz="1866" dirty="0"/>
              <a:t> – configure connections with the systems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866" b="1" dirty="0"/>
              <a:t>Store</a:t>
            </a:r>
            <a:r>
              <a:rPr lang="en-US" sz="1866" dirty="0"/>
              <a:t> – Explore and import pre-built SAP standard process content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866" b="1" dirty="0"/>
              <a:t>Monitoring</a:t>
            </a:r>
            <a:r>
              <a:rPr lang="en-US" sz="1866" dirty="0"/>
              <a:t> – Analyze and monitor the on-going processes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866" b="1" dirty="0"/>
              <a:t>Control Tower </a:t>
            </a:r>
            <a:r>
              <a:rPr lang="en-US" sz="1866" dirty="0"/>
              <a:t>– Discover the implementation guide and configure IRPA desktop agents</a:t>
            </a:r>
          </a:p>
        </p:txBody>
      </p:sp>
    </p:spTree>
    <p:extLst>
      <p:ext uri="{BB962C8B-B14F-4D97-AF65-F5344CB8AC3E}">
        <p14:creationId xmlns:p14="http://schemas.microsoft.com/office/powerpoint/2010/main" val="342913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20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8325</TotalTime>
  <Words>631</Words>
  <Application>Microsoft Office PowerPoint</Application>
  <PresentationFormat>Custom</PresentationFormat>
  <Paragraphs>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72</vt:lpstr>
      <vt:lpstr>72 Brand Variable</vt:lpstr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1_Office Theme</vt:lpstr>
      <vt:lpstr>SAP BTP Extension Suite Training</vt:lpstr>
      <vt:lpstr>PowerPoint Presentation</vt:lpstr>
      <vt:lpstr>Agenda – Day 22</vt:lpstr>
      <vt:lpstr>Scenario – Supplier App</vt:lpstr>
      <vt:lpstr>SAP BTP Build Process Automation</vt:lpstr>
      <vt:lpstr>Product Overview</vt:lpstr>
      <vt:lpstr>Hands-on Create process for Alex</vt:lpstr>
      <vt:lpstr>Core Components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336</cp:revision>
  <dcterms:created xsi:type="dcterms:W3CDTF">2013-09-12T13:05:01Z</dcterms:created>
  <dcterms:modified xsi:type="dcterms:W3CDTF">2025-05-25T16:09:12Z</dcterms:modified>
</cp:coreProperties>
</file>