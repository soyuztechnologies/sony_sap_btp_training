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 id="2147483745" r:id="rId4"/>
  </p:sldMasterIdLst>
  <p:notesMasterIdLst>
    <p:notesMasterId r:id="rId17"/>
  </p:notesMasterIdLst>
  <p:sldIdLst>
    <p:sldId id="256" r:id="rId5"/>
    <p:sldId id="402" r:id="rId6"/>
    <p:sldId id="276" r:id="rId7"/>
    <p:sldId id="361" r:id="rId8"/>
    <p:sldId id="362" r:id="rId9"/>
    <p:sldId id="420" r:id="rId10"/>
    <p:sldId id="421" r:id="rId11"/>
    <p:sldId id="365" r:id="rId12"/>
    <p:sldId id="367" r:id="rId13"/>
    <p:sldId id="368" r:id="rId14"/>
    <p:sldId id="419" r:id="rId15"/>
    <p:sldId id="409" r:id="rId16"/>
  </p:sldIdLst>
  <p:sldSz cx="12188825" cy="6858000"/>
  <p:notesSz cx="6858000" cy="9144000"/>
  <p:embeddedFontLst>
    <p:embeddedFont>
      <p:font typeface="72 Condensed" panose="020B0506030000000003" pitchFamily="34" charset="0"/>
      <p:regular r:id="rId18"/>
      <p:bold r:id="rId19"/>
    </p:embeddedFont>
    <p:embeddedFont>
      <p:font typeface="Arial Black" panose="020B0A04020102020204" pitchFamily="34" charset="0"/>
      <p:regular r:id="rId20"/>
      <p:bold r:id="rId21"/>
    </p:embeddedFont>
    <p:embeddedFont>
      <p:font typeface="Cambria" panose="02040503050406030204" pitchFamily="18" charset="0"/>
      <p:regular r:id="rId22"/>
      <p:bold r:id="rId23"/>
      <p:italic r:id="rId24"/>
      <p:boldItalic r:id="rId25"/>
    </p:embeddedFont>
    <p:embeddedFont>
      <p:font typeface="Cooper Black" panose="0208090404030B020404" pitchFamily="18" charset="0"/>
      <p:regular r:id="rId26"/>
    </p:embeddedFont>
    <p:embeddedFont>
      <p:font typeface="Corben" panose="020B0604020202020204" charset="0"/>
      <p:bold r:id="rId27"/>
    </p:embeddedFont>
    <p:embeddedFont>
      <p:font typeface="Open Sans" panose="020B0606030504020204" pitchFamily="34" charset="0"/>
      <p:regular r:id="rId28"/>
      <p:bold r:id="rId29"/>
      <p:italic r:id="rId30"/>
      <p:boldItalic r:id="rId31"/>
    </p:embeddedFont>
    <p:embeddedFont>
      <p:font typeface="Quattrocento Sans" panose="020B0502050000020003" pitchFamily="34" charset="0"/>
      <p:regular r:id="rId32"/>
      <p:bold r:id="rId33"/>
      <p:italic r:id="rId34"/>
      <p:boldItalic r:id="rId35"/>
    </p:embeddedFont>
    <p:embeddedFont>
      <p:font typeface="Segoe UI" panose="020B0502040204020203" pitchFamily="34" charset="0"/>
      <p:regular r:id="rId36"/>
      <p:bold r:id="rId37"/>
      <p:italic r:id="rId38"/>
      <p:boldItalic r:id="rId39"/>
    </p:embeddedFont>
    <p:embeddedFont>
      <p:font typeface="Segoe UI Light" panose="020B0502040204020203" pitchFamily="34" charset="0"/>
      <p:regular r:id="rId40"/>
      <p: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80" autoAdjust="0"/>
    <p:restoredTop sz="94660"/>
  </p:normalViewPr>
  <p:slideViewPr>
    <p:cSldViewPr snapToGrid="0">
      <p:cViewPr varScale="1">
        <p:scale>
          <a:sx n="96" d="100"/>
          <a:sy n="96" d="100"/>
        </p:scale>
        <p:origin x="904" y="28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font" Target="fonts/font1.fntdata"/><Relationship Id="rId26" Type="http://schemas.openxmlformats.org/officeDocument/2006/relationships/font" Target="fonts/font9.fntdata"/><Relationship Id="rId39" Type="http://schemas.openxmlformats.org/officeDocument/2006/relationships/font" Target="fonts/font22.fntdata"/><Relationship Id="rId21" Type="http://schemas.openxmlformats.org/officeDocument/2006/relationships/font" Target="fonts/font4.fntdata"/><Relationship Id="rId34" Type="http://schemas.openxmlformats.org/officeDocument/2006/relationships/font" Target="fonts/font17.fntdata"/><Relationship Id="rId7" Type="http://schemas.openxmlformats.org/officeDocument/2006/relationships/slide" Target="slides/slide3.xml"/><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font" Target="fonts/font12.fntdata"/><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7.fntdata"/><Relationship Id="rId32" Type="http://schemas.openxmlformats.org/officeDocument/2006/relationships/font" Target="fonts/font15.fntdata"/><Relationship Id="rId37" Type="http://schemas.openxmlformats.org/officeDocument/2006/relationships/font" Target="fonts/font20.fntdata"/><Relationship Id="rId40" Type="http://schemas.openxmlformats.org/officeDocument/2006/relationships/font" Target="fonts/font23.fntdata"/><Relationship Id="rId20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6.fntdata"/><Relationship Id="rId28" Type="http://schemas.openxmlformats.org/officeDocument/2006/relationships/font" Target="fonts/font11.fntdata"/><Relationship Id="rId36" Type="http://schemas.openxmlformats.org/officeDocument/2006/relationships/font" Target="fonts/font19.fntdata"/><Relationship Id="rId203" Type="http://customschemas.google.com/relationships/presentationmetadata" Target="metadata"/><Relationship Id="rId10" Type="http://schemas.openxmlformats.org/officeDocument/2006/relationships/slide" Target="slides/slide6.xml"/><Relationship Id="rId19" Type="http://schemas.openxmlformats.org/officeDocument/2006/relationships/font" Target="fonts/font2.fntdata"/><Relationship Id="rId31" Type="http://schemas.openxmlformats.org/officeDocument/2006/relationships/font" Target="fonts/font14.fntdata"/><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font" Target="fonts/font13.fntdata"/><Relationship Id="rId35" Type="http://schemas.openxmlformats.org/officeDocument/2006/relationships/font" Target="fonts/font18.fntdata"/><Relationship Id="rId207" Type="http://schemas.openxmlformats.org/officeDocument/2006/relationships/tableStyles" Target="tableStyles.xml"/><Relationship Id="rId8" Type="http://schemas.openxmlformats.org/officeDocument/2006/relationships/slide" Target="slides/slide4.xml"/><Relationship Id="rId206"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openxmlformats.org/officeDocument/2006/relationships/font" Target="fonts/font16.fntdata"/><Relationship Id="rId38" Type="http://schemas.openxmlformats.org/officeDocument/2006/relationships/font" Target="fonts/font21.fntdata"/><Relationship Id="rId20" Type="http://schemas.openxmlformats.org/officeDocument/2006/relationships/font" Target="fonts/font3.fntdata"/><Relationship Id="rId41" Type="http://schemas.openxmlformats.org/officeDocument/2006/relationships/font" Target="fonts/font2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ixabay.com/photos/san-francisco-transamerica-pyramid-1633203/"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https://pixabay.com/photos/san-francisco-transamerica-pyramid-1633203/</a:t>
            </a:r>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12456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2"/>
        <p:cNvGrpSpPr/>
        <p:nvPr/>
      </p:nvGrpSpPr>
      <p:grpSpPr>
        <a:xfrm>
          <a:off x="0" y="0"/>
          <a:ext cx="0" cy="0"/>
          <a:chOff x="0" y="0"/>
          <a:chExt cx="0" cy="0"/>
        </a:xfrm>
      </p:grpSpPr>
      <p:sp>
        <p:nvSpPr>
          <p:cNvPr id="1883" name="Google Shape;1883;p10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4" name="Google Shape;1884;p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5"/>
        <p:cNvGrpSpPr/>
        <p:nvPr/>
      </p:nvGrpSpPr>
      <p:grpSpPr>
        <a:xfrm>
          <a:off x="0" y="0"/>
          <a:ext cx="0" cy="0"/>
          <a:chOff x="0" y="0"/>
          <a:chExt cx="0" cy="0"/>
        </a:xfrm>
      </p:grpSpPr>
      <p:sp>
        <p:nvSpPr>
          <p:cNvPr id="1896" name="Google Shape;1896;p10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97" name="Google Shape;1897;p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5"/>
        <p:cNvGrpSpPr/>
        <p:nvPr/>
      </p:nvGrpSpPr>
      <p:grpSpPr>
        <a:xfrm>
          <a:off x="0" y="0"/>
          <a:ext cx="0" cy="0"/>
          <a:chOff x="0" y="0"/>
          <a:chExt cx="0" cy="0"/>
        </a:xfrm>
      </p:grpSpPr>
      <p:sp>
        <p:nvSpPr>
          <p:cNvPr id="1816" name="Google Shape;1816;p1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7" name="Google Shape;1817;p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52978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5"/>
        <p:cNvGrpSpPr/>
        <p:nvPr/>
      </p:nvGrpSpPr>
      <p:grpSpPr>
        <a:xfrm>
          <a:off x="0" y="0"/>
          <a:ext cx="0" cy="0"/>
          <a:chOff x="0" y="0"/>
          <a:chExt cx="0" cy="0"/>
        </a:xfrm>
      </p:grpSpPr>
      <p:sp>
        <p:nvSpPr>
          <p:cNvPr id="1816" name="Google Shape;1816;p10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7" name="Google Shape;1817;p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80539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2"/>
        <p:cNvGrpSpPr/>
        <p:nvPr/>
      </p:nvGrpSpPr>
      <p:grpSpPr>
        <a:xfrm>
          <a:off x="0" y="0"/>
          <a:ext cx="0" cy="0"/>
          <a:chOff x="0" y="0"/>
          <a:chExt cx="0" cy="0"/>
        </a:xfrm>
      </p:grpSpPr>
      <p:sp>
        <p:nvSpPr>
          <p:cNvPr id="1923" name="Google Shape;1923;p1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4" name="Google Shape;1924;p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6"/>
        <p:cNvGrpSpPr/>
        <p:nvPr/>
      </p:nvGrpSpPr>
      <p:grpSpPr>
        <a:xfrm>
          <a:off x="0" y="0"/>
          <a:ext cx="0" cy="0"/>
          <a:chOff x="0" y="0"/>
          <a:chExt cx="0" cy="0"/>
        </a:xfrm>
      </p:grpSpPr>
      <p:sp>
        <p:nvSpPr>
          <p:cNvPr id="1937" name="Google Shape;1937;p1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8" name="Google Shape;1938;p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5"/>
        <p:cNvGrpSpPr/>
        <p:nvPr/>
      </p:nvGrpSpPr>
      <p:grpSpPr>
        <a:xfrm>
          <a:off x="0" y="0"/>
          <a:ext cx="0" cy="0"/>
          <a:chOff x="0" y="0"/>
          <a:chExt cx="0" cy="0"/>
        </a:xfrm>
      </p:grpSpPr>
      <p:sp>
        <p:nvSpPr>
          <p:cNvPr id="1946" name="Google Shape;1946;p1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7" name="Google Shape;1947;p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2/27/2026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059684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2/27/2026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2/27/2026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extLst>
      <p:ext uri="{BB962C8B-B14F-4D97-AF65-F5344CB8AC3E}">
        <p14:creationId xmlns:p14="http://schemas.microsoft.com/office/powerpoint/2010/main" val="13772242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extLst>
      <p:ext uri="{BB962C8B-B14F-4D97-AF65-F5344CB8AC3E}">
        <p14:creationId xmlns:p14="http://schemas.microsoft.com/office/powerpoint/2010/main" val="362356829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64108132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31975970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267903686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2316722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2/27/2026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114987907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369"/>
        <p:cNvGrpSpPr/>
        <p:nvPr/>
      </p:nvGrpSpPr>
      <p:grpSpPr>
        <a:xfrm>
          <a:off x="0" y="0"/>
          <a:ext cx="0" cy="0"/>
          <a:chOff x="0" y="0"/>
          <a:chExt cx="0" cy="0"/>
        </a:xfrm>
      </p:grpSpPr>
      <p:sp>
        <p:nvSpPr>
          <p:cNvPr id="370" name="Google Shape;370;p158"/>
          <p:cNvSpPr txBox="1">
            <a:spLocks noGrp="1"/>
          </p:cNvSpPr>
          <p:nvPr>
            <p:ph type="ctrTitle"/>
          </p:nvPr>
        </p:nvSpPr>
        <p:spPr>
          <a:xfrm>
            <a:off x="1523603" y="1122363"/>
            <a:ext cx="9141619"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5999"/>
              <a:buFont typeface="Calibri"/>
              <a:buNone/>
              <a:defRPr sz="59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1" name="Google Shape;371;p158"/>
          <p:cNvSpPr txBox="1">
            <a:spLocks noGrp="1"/>
          </p:cNvSpPr>
          <p:nvPr>
            <p:ph type="subTitle" idx="1"/>
          </p:nvPr>
        </p:nvSpPr>
        <p:spPr>
          <a:xfrm>
            <a:off x="1523603" y="3602037"/>
            <a:ext cx="9141619"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399"/>
              <a:buNone/>
              <a:defRPr sz="2399"/>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2" name="Google Shape;372;p15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15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15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9003745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theme" Target="../theme/theme2.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slideLayout" Target="../slideLayouts/slideLayout26.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image" Target="../media/image1.png"/><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5" Type="http://schemas.openxmlformats.org/officeDocument/2006/relationships/slideLayout" Target="../slideLayouts/slideLayout42.xml"/><Relationship Id="rId4" Type="http://schemas.openxmlformats.org/officeDocument/2006/relationships/slideLayout" Target="../slideLayouts/slideLayout41.xml"/><Relationship Id="rId9"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58" r:id="rId3"/>
    <p:sldLayoutId id="2147483659" r:id="rId4"/>
    <p:sldLayoutId id="2147483660" r:id="rId5"/>
    <p:sldLayoutId id="2147483707" r:id="rId6"/>
    <p:sldLayoutId id="2147483744"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2/27/2026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562842228"/>
      </p:ext>
    </p:extLst>
  </p:cSld>
  <p:clrMap bg1="lt1" tx1="dk1" bg2="dk2" tx2="lt2" accent1="accent1" accent2="accent2" accent3="accent3" accent4="accent4" accent5="accent5" accent6="accent6" hlink="hlink" folHlink="folHlink"/>
  <p:sldLayoutIdLst>
    <p:sldLayoutId id="2147483746" r:id="rId1"/>
    <p:sldLayoutId id="2147483747" r:id="rId2"/>
    <p:sldLayoutId id="2147483748" r:id="rId3"/>
    <p:sldLayoutId id="2147483749" r:id="rId4"/>
    <p:sldLayoutId id="2147483750" r:id="rId5"/>
    <p:sldLayoutId id="2147483751" r:id="rId6"/>
    <p:sldLayoutId id="2147483752" r:id="rId7"/>
    <p:sldLayoutId id="2147483753"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45.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5.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5.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45.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45.xml"/></Relationships>
</file>

<file path=ppt/slides/_rels/slide11.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0.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12.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8.jpeg"/><Relationship Id="rId7" Type="http://schemas.openxmlformats.org/officeDocument/2006/relationships/image" Target="../media/image12.tiff"/><Relationship Id="rId2" Type="http://schemas.openxmlformats.org/officeDocument/2006/relationships/notesSlide" Target="../notesSlides/notesSlide10.xml"/><Relationship Id="rId1" Type="http://schemas.openxmlformats.org/officeDocument/2006/relationships/slideLayout" Target="../slideLayouts/slideLayout37.xml"/><Relationship Id="rId6" Type="http://schemas.openxmlformats.org/officeDocument/2006/relationships/image" Target="../media/image11.tiff"/><Relationship Id="rId5" Type="http://schemas.openxmlformats.org/officeDocument/2006/relationships/image" Target="../media/image10.tiff"/><Relationship Id="rId4" Type="http://schemas.openxmlformats.org/officeDocument/2006/relationships/image" Target="../media/image9.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ABAP</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 on Cloud / RAP </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Training</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DAY-30</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A8F6A9E-4911-4C13-BF00-4BE4386AE0F7}"/>
              </a:ext>
            </a:extLst>
          </p:cNvPr>
          <p:cNvSpPr/>
          <p:nvPr/>
        </p:nvSpPr>
        <p:spPr>
          <a:xfrm>
            <a:off x="1718111" y="1105227"/>
            <a:ext cx="4889619" cy="840385"/>
          </a:xfrm>
          <a:prstGeom prst="roundRect">
            <a:avLst>
              <a:gd name="adj" fmla="val 1815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AF6E7713-5946-46A4-BF47-B37093B73CC4}"/>
              </a:ext>
            </a:extLst>
          </p:cNvPr>
          <p:cNvSpPr/>
          <p:nvPr/>
        </p:nvSpPr>
        <p:spPr>
          <a:xfrm>
            <a:off x="2134637" y="2352875"/>
            <a:ext cx="4889619" cy="840385"/>
          </a:xfrm>
          <a:prstGeom prst="roundRect">
            <a:avLst>
              <a:gd name="adj" fmla="val 181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5216E7A0-138C-422D-847B-06FB608C8E01}"/>
              </a:ext>
            </a:extLst>
          </p:cNvPr>
          <p:cNvSpPr/>
          <p:nvPr/>
        </p:nvSpPr>
        <p:spPr>
          <a:xfrm>
            <a:off x="2551163" y="3600523"/>
            <a:ext cx="4889619" cy="840385"/>
          </a:xfrm>
          <a:prstGeom prst="roundRect">
            <a:avLst>
              <a:gd name="adj" fmla="val 1815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2E200DD0-D348-45E6-9B6B-43B966A8FF8C}"/>
              </a:ext>
            </a:extLst>
          </p:cNvPr>
          <p:cNvSpPr/>
          <p:nvPr/>
        </p:nvSpPr>
        <p:spPr>
          <a:xfrm>
            <a:off x="2967689" y="4848171"/>
            <a:ext cx="4889619" cy="840385"/>
          </a:xfrm>
          <a:prstGeom prst="roundRect">
            <a:avLst>
              <a:gd name="adj" fmla="val 181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Placeholder 22">
            <a:extLst>
              <a:ext uri="{FF2B5EF4-FFF2-40B4-BE49-F238E27FC236}">
                <a16:creationId xmlns:a16="http://schemas.microsoft.com/office/drawing/2014/main" id="{58189288-4068-4B20-8FAB-92E0830D6B2E}"/>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9725" t="7760" r="8472" b="4056"/>
          <a:stretch/>
        </p:blipFill>
        <p:spPr>
          <a:xfrm>
            <a:off x="-1" y="-1"/>
            <a:ext cx="5662364" cy="6858000"/>
          </a:xfrm>
          <a:effectLst>
            <a:outerShdw blurRad="368300" dist="254000" dir="20580000" algn="tl" rotWithShape="0">
              <a:prstClr val="black">
                <a:alpha val="20000"/>
              </a:prstClr>
            </a:outerShdw>
          </a:effectLst>
        </p:spPr>
      </p:pic>
      <p:sp>
        <p:nvSpPr>
          <p:cNvPr id="31" name="Freeform: Shape 30">
            <a:extLst>
              <a:ext uri="{FF2B5EF4-FFF2-40B4-BE49-F238E27FC236}">
                <a16:creationId xmlns:a16="http://schemas.microsoft.com/office/drawing/2014/main" id="{C536E1EE-C900-4048-90CA-E22FBE51EE3B}"/>
              </a:ext>
            </a:extLst>
          </p:cNvPr>
          <p:cNvSpPr/>
          <p:nvPr/>
        </p:nvSpPr>
        <p:spPr>
          <a:xfrm>
            <a:off x="1718111" y="-1"/>
            <a:ext cx="3989979" cy="6814397"/>
          </a:xfrm>
          <a:custGeom>
            <a:avLst/>
            <a:gdLst>
              <a:gd name="connsiteX0" fmla="*/ 0 w 3989979"/>
              <a:gd name="connsiteY0" fmla="*/ 0 h 6814397"/>
              <a:gd name="connsiteX1" fmla="*/ 1282220 w 3989979"/>
              <a:gd name="connsiteY1" fmla="*/ 0 h 6814397"/>
              <a:gd name="connsiteX2" fmla="*/ 1402006 w 3989979"/>
              <a:gd name="connsiteY2" fmla="*/ 94133 h 6814397"/>
              <a:gd name="connsiteX3" fmla="*/ 3989979 w 3989979"/>
              <a:gd name="connsiteY3" fmla="*/ 5581812 h 6814397"/>
              <a:gd name="connsiteX4" fmla="*/ 3908037 w 3989979"/>
              <a:gd name="connsiteY4" fmla="*/ 6664843 h 6814397"/>
              <a:gd name="connsiteX5" fmla="*/ 3881330 w 3989979"/>
              <a:gd name="connsiteY5" fmla="*/ 6814397 h 6814397"/>
              <a:gd name="connsiteX6" fmla="*/ 3889285 w 3989979"/>
              <a:gd name="connsiteY6" fmla="*/ 6709775 h 6814397"/>
              <a:gd name="connsiteX7" fmla="*/ 3898539 w 3989979"/>
              <a:gd name="connsiteY7" fmla="*/ 6343812 h 6814397"/>
              <a:gd name="connsiteX8" fmla="*/ 176735 w 3989979"/>
              <a:gd name="connsiteY8" fmla="*/ 90518 h 6814397"/>
              <a:gd name="connsiteX9" fmla="*/ 0 w 3989979"/>
              <a:gd name="connsiteY9" fmla="*/ 0 h 68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9979" h="6814397">
                <a:moveTo>
                  <a:pt x="0" y="0"/>
                </a:moveTo>
                <a:lnTo>
                  <a:pt x="1282220" y="0"/>
                </a:lnTo>
                <a:lnTo>
                  <a:pt x="1402006" y="94133"/>
                </a:lnTo>
                <a:cubicBezTo>
                  <a:pt x="2982546" y="1398511"/>
                  <a:pt x="3989979" y="3372512"/>
                  <a:pt x="3989979" y="5581812"/>
                </a:cubicBezTo>
                <a:cubicBezTo>
                  <a:pt x="3989979" y="5950029"/>
                  <a:pt x="3961995" y="6311709"/>
                  <a:pt x="3908037" y="6664843"/>
                </a:cubicBezTo>
                <a:lnTo>
                  <a:pt x="3881330" y="6814397"/>
                </a:lnTo>
                <a:lnTo>
                  <a:pt x="3889285" y="6709775"/>
                </a:lnTo>
                <a:cubicBezTo>
                  <a:pt x="3895430" y="6588564"/>
                  <a:pt x="3898539" y="6466551"/>
                  <a:pt x="3898539" y="6343812"/>
                </a:cubicBezTo>
                <a:cubicBezTo>
                  <a:pt x="3898539" y="3643557"/>
                  <a:pt x="2393609" y="1294797"/>
                  <a:pt x="176735" y="90518"/>
                </a:cubicBezTo>
                <a:lnTo>
                  <a:pt x="0" y="0"/>
                </a:lnTo>
                <a:close/>
              </a:path>
            </a:pathLst>
          </a:custGeom>
          <a:gradFill flip="none" rotWithShape="1">
            <a:gsLst>
              <a:gs pos="3000">
                <a:schemeClr val="accent1"/>
              </a:gs>
              <a:gs pos="100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E3F0EA58-87FF-4FBD-A2F2-8C01EFEECAF2}"/>
              </a:ext>
            </a:extLst>
          </p:cNvPr>
          <p:cNvSpPr txBox="1"/>
          <p:nvPr/>
        </p:nvSpPr>
        <p:spPr>
          <a:xfrm>
            <a:off x="5619826" y="1202254"/>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42" name="TextBox 41">
            <a:extLst>
              <a:ext uri="{FF2B5EF4-FFF2-40B4-BE49-F238E27FC236}">
                <a16:creationId xmlns:a16="http://schemas.microsoft.com/office/drawing/2014/main" id="{73592A37-8994-4267-A0A4-4F9D2B0CA640}"/>
              </a:ext>
            </a:extLst>
          </p:cNvPr>
          <p:cNvSpPr txBox="1"/>
          <p:nvPr/>
        </p:nvSpPr>
        <p:spPr>
          <a:xfrm>
            <a:off x="6032781" y="2449902"/>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3" name="TextBox 42">
            <a:extLst>
              <a:ext uri="{FF2B5EF4-FFF2-40B4-BE49-F238E27FC236}">
                <a16:creationId xmlns:a16="http://schemas.microsoft.com/office/drawing/2014/main" id="{FF2E8B29-6A17-40BB-94A2-F4C43336C48C}"/>
              </a:ext>
            </a:extLst>
          </p:cNvPr>
          <p:cNvSpPr txBox="1"/>
          <p:nvPr/>
        </p:nvSpPr>
        <p:spPr>
          <a:xfrm>
            <a:off x="6475232" y="3697550"/>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44" name="TextBox 43">
            <a:extLst>
              <a:ext uri="{FF2B5EF4-FFF2-40B4-BE49-F238E27FC236}">
                <a16:creationId xmlns:a16="http://schemas.microsoft.com/office/drawing/2014/main" id="{D9D30836-9CA2-4FC2-B426-C58A1B77DEBB}"/>
              </a:ext>
            </a:extLst>
          </p:cNvPr>
          <p:cNvSpPr txBox="1"/>
          <p:nvPr/>
        </p:nvSpPr>
        <p:spPr>
          <a:xfrm>
            <a:off x="6868523" y="4945198"/>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a:extLst>
              <a:ext uri="{FF2B5EF4-FFF2-40B4-BE49-F238E27FC236}">
                <a16:creationId xmlns:a16="http://schemas.microsoft.com/office/drawing/2014/main" id="{8D598D36-C5FC-4900-B880-D9AEBB01296E}"/>
              </a:ext>
            </a:extLst>
          </p:cNvPr>
          <p:cNvSpPr/>
          <p:nvPr/>
        </p:nvSpPr>
        <p:spPr>
          <a:xfrm>
            <a:off x="7255772" y="1076224"/>
            <a:ext cx="2597506" cy="369332"/>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Attachments</a:t>
            </a:r>
          </a:p>
        </p:txBody>
      </p:sp>
      <p:sp>
        <p:nvSpPr>
          <p:cNvPr id="49" name="Rectangle 48">
            <a:extLst>
              <a:ext uri="{FF2B5EF4-FFF2-40B4-BE49-F238E27FC236}">
                <a16:creationId xmlns:a16="http://schemas.microsoft.com/office/drawing/2014/main" id="{C0874C99-87AF-460C-9044-B8539EAC1769}"/>
              </a:ext>
            </a:extLst>
          </p:cNvPr>
          <p:cNvSpPr/>
          <p:nvPr/>
        </p:nvSpPr>
        <p:spPr>
          <a:xfrm>
            <a:off x="7712976" y="2373010"/>
            <a:ext cx="2597506" cy="369332"/>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Attachments</a:t>
            </a:r>
          </a:p>
        </p:txBody>
      </p:sp>
      <p:sp>
        <p:nvSpPr>
          <p:cNvPr id="52" name="Rectangle 51">
            <a:extLst>
              <a:ext uri="{FF2B5EF4-FFF2-40B4-BE49-F238E27FC236}">
                <a16:creationId xmlns:a16="http://schemas.microsoft.com/office/drawing/2014/main" id="{20C13AF4-68B6-4226-9401-EDB6ED0540C2}"/>
              </a:ext>
            </a:extLst>
          </p:cNvPr>
          <p:cNvSpPr/>
          <p:nvPr/>
        </p:nvSpPr>
        <p:spPr>
          <a:xfrm>
            <a:off x="8207924" y="3739022"/>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Custom Entity</a:t>
            </a:r>
          </a:p>
        </p:txBody>
      </p:sp>
      <p:sp>
        <p:nvSpPr>
          <p:cNvPr id="55" name="Rectangle 54">
            <a:extLst>
              <a:ext uri="{FF2B5EF4-FFF2-40B4-BE49-F238E27FC236}">
                <a16:creationId xmlns:a16="http://schemas.microsoft.com/office/drawing/2014/main" id="{C08D0B4E-C408-458A-9E80-98D57A618BD5}"/>
              </a:ext>
            </a:extLst>
          </p:cNvPr>
          <p:cNvSpPr/>
          <p:nvPr/>
        </p:nvSpPr>
        <p:spPr>
          <a:xfrm>
            <a:off x="8554525" y="4986670"/>
            <a:ext cx="2597506" cy="369332"/>
          </a:xfrm>
          <a:prstGeom prst="rect">
            <a:avLst/>
          </a:prstGeom>
        </p:spPr>
        <p:txBody>
          <a:bodyPr wrap="square" lIns="0" rIns="0" anchor="ctr">
            <a:spAutoFit/>
          </a:bodyPr>
          <a:lstStyle/>
          <a:p>
            <a:r>
              <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Extensibility</a:t>
            </a:r>
          </a:p>
        </p:txBody>
      </p:sp>
      <p:pic>
        <p:nvPicPr>
          <p:cNvPr id="2" name="Picture 4">
            <a:extLst>
              <a:ext uri="{FF2B5EF4-FFF2-40B4-BE49-F238E27FC236}">
                <a16:creationId xmlns:a16="http://schemas.microsoft.com/office/drawing/2014/main" id="{0ABA602A-777F-01F1-3482-2AA689766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41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885"/>
        <p:cNvGrpSpPr/>
        <p:nvPr/>
      </p:nvGrpSpPr>
      <p:grpSpPr>
        <a:xfrm>
          <a:off x="0" y="0"/>
          <a:ext cx="0" cy="0"/>
          <a:chOff x="0" y="0"/>
          <a:chExt cx="0" cy="0"/>
        </a:xfrm>
      </p:grpSpPr>
      <p:sp>
        <p:nvSpPr>
          <p:cNvPr id="1887" name="Google Shape;1887;p106"/>
          <p:cNvSpPr txBox="1"/>
          <p:nvPr/>
        </p:nvSpPr>
        <p:spPr>
          <a:xfrm>
            <a:off x="224979" y="788088"/>
            <a:ext cx="11806237" cy="156966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433835"/>
                </a:solidFill>
                <a:effectLst/>
                <a:uLnTx/>
                <a:uFillTx/>
                <a:latin typeface="Calibri"/>
                <a:ea typeface="Calibri"/>
                <a:cs typeface="Calibri"/>
                <a:sym typeface="Calibri"/>
              </a:rPr>
              <a:t>Starring SAP ABAP on Cloud release 2208 SAP started direct support for attachments (PDF, Excel, Images, TXT, Word) including binary files. We must need to create a database table with </a:t>
            </a:r>
            <a:r>
              <a:rPr kumimoji="0" lang="en-US" sz="1600" b="0" i="0" u="none" strike="noStrike" kern="0" cap="none" spc="0" normalizeH="0" baseline="0" noProof="0" dirty="0" err="1">
                <a:ln>
                  <a:noFill/>
                </a:ln>
                <a:solidFill>
                  <a:srgbClr val="433835"/>
                </a:solidFill>
                <a:effectLst/>
                <a:uLnTx/>
                <a:uFillTx/>
                <a:latin typeface="Calibri"/>
                <a:ea typeface="Calibri"/>
                <a:cs typeface="Calibri"/>
                <a:sym typeface="Calibri"/>
              </a:rPr>
              <a:t>atleast</a:t>
            </a:r>
            <a:r>
              <a:rPr kumimoji="0" lang="en-US" sz="1600" b="0" i="0" u="none" strike="noStrike" kern="0" cap="none" spc="0" normalizeH="0" baseline="0" noProof="0" dirty="0">
                <a:ln>
                  <a:noFill/>
                </a:ln>
                <a:solidFill>
                  <a:srgbClr val="433835"/>
                </a:solidFill>
                <a:effectLst/>
                <a:uLnTx/>
                <a:uFillTx/>
                <a:latin typeface="Calibri"/>
                <a:ea typeface="Calibri"/>
                <a:cs typeface="Calibri"/>
                <a:sym typeface="Calibri"/>
              </a:rPr>
              <a:t> following columns</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600"/>
              <a:buFont typeface="Arial"/>
              <a:buChar char="•"/>
              <a:tabLst/>
              <a:defRPr/>
            </a:pPr>
            <a:r>
              <a:rPr kumimoji="0" lang="en-US" sz="1600" b="0" i="0" u="none" strike="noStrike" kern="0" cap="none" spc="0" normalizeH="0" baseline="0" noProof="0" dirty="0">
                <a:ln>
                  <a:noFill/>
                </a:ln>
                <a:solidFill>
                  <a:srgbClr val="433835"/>
                </a:solidFill>
                <a:effectLst/>
                <a:uLnTx/>
                <a:uFillTx/>
                <a:latin typeface="Calibri"/>
                <a:ea typeface="Calibri"/>
                <a:cs typeface="Calibri"/>
                <a:sym typeface="Calibri"/>
              </a:rPr>
              <a:t>Attachment (Data type: RAWSTRING length 0)</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600"/>
              <a:buFont typeface="Arial"/>
              <a:buChar char="•"/>
              <a:tabLst/>
              <a:defRPr/>
            </a:pPr>
            <a:r>
              <a:rPr kumimoji="0" lang="en-US" sz="1600" b="0" i="0" u="none" strike="noStrike" kern="0" cap="none" spc="0" normalizeH="0" baseline="0" noProof="0" dirty="0" err="1">
                <a:ln>
                  <a:noFill/>
                </a:ln>
                <a:solidFill>
                  <a:srgbClr val="433835"/>
                </a:solidFill>
                <a:effectLst/>
                <a:uLnTx/>
                <a:uFillTx/>
                <a:latin typeface="Calibri"/>
                <a:ea typeface="Calibri"/>
                <a:cs typeface="Calibri"/>
                <a:sym typeface="Calibri"/>
              </a:rPr>
              <a:t>Mimetype</a:t>
            </a:r>
            <a:r>
              <a:rPr kumimoji="0" lang="en-US" sz="1600" b="0" i="0" u="none" strike="noStrike" kern="0" cap="none" spc="0" normalizeH="0" baseline="0" noProof="0" dirty="0">
                <a:ln>
                  <a:noFill/>
                </a:ln>
                <a:solidFill>
                  <a:srgbClr val="433835"/>
                </a:solidFill>
                <a:effectLst/>
                <a:uLnTx/>
                <a:uFillTx/>
                <a:latin typeface="Calibri"/>
                <a:ea typeface="Calibri"/>
                <a:cs typeface="Calibri"/>
                <a:sym typeface="Calibri"/>
              </a:rPr>
              <a:t> (Document type, String128)</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600"/>
              <a:buFont typeface="Arial"/>
              <a:buChar char="•"/>
              <a:tabLst/>
              <a:defRPr/>
            </a:pPr>
            <a:r>
              <a:rPr kumimoji="0" lang="en-US" sz="1600" b="0" i="0" u="none" strike="noStrike" kern="0" cap="none" spc="0" normalizeH="0" baseline="0" noProof="0" dirty="0">
                <a:ln>
                  <a:noFill/>
                </a:ln>
                <a:solidFill>
                  <a:srgbClr val="433835"/>
                </a:solidFill>
                <a:effectLst/>
                <a:uLnTx/>
                <a:uFillTx/>
                <a:latin typeface="Calibri"/>
                <a:ea typeface="Calibri"/>
                <a:cs typeface="Calibri"/>
                <a:sym typeface="Calibri"/>
              </a:rPr>
              <a:t>Filename (Document Name, String128)</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600" b="0" i="0" u="none" strike="noStrike" kern="0" cap="none" spc="0" normalizeH="0" baseline="0" noProof="0" dirty="0">
              <a:ln>
                <a:noFill/>
              </a:ln>
              <a:solidFill>
                <a:srgbClr val="433835"/>
              </a:solidFill>
              <a:effectLst/>
              <a:uLnTx/>
              <a:uFillTx/>
              <a:latin typeface="Calibri"/>
              <a:ea typeface="Calibri"/>
              <a:cs typeface="Calibri"/>
              <a:sym typeface="Calibri"/>
            </a:endParaRPr>
          </a:p>
        </p:txBody>
      </p:sp>
      <p:sp>
        <p:nvSpPr>
          <p:cNvPr id="1888" name="Google Shape;1888;p106"/>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Attachments</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sp>
        <p:nvSpPr>
          <p:cNvPr id="1891" name="Google Shape;1891;p106"/>
          <p:cNvSpPr/>
          <p:nvPr/>
        </p:nvSpPr>
        <p:spPr>
          <a:xfrm>
            <a:off x="1773932" y="2852936"/>
            <a:ext cx="2448272" cy="171932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FFFFFF"/>
                </a:solidFill>
                <a:effectLst/>
                <a:uLnTx/>
                <a:uFillTx/>
                <a:latin typeface="Calibri"/>
                <a:ea typeface="Calibri"/>
                <a:cs typeface="Calibri"/>
                <a:sym typeface="Calibri"/>
              </a:rPr>
              <a:t>Travel</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892" name="Google Shape;1892;p106"/>
          <p:cNvSpPr/>
          <p:nvPr/>
        </p:nvSpPr>
        <p:spPr>
          <a:xfrm>
            <a:off x="7894612" y="2832711"/>
            <a:ext cx="2448272" cy="171932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FFFFFF"/>
                </a:solidFill>
                <a:effectLst/>
                <a:uLnTx/>
                <a:uFillTx/>
                <a:latin typeface="Calibri"/>
                <a:ea typeface="Calibri"/>
                <a:cs typeface="Calibri"/>
                <a:sym typeface="Calibri"/>
              </a:rPr>
              <a:t>Attachments</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cxnSp>
        <p:nvCxnSpPr>
          <p:cNvPr id="1893" name="Google Shape;1893;p106"/>
          <p:cNvCxnSpPr>
            <a:stCxn id="1891" idx="3"/>
            <a:endCxn id="1892" idx="1"/>
          </p:cNvCxnSpPr>
          <p:nvPr/>
        </p:nvCxnSpPr>
        <p:spPr>
          <a:xfrm rot="10800000" flipH="1">
            <a:off x="4222204" y="3692499"/>
            <a:ext cx="3672300" cy="20100"/>
          </a:xfrm>
          <a:prstGeom prst="straightConnector1">
            <a:avLst/>
          </a:prstGeom>
          <a:noFill/>
          <a:ln w="9525" cap="flat" cmpd="sng">
            <a:solidFill>
              <a:schemeClr val="accent1"/>
            </a:solidFill>
            <a:prstDash val="solid"/>
            <a:miter lim="800000"/>
            <a:headEnd type="none" w="sm" len="sm"/>
            <a:tailEnd type="none" w="sm" len="sm"/>
          </a:ln>
        </p:spPr>
      </p:cxnSp>
      <p:sp>
        <p:nvSpPr>
          <p:cNvPr id="1894" name="Google Shape;1894;p106"/>
          <p:cNvSpPr txBox="1"/>
          <p:nvPr/>
        </p:nvSpPr>
        <p:spPr>
          <a:xfrm>
            <a:off x="4366220" y="3140968"/>
            <a:ext cx="3456384" cy="461665"/>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400" b="0" i="0" u="none" strike="noStrike" kern="0" cap="none" spc="0" normalizeH="0" baseline="0" noProof="0">
                <a:ln>
                  <a:noFill/>
                </a:ln>
                <a:solidFill>
                  <a:srgbClr val="433835"/>
                </a:solidFill>
                <a:effectLst/>
                <a:uLnTx/>
                <a:uFillTx/>
                <a:latin typeface="Calibri"/>
                <a:ea typeface="Calibri"/>
                <a:cs typeface="Calibri"/>
                <a:sym typeface="Calibri"/>
              </a:rPr>
              <a:t>1		        n</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pic>
        <p:nvPicPr>
          <p:cNvPr id="11"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2"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98"/>
        <p:cNvGrpSpPr/>
        <p:nvPr/>
      </p:nvGrpSpPr>
      <p:grpSpPr>
        <a:xfrm>
          <a:off x="0" y="0"/>
          <a:ext cx="0" cy="0"/>
          <a:chOff x="0" y="0"/>
          <a:chExt cx="0" cy="0"/>
        </a:xfrm>
      </p:grpSpPr>
      <p:sp>
        <p:nvSpPr>
          <p:cNvPr id="1900" name="Google Shape;1900;p107"/>
          <p:cNvSpPr txBox="1"/>
          <p:nvPr/>
        </p:nvSpPr>
        <p:spPr>
          <a:xfrm>
            <a:off x="224979" y="788088"/>
            <a:ext cx="11806237" cy="3693319"/>
          </a:xfrm>
          <a:prstGeom prst="rect">
            <a:avLst/>
          </a:prstGeom>
          <a:noFill/>
          <a:ln>
            <a:noFill/>
          </a:ln>
        </p:spPr>
        <p:txBody>
          <a:bodyPr spcFirstLastPara="1" wrap="square" lIns="91425" tIns="45700" rIns="91425" bIns="45700" anchor="t" anchorCtr="0">
            <a:spAutoFit/>
          </a:bodyPr>
          <a:lstStyle/>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Create new attachment table according to need and design</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Create a Interface Entity for the attachment table and mark our attachment field with special attachment annotation, So the RAP framework can treat it as an attachment accordingly.</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Add annotations for admin fields, and user labels.</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Create composition of our attachment table with travel entity like we had the composition of booking with travel entity.</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Create a projection view for attachment</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Relationship between Travel processor view with attachment processor view entity</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Enhance the BDEF with attachment like booking</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Also expose the attachment functionality with draft to processor in behavior projection for processor</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Expose the entity of attachment processor in service definition</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Republish the OData V4 binding</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Add the metadata extension for attachment scenario and link a new facet in travel for attachment table</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342900" marR="0" lvl="0" indent="-342900" algn="l" defTabSz="914400" rtl="0" eaLnBrk="1" fontAlgn="auto" latinLnBrk="0" hangingPunct="1">
              <a:lnSpc>
                <a:spcPct val="100000"/>
              </a:lnSpc>
              <a:spcBef>
                <a:spcPts val="0"/>
              </a:spcBef>
              <a:spcAft>
                <a:spcPts val="0"/>
              </a:spcAft>
              <a:buClr>
                <a:srgbClr val="433835"/>
              </a:buClr>
              <a:buSzPts val="1800"/>
              <a:buFont typeface="Calibri"/>
              <a:buAutoNum type="arabicPeriod"/>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Testing</a:t>
            </a:r>
            <a:endParaRPr kumimoji="0" sz="1800" b="0" i="0" u="none" strike="noStrike" kern="0" cap="none" spc="0" normalizeH="0" baseline="0" noProof="0" dirty="0">
              <a:ln>
                <a:noFill/>
              </a:ln>
              <a:solidFill>
                <a:srgbClr val="433835"/>
              </a:solidFill>
              <a:effectLst/>
              <a:uLnTx/>
              <a:uFillTx/>
              <a:latin typeface="Calibri"/>
              <a:ea typeface="Calibri"/>
              <a:cs typeface="Calibri"/>
              <a:sym typeface="Calibri"/>
            </a:endParaRPr>
          </a:p>
        </p:txBody>
      </p:sp>
      <p:sp>
        <p:nvSpPr>
          <p:cNvPr id="1901" name="Google Shape;1901;p107"/>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Steps</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18"/>
        <p:cNvGrpSpPr/>
        <p:nvPr/>
      </p:nvGrpSpPr>
      <p:grpSpPr>
        <a:xfrm>
          <a:off x="0" y="0"/>
          <a:ext cx="0" cy="0"/>
          <a:chOff x="0" y="0"/>
          <a:chExt cx="0" cy="0"/>
        </a:xfrm>
      </p:grpSpPr>
      <p:sp>
        <p:nvSpPr>
          <p:cNvPr id="1820" name="Google Shape;1820;p103"/>
          <p:cNvSpPr txBox="1"/>
          <p:nvPr/>
        </p:nvSpPr>
        <p:spPr>
          <a:xfrm>
            <a:off x="224979" y="824491"/>
            <a:ext cx="11806237" cy="1754286"/>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A CDS custom entity allows developers to implement their own data retrieval using ABAP. A CDS custom entity is linked with an ABAP class and the data retrieval is executed on the application server. At the CDS level, only an interface is defined. Custom entities are used when data can't be accessed using SQL and the available CDS feature set.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The following image exemplifies the runtime of a CDS custom entity. It shows that the data retrieval is implemented by an ABAP class and the data source does not have to be a database table.</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821" name="Google Shape;1821;p103"/>
          <p:cNvSpPr txBox="1"/>
          <p:nvPr/>
        </p:nvSpPr>
        <p:spPr>
          <a:xfrm>
            <a:off x="224979" y="178329"/>
            <a:ext cx="11231710" cy="64616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Custom Entities</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15"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4" name="Picture 3">
            <a:extLst>
              <a:ext uri="{FF2B5EF4-FFF2-40B4-BE49-F238E27FC236}">
                <a16:creationId xmlns:a16="http://schemas.microsoft.com/office/drawing/2014/main" id="{357208DC-5D4F-2555-08F8-5C27A4DFC69F}"/>
              </a:ext>
            </a:extLst>
          </p:cNvPr>
          <p:cNvPicPr>
            <a:picLocks noChangeAspect="1"/>
          </p:cNvPicPr>
          <p:nvPr/>
        </p:nvPicPr>
        <p:blipFill>
          <a:blip r:embed="rId4"/>
          <a:stretch>
            <a:fillRect/>
          </a:stretch>
        </p:blipFill>
        <p:spPr>
          <a:xfrm>
            <a:off x="3576102" y="2697036"/>
            <a:ext cx="4826248" cy="3683189"/>
          </a:xfrm>
          <a:prstGeom prst="rect">
            <a:avLst/>
          </a:prstGeom>
        </p:spPr>
      </p:pic>
    </p:spTree>
    <p:extLst>
      <p:ext uri="{BB962C8B-B14F-4D97-AF65-F5344CB8AC3E}">
        <p14:creationId xmlns:p14="http://schemas.microsoft.com/office/powerpoint/2010/main" val="19118060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18"/>
        <p:cNvGrpSpPr/>
        <p:nvPr/>
      </p:nvGrpSpPr>
      <p:grpSpPr>
        <a:xfrm>
          <a:off x="0" y="0"/>
          <a:ext cx="0" cy="0"/>
          <a:chOff x="0" y="0"/>
          <a:chExt cx="0" cy="0"/>
        </a:xfrm>
      </p:grpSpPr>
      <p:sp>
        <p:nvSpPr>
          <p:cNvPr id="1820" name="Google Shape;1820;p103"/>
          <p:cNvSpPr txBox="1"/>
          <p:nvPr/>
        </p:nvSpPr>
        <p:spPr>
          <a:xfrm>
            <a:off x="224979" y="888575"/>
            <a:ext cx="11806237" cy="335472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000" b="0" i="0" u="none" strike="noStrike" kern="0" cap="none" spc="0" normalizeH="0" baseline="0" noProof="0" dirty="0">
                <a:ln>
                  <a:noFill/>
                </a:ln>
                <a:solidFill>
                  <a:srgbClr val="433835"/>
                </a:solidFill>
                <a:effectLst/>
                <a:uLnTx/>
                <a:uFillTx/>
                <a:latin typeface="-apple-system"/>
                <a:cs typeface="Arial"/>
                <a:sym typeface="Arial"/>
              </a:rPr>
              <a:t>In this exercise, we want to replace the travel agencies data of our managed travel app with the results of the remote OData service that provides different set of travel agencies from other system altogether. For this use case, we shall leverage the concept of a custom entity. In contrast to "normal" CDS views that read data from the database tables or other CDS views, the so-called custom entities act as a wrapper for a code-based implementation that provides the data instead. This use case involves following steps.</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2000" b="0" i="0" u="none" strike="noStrike" kern="0" cap="none" spc="0" normalizeH="0" baseline="0" noProof="0" dirty="0">
              <a:ln>
                <a:noFill/>
              </a:ln>
              <a:solidFill>
                <a:srgbClr val="433835"/>
              </a:solidFill>
              <a:effectLst/>
              <a:uLnTx/>
              <a:uFillTx/>
              <a:latin typeface="-apple-system"/>
              <a:cs typeface="Arial"/>
              <a:sym typeface="Arial"/>
            </a:endParaRPr>
          </a:p>
          <a:p>
            <a:pPr marL="342900" marR="0" lvl="0" indent="-3429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2000" b="0" i="0" u="none" strike="noStrike" kern="0" cap="none" spc="0" normalizeH="0" baseline="0" noProof="0" dirty="0">
                <a:ln>
                  <a:noFill/>
                </a:ln>
                <a:solidFill>
                  <a:srgbClr val="433835"/>
                </a:solidFill>
                <a:effectLst/>
                <a:uLnTx/>
                <a:uFillTx/>
                <a:latin typeface="72 Condensed" panose="020B0506030000000003" pitchFamily="34" charset="0"/>
                <a:cs typeface="72 Condensed" panose="020B0506030000000003" pitchFamily="34" charset="0"/>
                <a:sym typeface="Arial"/>
              </a:rPr>
              <a:t>Creating the Service Consumption Model</a:t>
            </a:r>
          </a:p>
          <a:p>
            <a:pPr marL="342900" marR="0" lvl="0" indent="-3429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2000" b="0" i="0" u="none" strike="noStrike" kern="0" cap="none" spc="0" normalizeH="0" baseline="0" noProof="0" dirty="0">
                <a:ln>
                  <a:noFill/>
                </a:ln>
                <a:solidFill>
                  <a:srgbClr val="433835"/>
                </a:solidFill>
                <a:effectLst/>
                <a:uLnTx/>
                <a:uFillTx/>
                <a:latin typeface="72 Condensed" panose="020B0506030000000003" pitchFamily="34" charset="0"/>
                <a:cs typeface="72 Condensed" panose="020B0506030000000003" pitchFamily="34" charset="0"/>
                <a:sym typeface="Arial"/>
              </a:rPr>
              <a:t>Defining the Custom CDS Entity</a:t>
            </a:r>
          </a:p>
          <a:p>
            <a:pPr marL="342900" marR="0" lvl="0" indent="-3429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2000" b="0" i="0" u="none" strike="noStrike" kern="0" cap="none" spc="0" normalizeH="0" baseline="0" noProof="0" dirty="0">
                <a:ln>
                  <a:noFill/>
                </a:ln>
                <a:solidFill>
                  <a:srgbClr val="433835"/>
                </a:solidFill>
                <a:effectLst/>
                <a:uLnTx/>
                <a:uFillTx/>
                <a:latin typeface="72 Condensed" panose="020B0506030000000003" pitchFamily="34" charset="0"/>
                <a:cs typeface="72 Condensed" panose="020B0506030000000003" pitchFamily="34" charset="0"/>
                <a:sym typeface="Arial"/>
              </a:rPr>
              <a:t>Create a class that implements the query for the custom entity</a:t>
            </a:r>
          </a:p>
          <a:p>
            <a:pPr marL="342900" marR="0" lvl="0" indent="-34290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n-US" sz="2000" b="0" i="0" u="none" strike="noStrike" kern="0" cap="none" spc="0" normalizeH="0" baseline="0" noProof="0" dirty="0">
                <a:ln>
                  <a:noFill/>
                </a:ln>
                <a:solidFill>
                  <a:srgbClr val="433835"/>
                </a:solidFill>
                <a:effectLst/>
                <a:uLnTx/>
                <a:uFillTx/>
                <a:latin typeface="72 Condensed" panose="020B0506030000000003" pitchFamily="34" charset="0"/>
                <a:cs typeface="72 Condensed" panose="020B0506030000000003" pitchFamily="34" charset="0"/>
                <a:sym typeface="Arial"/>
              </a:rPr>
              <a:t>Integrate the custom entity in MDE</a:t>
            </a:r>
            <a:br>
              <a:rPr kumimoji="0" lang="en-US" sz="2000" b="0" i="0" u="none" strike="noStrike" kern="0" cap="none" spc="0" normalizeH="0" baseline="0" noProof="0" dirty="0">
                <a:ln>
                  <a:noFill/>
                </a:ln>
                <a:solidFill>
                  <a:srgbClr val="433835"/>
                </a:solidFill>
                <a:effectLst/>
                <a:uLnTx/>
                <a:uFillTx/>
                <a:latin typeface="-apple-system"/>
                <a:cs typeface="Arial"/>
                <a:sym typeface="Arial"/>
              </a:rPr>
            </a:br>
            <a:endParaRPr kumimoji="0" sz="1200" b="0" i="0" u="none" strike="noStrike" kern="0" cap="none" spc="0" normalizeH="0" baseline="0" noProof="0" dirty="0">
              <a:ln>
                <a:noFill/>
              </a:ln>
              <a:solidFill>
                <a:srgbClr val="433835"/>
              </a:solidFill>
              <a:effectLst/>
              <a:uLnTx/>
              <a:uFillTx/>
              <a:latin typeface="Arial"/>
              <a:cs typeface="Arial"/>
              <a:sym typeface="Arial"/>
            </a:endParaRPr>
          </a:p>
        </p:txBody>
      </p:sp>
      <p:sp>
        <p:nvSpPr>
          <p:cNvPr id="1821" name="Google Shape;1821;p103"/>
          <p:cNvSpPr txBox="1"/>
          <p:nvPr/>
        </p:nvSpPr>
        <p:spPr>
          <a:xfrm>
            <a:off x="224979" y="178329"/>
            <a:ext cx="11231710" cy="64616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Reference Scenario – Custom Entity</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15"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16"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extLst>
      <p:ext uri="{BB962C8B-B14F-4D97-AF65-F5344CB8AC3E}">
        <p14:creationId xmlns:p14="http://schemas.microsoft.com/office/powerpoint/2010/main" val="3041010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25"/>
        <p:cNvGrpSpPr/>
        <p:nvPr/>
      </p:nvGrpSpPr>
      <p:grpSpPr>
        <a:xfrm>
          <a:off x="0" y="0"/>
          <a:ext cx="0" cy="0"/>
          <a:chOff x="0" y="0"/>
          <a:chExt cx="0" cy="0"/>
        </a:xfrm>
      </p:grpSpPr>
      <p:sp>
        <p:nvSpPr>
          <p:cNvPr id="1927" name="Google Shape;1927;p110"/>
          <p:cNvSpPr txBox="1"/>
          <p:nvPr/>
        </p:nvSpPr>
        <p:spPr>
          <a:xfrm>
            <a:off x="224979" y="788088"/>
            <a:ext cx="11806237" cy="36933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433835"/>
                </a:solidFill>
                <a:effectLst/>
                <a:uLnTx/>
                <a:uFillTx/>
                <a:latin typeface="Calibri"/>
                <a:ea typeface="Calibri"/>
                <a:cs typeface="Calibri"/>
                <a:sym typeface="Calibri"/>
              </a:rPr>
              <a:t>&lt;&gt;</a:t>
            </a:r>
            <a:endParaRPr kumimoji="0" sz="1800" b="0" i="0" u="none" strike="noStrike" kern="0" cap="none" spc="0" normalizeH="0" baseline="0" noProof="0">
              <a:ln>
                <a:noFill/>
              </a:ln>
              <a:solidFill>
                <a:srgbClr val="433835"/>
              </a:solidFill>
              <a:effectLst/>
              <a:uLnTx/>
              <a:uFillTx/>
              <a:latin typeface="Calibri"/>
              <a:ea typeface="Calibri"/>
              <a:cs typeface="Calibri"/>
              <a:sym typeface="Calibri"/>
            </a:endParaRPr>
          </a:p>
        </p:txBody>
      </p:sp>
      <p:sp>
        <p:nvSpPr>
          <p:cNvPr id="1928" name="Google Shape;1928;p110"/>
          <p:cNvSpPr txBox="1"/>
          <p:nvPr/>
        </p:nvSpPr>
        <p:spPr>
          <a:xfrm>
            <a:off x="191294" y="895"/>
            <a:ext cx="11231710" cy="120007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From classic ABAP extensions to ABAP Cloud development</a:t>
            </a:r>
            <a:endParaRPr kumimoji="0" sz="1400" b="0" i="0" u="none" strike="noStrike" kern="0" cap="none" spc="0" normalizeH="0" baseline="0" noProof="0" dirty="0">
              <a:ln>
                <a:noFill/>
              </a:ln>
              <a:solidFill>
                <a:srgbClr val="FFC000"/>
              </a:solidFill>
              <a:effectLst/>
              <a:uLnTx/>
              <a:uFillTx/>
              <a:latin typeface="Cooper Black" panose="0208090404030B020404" pitchFamily="18" charset="0"/>
              <a:cs typeface="Arial"/>
              <a:sym typeface="Arial"/>
            </a:endParaRPr>
          </a:p>
        </p:txBody>
      </p:sp>
      <p:pic>
        <p:nvPicPr>
          <p:cNvPr id="1931" name="Google Shape;1931;p110"/>
          <p:cNvPicPr preferRelativeResize="0"/>
          <p:nvPr/>
        </p:nvPicPr>
        <p:blipFill rotWithShape="1">
          <a:blip r:embed="rId3">
            <a:alphaModFix/>
          </a:blip>
          <a:srcRect/>
          <a:stretch/>
        </p:blipFill>
        <p:spPr>
          <a:xfrm>
            <a:off x="333772" y="1412776"/>
            <a:ext cx="7772400" cy="3971925"/>
          </a:xfrm>
          <a:prstGeom prst="rect">
            <a:avLst/>
          </a:prstGeom>
          <a:noFill/>
          <a:ln>
            <a:noFill/>
          </a:ln>
        </p:spPr>
      </p:pic>
      <p:pic>
        <p:nvPicPr>
          <p:cNvPr id="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9"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39"/>
        <p:cNvGrpSpPr/>
        <p:nvPr/>
      </p:nvGrpSpPr>
      <p:grpSpPr>
        <a:xfrm>
          <a:off x="0" y="0"/>
          <a:ext cx="0" cy="0"/>
          <a:chOff x="0" y="0"/>
          <a:chExt cx="0" cy="0"/>
        </a:xfrm>
      </p:grpSpPr>
      <p:sp>
        <p:nvSpPr>
          <p:cNvPr id="1941" name="Google Shape;1941;p112"/>
          <p:cNvSpPr txBox="1"/>
          <p:nvPr/>
        </p:nvSpPr>
        <p:spPr>
          <a:xfrm>
            <a:off x="191294" y="1279407"/>
            <a:ext cx="11806237" cy="1754326"/>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Use public SAP APIs (local or remote) released by SAP to access SAP functionality and SAP data</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Use public SAP extension points released by SAP to extend SAP objects. Modifications to SAP standard objects are not supported (applies to S/4HANA Cloud system)</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Use of </a:t>
            </a:r>
            <a:r>
              <a:rPr kumimoji="0" lang="en-US" sz="1800" b="0" i="0" u="none" strike="noStrike" kern="0" cap="none" spc="0" normalizeH="0" baseline="0" noProof="0" dirty="0" err="1">
                <a:ln>
                  <a:noFill/>
                </a:ln>
                <a:solidFill>
                  <a:srgbClr val="433835"/>
                </a:solidFill>
                <a:effectLst/>
                <a:uLnTx/>
                <a:uFillTx/>
                <a:latin typeface="Calibri"/>
                <a:ea typeface="Calibri"/>
                <a:cs typeface="Calibri"/>
                <a:sym typeface="Calibri"/>
              </a:rPr>
              <a:t>Adt</a:t>
            </a: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 (ABAP development tools) on eclipse</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Use Steampunk (RAP – Restful Application Programming model) to build Fiori Applications and services. SAP technologies like </a:t>
            </a:r>
            <a:r>
              <a:rPr kumimoji="0" lang="en-US" sz="1800" b="0" i="0" u="none" strike="noStrike" kern="0" cap="none" spc="0" normalizeH="0" baseline="0" noProof="0" dirty="0" err="1">
                <a:ln>
                  <a:noFill/>
                </a:ln>
                <a:solidFill>
                  <a:srgbClr val="433835"/>
                </a:solidFill>
                <a:effectLst/>
                <a:uLnTx/>
                <a:uFillTx/>
                <a:latin typeface="Calibri"/>
                <a:ea typeface="Calibri"/>
                <a:cs typeface="Calibri"/>
                <a:sym typeface="Calibri"/>
              </a:rPr>
              <a:t>Dynpro</a:t>
            </a: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 and </a:t>
            </a:r>
            <a:r>
              <a:rPr kumimoji="0" lang="en-US" sz="1800" b="0" i="0" u="none" strike="noStrike" kern="0" cap="none" spc="0" normalizeH="0" baseline="0" noProof="0" dirty="0" err="1">
                <a:ln>
                  <a:noFill/>
                </a:ln>
                <a:solidFill>
                  <a:srgbClr val="433835"/>
                </a:solidFill>
                <a:effectLst/>
                <a:uLnTx/>
                <a:uFillTx/>
                <a:latin typeface="Calibri"/>
                <a:ea typeface="Calibri"/>
                <a:cs typeface="Calibri"/>
                <a:sym typeface="Calibri"/>
              </a:rPr>
              <a:t>webdynpro</a:t>
            </a:r>
            <a:r>
              <a:rPr kumimoji="0" lang="en-US" sz="1800" b="0" i="0" u="none" strike="noStrike" kern="0" cap="none" spc="0" normalizeH="0" baseline="0" noProof="0" dirty="0">
                <a:ln>
                  <a:noFill/>
                </a:ln>
                <a:solidFill>
                  <a:srgbClr val="433835"/>
                </a:solidFill>
                <a:effectLst/>
                <a:uLnTx/>
                <a:uFillTx/>
                <a:latin typeface="Calibri"/>
                <a:ea typeface="Calibri"/>
                <a:cs typeface="Calibri"/>
                <a:sym typeface="Calibri"/>
              </a:rPr>
              <a:t> are not released for cloud development.</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sp>
        <p:nvSpPr>
          <p:cNvPr id="1942" name="Google Shape;1942;p112"/>
          <p:cNvSpPr txBox="1"/>
          <p:nvPr/>
        </p:nvSpPr>
        <p:spPr>
          <a:xfrm>
            <a:off x="191294" y="219259"/>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What is ABAP Cloud Development Means:</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8"/>
        <p:cNvGrpSpPr/>
        <p:nvPr/>
      </p:nvGrpSpPr>
      <p:grpSpPr>
        <a:xfrm>
          <a:off x="0" y="0"/>
          <a:ext cx="0" cy="0"/>
          <a:chOff x="0" y="0"/>
          <a:chExt cx="0" cy="0"/>
        </a:xfrm>
      </p:grpSpPr>
      <p:sp>
        <p:nvSpPr>
          <p:cNvPr id="1950" name="Google Shape;1950;p113"/>
          <p:cNvSpPr txBox="1"/>
          <p:nvPr/>
        </p:nvSpPr>
        <p:spPr>
          <a:xfrm>
            <a:off x="224979" y="788088"/>
            <a:ext cx="11806237" cy="2862322"/>
          </a:xfrm>
          <a:prstGeom prst="rect">
            <a:avLst/>
          </a:prstGeom>
          <a:noFill/>
          <a:ln>
            <a:noFill/>
          </a:ln>
        </p:spPr>
        <p:txBody>
          <a:bodyPr spcFirstLastPara="1" wrap="square" lIns="91425" tIns="45700" rIns="91425" bIns="45700" anchor="t" anchorCtr="0">
            <a:spAutoFit/>
          </a:bodyPr>
          <a:lstStyle/>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a:ln>
                  <a:noFill/>
                </a:ln>
                <a:solidFill>
                  <a:srgbClr val="433835"/>
                </a:solidFill>
                <a:effectLst/>
                <a:uLnTx/>
                <a:uFillTx/>
                <a:latin typeface="Calibri"/>
                <a:ea typeface="Calibri"/>
                <a:cs typeface="Calibri"/>
                <a:sym typeface="Calibri"/>
              </a:rPr>
              <a:t>If we are using SAP BTP to develop side by side extensions, full stack SAP applications in BTP (Steampunk)</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285750" algn="l" defTabSz="914400" rtl="0" eaLnBrk="1" fontAlgn="auto" latinLnBrk="0" hangingPunct="1">
              <a:lnSpc>
                <a:spcPct val="100000"/>
              </a:lnSpc>
              <a:spcBef>
                <a:spcPts val="0"/>
              </a:spcBef>
              <a:spcAft>
                <a:spcPts val="0"/>
              </a:spcAft>
              <a:buClr>
                <a:srgbClr val="433835"/>
              </a:buClr>
              <a:buSzPts val="1800"/>
              <a:buFont typeface="Arial"/>
              <a:buChar char="•"/>
              <a:tabLst/>
              <a:defRPr/>
            </a:pPr>
            <a:r>
              <a:rPr kumimoji="0" lang="en-US" sz="1800" b="0" i="0" u="none" strike="noStrike" kern="0" cap="none" spc="0" normalizeH="0" baseline="0" noProof="0">
                <a:ln>
                  <a:noFill/>
                </a:ln>
                <a:solidFill>
                  <a:srgbClr val="433835"/>
                </a:solidFill>
                <a:effectLst/>
                <a:uLnTx/>
                <a:uFillTx/>
                <a:latin typeface="Calibri"/>
                <a:ea typeface="Calibri"/>
                <a:cs typeface="Calibri"/>
                <a:sym typeface="Calibri"/>
              </a:rPr>
              <a:t>If we are using In-app Developer extensibility with released objects in S/4HANA (all editions) with RAP (Embedded Steampunk)</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285750" marR="0" lvl="0" indent="-171450" algn="l" defTabSz="914400" rtl="0" eaLnBrk="1" fontAlgn="auto" latinLnBrk="0" hangingPunct="1">
              <a:lnSpc>
                <a:spcPct val="100000"/>
              </a:lnSpc>
              <a:spcBef>
                <a:spcPts val="0"/>
              </a:spcBef>
              <a:spcAft>
                <a:spcPts val="0"/>
              </a:spcAft>
              <a:buClr>
                <a:srgbClr val="433835"/>
              </a:buClr>
              <a:buSzPts val="1800"/>
              <a:buFont typeface="Arial"/>
              <a:buNone/>
              <a:tabLst/>
              <a:defRPr/>
            </a:pPr>
            <a:endParaRPr kumimoji="0" sz="1800" b="0" i="0" u="none" strike="noStrike" kern="0" cap="none" spc="0" normalizeH="0" baseline="0" noProof="0">
              <a:ln>
                <a:noFill/>
              </a:ln>
              <a:solidFill>
                <a:srgbClr val="433835"/>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433835"/>
                </a:solidFill>
                <a:effectLst/>
                <a:uLnTx/>
                <a:uFillTx/>
                <a:latin typeface="Calibri"/>
                <a:ea typeface="Calibri"/>
                <a:cs typeface="Calibri"/>
                <a:sym typeface="Calibri"/>
              </a:rPr>
              <a:t>If you using RAP and enhancing your Standard SAP Applications delivered by SAP in S/4HANA system, the recommended approach is Embedded Steampunk.</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433835"/>
              </a:solidFill>
              <a:effectLst/>
              <a:uLnTx/>
              <a:uFillTx/>
              <a:latin typeface="Calibri"/>
              <a:ea typeface="Calibri"/>
              <a:cs typeface="Calibri"/>
              <a:sym typeface="Calibri"/>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433835"/>
                </a:solidFill>
                <a:effectLst/>
                <a:uLnTx/>
                <a:uFillTx/>
                <a:latin typeface="Calibri"/>
                <a:ea typeface="Calibri"/>
                <a:cs typeface="Calibri"/>
                <a:sym typeface="Calibri"/>
              </a:rPr>
              <a:t>Every Customer using S/4HANA can decide whether they want to use new approach (embedded Steampunk) or classic extension approach (BADI) @ Object level</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800" b="0" i="0" u="none" strike="noStrike" kern="0" cap="none" spc="0" normalizeH="0" baseline="0" noProof="0">
                <a:ln>
                  <a:noFill/>
                </a:ln>
                <a:solidFill>
                  <a:srgbClr val="433835"/>
                </a:solidFill>
                <a:effectLst/>
                <a:uLnTx/>
                <a:uFillTx/>
                <a:latin typeface="Calibri"/>
                <a:ea typeface="Calibri"/>
                <a:cs typeface="Calibri"/>
                <a:sym typeface="Calibri"/>
              </a:rPr>
              <a:t>This can be done by switching a setting @ object level.</a:t>
            </a: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1951" name="Google Shape;1951;p113"/>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rPr>
              <a:t>What is Embedded Steampunk</a:t>
            </a:r>
            <a:endParaRPr kumimoji="0" sz="3599" b="0" i="0" u="none" strike="noStrike" kern="0" cap="none" spc="0" normalizeH="0" baseline="0" noProof="0" dirty="0">
              <a:ln>
                <a:noFill/>
              </a:ln>
              <a:solidFill>
                <a:srgbClr val="FFC000"/>
              </a:solidFill>
              <a:effectLst/>
              <a:uLnTx/>
              <a:uFillTx/>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6000" b="1" i="0" u="none" strike="noStrike" kern="0" cap="none" spc="0" normalizeH="0" baseline="0" noProof="0" dirty="0">
                <a:ln>
                  <a:noFill/>
                </a:ln>
                <a:solidFill>
                  <a:srgbClr val="75C042"/>
                </a:solidFill>
                <a:effectLst/>
                <a:uLnTx/>
                <a:uFillTx/>
                <a:latin typeface="Arial"/>
                <a:cs typeface="Arial"/>
                <a:sym typeface="Arial"/>
              </a:rPr>
              <a:t>Thank</a:t>
            </a:r>
            <a:r>
              <a:rPr kumimoji="0" lang="en-IN" sz="6000" b="1" i="0" u="none" strike="noStrike" kern="0" cap="none" spc="0" normalizeH="0" baseline="0" noProof="0" dirty="0">
                <a:ln>
                  <a:noFill/>
                </a:ln>
                <a:solidFill>
                  <a:srgbClr val="BDBDBD"/>
                </a:solidFill>
                <a:effectLst/>
                <a:uLnTx/>
                <a:uFillTx/>
                <a:latin typeface="Arial"/>
                <a:cs typeface="Arial"/>
                <a:sym typeface="Arial"/>
              </a:rPr>
              <a:t> </a:t>
            </a:r>
            <a:r>
              <a:rPr kumimoji="0" lang="en-IN" sz="6000" b="1"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rPr>
              <a:t>You</a:t>
            </a:r>
            <a:endParaRPr kumimoji="0" lang="en-IN" sz="6000" b="0"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98C536"/>
                </a:solidFill>
                <a:effectLst/>
                <a:uLnTx/>
                <a:uFillTx/>
                <a:latin typeface="Segoe UI" panose="020B0502040204020203" pitchFamily="34" charset="0"/>
                <a:ea typeface="Calibri Light" charset="0"/>
                <a:cs typeface="Segoe UI" panose="020B0502040204020203" pitchFamily="34" charset="0"/>
                <a:sym typeface="Arial"/>
              </a:rPr>
              <a:t>End of </a:t>
            </a:r>
            <a:r>
              <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rPr>
              <a:t>Day 30</a:t>
            </a: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Arial"/>
                <a:ea typeface="+mn-ea"/>
                <a:cs typeface="+mn-cs"/>
                <a:sym typeface="Aria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61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err="1">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3913</TotalTime>
  <Words>855</Words>
  <Application>Microsoft Office PowerPoint</Application>
  <PresentationFormat>Custom</PresentationFormat>
  <Paragraphs>92</Paragraphs>
  <Slides>12</Slides>
  <Notes>10</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12</vt:i4>
      </vt:variant>
    </vt:vector>
  </HeadingPairs>
  <TitlesOfParts>
    <vt:vector size="28" baseType="lpstr">
      <vt:lpstr>Arial Black</vt:lpstr>
      <vt:lpstr>Corben</vt:lpstr>
      <vt:lpstr>Segoe UI</vt:lpstr>
      <vt:lpstr>72 Condensed</vt:lpstr>
      <vt:lpstr>Open Sans</vt:lpstr>
      <vt:lpstr>Segoe UI Light</vt:lpstr>
      <vt:lpstr>Quattrocento Sans</vt:lpstr>
      <vt:lpstr>Cambria</vt:lpstr>
      <vt:lpstr>-apple-system</vt:lpstr>
      <vt:lpstr>Calibri</vt:lpstr>
      <vt:lpstr>Arial</vt:lpstr>
      <vt:lpstr>Cooper Black</vt:lpstr>
      <vt:lpstr>Office Theme</vt:lpstr>
      <vt:lpstr>2_Office Theme</vt:lpstr>
      <vt:lpstr>3_Office Theme</vt:lpstr>
      <vt:lpstr>1_Office Theme</vt:lpstr>
      <vt:lpstr>SAP BTP ABAP  on Cloud / RAP  Training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138</cp:revision>
  <dcterms:created xsi:type="dcterms:W3CDTF">2023-10-03T21:33:12Z</dcterms:created>
  <dcterms:modified xsi:type="dcterms:W3CDTF">2026-02-27T07:59:03Z</dcterms:modified>
</cp:coreProperties>
</file>