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18"/>
  </p:notesMasterIdLst>
  <p:sldIdLst>
    <p:sldId id="256" r:id="rId4"/>
    <p:sldId id="402" r:id="rId5"/>
    <p:sldId id="276" r:id="rId6"/>
    <p:sldId id="277" r:id="rId7"/>
    <p:sldId id="1034" r:id="rId8"/>
    <p:sldId id="278" r:id="rId9"/>
    <p:sldId id="283" r:id="rId10"/>
    <p:sldId id="1030" r:id="rId11"/>
    <p:sldId id="1031" r:id="rId12"/>
    <p:sldId id="1032" r:id="rId13"/>
    <p:sldId id="1033" r:id="rId14"/>
    <p:sldId id="287" r:id="rId15"/>
    <p:sldId id="419" r:id="rId16"/>
    <p:sldId id="409" r:id="rId17"/>
  </p:sldIdLst>
  <p:sldSz cx="12188825" cy="6858000"/>
  <p:notesSz cx="6858000" cy="9144000"/>
  <p:embeddedFontLst>
    <p:embeddedFont>
      <p:font typeface="Arial Black" panose="020B0A04020102020204" pitchFamily="34" charset="0"/>
      <p:regular r:id="rId19"/>
      <p:bold r:id="rId20"/>
    </p:embeddedFont>
    <p:embeddedFont>
      <p:font typeface="Cambria" panose="02040503050406030204" pitchFamily="18" charset="0"/>
      <p:regular r:id="rId21"/>
      <p:bold r:id="rId22"/>
      <p:italic r:id="rId23"/>
      <p:boldItalic r:id="rId24"/>
    </p:embeddedFont>
    <p:embeddedFont>
      <p:font typeface="Cooper Black" panose="0208090404030B020404" pitchFamily="18" charset="0"/>
      <p:regular r:id="rId25"/>
    </p:embeddedFont>
    <p:embeddedFont>
      <p:font typeface="Corben" panose="020B0604020202020204" charset="0"/>
      <p:bold r:id="rId26"/>
    </p:embeddedFont>
    <p:embeddedFont>
      <p:font typeface="Open Sans" panose="020B0606030504020204" pitchFamily="34" charset="0"/>
      <p:regular r:id="rId27"/>
      <p:bold r:id="rId28"/>
      <p:italic r:id="rId29"/>
      <p:boldItalic r:id="rId30"/>
    </p:embeddedFont>
    <p:embeddedFont>
      <p:font typeface="Quattrocento Sans" panose="020B0502050000020003" pitchFamily="34" charset="0"/>
      <p:regular r:id="rId31"/>
      <p:bold r:id="rId32"/>
      <p:italic r:id="rId33"/>
      <p:boldItalic r:id="rId34"/>
    </p:embeddedFont>
    <p:embeddedFont>
      <p:font typeface="Segoe UI" panose="020B0502040204020203" pitchFamily="34" charset="0"/>
      <p:regular r:id="rId35"/>
      <p:bold r:id="rId36"/>
      <p:italic r:id="rId37"/>
      <p:boldItalic r:id="rId38"/>
    </p:embeddedFont>
    <p:embeddedFont>
      <p:font typeface="Segoe UI Light" panose="020B0502040204020203" pitchFamily="34" charset="0"/>
      <p:regular r:id="rId39"/>
      <p: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20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1" name="Google Shape;91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0" name="Google Shape;92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3" name="Google Shape;963;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8" name="Google Shape;1008;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050793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5" name="Footer Placeholder 2">
            <a:extLst>
              <a:ext uri="{FF2B5EF4-FFF2-40B4-BE49-F238E27FC236}">
                <a16:creationId xmlns:a16="http://schemas.microsoft.com/office/drawing/2014/main" id="{BDD2387F-07C0-50A0-1236-172A215EC0A7}"/>
              </a:ext>
            </a:extLst>
          </p:cNvPr>
          <p:cNvSpPr>
            <a:spLocks noGrp="1"/>
          </p:cNvSpPr>
          <p:nvPr>
            <p:ph type="ftr" sz="quarter" idx="11"/>
          </p:nvPr>
        </p:nvSpPr>
        <p:spPr>
          <a:xfrm rot="16200000">
            <a:off x="9940012" y="4373097"/>
            <a:ext cx="3859795" cy="268498"/>
          </a:xfrm>
        </p:spPr>
        <p:txBody>
          <a:bodyPr/>
          <a:lstStyle>
            <a:lvl1pPr algn="l">
              <a:defRPr sz="1400">
                <a:solidFill>
                  <a:schemeClr val="accent4"/>
                </a:solidFill>
              </a:defRPr>
            </a:lvl1pPr>
          </a:lstStyle>
          <a:p>
            <a:endParaRPr lang="en-US"/>
          </a:p>
        </p:txBody>
      </p:sp>
      <p:sp>
        <p:nvSpPr>
          <p:cNvPr id="6" name="Slide Number Placeholder 3">
            <a:extLst>
              <a:ext uri="{FF2B5EF4-FFF2-40B4-BE49-F238E27FC236}">
                <a16:creationId xmlns:a16="http://schemas.microsoft.com/office/drawing/2014/main" id="{C3190560-6C59-E5EE-893F-1A3B6762F3C1}"/>
              </a:ext>
            </a:extLst>
          </p:cNvPr>
          <p:cNvSpPr>
            <a:spLocks noGrp="1"/>
          </p:cNvSpPr>
          <p:nvPr>
            <p:ph type="sldNum" sz="quarter" idx="12"/>
          </p:nvPr>
        </p:nvSpPr>
        <p:spPr>
          <a:xfrm>
            <a:off x="11641451" y="444773"/>
            <a:ext cx="467795" cy="365125"/>
          </a:xfrm>
        </p:spPr>
        <p:txBody>
          <a:bodyPr tIns="0" bIns="0"/>
          <a:lstStyle>
            <a:lvl1pPr algn="ctr">
              <a:defRPr sz="2800" b="1">
                <a:solidFill>
                  <a:schemeClr val="accent4"/>
                </a:solidFill>
              </a:defRPr>
            </a:lvl1pPr>
          </a:lstStyle>
          <a:p>
            <a:fld id="{96E69268-9C8B-4EBF-A9EE-DC5DC2D48DC3}" type="slidenum">
              <a:rPr lang="en-US" smtClean="0"/>
              <a:pPr/>
              <a:t>‹#›</a:t>
            </a:fld>
            <a:endParaRPr lang="en-US" dirty="0"/>
          </a:p>
        </p:txBody>
      </p:sp>
      <p:cxnSp>
        <p:nvCxnSpPr>
          <p:cNvPr id="7" name="Straight Connector 6">
            <a:extLst>
              <a:ext uri="{FF2B5EF4-FFF2-40B4-BE49-F238E27FC236}">
                <a16:creationId xmlns:a16="http://schemas.microsoft.com/office/drawing/2014/main" id="{D2453592-BC86-9EF6-F7BE-44C301E3B5AD}"/>
              </a:ext>
            </a:extLst>
          </p:cNvPr>
          <p:cNvCxnSpPr>
            <a:cxnSpLocks/>
          </p:cNvCxnSpPr>
          <p:nvPr userDrawn="1"/>
        </p:nvCxnSpPr>
        <p:spPr>
          <a:xfrm>
            <a:off x="11567020" y="420757"/>
            <a:ext cx="0" cy="60164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9113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theme" Target="../theme/theme2.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image" Target="../media/image1.png"/><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45" r:id="rId8"/>
    <p:sldLayoutId id="214748374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2/12/2026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hyperlink" Target="https://help.sap.com/docs/sap-btp-abap-environment?locale=en-US"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tools.hana.ondemand.com/#abap" TargetMode="External"/><Relationship Id="rId7" Type="http://schemas.openxmlformats.org/officeDocument/2006/relationships/hyperlink" Target="https://www.eclipse.org/downloads/packages/release/2023-12/r/eclipse-ide-java-developers"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hyperlink" Target="https://www.eclipse.org/downloads/packages/release/2023-12/r" TargetMode="External"/><Relationship Id="rId5" Type="http://schemas.openxmlformats.org/officeDocument/2006/relationships/hyperlink" Target="https://docs.microsoft.com/en-US/cpp/windows/latest-supported-vc-redist?view=msvc-170#visual-studio-2013-vc-120" TargetMode="External"/><Relationship Id="rId4" Type="http://schemas.openxmlformats.org/officeDocument/2006/relationships/hyperlink" Target="https://download.oracle.com/java/17/archive/jdk-17.0.10_windows-x64_bin.msi"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eclipse.abapgit.org/updatesite/"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hyperlink" Target="https://github.com/SAP-samples/abap-file-uploader"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api.sap.com/" TargetMode="Externa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hyperlink" Target="https://www.anubhavtrainings.com/restful-programming-training" TargetMode="External"/><Relationship Id="rId2" Type="http://schemas.openxmlformats.org/officeDocument/2006/relationships/hyperlink" Target="https://youtu.be/rTsAg_OGh-A" TargetMode="Externa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2.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tiff"/><Relationship Id="rId2" Type="http://schemas.openxmlformats.org/officeDocument/2006/relationships/notesSlide" Target="../notesSlides/notesSlide7.xml"/><Relationship Id="rId1" Type="http://schemas.openxmlformats.org/officeDocument/2006/relationships/slideLayout" Target="../slideLayouts/slideLayout39.xml"/><Relationship Id="rId6" Type="http://schemas.openxmlformats.org/officeDocument/2006/relationships/image" Target="../media/image11.tiff"/><Relationship Id="rId5" Type="http://schemas.openxmlformats.org/officeDocument/2006/relationships/image" Target="../media/image10.tiff"/><Relationship Id="rId4" Type="http://schemas.openxmlformats.org/officeDocument/2006/relationships/image" Target="../media/image9.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DAY-18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ABAP on Cloud</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1"/>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CDS Introduction</a:t>
            </a:r>
          </a:p>
        </p:txBody>
      </p:sp>
      <p:sp>
        <p:nvSpPr>
          <p:cNvPr id="52" name="Rectangle 51">
            <a:extLst>
              <a:ext uri="{FF2B5EF4-FFF2-40B4-BE49-F238E27FC236}">
                <a16:creationId xmlns:a16="http://schemas.microsoft.com/office/drawing/2014/main" id="{20C13AF4-68B6-4226-9401-EDB6ED0540C2}"/>
              </a:ext>
            </a:extLst>
          </p:cNvPr>
          <p:cNvSpPr/>
          <p:nvPr/>
        </p:nvSpPr>
        <p:spPr>
          <a:xfrm>
            <a:off x="8211739" y="3578356"/>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Create DB Model </a:t>
            </a:r>
          </a:p>
        </p:txBody>
      </p:sp>
      <p:sp>
        <p:nvSpPr>
          <p:cNvPr id="55" name="Rectangle 54">
            <a:extLst>
              <a:ext uri="{FF2B5EF4-FFF2-40B4-BE49-F238E27FC236}">
                <a16:creationId xmlns:a16="http://schemas.microsoft.com/office/drawing/2014/main" id="{C08D0B4E-C408-458A-9E80-98D57A618BD5}"/>
              </a:ext>
            </a:extLst>
          </p:cNvPr>
          <p:cNvSpPr/>
          <p:nvPr/>
        </p:nvSpPr>
        <p:spPr>
          <a:xfrm>
            <a:off x="8544248" y="4695079"/>
            <a:ext cx="2597506" cy="646331"/>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Working with CDS Views</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4" name="Google Shape;914;p22"/>
          <p:cNvSpPr txBox="1"/>
          <p:nvPr/>
        </p:nvSpPr>
        <p:spPr>
          <a:xfrm>
            <a:off x="224979" y="788088"/>
            <a:ext cx="11806237" cy="507831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ABAP on cloud is an ABAP environment running on SAP BTP on top of AWS infrastructure. It is a shared ABAP system in trial mode.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Since it’s a shared system with other abap trial users, we will see all the packages of other users as well.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With ABAP on Cloud, NO ONE EVER-EVER access SAPGUI, No Tcodes are allowed with GUI. In fact, you cant event use SAPGUI to connect to ABAP on Cloud system</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We don’t have control to install notes, patches, and upgrade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No access to SPRO (customizing) is allowed in the cloud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ABAP on Cloud is just abap environment, its not a SAP Solution (like s/4hana or ecc), so you will never find standard sap tables like MARA, VBAK, ACDOCA, MATDOC etc.</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You are only allowed to use DDIC objects which are marked </a:t>
            </a:r>
            <a:r>
              <a:rPr kumimoji="0" lang="en-US" sz="1800" b="1"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released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We cannot create everything like what we do in a on-premise system e.g. forms, workflow, scripts, dialog prog.</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We cannot create ABAP programs in the AoC system, all code will be in-form of classes.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The AoC only allows whitelisted ABAP statements, no other abap statements can be used freely e.g. write.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sng" strike="noStrike" kern="0" cap="none" spc="0" normalizeH="0" baseline="0" noProof="0">
                <a:ln>
                  <a:noFill/>
                </a:ln>
                <a:solidFill>
                  <a:srgbClr val="433835"/>
                </a:solidFill>
                <a:effectLst/>
                <a:uLnTx/>
                <a:uFillTx/>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https://help.sap.com/docs/sap-btp-abap-environment?locale=en-US</a:t>
            </a:r>
            <a:endParaRPr kumimoji="0"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You can create your packages under a standard package ZLOCAL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The preferred programming model to develop applications is RAP – Restful Application Programming model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ABAP in Cloud has a code name called “steampunk”</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171450" algn="l" defTabSz="914400" rtl="0" eaLnBrk="1" fontAlgn="auto" latinLnBrk="0" hangingPunct="1">
              <a:lnSpc>
                <a:spcPct val="100000"/>
              </a:lnSpc>
              <a:spcBef>
                <a:spcPts val="0"/>
              </a:spcBef>
              <a:spcAft>
                <a:spcPts val="0"/>
              </a:spcAft>
              <a:buClr>
                <a:srgbClr val="433835"/>
              </a:buClr>
              <a:buSzPts val="1800"/>
              <a:buFont typeface="Arial"/>
              <a:buNone/>
              <a:tabLst/>
              <a:defRPr/>
            </a:pPr>
            <a:endParaRPr kumimoji="0"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endParaRPr>
          </a:p>
        </p:txBody>
      </p:sp>
      <p:sp>
        <p:nvSpPr>
          <p:cNvPr id="915" name="Google Shape;915;p22"/>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ABAP on Cloud – the environment</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917" name="Google Shape;917;p22"/>
          <p:cNvPicPr preferRelativeResize="0"/>
          <p:nvPr/>
        </p:nvPicPr>
        <p:blipFill rotWithShape="1">
          <a:blip r:embed="rId4">
            <a:alphaModFix/>
          </a:blip>
          <a:srcRect/>
          <a:stretch/>
        </p:blipFill>
        <p:spPr>
          <a:xfrm>
            <a:off x="11688213" y="45412"/>
            <a:ext cx="436629" cy="431260"/>
          </a:xfrm>
          <a:prstGeom prst="rect">
            <a:avLst/>
          </a:prstGeom>
          <a:noFill/>
          <a:ln>
            <a:noFill/>
          </a:ln>
          <a:effectLst>
            <a:outerShdw blurRad="50800" dist="38100" dir="2700000" algn="tl" rotWithShape="0">
              <a:srgbClr val="000000">
                <a:alpha val="40000"/>
              </a:srgbClr>
            </a:outerShdw>
          </a:effectLst>
        </p:spPr>
      </p:pic>
      <p:sp>
        <p:nvSpPr>
          <p:cNvPr id="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AP Discovery Center Mission - Get Started with SAP BTP ABAP environment">
            <a:extLst>
              <a:ext uri="{FF2B5EF4-FFF2-40B4-BE49-F238E27FC236}">
                <a16:creationId xmlns:a16="http://schemas.microsoft.com/office/drawing/2014/main" id="{08F8AC8A-EE74-D8AD-D310-204AF7DCF9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088"/>
            <a:ext cx="12188825" cy="6727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003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3" name="Google Shape;923;p23"/>
          <p:cNvSpPr txBox="1"/>
          <p:nvPr/>
        </p:nvSpPr>
        <p:spPr>
          <a:xfrm>
            <a:off x="224979" y="788088"/>
            <a:ext cx="11806237" cy="455505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sng"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https://tools.hana.ondemand.com/#abap</a:t>
            </a:r>
            <a:endParaRPr kumimoji="0" sz="1800" b="0"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rPr>
              <a:t>Starters: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Quattrocento Sans"/>
              <a:buAutoNum type="arabicPeriod"/>
              <a:tabLst/>
              <a:defRPr/>
            </a:pPr>
            <a:r>
              <a:rPr kumimoji="0" lang="en-US" sz="1800" b="0"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rPr>
              <a:t>JRE - </a:t>
            </a:r>
            <a:r>
              <a:rPr kumimoji="0" lang="en-US" sz="1800" b="0" i="0" u="sng"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https://download.oracle.com/java/17/archive/jdk-17.0.10_windows-x64_bin.msi</a:t>
            </a:r>
            <a:endParaRPr kumimoji="0" sz="1800" b="0"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Quattrocento Sans"/>
              <a:buAutoNum type="arabicPeriod"/>
              <a:tabLst/>
              <a:defRPr/>
            </a:pPr>
            <a:r>
              <a:rPr kumimoji="0" lang="en-US" sz="1800" b="0"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rPr>
              <a:t>For windows we need </a:t>
            </a:r>
            <a:r>
              <a:rPr kumimoji="0" lang="en-US" sz="1800" b="0" i="0" u="none" strike="noStrike" kern="0" cap="none" spc="0" normalizeH="0" baseline="0" noProof="0" dirty="0" err="1">
                <a:ln>
                  <a:noFill/>
                </a:ln>
                <a:solidFill>
                  <a:srgbClr val="433835"/>
                </a:solidFill>
                <a:effectLst/>
                <a:uLnTx/>
                <a:uFillTx/>
                <a:latin typeface="Quattrocento Sans"/>
                <a:ea typeface="Quattrocento Sans"/>
                <a:cs typeface="Quattrocento Sans"/>
                <a:sym typeface="Quattrocento Sans"/>
              </a:rPr>
              <a:t>micosoft</a:t>
            </a:r>
            <a:r>
              <a:rPr kumimoji="0" lang="en-US" sz="1800" b="0"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rPr>
              <a:t> C++ runtime - </a:t>
            </a:r>
            <a:r>
              <a:rPr kumimoji="0" lang="en-US" sz="1800" b="0" i="0" u="sng"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https://docs.microsoft.com/en-US/cpp/windows/latest-supported-vc-redist?view=msvc-170#visual-studio-2013-vc-120</a:t>
            </a:r>
            <a:endParaRPr kumimoji="0" sz="1800" b="0"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Quattrocento Sans"/>
              <a:buAutoNum type="arabicPeriod"/>
              <a:tabLst/>
              <a:defRPr/>
            </a:pPr>
            <a:r>
              <a:rPr kumimoji="0" lang="en-US" sz="1800" b="0"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rPr>
              <a:t>SAPGUI</a:t>
            </a:r>
          </a:p>
          <a:p>
            <a:pPr marL="0" marR="0" lvl="0" indent="0" algn="l" defTabSz="914400" rtl="0" eaLnBrk="1" fontAlgn="auto" latinLnBrk="0" hangingPunct="1">
              <a:lnSpc>
                <a:spcPct val="100000"/>
              </a:lnSpc>
              <a:spcBef>
                <a:spcPts val="0"/>
              </a:spcBef>
              <a:spcAft>
                <a:spcPts val="0"/>
              </a:spcAft>
              <a:buClr>
                <a:srgbClr val="433835"/>
              </a:buClr>
              <a:buSzPts val="1800"/>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rPr>
              <a:t>Main Course: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To install the front-end component of ADT, proceed as follows: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88900" algn="l" defTabSz="914400" rtl="0" eaLnBrk="1" fontAlgn="auto" latinLnBrk="0" hangingPunct="1">
              <a:lnSpc>
                <a:spcPct val="100000"/>
              </a:lnSpc>
              <a:spcBef>
                <a:spcPts val="0"/>
              </a:spcBef>
              <a:spcAft>
                <a:spcPts val="0"/>
              </a:spcAft>
              <a:buClr>
                <a:srgbClr val="000000"/>
              </a:buClr>
              <a:buSzPts val="1400"/>
              <a:buFont typeface="Quattrocento Sans"/>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Get an installation of </a:t>
            </a:r>
            <a:r>
              <a:rPr kumimoji="0" lang="en-US" sz="1400" b="0" i="0" u="sng" strike="noStrike" kern="0" cap="none" spc="0" normalizeH="0" baseline="0" noProof="0" dirty="0">
                <a:ln>
                  <a:noFill/>
                </a:ln>
                <a:solidFill>
                  <a:srgbClr val="000000"/>
                </a:solidFill>
                <a:effectLst/>
                <a:uLnTx/>
                <a:uFillTx/>
                <a:latin typeface="Arial"/>
                <a:ea typeface="Arial"/>
                <a:cs typeface="Arial"/>
                <a:sym typeface="Arial"/>
                <a:hlinkClick r:id="rId6">
                  <a:extLst>
                    <a:ext uri="{A12FA001-AC4F-418D-AE19-62706E023703}">
                      <ahyp:hlinkClr xmlns:ahyp="http://schemas.microsoft.com/office/drawing/2018/hyperlinkcolor" val="tx"/>
                    </a:ext>
                  </a:extLst>
                </a:hlinkClick>
              </a:rPr>
              <a:t>Eclipse 2023-12 (x86_64)</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 (e.g. </a:t>
            </a:r>
            <a:r>
              <a:rPr kumimoji="0" lang="en-US" sz="1400" b="0" i="0" u="sng" strike="noStrike" kern="0" cap="none" spc="0" normalizeH="0" baseline="0" noProof="0" dirty="0">
                <a:ln>
                  <a:noFill/>
                </a:ln>
                <a:solidFill>
                  <a:srgbClr val="000000"/>
                </a:solidFill>
                <a:effectLst/>
                <a:uLnTx/>
                <a:uFillTx/>
                <a:latin typeface="Arial"/>
                <a:ea typeface="Arial"/>
                <a:cs typeface="Arial"/>
                <a:sym typeface="Arial"/>
                <a:hlinkClick r:id="rId7">
                  <a:extLst>
                    <a:ext uri="{A12FA001-AC4F-418D-AE19-62706E023703}">
                      <ahyp:hlinkClr xmlns:ahyp="http://schemas.microsoft.com/office/drawing/2018/hyperlinkcolor" val="tx"/>
                    </a:ext>
                  </a:extLst>
                </a:hlinkClick>
              </a:rPr>
              <a:t>Eclipse IDE for Java Developers</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88900" algn="l" defTabSz="914400" rtl="0" eaLnBrk="1" fontAlgn="auto" latinLnBrk="0" hangingPunct="1">
              <a:lnSpc>
                <a:spcPct val="100000"/>
              </a:lnSpc>
              <a:spcBef>
                <a:spcPts val="0"/>
              </a:spcBef>
              <a:spcAft>
                <a:spcPts val="0"/>
              </a:spcAft>
              <a:buClr>
                <a:srgbClr val="000000"/>
              </a:buClr>
              <a:buSzPts val="1400"/>
              <a:buFont typeface="Quattrocento Sans"/>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In Eclipse, choose in the menu bar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Help &gt; Install New Software...</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88900" algn="l" defTabSz="914400" rtl="0" eaLnBrk="1" fontAlgn="auto" latinLnBrk="0" hangingPunct="1">
              <a:lnSpc>
                <a:spcPct val="100000"/>
              </a:lnSpc>
              <a:spcBef>
                <a:spcPts val="0"/>
              </a:spcBef>
              <a:spcAft>
                <a:spcPts val="0"/>
              </a:spcAft>
              <a:buClr>
                <a:srgbClr val="000000"/>
              </a:buClr>
              <a:buSzPts val="1400"/>
              <a:buFont typeface="Quattrocento Sans"/>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Enter the URL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https://tools.hana.ondemand.com/latest</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88900" algn="l" defTabSz="914400" rtl="0" eaLnBrk="1" fontAlgn="auto" latinLnBrk="0" hangingPunct="1">
              <a:lnSpc>
                <a:spcPct val="100000"/>
              </a:lnSpc>
              <a:spcBef>
                <a:spcPts val="0"/>
              </a:spcBef>
              <a:spcAft>
                <a:spcPts val="0"/>
              </a:spcAft>
              <a:buClr>
                <a:srgbClr val="000000"/>
              </a:buClr>
              <a:buSzPts val="1400"/>
              <a:buFont typeface="Quattrocento Sans"/>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Press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Enter</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 to display the available features.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88900" algn="l" defTabSz="914400" rtl="0" eaLnBrk="1" fontAlgn="auto" latinLnBrk="0" hangingPunct="1">
              <a:lnSpc>
                <a:spcPct val="100000"/>
              </a:lnSpc>
              <a:spcBef>
                <a:spcPts val="0"/>
              </a:spcBef>
              <a:spcAft>
                <a:spcPts val="0"/>
              </a:spcAft>
              <a:buClr>
                <a:srgbClr val="000000"/>
              </a:buClr>
              <a:buSzPts val="1400"/>
              <a:buFont typeface="Quattrocento Sans"/>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Select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ABAP Development Tools</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 and choose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Next</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88900" algn="l" defTabSz="914400" rtl="0" eaLnBrk="1" fontAlgn="auto" latinLnBrk="0" hangingPunct="1">
              <a:lnSpc>
                <a:spcPct val="100000"/>
              </a:lnSpc>
              <a:spcBef>
                <a:spcPts val="0"/>
              </a:spcBef>
              <a:spcAft>
                <a:spcPts val="0"/>
              </a:spcAft>
              <a:buClr>
                <a:srgbClr val="000000"/>
              </a:buClr>
              <a:buSzPts val="1400"/>
              <a:buFont typeface="Quattrocento Sans"/>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On the next wizard page, you get an overview of the features to be installed. Choose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Next</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88900" algn="l" defTabSz="914400" rtl="0" eaLnBrk="1" fontAlgn="auto" latinLnBrk="0" hangingPunct="1">
              <a:lnSpc>
                <a:spcPct val="100000"/>
              </a:lnSpc>
              <a:spcBef>
                <a:spcPts val="0"/>
              </a:spcBef>
              <a:spcAft>
                <a:spcPts val="0"/>
              </a:spcAft>
              <a:buClr>
                <a:srgbClr val="000000"/>
              </a:buClr>
              <a:buSzPts val="1400"/>
              <a:buFont typeface="Quattrocento Sans"/>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Confirm the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license agreements</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 and choose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Finish</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 to start the installation.</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000000"/>
                </a:solidFill>
                <a:effectLst/>
                <a:uLnTx/>
                <a:uFillTx/>
                <a:latin typeface="Arial"/>
                <a:ea typeface="Arial"/>
                <a:cs typeface="Arial"/>
                <a:sym typeface="Arial"/>
              </a:rPr>
              <a:t>ABAP Cloud project is a CONNECTION to our ABAP on Cloud system</a:t>
            </a:r>
            <a:endParaRPr kumimoji="0" sz="2400" b="1"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924" name="Google Shape;924;p23"/>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How to setup Eclipse tool with ADT</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926" name="Google Shape;926;p23"/>
          <p:cNvPicPr preferRelativeResize="0"/>
          <p:nvPr/>
        </p:nvPicPr>
        <p:blipFill rotWithShape="1">
          <a:blip r:embed="rId8">
            <a:alphaModFix/>
          </a:blip>
          <a:srcRect/>
          <a:stretch/>
        </p:blipFill>
        <p:spPr>
          <a:xfrm>
            <a:off x="11688213" y="45412"/>
            <a:ext cx="436629" cy="431260"/>
          </a:xfrm>
          <a:prstGeom prst="rect">
            <a:avLst/>
          </a:prstGeom>
          <a:noFill/>
          <a:ln>
            <a:noFill/>
          </a:ln>
          <a:effectLst>
            <a:outerShdw blurRad="50800" dist="38100" dir="2700000" algn="tl" rotWithShape="0">
              <a:srgbClr val="000000">
                <a:alpha val="40000"/>
              </a:srgbClr>
            </a:outerShdw>
          </a:effectLst>
        </p:spPr>
      </p:pic>
      <p:sp>
        <p:nvSpPr>
          <p:cNvPr id="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6" name="Google Shape;966;p28"/>
          <p:cNvSpPr txBox="1"/>
          <p:nvPr/>
        </p:nvSpPr>
        <p:spPr>
          <a:xfrm>
            <a:off x="224979" y="788088"/>
            <a:ext cx="11806237" cy="48013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CDS is the new approach of building </a:t>
            </a:r>
            <a:r>
              <a:rPr kumimoji="0" lang="en-US" sz="1800" b="0" i="0" u="sng" strike="noStrike" kern="0" cap="none" spc="0" normalizeH="0" baseline="0" noProof="0" dirty="0">
                <a:ln>
                  <a:noFill/>
                </a:ln>
                <a:solidFill>
                  <a:srgbClr val="000000"/>
                </a:solidFill>
                <a:effectLst/>
                <a:uLnTx/>
                <a:uFillTx/>
                <a:latin typeface="Calibri"/>
                <a:ea typeface="Calibri"/>
                <a:cs typeface="Calibri"/>
                <a:sym typeface="Calibri"/>
              </a:rPr>
              <a:t>semantically rich data models</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It is an extension of SQL in ABAP world.</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What has been extended?</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DDL – Data definition language – design new data models – new tables, structures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DQL – Data Query Language (CDS Views and CDS Entities) – new views to extract data (</a:t>
            </a:r>
            <a:r>
              <a:rPr kumimoji="0" lang="en-US" sz="1800" b="0" i="0" u="none" strike="noStrike" kern="0" cap="none" spc="0" normalizeH="0" baseline="0" noProof="0" dirty="0" err="1">
                <a:ln>
                  <a:noFill/>
                </a:ln>
                <a:solidFill>
                  <a:srgbClr val="000000"/>
                </a:solidFill>
                <a:effectLst/>
                <a:uLnTx/>
                <a:uFillTx/>
                <a:latin typeface="Calibri"/>
                <a:ea typeface="Calibri"/>
                <a:cs typeface="Calibri"/>
                <a:sym typeface="Calibri"/>
              </a:rPr>
              <a:t>agg</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join, load, </a:t>
            </a:r>
            <a:r>
              <a:rPr kumimoji="0" lang="en-US" sz="1800" b="0" i="0" u="none" strike="noStrike" kern="0" cap="none" spc="0" normalizeH="0" baseline="0" noProof="0" dirty="0" err="1">
                <a:ln>
                  <a:noFill/>
                </a:ln>
                <a:solidFill>
                  <a:srgbClr val="000000"/>
                </a:solidFill>
                <a:effectLst/>
                <a:uLnTx/>
                <a:uFillTx/>
                <a:latin typeface="Calibri"/>
                <a:ea typeface="Calibri"/>
                <a:cs typeface="Calibri"/>
                <a:sym typeface="Calibri"/>
              </a:rPr>
              <a:t>calculate,formulas</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DEL – Data Expression language (expressions like path expression, case expressions)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DCL – Data Control Language (security)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Since in ABAP on Cloud Environment we do not have GUI access (no access to SE11) – we will use CDS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Naming convention – is a best practice to follow in a project. ZCOMPANY_PROJ_OBJTTP_NAME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ZDXC_XX_*</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We will use an uploader utility provided by SAP, get this in our ABAP on Cloud System to test it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Noto Sans Symbols"/>
              <a:buChar char="🡪"/>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Install the abap </a:t>
            </a:r>
            <a:r>
              <a:rPr kumimoji="0" lang="en-US" sz="1800" b="0" i="0" u="none" strike="noStrike" kern="0" cap="none" spc="0" normalizeH="0" baseline="0" noProof="0" dirty="0" err="1">
                <a:ln>
                  <a:noFill/>
                </a:ln>
                <a:solidFill>
                  <a:srgbClr val="000000"/>
                </a:solidFill>
                <a:effectLst/>
                <a:uLnTx/>
                <a:uFillTx/>
                <a:latin typeface="Calibri"/>
                <a:ea typeface="Calibri"/>
                <a:cs typeface="Calibri"/>
                <a:sym typeface="Calibri"/>
              </a:rPr>
              <a:t>git</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plugin so we can interact with </a:t>
            </a:r>
            <a:r>
              <a:rPr kumimoji="0" lang="en-US" sz="1800" b="0" i="0" u="none" strike="noStrike" kern="0" cap="none" spc="0" normalizeH="0" baseline="0" noProof="0" dirty="0" err="1">
                <a:ln>
                  <a:noFill/>
                </a:ln>
                <a:solidFill>
                  <a:srgbClr val="000000"/>
                </a:solidFill>
                <a:effectLst/>
                <a:uLnTx/>
                <a:uFillTx/>
                <a:latin typeface="Calibri"/>
                <a:ea typeface="Calibri"/>
                <a:cs typeface="Calibri"/>
                <a:sym typeface="Calibri"/>
              </a:rPr>
              <a:t>github</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from our </a:t>
            </a:r>
            <a:r>
              <a:rPr kumimoji="0" lang="en-US" sz="1800" b="0" i="0" u="none" strike="noStrike" kern="0" cap="none" spc="0" normalizeH="0" baseline="0" noProof="0" dirty="0" err="1">
                <a:ln>
                  <a:noFill/>
                </a:ln>
                <a:solidFill>
                  <a:srgbClr val="000000"/>
                </a:solidFill>
                <a:effectLst/>
                <a:uLnTx/>
                <a:uFillTx/>
                <a:latin typeface="Calibri"/>
                <a:ea typeface="Calibri"/>
                <a:cs typeface="Calibri"/>
                <a:sym typeface="Calibri"/>
              </a:rPr>
              <a:t>adt</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tool - </a:t>
            </a:r>
            <a:r>
              <a:rPr kumimoji="0" lang="en-US" sz="1400" b="0" i="0" u="sng" strike="noStrike" kern="0" cap="none" spc="0" normalizeH="0" baseline="0" noProof="0" dirty="0">
                <a:ln>
                  <a:noFill/>
                </a:ln>
                <a:solidFill>
                  <a:srgbClr val="E6EDF3"/>
                </a:solidFill>
                <a:effectLst/>
                <a:uLnTx/>
                <a:uFillTx/>
                <a:latin typeface="Arial"/>
                <a:ea typeface="Arial"/>
                <a:cs typeface="Arial"/>
                <a:sym typeface="Arial"/>
                <a:hlinkClick r:id="rId3">
                  <a:extLst>
                    <a:ext uri="{A12FA001-AC4F-418D-AE19-62706E023703}">
                      <ahyp:hlinkClr xmlns:ahyp="http://schemas.microsoft.com/office/drawing/2018/hyperlinkcolor" val="tx"/>
                    </a:ext>
                  </a:extLst>
                </a:hlinkClick>
              </a:rPr>
              <a:t>http://eclipse.abapgit.org/updatesite/</a:t>
            </a:r>
            <a:endParaRPr kumimoji="0" sz="1400" b="0" i="0" u="none" strike="noStrike" kern="0" cap="none" spc="0" normalizeH="0" baseline="0" noProof="0" dirty="0">
              <a:ln>
                <a:noFill/>
              </a:ln>
              <a:solidFill>
                <a:srgbClr val="E6EDF3"/>
              </a:solidFill>
              <a:effectLst/>
              <a:uLnTx/>
              <a:uFillTx/>
              <a:latin typeface="Arial"/>
              <a:ea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Noto Sans Symbols"/>
              <a:buChar char="🡪"/>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Download the code from SAP standard repository - </a:t>
            </a:r>
            <a:r>
              <a:rPr kumimoji="0" lang="en-US" sz="1800" b="0" i="0" u="sng" strike="noStrike" kern="0" cap="none" spc="0" normalizeH="0" baseline="0" noProof="0" dirty="0">
                <a:ln>
                  <a:noFill/>
                </a:ln>
                <a:solidFill>
                  <a:srgbClr val="000000"/>
                </a:solidFill>
                <a:effectLst/>
                <a:uLnTx/>
                <a:uFillTx/>
                <a:latin typeface="Calibri"/>
                <a:ea typeface="Calibri"/>
                <a:cs typeface="Calibri"/>
                <a:sym typeface="Calibri"/>
                <a:hlinkClick r:id="rId4">
                  <a:extLst>
                    <a:ext uri="{A12FA001-AC4F-418D-AE19-62706E023703}">
                      <ahyp:hlinkClr xmlns:ahyp="http://schemas.microsoft.com/office/drawing/2018/hyperlinkcolor" val="tx"/>
                    </a:ext>
                  </a:extLst>
                </a:hlinkClick>
              </a:rPr>
              <a:t>https://github.com/SAP-samples/abap-file-uploader</a:t>
            </a: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Noto Sans Symbols"/>
              <a:buChar char="🡪"/>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Register a service </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Noto Sans Symbols"/>
              <a:buChar char="🡪"/>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Run the utility</a:t>
            </a: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967" name="Google Shape;967;p28"/>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CDS – Core Data &amp; Services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969" name="Google Shape;969;p28"/>
          <p:cNvPicPr preferRelativeResize="0"/>
          <p:nvPr/>
        </p:nvPicPr>
        <p:blipFill rotWithShape="1">
          <a:blip r:embed="rId5">
            <a:alphaModFix/>
          </a:blip>
          <a:srcRect/>
          <a:stretch/>
        </p:blipFill>
        <p:spPr>
          <a:xfrm>
            <a:off x="11688213" y="45412"/>
            <a:ext cx="436629" cy="431260"/>
          </a:xfrm>
          <a:prstGeom prst="rect">
            <a:avLst/>
          </a:prstGeom>
          <a:noFill/>
          <a:ln>
            <a:noFill/>
          </a:ln>
          <a:effectLst>
            <a:outerShdw blurRad="50800" dist="38100" dir="2700000" algn="tl" rotWithShape="0">
              <a:srgbClr val="000000">
                <a:alpha val="40000"/>
              </a:srgbClr>
            </a:outerShdw>
          </a:effectLst>
        </p:spPr>
      </p:pic>
      <p:sp>
        <p:nvSpPr>
          <p:cNvPr id="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CDS Views</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177646" y="655067"/>
            <a:ext cx="11486844" cy="5909310"/>
          </a:xfrm>
          <a:prstGeom prst="rect">
            <a:avLst/>
          </a:prstGeom>
          <a:noFill/>
        </p:spPr>
        <p:txBody>
          <a:bodyPr wrap="square" rtlCol="0">
            <a:spAutoFit/>
          </a:bodyPr>
          <a:lstStyle/>
          <a:p>
            <a:r>
              <a:rPr lang="en-IN" sz="1800" dirty="0"/>
              <a:t>CDS stands for Core data and services, </a:t>
            </a:r>
            <a:r>
              <a:rPr lang="en-IN" sz="1800" b="1" u="sng" dirty="0"/>
              <a:t>it is an extension of SQL </a:t>
            </a:r>
            <a:r>
              <a:rPr lang="en-IN" sz="1800" dirty="0"/>
              <a:t>in ABAP and used effectively on any ABAP on HANA system in order to boost our performance. CDS views are </a:t>
            </a:r>
            <a:r>
              <a:rPr lang="en-IN" sz="1800" b="1" dirty="0"/>
              <a:t>semantically (annotations @)</a:t>
            </a:r>
            <a:r>
              <a:rPr lang="en-IN" sz="1800" dirty="0"/>
              <a:t> rich data model.</a:t>
            </a:r>
          </a:p>
          <a:p>
            <a:endParaRPr lang="en-IN" sz="1800" dirty="0"/>
          </a:p>
          <a:p>
            <a:pPr marL="285750" indent="-285750">
              <a:buFont typeface="Arial" panose="020B0604020202020204" pitchFamily="34" charset="0"/>
              <a:buChar char="•"/>
            </a:pPr>
            <a:r>
              <a:rPr lang="en-IN" sz="1800" b="1" dirty="0"/>
              <a:t>What has been extended? What SQL can do, CDS can also do?</a:t>
            </a:r>
          </a:p>
          <a:p>
            <a:pPr marL="285750" indent="-285750">
              <a:buFont typeface="Wingdings" panose="05000000000000000000" pitchFamily="2" charset="2"/>
              <a:buChar char="v"/>
            </a:pPr>
            <a:r>
              <a:rPr lang="en-IN" sz="1800" dirty="0"/>
              <a:t>DDL – data Definition language</a:t>
            </a:r>
          </a:p>
          <a:p>
            <a:pPr marL="285750" indent="-285750">
              <a:buFont typeface="Wingdings" panose="05000000000000000000" pitchFamily="2" charset="2"/>
              <a:buChar char="v"/>
            </a:pPr>
            <a:r>
              <a:rPr lang="en-IN" sz="1800" dirty="0"/>
              <a:t>DQL – Data Query Language </a:t>
            </a:r>
            <a:r>
              <a:rPr lang="en-IN" sz="1800" dirty="0">
                <a:sym typeface="Wingdings" panose="05000000000000000000" pitchFamily="2" charset="2"/>
              </a:rPr>
              <a:t> </a:t>
            </a:r>
            <a:r>
              <a:rPr lang="en-IN" sz="1800" b="1" dirty="0">
                <a:sym typeface="Wingdings" panose="05000000000000000000" pitchFamily="2" charset="2"/>
              </a:rPr>
              <a:t>CDS view </a:t>
            </a:r>
            <a:r>
              <a:rPr lang="en-IN" sz="1800" dirty="0">
                <a:sym typeface="Wingdings" panose="05000000000000000000" pitchFamily="2" charset="2"/>
              </a:rPr>
              <a:t>concept to fetch data from HANA using code-to-data</a:t>
            </a:r>
            <a:endParaRPr lang="en-IN" sz="1800" dirty="0"/>
          </a:p>
          <a:p>
            <a:pPr marL="285750" indent="-285750">
              <a:buFont typeface="Wingdings" panose="05000000000000000000" pitchFamily="2" charset="2"/>
              <a:buChar char="v"/>
            </a:pPr>
            <a:r>
              <a:rPr lang="en-IN" sz="1800" dirty="0"/>
              <a:t>DCL – Data Control Language</a:t>
            </a:r>
          </a:p>
          <a:p>
            <a:pPr marL="285750" indent="-285750">
              <a:buFont typeface="Wingdings" panose="05000000000000000000" pitchFamily="2" charset="2"/>
              <a:buChar char="v"/>
            </a:pPr>
            <a:r>
              <a:rPr lang="en-IN" sz="1800" dirty="0"/>
              <a:t>DEL – Data Expression Language</a:t>
            </a:r>
          </a:p>
          <a:p>
            <a:endParaRPr lang="en-IN" sz="1800" dirty="0"/>
          </a:p>
          <a:p>
            <a:endParaRPr lang="en-IN" sz="1800" dirty="0"/>
          </a:p>
          <a:p>
            <a:pPr marL="285750" indent="-285750">
              <a:buFont typeface="Arial" panose="020B0604020202020204" pitchFamily="34" charset="0"/>
              <a:buChar char="•"/>
            </a:pPr>
            <a:r>
              <a:rPr lang="en-IN" sz="1800" b="1" dirty="0"/>
              <a:t>Does CDS only used for building views or are there other use cases?</a:t>
            </a:r>
          </a:p>
          <a:p>
            <a:r>
              <a:rPr lang="en-IN" sz="1800" dirty="0"/>
              <a:t>You can create any DDIC object like structure, table etc. most used concept is views (DQL)</a:t>
            </a:r>
          </a:p>
          <a:p>
            <a:endParaRPr lang="en-IN" sz="1800" dirty="0"/>
          </a:p>
          <a:p>
            <a:pPr marL="285750" indent="-285750">
              <a:buFont typeface="Arial" panose="020B0604020202020204" pitchFamily="34" charset="0"/>
              <a:buChar char="•"/>
            </a:pPr>
            <a:r>
              <a:rPr lang="en-IN" sz="1800" b="1" dirty="0"/>
              <a:t>Can I create </a:t>
            </a:r>
            <a:r>
              <a:rPr lang="en-IN" sz="1800" b="1" dirty="0" err="1"/>
              <a:t>cds</a:t>
            </a:r>
            <a:r>
              <a:rPr lang="en-IN" sz="1800" b="1" dirty="0"/>
              <a:t> views if my company is not on HANA DB or S/4HANA systems</a:t>
            </a:r>
          </a:p>
          <a:p>
            <a:r>
              <a:rPr lang="en-IN" sz="1800" dirty="0"/>
              <a:t>Yes, starring NW 7.4SP2 onwards. The best performance will come when you are on HANA.</a:t>
            </a:r>
          </a:p>
          <a:p>
            <a:endParaRPr lang="en-IN" sz="1800" dirty="0"/>
          </a:p>
          <a:p>
            <a:pPr marL="285750" indent="-285750">
              <a:buFont typeface="Arial" panose="020B0604020202020204" pitchFamily="34" charset="0"/>
              <a:buChar char="•"/>
            </a:pPr>
            <a:r>
              <a:rPr lang="en-IN" sz="1800" b="1" dirty="0"/>
              <a:t>Like AMDP, do I need to also do client handling</a:t>
            </a:r>
          </a:p>
          <a:p>
            <a:r>
              <a:rPr lang="en-IN" sz="1800" dirty="0"/>
              <a:t>No, CDS views are created and managed in ABAP layer so client handling is automatic</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If I have been a choice between CDS or AMDP, what should be preferred?</a:t>
            </a:r>
          </a:p>
          <a:p>
            <a:r>
              <a:rPr lang="en-IN" sz="1800" dirty="0"/>
              <a:t>It depends on requirement. First attempt will be with CDS view last choice should AMDP</a:t>
            </a: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spTree>
    <p:extLst>
      <p:ext uri="{BB962C8B-B14F-4D97-AF65-F5344CB8AC3E}">
        <p14:creationId xmlns:p14="http://schemas.microsoft.com/office/powerpoint/2010/main" val="2694044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Continue 1/3</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177646" y="655067"/>
            <a:ext cx="11486844" cy="5909310"/>
          </a:xfrm>
          <a:prstGeom prst="rect">
            <a:avLst/>
          </a:prstGeom>
          <a:noFill/>
        </p:spPr>
        <p:txBody>
          <a:bodyPr wrap="square" rtlCol="0">
            <a:spAutoFit/>
          </a:bodyPr>
          <a:lstStyle/>
          <a:p>
            <a:pPr marL="285750" indent="-285750">
              <a:buFont typeface="Arial" panose="020B0604020202020204" pitchFamily="34" charset="0"/>
              <a:buChar char="•"/>
            </a:pPr>
            <a:r>
              <a:rPr lang="en-IN" sz="1800" b="1" dirty="0"/>
              <a:t>Which tool can I use to create CDS views?</a:t>
            </a:r>
          </a:p>
          <a:p>
            <a:r>
              <a:rPr lang="en-IN" sz="1800" dirty="0"/>
              <a:t>Only and only ADT</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Which system does the CDS view gets created and transported?</a:t>
            </a:r>
          </a:p>
          <a:p>
            <a:r>
              <a:rPr lang="en-IN" sz="1800" dirty="0"/>
              <a:t>It’s the ABAP system, there no need to login to HANA DB using studio. </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dirty="0"/>
              <a:t>What happens after I activate my CDS view.</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endParaRPr lang="en-IN" sz="1800" dirty="0"/>
          </a:p>
          <a:p>
            <a:endParaRPr lang="en-IN" sz="1800" dirty="0"/>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I heard that CDS views are deprecated, is it true, if yes, what can I use?</a:t>
            </a:r>
          </a:p>
          <a:p>
            <a:r>
              <a:rPr lang="en-IN" sz="1800" dirty="0"/>
              <a:t>Yes. There is a successor concept called </a:t>
            </a:r>
            <a:r>
              <a:rPr lang="en-IN" sz="1800" b="1" dirty="0" err="1"/>
              <a:t>cds</a:t>
            </a:r>
            <a:r>
              <a:rPr lang="en-IN" sz="1800" b="1" dirty="0"/>
              <a:t> entities</a:t>
            </a:r>
            <a:r>
              <a:rPr lang="en-IN" sz="1800" dirty="0"/>
              <a:t> which is exact same as CDS view but small difference.</a:t>
            </a:r>
          </a:p>
          <a:p>
            <a:endParaRPr lang="en-IN" sz="1800" dirty="0"/>
          </a:p>
          <a:p>
            <a:pPr marL="285750" indent="-285750">
              <a:buFont typeface="Arial" panose="020B0604020202020204" pitchFamily="34" charset="0"/>
              <a:buChar char="•"/>
            </a:pPr>
            <a:r>
              <a:rPr lang="en-IN" sz="1800" b="1" dirty="0"/>
              <a:t>What is the difference between CDS views and Calculation views.</a:t>
            </a:r>
          </a:p>
          <a:p>
            <a:r>
              <a:rPr lang="en-IN" sz="1800" dirty="0"/>
              <a:t>The calculation views are created in HANA they are bottom-up approach and transport using Delivery Unit</a:t>
            </a:r>
          </a:p>
          <a:p>
            <a:r>
              <a:rPr lang="en-IN" sz="1800" dirty="0"/>
              <a:t>The CDS views are created in ABAP layer they are top-down approach and transport using ABAP tr.</a:t>
            </a: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sp>
        <p:nvSpPr>
          <p:cNvPr id="7" name="Rectangle 6">
            <a:extLst>
              <a:ext uri="{FF2B5EF4-FFF2-40B4-BE49-F238E27FC236}">
                <a16:creationId xmlns:a16="http://schemas.microsoft.com/office/drawing/2014/main" id="{A551EE51-3FA9-4AB4-3C26-E2550310DA30}"/>
              </a:ext>
            </a:extLst>
          </p:cNvPr>
          <p:cNvSpPr/>
          <p:nvPr/>
        </p:nvSpPr>
        <p:spPr>
          <a:xfrm>
            <a:off x="360366" y="2996952"/>
            <a:ext cx="3449777" cy="8640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CDS view data definition</a:t>
            </a:r>
          </a:p>
        </p:txBody>
      </p:sp>
      <p:sp>
        <p:nvSpPr>
          <p:cNvPr id="8" name="Rectangle 7">
            <a:extLst>
              <a:ext uri="{FF2B5EF4-FFF2-40B4-BE49-F238E27FC236}">
                <a16:creationId xmlns:a16="http://schemas.microsoft.com/office/drawing/2014/main" id="{6893AB6F-F288-747F-5992-78C53C367D78}"/>
              </a:ext>
            </a:extLst>
          </p:cNvPr>
          <p:cNvSpPr/>
          <p:nvPr/>
        </p:nvSpPr>
        <p:spPr>
          <a:xfrm>
            <a:off x="6526460" y="2564904"/>
            <a:ext cx="3816424" cy="7920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SE11 – DDIC view</a:t>
            </a:r>
          </a:p>
        </p:txBody>
      </p:sp>
      <p:sp>
        <p:nvSpPr>
          <p:cNvPr id="9" name="Rectangle 8">
            <a:extLst>
              <a:ext uri="{FF2B5EF4-FFF2-40B4-BE49-F238E27FC236}">
                <a16:creationId xmlns:a16="http://schemas.microsoft.com/office/drawing/2014/main" id="{C5A1F791-BACD-16F4-967A-3A2793BE0E64}"/>
              </a:ext>
            </a:extLst>
          </p:cNvPr>
          <p:cNvSpPr/>
          <p:nvPr/>
        </p:nvSpPr>
        <p:spPr>
          <a:xfrm>
            <a:off x="6526460" y="3681028"/>
            <a:ext cx="3816424" cy="7920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HANA View </a:t>
            </a:r>
          </a:p>
          <a:p>
            <a:pPr algn="ctr"/>
            <a:r>
              <a:rPr lang="en-IN" dirty="0"/>
              <a:t>(runtime object in HANA)</a:t>
            </a:r>
          </a:p>
        </p:txBody>
      </p:sp>
      <p:cxnSp>
        <p:nvCxnSpPr>
          <p:cNvPr id="11" name="Connector: Elbow 10">
            <a:extLst>
              <a:ext uri="{FF2B5EF4-FFF2-40B4-BE49-F238E27FC236}">
                <a16:creationId xmlns:a16="http://schemas.microsoft.com/office/drawing/2014/main" id="{FF7F85BB-8CD4-4F9F-92CA-62A217E55F23}"/>
              </a:ext>
            </a:extLst>
          </p:cNvPr>
          <p:cNvCxnSpPr>
            <a:cxnSpLocks/>
            <a:stCxn id="7" idx="3"/>
            <a:endCxn id="8" idx="1"/>
          </p:cNvCxnSpPr>
          <p:nvPr/>
        </p:nvCxnSpPr>
        <p:spPr>
          <a:xfrm flipV="1">
            <a:off x="3810143" y="2960948"/>
            <a:ext cx="2716317" cy="46805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3CC8CF6B-3D94-0355-F7EE-A14B7DC9800B}"/>
              </a:ext>
            </a:extLst>
          </p:cNvPr>
          <p:cNvCxnSpPr>
            <a:stCxn id="7" idx="3"/>
            <a:endCxn id="9" idx="1"/>
          </p:cNvCxnSpPr>
          <p:nvPr/>
        </p:nvCxnSpPr>
        <p:spPr>
          <a:xfrm>
            <a:off x="3810143" y="3429000"/>
            <a:ext cx="2716317" cy="64807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4193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Continue 2/3</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204682" y="377018"/>
            <a:ext cx="11486844" cy="4524315"/>
          </a:xfrm>
          <a:prstGeom prst="rect">
            <a:avLst/>
          </a:prstGeom>
          <a:noFill/>
        </p:spPr>
        <p:txBody>
          <a:bodyPr wrap="square" rtlCol="0">
            <a:spAutoFit/>
          </a:bodyPr>
          <a:lstStyle/>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Can a non-ABAP developer also learn CDS views?</a:t>
            </a:r>
          </a:p>
          <a:p>
            <a:r>
              <a:rPr lang="en-IN" sz="1800" dirty="0"/>
              <a:t>Yes, anyone can learn </a:t>
            </a:r>
            <a:r>
              <a:rPr lang="en-IN" sz="1800" dirty="0" err="1"/>
              <a:t>cds</a:t>
            </a:r>
            <a:r>
              <a:rPr lang="en-IN" sz="1800" dirty="0"/>
              <a:t> views w/o any </a:t>
            </a:r>
            <a:r>
              <a:rPr lang="en-IN" sz="1800" dirty="0" err="1"/>
              <a:t>abap</a:t>
            </a:r>
            <a:r>
              <a:rPr lang="en-IN" sz="1800" dirty="0"/>
              <a:t> knowledge</a:t>
            </a:r>
          </a:p>
          <a:p>
            <a:endParaRPr lang="en-IN" sz="1800" dirty="0"/>
          </a:p>
          <a:p>
            <a:pPr marL="285750" indent="-285750">
              <a:buFont typeface="Arial" panose="020B0604020202020204" pitchFamily="34" charset="0"/>
              <a:buChar char="•"/>
            </a:pPr>
            <a:r>
              <a:rPr lang="en-IN" sz="1800" b="1" dirty="0"/>
              <a:t>I tried learning CDS views from google/YouTube but I failed.</a:t>
            </a:r>
          </a:p>
          <a:p>
            <a:r>
              <a:rPr lang="en-IN" sz="1800" b="1" dirty="0"/>
              <a:t>Park*</a:t>
            </a:r>
          </a:p>
          <a:p>
            <a:endParaRPr lang="en-IN" sz="1800" b="1" dirty="0"/>
          </a:p>
          <a:p>
            <a:pPr marL="285750" indent="-285750">
              <a:buFont typeface="Arial" panose="020B0604020202020204" pitchFamily="34" charset="0"/>
              <a:buChar char="•"/>
            </a:pPr>
            <a:r>
              <a:rPr lang="en-IN" sz="1800" b="1" dirty="0"/>
              <a:t>Does SAP deliver standard CDS views for us to use directly in S/4HANA?</a:t>
            </a:r>
          </a:p>
          <a:p>
            <a:r>
              <a:rPr lang="en-IN" sz="1800" dirty="0"/>
              <a:t>Yes, these views become the backbone for S/4HANA. We can see them on a website </a:t>
            </a:r>
            <a:r>
              <a:rPr lang="en-IN" sz="1800" dirty="0">
                <a:hlinkClick r:id="rId2"/>
              </a:rPr>
              <a:t>https://api.sap.com</a:t>
            </a:r>
            <a:endParaRPr lang="en-IN" sz="1800" dirty="0"/>
          </a:p>
          <a:p>
            <a:endParaRPr lang="en-IN" sz="1800" dirty="0"/>
          </a:p>
          <a:p>
            <a:pPr marL="285750" indent="-285750">
              <a:buFont typeface="Arial" panose="020B0604020202020204" pitchFamily="34" charset="0"/>
              <a:buChar char="•"/>
            </a:pPr>
            <a:r>
              <a:rPr lang="en-IN" sz="1800" b="1" dirty="0"/>
              <a:t>Can I enhance a standard SAP delivered CDS view</a:t>
            </a:r>
          </a:p>
          <a:p>
            <a:r>
              <a:rPr lang="en-IN" sz="1800" dirty="0"/>
              <a:t>We have a extension concept of </a:t>
            </a:r>
            <a:r>
              <a:rPr lang="en-IN" sz="1800" dirty="0" err="1"/>
              <a:t>cds</a:t>
            </a:r>
            <a:endParaRPr lang="en-IN" sz="1800" dirty="0"/>
          </a:p>
          <a:p>
            <a:endParaRPr lang="en-IN" sz="1800" dirty="0"/>
          </a:p>
          <a:p>
            <a:pPr marL="285750" indent="-285750">
              <a:buFont typeface="Arial" panose="020B0604020202020204" pitchFamily="34" charset="0"/>
              <a:buChar char="•"/>
            </a:pPr>
            <a:r>
              <a:rPr lang="en-IN" sz="1800" b="1" dirty="0"/>
              <a:t>What is the best practice/gold standard to create </a:t>
            </a:r>
            <a:r>
              <a:rPr lang="en-IN" sz="1800" b="1" dirty="0" err="1"/>
              <a:t>cds</a:t>
            </a:r>
            <a:r>
              <a:rPr lang="en-IN" sz="1800" b="1" dirty="0"/>
              <a:t> views in SAP S/4HANA?</a:t>
            </a:r>
          </a:p>
          <a:p>
            <a:r>
              <a:rPr lang="en-IN" sz="1800" dirty="0"/>
              <a:t>SAP offer something called VDM (Virtual Data Modelling) which is a gold standard to build </a:t>
            </a:r>
            <a:r>
              <a:rPr lang="en-IN" sz="1800" dirty="0" err="1"/>
              <a:t>cds</a:t>
            </a:r>
            <a:r>
              <a:rPr lang="en-IN" sz="1800" dirty="0"/>
              <a:t> views in SAP S/4HANA.</a:t>
            </a: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3"/>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spTree>
    <p:extLst>
      <p:ext uri="{BB962C8B-B14F-4D97-AF65-F5344CB8AC3E}">
        <p14:creationId xmlns:p14="http://schemas.microsoft.com/office/powerpoint/2010/main" val="2117292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Continue 3/3</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177646" y="655067"/>
            <a:ext cx="11486844" cy="4247317"/>
          </a:xfrm>
          <a:prstGeom prst="rect">
            <a:avLst/>
          </a:prstGeom>
          <a:noFill/>
        </p:spPr>
        <p:txBody>
          <a:bodyPr wrap="square" rtlCol="0">
            <a:spAutoFit/>
          </a:bodyPr>
          <a:lstStyle/>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1" i="0" u="none" strike="noStrike" kern="1200" cap="none" spc="0" normalizeH="0" baseline="0" noProof="0" dirty="0">
                <a:ln>
                  <a:noFill/>
                </a:ln>
                <a:solidFill>
                  <a:prstClr val="black"/>
                </a:solidFill>
                <a:effectLst/>
                <a:uLnTx/>
                <a:uFillTx/>
                <a:latin typeface="Segoe UI"/>
                <a:ea typeface="+mn-ea"/>
                <a:cs typeface="+mn-cs"/>
              </a:rPr>
              <a:t>What the difference between HANA CDS and ABAP CDS?</a:t>
            </a:r>
          </a:p>
          <a:p>
            <a:pPr marR="0" lvl="0" algn="l" defTabSz="1218987" rtl="0" eaLnBrk="1" fontAlgn="auto" latinLnBrk="0" hangingPunct="1">
              <a:lnSpc>
                <a:spcPct val="100000"/>
              </a:lnSpc>
              <a:spcBef>
                <a:spcPts val="0"/>
              </a:spcBef>
              <a:spcAft>
                <a:spcPts val="0"/>
              </a:spcAft>
              <a:buClrTx/>
              <a:buSzTx/>
              <a:tabLst/>
              <a:defRPr/>
            </a:pPr>
            <a:r>
              <a:rPr lang="en-IN" sz="1800" dirty="0">
                <a:solidFill>
                  <a:prstClr val="black"/>
                </a:solidFill>
                <a:latin typeface="Segoe UI"/>
              </a:rPr>
              <a:t>If your company does not have ABAP system, when our company buy only HANA license for database. These cases we have no </a:t>
            </a:r>
            <a:r>
              <a:rPr lang="en-IN" sz="1800" dirty="0" err="1">
                <a:solidFill>
                  <a:prstClr val="black"/>
                </a:solidFill>
                <a:latin typeface="Segoe UI"/>
              </a:rPr>
              <a:t>abaper</a:t>
            </a:r>
            <a:r>
              <a:rPr lang="en-IN" sz="1800" dirty="0">
                <a:solidFill>
                  <a:prstClr val="black"/>
                </a:solidFill>
                <a:latin typeface="Segoe UI"/>
              </a:rPr>
              <a:t> in team, we use native HANA development, so we create HANA CDS. This course focus on S/4HANA which is a solution based on ABAP system hence we cover only </a:t>
            </a:r>
            <a:r>
              <a:rPr lang="en-IN" sz="1800" b="1" u="sng" dirty="0">
                <a:solidFill>
                  <a:prstClr val="black"/>
                </a:solidFill>
                <a:latin typeface="Segoe UI"/>
              </a:rPr>
              <a:t>ABAP CDS</a:t>
            </a:r>
            <a:r>
              <a:rPr lang="en-IN" sz="1800" dirty="0">
                <a:solidFill>
                  <a:prstClr val="black"/>
                </a:solidFill>
                <a:latin typeface="Segoe UI"/>
              </a:rPr>
              <a:t>.</a:t>
            </a:r>
          </a:p>
          <a:p>
            <a:pPr marR="0" lvl="0" algn="l" defTabSz="1218987" rtl="0" eaLnBrk="1" fontAlgn="auto" latinLnBrk="0" hangingPunct="1">
              <a:lnSpc>
                <a:spcPct val="100000"/>
              </a:lnSpc>
              <a:spcBef>
                <a:spcPts val="0"/>
              </a:spcBef>
              <a:spcAft>
                <a:spcPts val="0"/>
              </a:spcAft>
              <a:buClrTx/>
              <a:buSzTx/>
              <a:tabLst/>
              <a:defRPr/>
            </a:pPr>
            <a:r>
              <a:rPr lang="en-IN" sz="1800" dirty="0">
                <a:solidFill>
                  <a:prstClr val="black"/>
                </a:solidFill>
                <a:latin typeface="Segoe UI"/>
                <a:hlinkClick r:id="rId2"/>
              </a:rPr>
              <a:t>https://youtu.be/rTsAg_OGh-A</a:t>
            </a:r>
            <a:endParaRPr lang="en-IN" sz="1800" dirty="0">
              <a:solidFill>
                <a:prstClr val="black"/>
              </a:solidFill>
              <a:latin typeface="Segoe UI"/>
            </a:endParaRPr>
          </a:p>
          <a:p>
            <a:pPr marR="0" lvl="0" algn="l" defTabSz="1218987" rtl="0" eaLnBrk="1" fontAlgn="auto" latinLnBrk="0" hangingPunct="1">
              <a:lnSpc>
                <a:spcPct val="100000"/>
              </a:lnSpc>
              <a:spcBef>
                <a:spcPts val="0"/>
              </a:spcBef>
              <a:spcAft>
                <a:spcPts val="0"/>
              </a:spcAft>
              <a:buClrTx/>
              <a:buSzTx/>
              <a:tabLst/>
              <a:defRPr/>
            </a:pPr>
            <a:endParaRPr lang="en-IN" sz="1800" dirty="0">
              <a:solidFill>
                <a:prstClr val="black"/>
              </a:solidFill>
              <a:latin typeface="Segoe UI"/>
            </a:endParaRP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dirty="0">
              <a:ln>
                <a:noFill/>
              </a:ln>
              <a:solidFill>
                <a:prstClr val="black"/>
              </a:solidFill>
              <a:effectLst/>
              <a:uLnTx/>
              <a:uFillTx/>
              <a:latin typeface="Segoe UI"/>
              <a:ea typeface="+mn-ea"/>
              <a:cs typeface="+mn-cs"/>
            </a:endParaRP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1" i="0" u="none" strike="noStrike" kern="1200" cap="none" spc="0" normalizeH="0" baseline="0" noProof="0" dirty="0">
                <a:ln>
                  <a:noFill/>
                </a:ln>
                <a:solidFill>
                  <a:prstClr val="black"/>
                </a:solidFill>
                <a:effectLst/>
                <a:uLnTx/>
                <a:uFillTx/>
                <a:latin typeface="Segoe UI"/>
                <a:ea typeface="+mn-ea"/>
                <a:cs typeface="+mn-cs"/>
              </a:rPr>
              <a:t>There are already DDIC view (SE11), why SAP come up with CDS views?</a:t>
            </a:r>
          </a:p>
          <a:p>
            <a:pPr marR="0" lvl="0" algn="l" defTabSz="1218987" rtl="0" eaLnBrk="1" fontAlgn="auto" latinLnBrk="0" hangingPunct="1">
              <a:lnSpc>
                <a:spcPct val="100000"/>
              </a:lnSpc>
              <a:spcBef>
                <a:spcPts val="0"/>
              </a:spcBef>
              <a:spcAft>
                <a:spcPts val="0"/>
              </a:spcAft>
              <a:buClrTx/>
              <a:buSzTx/>
              <a:tabLst/>
              <a:defRPr/>
            </a:pPr>
            <a:r>
              <a:rPr lang="en-IN" sz="1800" b="1" dirty="0">
                <a:solidFill>
                  <a:prstClr val="black"/>
                </a:solidFill>
                <a:latin typeface="Segoe UI"/>
              </a:rPr>
              <a:t>Park*</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dirty="0">
              <a:ln>
                <a:noFill/>
              </a:ln>
              <a:solidFill>
                <a:prstClr val="black"/>
              </a:solidFill>
              <a:effectLst/>
              <a:uLnTx/>
              <a:uFillTx/>
              <a:latin typeface="Segoe UI"/>
              <a:ea typeface="+mn-ea"/>
              <a:cs typeface="+mn-cs"/>
            </a:endParaRP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1" i="0" u="none" strike="noStrike" kern="1200" cap="none" spc="0" normalizeH="0" baseline="0" noProof="0" dirty="0">
                <a:ln>
                  <a:noFill/>
                </a:ln>
                <a:solidFill>
                  <a:prstClr val="black"/>
                </a:solidFill>
                <a:effectLst/>
                <a:uLnTx/>
                <a:uFillTx/>
                <a:latin typeface="Segoe UI"/>
                <a:ea typeface="+mn-ea"/>
                <a:cs typeface="+mn-cs"/>
              </a:rPr>
              <a:t>Can I integrate SQL Script also with CDS views?</a:t>
            </a:r>
          </a:p>
          <a:p>
            <a:pPr marR="0" lvl="0" algn="l" defTabSz="1218987" rtl="0" eaLnBrk="1" fontAlgn="auto" latinLnBrk="0" hangingPunct="1">
              <a:lnSpc>
                <a:spcPct val="100000"/>
              </a:lnSpc>
              <a:spcBef>
                <a:spcPts val="0"/>
              </a:spcBef>
              <a:spcAft>
                <a:spcPts val="0"/>
              </a:spcAft>
              <a:buClrTx/>
              <a:buSzTx/>
              <a:tabLst/>
              <a:defRPr/>
            </a:pPr>
            <a:r>
              <a:rPr lang="en-IN" sz="1800" dirty="0">
                <a:solidFill>
                  <a:prstClr val="black"/>
                </a:solidFill>
                <a:latin typeface="Segoe UI"/>
              </a:rPr>
              <a:t>Yes, with SAP NW 750 onwards, we have new concept called CDS table function</a:t>
            </a:r>
          </a:p>
          <a:p>
            <a:pPr marR="0" lvl="0" algn="l" defTabSz="1218987" rtl="0" eaLnBrk="1" fontAlgn="auto" latinLnBrk="0" hangingPunct="1">
              <a:lnSpc>
                <a:spcPct val="100000"/>
              </a:lnSpc>
              <a:spcBef>
                <a:spcPts val="0"/>
              </a:spcBef>
              <a:spcAft>
                <a:spcPts val="0"/>
              </a:spcAft>
              <a:buClrTx/>
              <a:buSzTx/>
              <a:tabLst/>
              <a:defRPr/>
            </a:pPr>
            <a:endParaRPr kumimoji="0" lang="en-IN" sz="1800" b="0" i="0" u="none" strike="noStrike" kern="1200" cap="none" spc="0" normalizeH="0" baseline="0" noProof="0" dirty="0">
              <a:ln>
                <a:noFill/>
              </a:ln>
              <a:solidFill>
                <a:prstClr val="black"/>
              </a:solidFill>
              <a:effectLst/>
              <a:uLnTx/>
              <a:uFillTx/>
              <a:latin typeface="Segoe UI"/>
              <a:ea typeface="+mn-ea"/>
              <a:cs typeface="+mn-cs"/>
            </a:endParaRP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1" i="0" u="none" strike="noStrike" kern="1200" cap="none" spc="0" normalizeH="0" baseline="0" noProof="0" dirty="0">
                <a:ln>
                  <a:noFill/>
                </a:ln>
                <a:solidFill>
                  <a:prstClr val="black"/>
                </a:solidFill>
                <a:effectLst/>
                <a:uLnTx/>
                <a:uFillTx/>
                <a:latin typeface="Segoe UI"/>
                <a:ea typeface="+mn-ea"/>
                <a:cs typeface="+mn-cs"/>
              </a:rPr>
              <a:t>Is it possible to also insert data using CDS views?</a:t>
            </a:r>
          </a:p>
          <a:p>
            <a:pPr marR="0" lvl="0" algn="l" defTabSz="1218987" rtl="0" eaLnBrk="1" fontAlgn="auto" latinLnBrk="0" hangingPunct="1">
              <a:lnSpc>
                <a:spcPct val="100000"/>
              </a:lnSpc>
              <a:spcBef>
                <a:spcPts val="0"/>
              </a:spcBef>
              <a:spcAft>
                <a:spcPts val="0"/>
              </a:spcAft>
              <a:buClrTx/>
              <a:buSzTx/>
              <a:tabLst/>
              <a:defRPr/>
            </a:pPr>
            <a:r>
              <a:rPr lang="en-IN" sz="1800" dirty="0">
                <a:solidFill>
                  <a:prstClr val="black"/>
                </a:solidFill>
                <a:latin typeface="Segoe UI"/>
              </a:rPr>
              <a:t>No, it’s a view. But if you combine another concept with </a:t>
            </a:r>
            <a:r>
              <a:rPr lang="en-IN" sz="1800" dirty="0" err="1">
                <a:solidFill>
                  <a:prstClr val="black"/>
                </a:solidFill>
                <a:latin typeface="Segoe UI"/>
              </a:rPr>
              <a:t>cds</a:t>
            </a:r>
            <a:r>
              <a:rPr lang="en-IN" sz="1800" dirty="0">
                <a:solidFill>
                  <a:prstClr val="black"/>
                </a:solidFill>
                <a:latin typeface="Segoe UI"/>
              </a:rPr>
              <a:t> like BOPF or </a:t>
            </a:r>
            <a:r>
              <a:rPr lang="en-IN" sz="1800" b="1" dirty="0">
                <a:solidFill>
                  <a:prstClr val="black"/>
                </a:solidFill>
                <a:latin typeface="Segoe UI"/>
                <a:hlinkClick r:id="rId3"/>
              </a:rPr>
              <a:t>RAP framework.</a:t>
            </a:r>
            <a:endParaRPr lang="en-IN" sz="1800" b="1" dirty="0"/>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4"/>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spTree>
    <p:extLst>
      <p:ext uri="{BB962C8B-B14F-4D97-AF65-F5344CB8AC3E}">
        <p14:creationId xmlns:p14="http://schemas.microsoft.com/office/powerpoint/2010/main" val="4170846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1" name="Google Shape;1011;p32"/>
          <p:cNvSpPr txBox="1"/>
          <p:nvPr/>
        </p:nvSpPr>
        <p:spPr>
          <a:xfrm>
            <a:off x="224979" y="788088"/>
            <a:ext cx="11806237" cy="341632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CDS entities are advance version of CDS Views. If you know CDS view, you can implement CDS entities very easily</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Arial"/>
              <a:buChar char="•"/>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When we activate CDS view, 2 objects gets created. One will be HANA view, and another will be the DDIC view. This DDIC view is of no use. When we CDS entity, No DDIC view gets created.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Arial"/>
              <a:buChar char="•"/>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It save activation time hence the cds entity activation is faster than the cds view activation.</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Arial"/>
              <a:buChar char="•"/>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A view have 3 names – file name, cds name and ddic view name. CDS entity is simplified and just have only one name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Arial"/>
              <a:buChar char="•"/>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SAP also improved the runtime engine for entities to make it work faster</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Arial"/>
              <a:buChar char="•"/>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CDS entities are strict in nature.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17145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ABAP on Cloud system</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SAP does not allow direct access of some of standard database tables available in AOC environment. These objects are called restricted objects. SAP have built the CDS entities on top of these objects, these entities are marked as </a:t>
            </a:r>
            <a:r>
              <a:rPr kumimoji="0" lang="en-US" sz="1800" b="1" i="0" u="none" strike="noStrike" kern="0" cap="none" spc="0" normalizeH="0" baseline="0" noProof="0">
                <a:ln>
                  <a:noFill/>
                </a:ln>
                <a:solidFill>
                  <a:srgbClr val="000000"/>
                </a:solidFill>
                <a:effectLst/>
                <a:uLnTx/>
                <a:uFillTx/>
                <a:latin typeface="Calibri"/>
                <a:ea typeface="Calibri"/>
                <a:cs typeface="Calibri"/>
                <a:sym typeface="Calibri"/>
              </a:rPr>
              <a:t>Released. </a:t>
            </a: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Which means we can use them in our code.</a:t>
            </a: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12" name="Google Shape;1012;p32"/>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CDS entities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sp>
        <p:nvSpPr>
          <p:cNvPr id="5" name="Google Shape;552;p2"/>
          <p:cNvSpPr txBox="1"/>
          <p:nvPr/>
        </p:nvSpPr>
        <p:spPr>
          <a:xfrm>
            <a:off x="9527526" y="6551489"/>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pic>
        <p:nvPicPr>
          <p:cNvPr id="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4</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1913</TotalTime>
  <Words>1759</Words>
  <Application>Microsoft Office PowerPoint</Application>
  <PresentationFormat>Custom</PresentationFormat>
  <Paragraphs>188</Paragraphs>
  <Slides>14</Slides>
  <Notes>7</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14</vt:i4>
      </vt:variant>
    </vt:vector>
  </HeadingPairs>
  <TitlesOfParts>
    <vt:vector size="29" baseType="lpstr">
      <vt:lpstr>Calibri</vt:lpstr>
      <vt:lpstr>Cooper Black</vt:lpstr>
      <vt:lpstr>Cambria</vt:lpstr>
      <vt:lpstr>Quattrocento Sans</vt:lpstr>
      <vt:lpstr>Arial Black</vt:lpstr>
      <vt:lpstr>Corben</vt:lpstr>
      <vt:lpstr>Arial</vt:lpstr>
      <vt:lpstr>Wingdings</vt:lpstr>
      <vt:lpstr>Open Sans</vt:lpstr>
      <vt:lpstr>Segoe UI Light</vt:lpstr>
      <vt:lpstr>Noto Sans Symbols</vt:lpstr>
      <vt:lpstr>Segoe UI</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45</cp:revision>
  <dcterms:created xsi:type="dcterms:W3CDTF">2023-10-03T21:33:12Z</dcterms:created>
  <dcterms:modified xsi:type="dcterms:W3CDTF">2026-02-12T08:02:17Z</dcterms:modified>
</cp:coreProperties>
</file>