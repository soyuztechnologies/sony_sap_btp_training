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ink/ink3.xml" ContentType="application/inkml+xml"/>
  <Override PartName="/ppt/notesSlides/notesSlide6.xml" ContentType="application/vnd.openxmlformats-officedocument.presentationml.notesSlide+xml"/>
  <Override PartName="/ppt/ink/ink4.xml" ContentType="application/inkml+xml"/>
  <Override PartName="/ppt/notesSlides/notesSlide7.xml" ContentType="application/vnd.openxmlformats-officedocument.presentationml.notesSlide+xml"/>
  <Override PartName="/ppt/ink/ink5.xml" ContentType="application/inkml+xml"/>
  <Override PartName="/ppt/notesSlides/notesSlide8.xml" ContentType="application/vnd.openxmlformats-officedocument.presentationml.notesSlide+xml"/>
  <Override PartName="/ppt/ink/ink6.xml" ContentType="application/inkml+xml"/>
  <Override PartName="/ppt/notesSlides/notesSlide9.xml" ContentType="application/vnd.openxmlformats-officedocument.presentationml.notesSlide+xml"/>
  <Override PartName="/ppt/ink/ink7.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21"/>
  </p:notesMasterIdLst>
  <p:sldIdLst>
    <p:sldId id="256" r:id="rId4"/>
    <p:sldId id="402" r:id="rId5"/>
    <p:sldId id="276" r:id="rId6"/>
    <p:sldId id="4807" r:id="rId7"/>
    <p:sldId id="4808" r:id="rId8"/>
    <p:sldId id="4809" r:id="rId9"/>
    <p:sldId id="4815" r:id="rId10"/>
    <p:sldId id="4816" r:id="rId11"/>
    <p:sldId id="425" r:id="rId12"/>
    <p:sldId id="4810" r:id="rId13"/>
    <p:sldId id="426" r:id="rId14"/>
    <p:sldId id="357" r:id="rId15"/>
    <p:sldId id="4813" r:id="rId16"/>
    <p:sldId id="4814" r:id="rId17"/>
    <p:sldId id="4817" r:id="rId18"/>
    <p:sldId id="419" r:id="rId19"/>
    <p:sldId id="409" r:id="rId20"/>
  </p:sldIdLst>
  <p:sldSz cx="12188825" cy="6858000"/>
  <p:notesSz cx="6858000" cy="9144000"/>
  <p:embeddedFontLst>
    <p:embeddedFont>
      <p:font typeface="Arial Black" panose="020B0A04020102020204" pitchFamily="34" charset="0"/>
      <p:regular r:id="rId22"/>
      <p:bold r:id="rId23"/>
    </p:embeddedFont>
    <p:embeddedFont>
      <p:font typeface="Cambria" panose="02040503050406030204" pitchFamily="18" charset="0"/>
      <p:regular r:id="rId24"/>
      <p:bold r:id="rId25"/>
      <p:italic r:id="rId26"/>
      <p:boldItalic r:id="rId27"/>
    </p:embeddedFont>
    <p:embeddedFont>
      <p:font typeface="Consolas" panose="020B0609020204030204" pitchFamily="49" charset="0"/>
      <p:regular r:id="rId28"/>
      <p:bold r:id="rId29"/>
      <p:italic r:id="rId30"/>
      <p:boldItalic r:id="rId31"/>
    </p:embeddedFont>
    <p:embeddedFont>
      <p:font typeface="Cooper Black" panose="0208090404030B020404" pitchFamily="18" charset="0"/>
      <p:regular r:id="rId32"/>
    </p:embeddedFont>
    <p:embeddedFont>
      <p:font typeface="Corben" panose="020B0604020202020204" charset="0"/>
      <p:bold r:id="rId33"/>
    </p:embeddedFont>
    <p:embeddedFont>
      <p:font typeface="Open Sans" panose="020B0606030504020204" pitchFamily="34" charset="0"/>
      <p:regular r:id="rId34"/>
      <p:bold r:id="rId35"/>
      <p:italic r:id="rId36"/>
      <p:boldItalic r:id="rId37"/>
    </p:embeddedFont>
    <p:embeddedFont>
      <p:font typeface="Quattrocento Sans" panose="020B0502050000020003" pitchFamily="34" charset="0"/>
      <p:regular r:id="rId38"/>
      <p:bold r:id="rId39"/>
      <p:italic r:id="rId40"/>
      <p:boldItalic r:id="rId41"/>
    </p:embeddedFont>
    <p:embeddedFont>
      <p:font typeface="Segoe UI" panose="020B0502040204020203" pitchFamily="34" charset="0"/>
      <p:regular r:id="rId42"/>
      <p:bold r:id="rId43"/>
      <p:italic r:id="rId44"/>
      <p:boldItalic r:id="rId45"/>
    </p:embeddedFont>
    <p:embeddedFont>
      <p:font typeface="Segoe UI Light" panose="020B0502040204020203" pitchFamily="34" charset="0"/>
      <p:regular r:id="rId46"/>
      <p: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p:scale>
          <a:sx n="100" d="100"/>
          <a:sy n="100" d="100"/>
        </p:scale>
        <p:origin x="744" y="260"/>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47" Type="http://schemas.openxmlformats.org/officeDocument/2006/relationships/font" Target="fonts/font26.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8.fntdata"/><Relationship Id="rId11" Type="http://schemas.openxmlformats.org/officeDocument/2006/relationships/slide" Target="slides/slide8.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openxmlformats.org/officeDocument/2006/relationships/font" Target="fonts/font24.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0.fntdata"/><Relationship Id="rId44" Type="http://schemas.openxmlformats.org/officeDocument/2006/relationships/font" Target="fonts/font23.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schemas.openxmlformats.org/officeDocument/2006/relationships/font" Target="fonts/font25.fntdata"/><Relationship Id="rId20" Type="http://schemas.openxmlformats.org/officeDocument/2006/relationships/slide" Target="slides/slide17.xml"/><Relationship Id="rId41"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3.xml"/><Relationship Id="rId20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2481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a:t>https://www.google.com/url?sa=i&amp;url=https%3A%2F%2Fcommunity.sap.com%2Ft5%2Ftechnology-blogs-by-sap%2Fbuild-and-deploy-ui5-freestyle-applications-to-sap-btp-cloud-foundry%2Fba-p%2F13558501&amp;psig=AOvVaw3K_6niI7dmyPfs2VgcYMQf&amp;ust=1726066695091000&amp;source=images&amp;cd=vfe&amp;opi=89978449&amp;ved=0CBcQjhxqFwoTCOicgdPRuIgDFQAAAAAdAAAAABAg</a:t>
            </a: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7498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8462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a:extLst>
            <a:ext uri="{FF2B5EF4-FFF2-40B4-BE49-F238E27FC236}">
              <a16:creationId xmlns:a16="http://schemas.microsoft.com/office/drawing/2014/main" id="{2D72B41D-51CA-7124-55A7-C00C15C89B02}"/>
            </a:ext>
          </a:extLst>
        </p:cNvPr>
        <p:cNvGrpSpPr/>
        <p:nvPr/>
      </p:nvGrpSpPr>
      <p:grpSpPr>
        <a:xfrm>
          <a:off x="0" y="0"/>
          <a:ext cx="0" cy="0"/>
          <a:chOff x="0" y="0"/>
          <a:chExt cx="0" cy="0"/>
        </a:xfrm>
      </p:grpSpPr>
      <p:sp>
        <p:nvSpPr>
          <p:cNvPr id="1309" name="Google Shape;1309;p59:notes">
            <a:extLst>
              <a:ext uri="{FF2B5EF4-FFF2-40B4-BE49-F238E27FC236}">
                <a16:creationId xmlns:a16="http://schemas.microsoft.com/office/drawing/2014/main" id="{23B51C81-E987-92C4-3E5B-EF4D28FB8D0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a:extLst>
              <a:ext uri="{FF2B5EF4-FFF2-40B4-BE49-F238E27FC236}">
                <a16:creationId xmlns:a16="http://schemas.microsoft.com/office/drawing/2014/main" id="{B678F1B9-D174-6CD6-B0C1-F4980F848F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8419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1676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11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2382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p1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8" name="Google Shape;1808;p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4"/>
        <p:cNvGrpSpPr/>
        <p:nvPr/>
      </p:nvGrpSpPr>
      <p:grpSpPr>
        <a:xfrm>
          <a:off x="0" y="0"/>
          <a:ext cx="0" cy="0"/>
          <a:chOff x="0" y="0"/>
          <a:chExt cx="0" cy="0"/>
        </a:xfrm>
      </p:grpSpPr>
      <p:sp>
        <p:nvSpPr>
          <p:cNvPr id="1905" name="Google Shape;1905;p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6" name="Google Shape;1906;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74548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265758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2/24/2026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theme" Target="../theme/theme2.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media/image1.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 id="214748374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2/24/2026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8.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eclipse.abapgit.org/updatesite/" TargetMode="External"/><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9.xml"/><Relationship Id="rId1" Type="http://schemas.openxmlformats.org/officeDocument/2006/relationships/themeOverride" Target="../theme/themeOverride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0.png"/><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2.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tiff"/><Relationship Id="rId2" Type="http://schemas.openxmlformats.org/officeDocument/2006/relationships/notesSlide" Target="../notesSlides/notesSlide12.xml"/><Relationship Id="rId1" Type="http://schemas.openxmlformats.org/officeDocument/2006/relationships/slideLayout" Target="../slideLayouts/slideLayout39.xml"/><Relationship Id="rId6" Type="http://schemas.openxmlformats.org/officeDocument/2006/relationships/image" Target="../media/image19.tiff"/><Relationship Id="rId5" Type="http://schemas.openxmlformats.org/officeDocument/2006/relationships/image" Target="../media/image18.tiff"/><Relationship Id="rId4" Type="http://schemas.openxmlformats.org/officeDocument/2006/relationships/image" Target="../media/image17.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DAY-26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Generate Fiori App</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Structure of Fiori App</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CIS Service</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Build </a:t>
            </a:r>
            <a:r>
              <a:rPr lang="en-IN" sz="1800" b="1" dirty="0" err="1">
                <a:solidFill>
                  <a:schemeClr val="accent4"/>
                </a:solidFill>
                <a:latin typeface="Open Sans" panose="020B0606030504020204" pitchFamily="34" charset="0"/>
                <a:ea typeface="Open Sans" panose="020B0606030504020204" pitchFamily="34" charset="0"/>
                <a:cs typeface="Open Sans" panose="020B0606030504020204" pitchFamily="34" charset="0"/>
              </a:rPr>
              <a:t>Workzone</a:t>
            </a:r>
            <a:endPar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Structure of the Fiori App</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sp>
        <p:nvSpPr>
          <p:cNvPr id="15" name="Google Shape;1784;p99">
            <a:extLst>
              <a:ext uri="{FF2B5EF4-FFF2-40B4-BE49-F238E27FC236}">
                <a16:creationId xmlns:a16="http://schemas.microsoft.com/office/drawing/2014/main" id="{D066BECC-1B37-00D9-A221-842A63DFF0A3}"/>
              </a:ext>
            </a:extLst>
          </p:cNvPr>
          <p:cNvSpPr txBox="1"/>
          <p:nvPr/>
        </p:nvSpPr>
        <p:spPr>
          <a:xfrm>
            <a:off x="258169" y="769187"/>
            <a:ext cx="11806237"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Currently you are testing the Fiori App by using the standard preview option in eclipse tool. Will our end user have the ability and skill to open eclipse tool, go to package and search BIMP and then open preview and that too in production system.</a:t>
            </a:r>
            <a:endParaRPr dirty="0"/>
          </a:p>
          <a:p>
            <a:pPr marL="285750" marR="0" lvl="0" indent="-285750" algn="l" rtl="0">
              <a:spcBef>
                <a:spcPts val="0"/>
              </a:spcBef>
              <a:spcAft>
                <a:spcPts val="0"/>
              </a:spcAft>
              <a:buClr>
                <a:schemeClr val="dk1"/>
              </a:buClr>
              <a:buSzPts val="1800"/>
              <a:buFont typeface="Arial"/>
              <a:buChar char="•"/>
            </a:pPr>
            <a:endParaRPr lang="en-US"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All the Fiori apps which we create in BTP will be called MTA – Multi target application, they are deployed with </a:t>
            </a:r>
            <a:r>
              <a:rPr lang="en-US" sz="1800" dirty="0" err="1">
                <a:solidFill>
                  <a:schemeClr val="dk1"/>
                </a:solidFill>
                <a:latin typeface="Calibri"/>
                <a:ea typeface="Calibri"/>
                <a:cs typeface="Calibri"/>
                <a:sym typeface="Calibri"/>
              </a:rPr>
              <a:t>mta.yml</a:t>
            </a:r>
            <a:r>
              <a:rPr lang="en-US" sz="1800" dirty="0">
                <a:solidFill>
                  <a:schemeClr val="dk1"/>
                </a:solidFill>
                <a:latin typeface="Calibri"/>
                <a:ea typeface="Calibri"/>
                <a:cs typeface="Calibri"/>
                <a:sym typeface="Calibri"/>
              </a:rPr>
              <a:t> file. Which will contain the configuration for the Fiori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 SAP BTP, there is a storage space called </a:t>
            </a:r>
            <a:r>
              <a:rPr lang="en-US" sz="1800" b="1" dirty="0">
                <a:solidFill>
                  <a:schemeClr val="dk1"/>
                </a:solidFill>
                <a:latin typeface="Calibri"/>
                <a:ea typeface="Calibri"/>
                <a:cs typeface="Calibri"/>
                <a:sym typeface="Calibri"/>
              </a:rPr>
              <a:t>html-5-repository</a:t>
            </a:r>
            <a:r>
              <a:rPr lang="en-US" sz="1800" dirty="0">
                <a:solidFill>
                  <a:schemeClr val="dk1"/>
                </a:solidFill>
                <a:latin typeface="Calibri"/>
                <a:ea typeface="Calibri"/>
                <a:cs typeface="Calibri"/>
                <a:sym typeface="Calibri"/>
              </a:rPr>
              <a:t> where the BTP will store our Fiori apps.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When we deploy our app, there is </a:t>
            </a:r>
            <a:r>
              <a:rPr lang="en-US" sz="1800" b="1" dirty="0">
                <a:solidFill>
                  <a:schemeClr val="dk1"/>
                </a:solidFill>
                <a:latin typeface="Calibri"/>
                <a:ea typeface="Calibri"/>
                <a:cs typeface="Calibri"/>
                <a:sym typeface="Calibri"/>
              </a:rPr>
              <a:t>html5-deployer</a:t>
            </a:r>
            <a:r>
              <a:rPr lang="en-US" sz="1800" dirty="0">
                <a:solidFill>
                  <a:schemeClr val="dk1"/>
                </a:solidFill>
                <a:latin typeface="Calibri"/>
                <a:ea typeface="Calibri"/>
                <a:cs typeface="Calibri"/>
                <a:sym typeface="Calibri"/>
              </a:rPr>
              <a:t> which will take our app from BAS tool and </a:t>
            </a:r>
            <a:r>
              <a:rPr lang="en-US" sz="1800" dirty="0" err="1">
                <a:solidFill>
                  <a:schemeClr val="dk1"/>
                </a:solidFill>
                <a:latin typeface="Calibri"/>
                <a:ea typeface="Calibri"/>
                <a:cs typeface="Calibri"/>
                <a:sym typeface="Calibri"/>
              </a:rPr>
              <a:t>deployes</a:t>
            </a:r>
            <a:r>
              <a:rPr lang="en-US" sz="1800" dirty="0">
                <a:solidFill>
                  <a:schemeClr val="dk1"/>
                </a:solidFill>
                <a:latin typeface="Calibri"/>
                <a:ea typeface="Calibri"/>
                <a:cs typeface="Calibri"/>
                <a:sym typeface="Calibri"/>
              </a:rPr>
              <a:t> it to the HTML5 Repository (Design time)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When we run the app, there is a service called </a:t>
            </a:r>
            <a:r>
              <a:rPr lang="en-US" sz="1800" b="1" dirty="0">
                <a:solidFill>
                  <a:schemeClr val="dk1"/>
                </a:solidFill>
                <a:latin typeface="Calibri"/>
                <a:ea typeface="Calibri"/>
                <a:cs typeface="Calibri"/>
                <a:sym typeface="Calibri"/>
              </a:rPr>
              <a:t>html5-rt</a:t>
            </a:r>
            <a:r>
              <a:rPr lang="en-US" sz="1800" dirty="0">
                <a:solidFill>
                  <a:schemeClr val="dk1"/>
                </a:solidFill>
                <a:latin typeface="Calibri"/>
                <a:ea typeface="Calibri"/>
                <a:cs typeface="Calibri"/>
                <a:sym typeface="Calibri"/>
              </a:rPr>
              <a:t> (runtime) service which will load our app from the repository in the build </a:t>
            </a:r>
            <a:r>
              <a:rPr lang="en-US" sz="1800" dirty="0" err="1">
                <a:solidFill>
                  <a:schemeClr val="dk1"/>
                </a:solidFill>
                <a:latin typeface="Calibri"/>
                <a:ea typeface="Calibri"/>
                <a:cs typeface="Calibri"/>
                <a:sym typeface="Calibri"/>
              </a:rPr>
              <a:t>workzone</a:t>
            </a:r>
            <a:r>
              <a:rPr lang="en-US" sz="1800" dirty="0">
                <a:solidFill>
                  <a:schemeClr val="dk1"/>
                </a:solidFill>
                <a:latin typeface="Calibri"/>
                <a:ea typeface="Calibri"/>
                <a:cs typeface="Calibri"/>
                <a:sym typeface="Calibri"/>
              </a:rPr>
              <a: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Apart from that the application will contain a </a:t>
            </a:r>
            <a:r>
              <a:rPr lang="en-US" sz="1800" b="1" dirty="0">
                <a:solidFill>
                  <a:schemeClr val="dk1"/>
                </a:solidFill>
                <a:latin typeface="Calibri"/>
                <a:ea typeface="Calibri"/>
                <a:cs typeface="Calibri"/>
                <a:sym typeface="Calibri"/>
              </a:rPr>
              <a:t>connectivity</a:t>
            </a:r>
            <a:r>
              <a:rPr lang="en-US" sz="1800" dirty="0">
                <a:solidFill>
                  <a:schemeClr val="dk1"/>
                </a:solidFill>
                <a:latin typeface="Calibri"/>
                <a:ea typeface="Calibri"/>
                <a:cs typeface="Calibri"/>
                <a:sym typeface="Calibri"/>
              </a:rPr>
              <a:t> service to communicate with our abap on cloud system.</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And a </a:t>
            </a:r>
            <a:r>
              <a:rPr lang="en-US" sz="1800" b="1" dirty="0">
                <a:solidFill>
                  <a:schemeClr val="dk1"/>
                </a:solidFill>
                <a:latin typeface="Calibri"/>
                <a:ea typeface="Calibri"/>
                <a:cs typeface="Calibri"/>
                <a:sym typeface="Calibri"/>
              </a:rPr>
              <a:t>destination </a:t>
            </a:r>
            <a:r>
              <a:rPr lang="en-US" sz="1800" dirty="0">
                <a:solidFill>
                  <a:schemeClr val="dk1"/>
                </a:solidFill>
                <a:latin typeface="Calibri"/>
                <a:ea typeface="Calibri"/>
                <a:cs typeface="Calibri"/>
                <a:sym typeface="Calibri"/>
              </a:rPr>
              <a:t>service which will read the destination (RFC) of AOC system to access data in Fiori.</a:t>
            </a:r>
            <a:endParaRPr dirty="0"/>
          </a:p>
        </p:txBody>
      </p:sp>
    </p:spTree>
    <p:extLst>
      <p:ext uri="{BB962C8B-B14F-4D97-AF65-F5344CB8AC3E}">
        <p14:creationId xmlns:p14="http://schemas.microsoft.com/office/powerpoint/2010/main" val="3427854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Architecture</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3076" name="Picture 4" descr="Build and Deploy UI5 Freestyle Applications to SAP... - SAP Community">
            <a:extLst>
              <a:ext uri="{FF2B5EF4-FFF2-40B4-BE49-F238E27FC236}">
                <a16:creationId xmlns:a16="http://schemas.microsoft.com/office/drawing/2014/main" id="{688F8252-8736-0CE9-3D02-4CC8E7FFAF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3008" y="1019096"/>
            <a:ext cx="11172144" cy="5107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442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Tools and Services to Deliver the App</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sp>
        <p:nvSpPr>
          <p:cNvPr id="3" name="TextBox 2">
            <a:extLst>
              <a:ext uri="{FF2B5EF4-FFF2-40B4-BE49-F238E27FC236}">
                <a16:creationId xmlns:a16="http://schemas.microsoft.com/office/drawing/2014/main" id="{F131C131-2300-C883-3271-E2D57BBC02D2}"/>
              </a:ext>
            </a:extLst>
          </p:cNvPr>
          <p:cNvSpPr txBox="1"/>
          <p:nvPr/>
        </p:nvSpPr>
        <p:spPr>
          <a:xfrm>
            <a:off x="288291" y="803937"/>
            <a:ext cx="11445485" cy="2246769"/>
          </a:xfrm>
          <a:prstGeom prst="rect">
            <a:avLst/>
          </a:prstGeom>
          <a:noFill/>
        </p:spPr>
        <p:txBody>
          <a:bodyPr wrap="square">
            <a:spAutoFit/>
          </a:bodyPr>
          <a:lstStyle/>
          <a:p>
            <a:pPr marL="285750" marR="0" lvl="0" indent="-285750" algn="l" rtl="0">
              <a:spcBef>
                <a:spcPts val="0"/>
              </a:spcBef>
              <a:spcAft>
                <a:spcPts val="0"/>
              </a:spcAft>
              <a:buClr>
                <a:schemeClr val="dk1"/>
              </a:buClr>
              <a:buSzPts val="1800"/>
              <a:buFont typeface="Arial"/>
              <a:buChar char="•"/>
            </a:pPr>
            <a:r>
              <a:rPr lang="en-US" sz="2000" dirty="0">
                <a:solidFill>
                  <a:schemeClr val="dk1"/>
                </a:solidFill>
                <a:latin typeface="Calibri"/>
                <a:ea typeface="Calibri"/>
                <a:cs typeface="Calibri"/>
                <a:sym typeface="Calibri"/>
              </a:rPr>
              <a:t>Business Application Studio – It is a multi cloud development tool which allows developers to build, test, package, deploy, and manage end to end Fiori applications.</a:t>
            </a:r>
            <a:endParaRPr lang="en-US" sz="2000" dirty="0"/>
          </a:p>
          <a:p>
            <a:pPr marL="285750" marR="0" lvl="0" indent="-285750" algn="l" rtl="0">
              <a:spcBef>
                <a:spcPts val="0"/>
              </a:spcBef>
              <a:spcAft>
                <a:spcPts val="0"/>
              </a:spcAft>
              <a:buClr>
                <a:schemeClr val="dk1"/>
              </a:buClr>
              <a:buSzPts val="1800"/>
              <a:buFont typeface="Arial"/>
              <a:buChar char="•"/>
            </a:pPr>
            <a:r>
              <a:rPr lang="en-US" sz="2000" dirty="0">
                <a:solidFill>
                  <a:schemeClr val="dk1"/>
                </a:solidFill>
                <a:latin typeface="Calibri"/>
                <a:ea typeface="Calibri"/>
                <a:cs typeface="Calibri"/>
                <a:sym typeface="Calibri"/>
              </a:rPr>
              <a:t>SAP build work zone (aka </a:t>
            </a:r>
            <a:r>
              <a:rPr lang="en-US" sz="2000" dirty="0" err="1">
                <a:solidFill>
                  <a:schemeClr val="dk1"/>
                </a:solidFill>
                <a:latin typeface="Calibri"/>
                <a:ea typeface="Calibri"/>
                <a:cs typeface="Calibri"/>
                <a:sym typeface="Calibri"/>
              </a:rPr>
              <a:t>cFLP</a:t>
            </a:r>
            <a:r>
              <a:rPr lang="en-US" sz="2000" dirty="0">
                <a:solidFill>
                  <a:schemeClr val="dk1"/>
                </a:solidFill>
                <a:latin typeface="Calibri"/>
                <a:ea typeface="Calibri"/>
                <a:cs typeface="Calibri"/>
                <a:sym typeface="Calibri"/>
              </a:rPr>
              <a:t> in BTP) – it helps us to configure a site called Fiori launchpad in the cloud. All the Fiori Apps which you build in BTP will be accessed via this build </a:t>
            </a:r>
            <a:r>
              <a:rPr lang="en-US" sz="2000" dirty="0" err="1">
                <a:solidFill>
                  <a:schemeClr val="dk1"/>
                </a:solidFill>
                <a:latin typeface="Calibri"/>
                <a:ea typeface="Calibri"/>
                <a:cs typeface="Calibri"/>
                <a:sym typeface="Calibri"/>
              </a:rPr>
              <a:t>workzone</a:t>
            </a:r>
            <a:r>
              <a:rPr lang="en-US" sz="2000" dirty="0">
                <a:solidFill>
                  <a:schemeClr val="dk1"/>
                </a:solidFill>
                <a:latin typeface="Calibri"/>
                <a:ea typeface="Calibri"/>
                <a:cs typeface="Calibri"/>
                <a:sym typeface="Calibri"/>
              </a:rPr>
              <a:t> from end user. End user will get single URL, which contains the tiles for all our apps deployed in BTP.</a:t>
            </a:r>
            <a:endParaRPr lang="en-US" sz="2000" dirty="0"/>
          </a:p>
          <a:p>
            <a:pPr marL="285750" marR="0" lvl="0" indent="-285750" algn="l" rtl="0">
              <a:spcBef>
                <a:spcPts val="0"/>
              </a:spcBef>
              <a:spcAft>
                <a:spcPts val="0"/>
              </a:spcAft>
              <a:buClr>
                <a:schemeClr val="dk1"/>
              </a:buClr>
              <a:buSzPts val="1800"/>
              <a:buFont typeface="Arial"/>
              <a:buChar char="•"/>
            </a:pPr>
            <a:r>
              <a:rPr lang="en-US" sz="2000" dirty="0">
                <a:solidFill>
                  <a:schemeClr val="dk1"/>
                </a:solidFill>
                <a:latin typeface="Calibri"/>
                <a:ea typeface="Calibri"/>
                <a:cs typeface="Calibri"/>
                <a:sym typeface="Calibri"/>
              </a:rPr>
              <a:t>Continuous Integration Service – When a developer change the application, and push to central repository like git, the CI service will automatically build and deploy our app.</a:t>
            </a:r>
            <a:endParaRPr lang="en-US" sz="2000" dirty="0"/>
          </a:p>
        </p:txBody>
      </p:sp>
    </p:spTree>
    <p:extLst>
      <p:ext uri="{BB962C8B-B14F-4D97-AF65-F5344CB8AC3E}">
        <p14:creationId xmlns:p14="http://schemas.microsoft.com/office/powerpoint/2010/main" val="1298922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1">
          <a:extLst>
            <a:ext uri="{FF2B5EF4-FFF2-40B4-BE49-F238E27FC236}">
              <a16:creationId xmlns:a16="http://schemas.microsoft.com/office/drawing/2014/main" id="{5C2B4173-D314-C410-2169-0211D620E4F4}"/>
            </a:ext>
          </a:extLst>
        </p:cNvPr>
        <p:cNvGrpSpPr/>
        <p:nvPr/>
      </p:nvGrpSpPr>
      <p:grpSpPr>
        <a:xfrm>
          <a:off x="0" y="0"/>
          <a:ext cx="0" cy="0"/>
          <a:chOff x="0" y="0"/>
          <a:chExt cx="0" cy="0"/>
        </a:xfrm>
      </p:grpSpPr>
      <p:sp>
        <p:nvSpPr>
          <p:cNvPr id="1313" name="Google Shape;1313;p59">
            <a:extLst>
              <a:ext uri="{FF2B5EF4-FFF2-40B4-BE49-F238E27FC236}">
                <a16:creationId xmlns:a16="http://schemas.microsoft.com/office/drawing/2014/main" id="{C19AEBE5-7033-80D6-0AE9-68AB38E70848}"/>
              </a:ext>
            </a:extLst>
          </p:cNvPr>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SAP Cloud Identity Service</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a:extLst>
              <a:ext uri="{FF2B5EF4-FFF2-40B4-BE49-F238E27FC236}">
                <a16:creationId xmlns:a16="http://schemas.microsoft.com/office/drawing/2014/main" id="{96638E38-A221-2AAA-130F-459943D3CA6F}"/>
              </a:ext>
            </a:extLst>
          </p:cNvPr>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2895A020-1A35-D57B-C2F2-ACCBD1E85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6FA22B66-D2A5-2AB8-4F19-329E4992BBA6}"/>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sp>
        <p:nvSpPr>
          <p:cNvPr id="3" name="TextBox 2">
            <a:extLst>
              <a:ext uri="{FF2B5EF4-FFF2-40B4-BE49-F238E27FC236}">
                <a16:creationId xmlns:a16="http://schemas.microsoft.com/office/drawing/2014/main" id="{BE4E5E87-BF26-D987-11EF-D4EAC367A7A8}"/>
              </a:ext>
            </a:extLst>
          </p:cNvPr>
          <p:cNvSpPr txBox="1"/>
          <p:nvPr/>
        </p:nvSpPr>
        <p:spPr>
          <a:xfrm>
            <a:off x="288291" y="803937"/>
            <a:ext cx="11445485" cy="5016758"/>
          </a:xfrm>
          <a:prstGeom prst="rect">
            <a:avLst/>
          </a:prstGeom>
          <a:noFill/>
        </p:spPr>
        <p:txBody>
          <a:bodyPr wrap="square">
            <a:spAutoFit/>
          </a:bodyPr>
          <a:lstStyle/>
          <a:p>
            <a:r>
              <a:rPr lang="en-US" sz="1600" b="1" dirty="0"/>
              <a:t>SAP Cloud Identity Services</a:t>
            </a:r>
            <a:r>
              <a:rPr lang="en-US" sz="1600" dirty="0"/>
              <a:t> is a suite of cloud-based identity and access management tools provided as part of SAP Business Technology Platform (BTP). It helps organizations manage user identities, authentication, and access across SAP and non-SAP applications.</a:t>
            </a:r>
          </a:p>
          <a:p>
            <a:endParaRPr lang="en-US" sz="1600" dirty="0"/>
          </a:p>
          <a:p>
            <a:pPr marL="342900" indent="-342900">
              <a:buFont typeface="Arial" panose="020B0604020202020204" pitchFamily="34" charset="0"/>
              <a:buChar char="•"/>
            </a:pPr>
            <a:r>
              <a:rPr lang="en-US" sz="1600" b="1" dirty="0"/>
              <a:t>Identity Authentication Service (IAS)</a:t>
            </a:r>
            <a:r>
              <a:rPr lang="en-US" sz="1600" dirty="0"/>
              <a:t> is the core component acting as a cloud Identity Provider (IdP). It supports Single Sign-On (SSO), Multi-Factor Authentication (MFA), social login, and risk-based authentication. It can act as a proxy to corporate identity providers like Azure AD or Okta.</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1600" b="1" dirty="0"/>
              <a:t>Identity Provisioning Service (IPS)</a:t>
            </a:r>
            <a:r>
              <a:rPr lang="en-US" sz="1600" dirty="0"/>
              <a:t> automates the user lifecycle — creating, updating, and deactivating user accounts across connected systems. It uses the SCIM protocol and comes with pre-built connectors for SAP and third-party systems like Salesforce, Microsoft, and Google.</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1600" b="1" dirty="0"/>
              <a:t>Identity Directory</a:t>
            </a:r>
            <a:r>
              <a:rPr lang="en-US" sz="1600" dirty="0"/>
              <a:t> is the central user store within SAP Cloud Identity Services. It holds unified user profiles, groups, and custom attributes, serving as the single source of truth across the landscape.</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1600" b="1" dirty="0"/>
              <a:t>Authorization Management</a:t>
            </a:r>
            <a:r>
              <a:rPr lang="en-US" sz="1600" dirty="0"/>
              <a:t> provides fine-grained, policy-based access control. It allows administrators to define instance-level authorization policies for SAP BTP applications rather than relying solely on role-based access.</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1600" b="1" dirty="0"/>
              <a:t>Security and Compliance</a:t>
            </a:r>
            <a:r>
              <a:rPr lang="en-US" sz="1600" dirty="0"/>
              <a:t> features include GDPR readiness, ISO/IEC 27001 certification, audit logging, session management, and support for standards like SAML 2.0, OpenID Connect (OIDC), and OAuth 2.0.</a:t>
            </a:r>
          </a:p>
        </p:txBody>
      </p:sp>
    </p:spTree>
    <p:extLst>
      <p:ext uri="{BB962C8B-B14F-4D97-AF65-F5344CB8AC3E}">
        <p14:creationId xmlns:p14="http://schemas.microsoft.com/office/powerpoint/2010/main" val="2436116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le user avatar icon in flat design | Premium Vector">
            <a:extLst>
              <a:ext uri="{FF2B5EF4-FFF2-40B4-BE49-F238E27FC236}">
                <a16:creationId xmlns:a16="http://schemas.microsoft.com/office/drawing/2014/main" id="{05090454-E17B-8177-89BC-94D8ED188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49" y="0"/>
            <a:ext cx="1492042" cy="149204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oftware developer - Free user icons">
            <a:extLst>
              <a:ext uri="{FF2B5EF4-FFF2-40B4-BE49-F238E27FC236}">
                <a16:creationId xmlns:a16="http://schemas.microsoft.com/office/drawing/2014/main" id="{EB6A4ECD-8991-8486-61AE-261566288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4829" y="67433"/>
            <a:ext cx="1394791" cy="139479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tness, User, Computer Software, Skin, User Interface, User Profile, End  User, Purple transparent background PNG clipart | HiClipart">
            <a:extLst>
              <a:ext uri="{FF2B5EF4-FFF2-40B4-BE49-F238E27FC236}">
                <a16:creationId xmlns:a16="http://schemas.microsoft.com/office/drawing/2014/main" id="{16C24B1D-473A-0C4E-8100-3709DAEF83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1551" y="271668"/>
            <a:ext cx="1424609" cy="142460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End user Flaticons Flat icon | Freepik">
            <a:extLst>
              <a:ext uri="{FF2B5EF4-FFF2-40B4-BE49-F238E27FC236}">
                <a16:creationId xmlns:a16="http://schemas.microsoft.com/office/drawing/2014/main" id="{F197390D-B334-4D01-DFFA-0462157F21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6657" y="67433"/>
            <a:ext cx="1424609" cy="142460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75988384-BA22-D56F-7747-CD1ECB088FE5}"/>
              </a:ext>
            </a:extLst>
          </p:cNvPr>
          <p:cNvSpPr txBox="1"/>
          <p:nvPr/>
        </p:nvSpPr>
        <p:spPr>
          <a:xfrm>
            <a:off x="155783" y="1434667"/>
            <a:ext cx="1643269" cy="523220"/>
          </a:xfrm>
          <a:prstGeom prst="rect">
            <a:avLst/>
          </a:prstGeom>
          <a:noFill/>
        </p:spPr>
        <p:txBody>
          <a:bodyPr wrap="square" rtlCol="0">
            <a:spAutoFit/>
          </a:bodyPr>
          <a:lstStyle/>
          <a:p>
            <a:pPr algn="ctr"/>
            <a:r>
              <a:rPr lang="en-IN" b="1" dirty="0"/>
              <a:t>BTP Admin</a:t>
            </a:r>
          </a:p>
          <a:p>
            <a:pPr algn="ctr"/>
            <a:r>
              <a:rPr lang="en-IN" b="1" dirty="0"/>
              <a:t>Anubhav</a:t>
            </a:r>
          </a:p>
        </p:txBody>
      </p:sp>
      <p:sp>
        <p:nvSpPr>
          <p:cNvPr id="49" name="TextBox 48">
            <a:extLst>
              <a:ext uri="{FF2B5EF4-FFF2-40B4-BE49-F238E27FC236}">
                <a16:creationId xmlns:a16="http://schemas.microsoft.com/office/drawing/2014/main" id="{FBECBFAA-0865-F9D6-DB31-4493DC910CA5}"/>
              </a:ext>
            </a:extLst>
          </p:cNvPr>
          <p:cNvSpPr txBox="1"/>
          <p:nvPr/>
        </p:nvSpPr>
        <p:spPr>
          <a:xfrm>
            <a:off x="3190529" y="1434667"/>
            <a:ext cx="1643269" cy="523220"/>
          </a:xfrm>
          <a:prstGeom prst="rect">
            <a:avLst/>
          </a:prstGeom>
          <a:noFill/>
        </p:spPr>
        <p:txBody>
          <a:bodyPr wrap="square" rtlCol="0">
            <a:spAutoFit/>
          </a:bodyPr>
          <a:lstStyle/>
          <a:p>
            <a:pPr algn="ctr"/>
            <a:r>
              <a:rPr lang="en-IN" b="1" dirty="0"/>
              <a:t>Developer</a:t>
            </a:r>
          </a:p>
          <a:p>
            <a:pPr algn="ctr"/>
            <a:r>
              <a:rPr lang="en-IN" b="1" dirty="0"/>
              <a:t>Raj Shetty</a:t>
            </a:r>
          </a:p>
        </p:txBody>
      </p:sp>
      <p:sp>
        <p:nvSpPr>
          <p:cNvPr id="50" name="TextBox 49">
            <a:extLst>
              <a:ext uri="{FF2B5EF4-FFF2-40B4-BE49-F238E27FC236}">
                <a16:creationId xmlns:a16="http://schemas.microsoft.com/office/drawing/2014/main" id="{54F89EEE-3A17-CB98-1617-94B617AD04BA}"/>
              </a:ext>
            </a:extLst>
          </p:cNvPr>
          <p:cNvSpPr txBox="1"/>
          <p:nvPr/>
        </p:nvSpPr>
        <p:spPr>
          <a:xfrm>
            <a:off x="10262220" y="1696277"/>
            <a:ext cx="1643269" cy="523220"/>
          </a:xfrm>
          <a:prstGeom prst="rect">
            <a:avLst/>
          </a:prstGeom>
          <a:noFill/>
        </p:spPr>
        <p:txBody>
          <a:bodyPr wrap="square" rtlCol="0">
            <a:spAutoFit/>
          </a:bodyPr>
          <a:lstStyle/>
          <a:p>
            <a:pPr algn="ctr"/>
            <a:r>
              <a:rPr lang="en-IN" b="1" dirty="0"/>
              <a:t>Business User</a:t>
            </a:r>
          </a:p>
          <a:p>
            <a:pPr algn="ctr"/>
            <a:r>
              <a:rPr lang="en-IN" b="1" dirty="0"/>
              <a:t>Uday Shetty</a:t>
            </a:r>
          </a:p>
        </p:txBody>
      </p:sp>
      <p:sp>
        <p:nvSpPr>
          <p:cNvPr id="51" name="TextBox 50">
            <a:extLst>
              <a:ext uri="{FF2B5EF4-FFF2-40B4-BE49-F238E27FC236}">
                <a16:creationId xmlns:a16="http://schemas.microsoft.com/office/drawing/2014/main" id="{9ED2DDD3-C1A5-B574-3FAB-6B263C538DB0}"/>
              </a:ext>
            </a:extLst>
          </p:cNvPr>
          <p:cNvSpPr txBox="1"/>
          <p:nvPr/>
        </p:nvSpPr>
        <p:spPr>
          <a:xfrm>
            <a:off x="6713951" y="1407921"/>
            <a:ext cx="1643269" cy="523220"/>
          </a:xfrm>
          <a:prstGeom prst="rect">
            <a:avLst/>
          </a:prstGeom>
          <a:noFill/>
        </p:spPr>
        <p:txBody>
          <a:bodyPr wrap="square" rtlCol="0">
            <a:spAutoFit/>
          </a:bodyPr>
          <a:lstStyle/>
          <a:p>
            <a:pPr algn="ctr"/>
            <a:r>
              <a:rPr lang="en-IN" b="1" dirty="0"/>
              <a:t>SAP Security</a:t>
            </a:r>
          </a:p>
          <a:p>
            <a:pPr algn="ctr"/>
            <a:r>
              <a:rPr lang="en-IN" b="1" dirty="0"/>
              <a:t>Subbu Swamy</a:t>
            </a:r>
          </a:p>
        </p:txBody>
      </p:sp>
      <p:sp>
        <p:nvSpPr>
          <p:cNvPr id="52" name="Rectangle 51">
            <a:extLst>
              <a:ext uri="{FF2B5EF4-FFF2-40B4-BE49-F238E27FC236}">
                <a16:creationId xmlns:a16="http://schemas.microsoft.com/office/drawing/2014/main" id="{43BB9F1A-FD42-929A-BDE9-D01DB7089DEE}"/>
              </a:ext>
            </a:extLst>
          </p:cNvPr>
          <p:cNvSpPr/>
          <p:nvPr/>
        </p:nvSpPr>
        <p:spPr>
          <a:xfrm>
            <a:off x="437322" y="6063112"/>
            <a:ext cx="11304104" cy="523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BTP</a:t>
            </a:r>
          </a:p>
        </p:txBody>
      </p:sp>
      <p:sp>
        <p:nvSpPr>
          <p:cNvPr id="53" name="Rectangle 52">
            <a:extLst>
              <a:ext uri="{FF2B5EF4-FFF2-40B4-BE49-F238E27FC236}">
                <a16:creationId xmlns:a16="http://schemas.microsoft.com/office/drawing/2014/main" id="{D02A5C9F-B1F0-B57B-7B0C-5ACC9F3F5F8A}"/>
              </a:ext>
            </a:extLst>
          </p:cNvPr>
          <p:cNvSpPr/>
          <p:nvPr/>
        </p:nvSpPr>
        <p:spPr>
          <a:xfrm>
            <a:off x="649357" y="4310027"/>
            <a:ext cx="3339548" cy="9807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Cloud Identity Service</a:t>
            </a:r>
          </a:p>
          <a:p>
            <a:pPr algn="ctr"/>
            <a:r>
              <a:rPr lang="en-IN" dirty="0"/>
              <a:t>IDP – Identity provider</a:t>
            </a:r>
          </a:p>
        </p:txBody>
      </p:sp>
      <p:cxnSp>
        <p:nvCxnSpPr>
          <p:cNvPr id="55" name="Connector: Elbow 54">
            <a:extLst>
              <a:ext uri="{FF2B5EF4-FFF2-40B4-BE49-F238E27FC236}">
                <a16:creationId xmlns:a16="http://schemas.microsoft.com/office/drawing/2014/main" id="{E8F68CEC-CB03-CB30-2F2E-097BAF6A2FCD}"/>
              </a:ext>
            </a:extLst>
          </p:cNvPr>
          <p:cNvCxnSpPr>
            <a:stCxn id="48" idx="2"/>
          </p:cNvCxnSpPr>
          <p:nvPr/>
        </p:nvCxnSpPr>
        <p:spPr>
          <a:xfrm rot="16200000" flipH="1">
            <a:off x="212165" y="2723140"/>
            <a:ext cx="2352140" cy="8216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D2F0609-F753-A647-40F7-9CE59CA80205}"/>
              </a:ext>
            </a:extLst>
          </p:cNvPr>
          <p:cNvSpPr txBox="1"/>
          <p:nvPr/>
        </p:nvSpPr>
        <p:spPr>
          <a:xfrm>
            <a:off x="649357" y="2849217"/>
            <a:ext cx="1868556" cy="830997"/>
          </a:xfrm>
          <a:prstGeom prst="rect">
            <a:avLst/>
          </a:prstGeom>
          <a:noFill/>
        </p:spPr>
        <p:txBody>
          <a:bodyPr wrap="square" rtlCol="0">
            <a:spAutoFit/>
          </a:bodyPr>
          <a:lstStyle/>
          <a:p>
            <a:r>
              <a:rPr lang="en-IN" sz="1200" b="1" i="1" dirty="0"/>
              <a:t>Subscribe to cloud identity service and appoint a administrator - Subbu</a:t>
            </a:r>
          </a:p>
        </p:txBody>
      </p:sp>
      <p:cxnSp>
        <p:nvCxnSpPr>
          <p:cNvPr id="57" name="Connector: Elbow 56">
            <a:extLst>
              <a:ext uri="{FF2B5EF4-FFF2-40B4-BE49-F238E27FC236}">
                <a16:creationId xmlns:a16="http://schemas.microsoft.com/office/drawing/2014/main" id="{8F5842D6-CF21-209A-13E2-712B89F9F900}"/>
              </a:ext>
            </a:extLst>
          </p:cNvPr>
          <p:cNvCxnSpPr>
            <a:cxnSpLocks/>
          </p:cNvCxnSpPr>
          <p:nvPr/>
        </p:nvCxnSpPr>
        <p:spPr>
          <a:xfrm rot="10800000" flipV="1">
            <a:off x="4002224" y="1931140"/>
            <a:ext cx="3533362" cy="2513859"/>
          </a:xfrm>
          <a:prstGeom prst="bentConnector3">
            <a:avLst>
              <a:gd name="adj1" fmla="val 219"/>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2F8FCCDF-38FE-BB0B-17D5-6A5756BA66BD}"/>
              </a:ext>
            </a:extLst>
          </p:cNvPr>
          <p:cNvSpPr txBox="1"/>
          <p:nvPr/>
        </p:nvSpPr>
        <p:spPr>
          <a:xfrm>
            <a:off x="4651580" y="4776893"/>
            <a:ext cx="3339547" cy="461665"/>
          </a:xfrm>
          <a:prstGeom prst="rect">
            <a:avLst/>
          </a:prstGeom>
          <a:noFill/>
        </p:spPr>
        <p:txBody>
          <a:bodyPr wrap="square" rtlCol="0">
            <a:spAutoFit/>
          </a:bodyPr>
          <a:lstStyle/>
          <a:p>
            <a:r>
              <a:rPr lang="en-IN" sz="1200" b="1" i="1" dirty="0"/>
              <a:t>Subbu needs to register the business user Uday </a:t>
            </a:r>
            <a:r>
              <a:rPr lang="en-IN" sz="1200" b="1" i="1" dirty="0" err="1"/>
              <a:t>shetty</a:t>
            </a:r>
            <a:endParaRPr lang="en-IN" sz="1200" b="1" i="1" dirty="0"/>
          </a:p>
        </p:txBody>
      </p:sp>
      <p:pic>
        <p:nvPicPr>
          <p:cNvPr id="1036" name="Picture 12" descr="The Vaccine War star, Nana Patekar finally reveals why he's not in Welcome  To The Jungle">
            <a:extLst>
              <a:ext uri="{FF2B5EF4-FFF2-40B4-BE49-F238E27FC236}">
                <a16:creationId xmlns:a16="http://schemas.microsoft.com/office/drawing/2014/main" id="{AAD5375F-7B24-94F6-8CB9-F01559E59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20299" y="2257115"/>
            <a:ext cx="1992313" cy="930954"/>
          </a:xfrm>
          <a:prstGeom prst="rect">
            <a:avLst/>
          </a:prstGeom>
          <a:noFill/>
          <a:extLst>
            <a:ext uri="{909E8E84-426E-40DD-AFC4-6F175D3DCCD1}">
              <a14:hiddenFill xmlns:a14="http://schemas.microsoft.com/office/drawing/2010/main">
                <a:solidFill>
                  <a:srgbClr val="FFFFFF"/>
                </a:solidFill>
              </a14:hiddenFill>
            </a:ext>
          </a:extLst>
        </p:spPr>
      </p:pic>
      <p:sp>
        <p:nvSpPr>
          <p:cNvPr id="61" name="Arrow: Left 60">
            <a:extLst>
              <a:ext uri="{FF2B5EF4-FFF2-40B4-BE49-F238E27FC236}">
                <a16:creationId xmlns:a16="http://schemas.microsoft.com/office/drawing/2014/main" id="{3C0E975E-2AB7-2A9B-780C-AE9D6D87881A}"/>
              </a:ext>
            </a:extLst>
          </p:cNvPr>
          <p:cNvSpPr/>
          <p:nvPr/>
        </p:nvSpPr>
        <p:spPr>
          <a:xfrm>
            <a:off x="8241266" y="172114"/>
            <a:ext cx="2071134" cy="74541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Request for a user in </a:t>
            </a:r>
            <a:r>
              <a:rPr lang="en-IN" dirty="0" err="1"/>
              <a:t>btp</a:t>
            </a:r>
            <a:endParaRPr lang="en-IN" dirty="0"/>
          </a:p>
        </p:txBody>
      </p:sp>
      <p:cxnSp>
        <p:nvCxnSpPr>
          <p:cNvPr id="63" name="Connector: Elbow 62">
            <a:extLst>
              <a:ext uri="{FF2B5EF4-FFF2-40B4-BE49-F238E27FC236}">
                <a16:creationId xmlns:a16="http://schemas.microsoft.com/office/drawing/2014/main" id="{E564363D-ED57-71CC-F457-E6EF52D35A1D}"/>
              </a:ext>
            </a:extLst>
          </p:cNvPr>
          <p:cNvCxnSpPr>
            <a:stCxn id="51" idx="3"/>
            <a:endCxn id="53" idx="3"/>
          </p:cNvCxnSpPr>
          <p:nvPr/>
        </p:nvCxnSpPr>
        <p:spPr>
          <a:xfrm flipH="1">
            <a:off x="3988905" y="1669531"/>
            <a:ext cx="4368315" cy="3130888"/>
          </a:xfrm>
          <a:prstGeom prst="bentConnector3">
            <a:avLst>
              <a:gd name="adj1" fmla="val -5233"/>
            </a:avLst>
          </a:prstGeom>
          <a:ln>
            <a:tailEnd type="triangle"/>
          </a:ln>
        </p:spPr>
        <p:style>
          <a:lnRef idx="1">
            <a:schemeClr val="accent1"/>
          </a:lnRef>
          <a:fillRef idx="0">
            <a:schemeClr val="accent1"/>
          </a:fillRef>
          <a:effectRef idx="0">
            <a:schemeClr val="accent1"/>
          </a:effectRef>
          <a:fontRef idx="minor">
            <a:schemeClr val="tx1"/>
          </a:fontRef>
        </p:style>
      </p:cxnSp>
      <p:sp>
        <p:nvSpPr>
          <p:cNvPr id="1024" name="TextBox 1023">
            <a:extLst>
              <a:ext uri="{FF2B5EF4-FFF2-40B4-BE49-F238E27FC236}">
                <a16:creationId xmlns:a16="http://schemas.microsoft.com/office/drawing/2014/main" id="{1958DC09-7990-BBBC-C520-AF739067B071}"/>
              </a:ext>
            </a:extLst>
          </p:cNvPr>
          <p:cNvSpPr txBox="1"/>
          <p:nvPr/>
        </p:nvSpPr>
        <p:spPr>
          <a:xfrm>
            <a:off x="4251530" y="4180794"/>
            <a:ext cx="3339547" cy="461665"/>
          </a:xfrm>
          <a:prstGeom prst="rect">
            <a:avLst/>
          </a:prstGeom>
          <a:noFill/>
        </p:spPr>
        <p:txBody>
          <a:bodyPr wrap="square" rtlCol="0">
            <a:spAutoFit/>
          </a:bodyPr>
          <a:lstStyle/>
          <a:p>
            <a:r>
              <a:rPr lang="en-IN" sz="1200" b="1" i="1" dirty="0"/>
              <a:t>Subbu on-board himself as Admin for the cloud identity service of our a/c</a:t>
            </a:r>
          </a:p>
        </p:txBody>
      </p:sp>
      <p:sp>
        <p:nvSpPr>
          <p:cNvPr id="1025" name="Arrow: Right 1024">
            <a:extLst>
              <a:ext uri="{FF2B5EF4-FFF2-40B4-BE49-F238E27FC236}">
                <a16:creationId xmlns:a16="http://schemas.microsoft.com/office/drawing/2014/main" id="{6D65F8C4-8CDC-2758-A5FC-8767D4418D2B}"/>
              </a:ext>
            </a:extLst>
          </p:cNvPr>
          <p:cNvSpPr/>
          <p:nvPr/>
        </p:nvSpPr>
        <p:spPr>
          <a:xfrm>
            <a:off x="8418508" y="803138"/>
            <a:ext cx="1898377" cy="4903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Whats</a:t>
            </a:r>
            <a:r>
              <a:rPr lang="en-IN" dirty="0"/>
              <a:t> the mail?</a:t>
            </a:r>
          </a:p>
        </p:txBody>
      </p:sp>
      <p:sp>
        <p:nvSpPr>
          <p:cNvPr id="1029" name="TextBox 1028">
            <a:extLst>
              <a:ext uri="{FF2B5EF4-FFF2-40B4-BE49-F238E27FC236}">
                <a16:creationId xmlns:a16="http://schemas.microsoft.com/office/drawing/2014/main" id="{FF926F29-13C9-C668-A85A-6941A0F9F6E5}"/>
              </a:ext>
            </a:extLst>
          </p:cNvPr>
          <p:cNvSpPr txBox="1"/>
          <p:nvPr/>
        </p:nvSpPr>
        <p:spPr>
          <a:xfrm>
            <a:off x="9828212" y="3195353"/>
            <a:ext cx="2444750" cy="307777"/>
          </a:xfrm>
          <a:prstGeom prst="rect">
            <a:avLst/>
          </a:prstGeom>
          <a:noFill/>
        </p:spPr>
        <p:txBody>
          <a:bodyPr wrap="square">
            <a:spAutoFit/>
          </a:bodyPr>
          <a:lstStyle/>
          <a:p>
            <a:r>
              <a:rPr lang="en-IN" dirty="0"/>
              <a:t>dimogo1504@netoiu.com</a:t>
            </a:r>
          </a:p>
        </p:txBody>
      </p:sp>
      <p:cxnSp>
        <p:nvCxnSpPr>
          <p:cNvPr id="1033" name="Connector: Curved 1032">
            <a:extLst>
              <a:ext uri="{FF2B5EF4-FFF2-40B4-BE49-F238E27FC236}">
                <a16:creationId xmlns:a16="http://schemas.microsoft.com/office/drawing/2014/main" id="{7009EFFC-F275-5A0A-82AE-A0BAA3E56F65}"/>
              </a:ext>
            </a:extLst>
          </p:cNvPr>
          <p:cNvCxnSpPr>
            <a:stCxn id="53" idx="2"/>
            <a:endCxn id="52" idx="0"/>
          </p:cNvCxnSpPr>
          <p:nvPr/>
        </p:nvCxnSpPr>
        <p:spPr>
          <a:xfrm rot="16200000" flipH="1">
            <a:off x="3818102" y="3791839"/>
            <a:ext cx="772301" cy="3770243"/>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5" name="TextBox 1034">
            <a:extLst>
              <a:ext uri="{FF2B5EF4-FFF2-40B4-BE49-F238E27FC236}">
                <a16:creationId xmlns:a16="http://schemas.microsoft.com/office/drawing/2014/main" id="{F2D517FF-12C0-6FE1-8FBA-244BBBF08DA0}"/>
              </a:ext>
            </a:extLst>
          </p:cNvPr>
          <p:cNvSpPr txBox="1"/>
          <p:nvPr/>
        </p:nvSpPr>
        <p:spPr>
          <a:xfrm>
            <a:off x="3717302" y="5364528"/>
            <a:ext cx="1868556" cy="646331"/>
          </a:xfrm>
          <a:prstGeom prst="rect">
            <a:avLst/>
          </a:prstGeom>
          <a:noFill/>
        </p:spPr>
        <p:txBody>
          <a:bodyPr wrap="square" rtlCol="0">
            <a:spAutoFit/>
          </a:bodyPr>
          <a:lstStyle/>
          <a:p>
            <a:r>
              <a:rPr lang="en-IN" sz="1200" b="1" i="1" dirty="0"/>
              <a:t>A trust needs to be established with CIS and our BTP</a:t>
            </a:r>
          </a:p>
        </p:txBody>
      </p:sp>
      <p:cxnSp>
        <p:nvCxnSpPr>
          <p:cNvPr id="1039" name="Connector: Curved 1038">
            <a:extLst>
              <a:ext uri="{FF2B5EF4-FFF2-40B4-BE49-F238E27FC236}">
                <a16:creationId xmlns:a16="http://schemas.microsoft.com/office/drawing/2014/main" id="{127F16E8-65D6-4BB5-583E-538E95E974D5}"/>
              </a:ext>
            </a:extLst>
          </p:cNvPr>
          <p:cNvCxnSpPr>
            <a:cxnSpLocks/>
          </p:cNvCxnSpPr>
          <p:nvPr/>
        </p:nvCxnSpPr>
        <p:spPr>
          <a:xfrm rot="16200000" flipH="1">
            <a:off x="1167057" y="2084227"/>
            <a:ext cx="3681093" cy="2960307"/>
          </a:xfrm>
          <a:prstGeom prst="curvedConnector3">
            <a:avLst>
              <a:gd name="adj1" fmla="val 89676"/>
            </a:avLst>
          </a:prstGeom>
          <a:ln>
            <a:tailEnd type="triangle"/>
          </a:ln>
        </p:spPr>
        <p:style>
          <a:lnRef idx="1">
            <a:schemeClr val="accent6"/>
          </a:lnRef>
          <a:fillRef idx="0">
            <a:schemeClr val="accent6"/>
          </a:fillRef>
          <a:effectRef idx="0">
            <a:schemeClr val="accent6"/>
          </a:effectRef>
          <a:fontRef idx="minor">
            <a:schemeClr val="tx1"/>
          </a:fontRef>
        </p:style>
      </p:cxnSp>
      <p:sp>
        <p:nvSpPr>
          <p:cNvPr id="1045" name="Rectangle: Rounded Corners 1044">
            <a:extLst>
              <a:ext uri="{FF2B5EF4-FFF2-40B4-BE49-F238E27FC236}">
                <a16:creationId xmlns:a16="http://schemas.microsoft.com/office/drawing/2014/main" id="{AFBBFC60-7E63-4158-82D9-791878DFFBE3}"/>
              </a:ext>
            </a:extLst>
          </p:cNvPr>
          <p:cNvSpPr/>
          <p:nvPr/>
        </p:nvSpPr>
        <p:spPr>
          <a:xfrm>
            <a:off x="2794000" y="2938668"/>
            <a:ext cx="3829050" cy="9332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Build </a:t>
            </a:r>
            <a:r>
              <a:rPr lang="en-IN" dirty="0" err="1"/>
              <a:t>Workzone</a:t>
            </a:r>
            <a:endParaRPr lang="en-IN" dirty="0"/>
          </a:p>
          <a:p>
            <a:pPr algn="ctr"/>
            <a:r>
              <a:rPr lang="en-IN" dirty="0" err="1"/>
              <a:t>cFLP</a:t>
            </a:r>
            <a:r>
              <a:rPr lang="en-IN" dirty="0"/>
              <a:t> – Single Entry point for end users to access apps</a:t>
            </a:r>
          </a:p>
        </p:txBody>
      </p:sp>
      <p:cxnSp>
        <p:nvCxnSpPr>
          <p:cNvPr id="1047" name="Connector: Elbow 1046">
            <a:extLst>
              <a:ext uri="{FF2B5EF4-FFF2-40B4-BE49-F238E27FC236}">
                <a16:creationId xmlns:a16="http://schemas.microsoft.com/office/drawing/2014/main" id="{18A1EB0C-141D-D1A8-1E10-2D897D582F61}"/>
              </a:ext>
            </a:extLst>
          </p:cNvPr>
          <p:cNvCxnSpPr>
            <a:cxnSpLocks/>
          </p:cNvCxnSpPr>
          <p:nvPr/>
        </p:nvCxnSpPr>
        <p:spPr>
          <a:xfrm>
            <a:off x="98130" y="1681068"/>
            <a:ext cx="2909473" cy="124239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48" name="TextBox 1047">
            <a:extLst>
              <a:ext uri="{FF2B5EF4-FFF2-40B4-BE49-F238E27FC236}">
                <a16:creationId xmlns:a16="http://schemas.microsoft.com/office/drawing/2014/main" id="{3FE7EC89-9AC1-3A3D-2265-D0B50621DA7F}"/>
              </a:ext>
            </a:extLst>
          </p:cNvPr>
          <p:cNvSpPr txBox="1"/>
          <p:nvPr/>
        </p:nvSpPr>
        <p:spPr>
          <a:xfrm>
            <a:off x="2017139" y="2149115"/>
            <a:ext cx="1868556" cy="461665"/>
          </a:xfrm>
          <a:prstGeom prst="rect">
            <a:avLst/>
          </a:prstGeom>
          <a:noFill/>
        </p:spPr>
        <p:txBody>
          <a:bodyPr wrap="square" rtlCol="0">
            <a:spAutoFit/>
          </a:bodyPr>
          <a:lstStyle/>
          <a:p>
            <a:r>
              <a:rPr lang="en-IN" sz="1200" b="1" i="1" dirty="0"/>
              <a:t>Subscribe to Build </a:t>
            </a:r>
            <a:r>
              <a:rPr lang="en-IN" sz="1200" b="1" i="1" dirty="0" err="1"/>
              <a:t>Workzone</a:t>
            </a:r>
            <a:endParaRPr lang="en-IN" sz="1200" b="1" i="1" dirty="0"/>
          </a:p>
        </p:txBody>
      </p:sp>
    </p:spTree>
    <p:extLst>
      <p:ext uri="{BB962C8B-B14F-4D97-AF65-F5344CB8AC3E}">
        <p14:creationId xmlns:p14="http://schemas.microsoft.com/office/powerpoint/2010/main" val="2477279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SAP Build – An introduction</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2050" name="Picture 2" descr="SAP Build Work Zone: SAP's no-code offering for bu... - SAP Community">
            <a:extLst>
              <a:ext uri="{FF2B5EF4-FFF2-40B4-BE49-F238E27FC236}">
                <a16:creationId xmlns:a16="http://schemas.microsoft.com/office/drawing/2014/main" id="{327A12B3-0A45-F879-7B0E-42A136DD44F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6208"/>
          <a:stretch/>
        </p:blipFill>
        <p:spPr bwMode="auto">
          <a:xfrm>
            <a:off x="510883" y="1380806"/>
            <a:ext cx="11383047" cy="4749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673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SAP Build Work zone – Key benefits</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1026" name="Picture 2" descr="What Is SAP Build Work Zone, standard edition? | SAP Help Portal">
            <a:extLst>
              <a:ext uri="{FF2B5EF4-FFF2-40B4-BE49-F238E27FC236}">
                <a16:creationId xmlns:a16="http://schemas.microsoft.com/office/drawing/2014/main" id="{4AB61E76-F13F-A503-D64A-8E43D217745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3237"/>
          <a:stretch/>
        </p:blipFill>
        <p:spPr bwMode="auto">
          <a:xfrm>
            <a:off x="287932" y="970353"/>
            <a:ext cx="11468100" cy="5041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540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Additional configuration before deployment</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sp>
        <p:nvSpPr>
          <p:cNvPr id="2" name="Google Shape;1802;p101">
            <a:extLst>
              <a:ext uri="{FF2B5EF4-FFF2-40B4-BE49-F238E27FC236}">
                <a16:creationId xmlns:a16="http://schemas.microsoft.com/office/drawing/2014/main" id="{8B3FD0C9-A6F1-D57E-7DFB-8B28B8A56BF3}"/>
              </a:ext>
            </a:extLst>
          </p:cNvPr>
          <p:cNvSpPr txBox="1"/>
          <p:nvPr/>
        </p:nvSpPr>
        <p:spPr>
          <a:xfrm>
            <a:off x="224979" y="788088"/>
            <a:ext cx="11806237" cy="3108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a:t>
            </a:r>
            <a:r>
              <a:rPr lang="en-US" sz="1400" b="0" dirty="0" err="1">
                <a:solidFill>
                  <a:schemeClr val="tx1"/>
                </a:solidFill>
                <a:latin typeface="Consolas"/>
                <a:ea typeface="Consolas"/>
                <a:cs typeface="Consolas"/>
                <a:sym typeface="Consolas"/>
              </a:rPr>
              <a:t>xsappname</a:t>
            </a:r>
            <a:r>
              <a:rPr lang="en-US" sz="1400" b="0" dirty="0">
                <a:solidFill>
                  <a:schemeClr val="tx1"/>
                </a:solidFill>
                <a:latin typeface="Consolas"/>
                <a:ea typeface="Consolas"/>
                <a:cs typeface="Consolas"/>
                <a:sym typeface="Consolas"/>
              </a:rPr>
              <a:t>": "</a:t>
            </a:r>
            <a:r>
              <a:rPr lang="en-US" sz="1400" b="0" dirty="0" err="1">
                <a:solidFill>
                  <a:schemeClr val="tx1"/>
                </a:solidFill>
                <a:latin typeface="Consolas"/>
                <a:ea typeface="Consolas"/>
                <a:cs typeface="Consolas"/>
                <a:sym typeface="Consolas"/>
              </a:rPr>
              <a:t>comatstproctravelprocessorapp</a:t>
            </a:r>
            <a:r>
              <a:rPr lang="en-US" sz="1400" b="0" dirty="0">
                <a:solidFill>
                  <a:schemeClr val="tx1"/>
                </a:solidFill>
                <a:latin typeface="Consolas"/>
                <a:ea typeface="Consolas"/>
                <a:cs typeface="Consolas"/>
                <a:sym typeface="Consolas"/>
              </a:rPr>
              <a:t>",</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"tenant-mode": "dedicated",</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"description": "Security profile of called application",</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"scopes":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"role-templates":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"oauth2-configuration":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"token-validity": 60000,</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"refresh-token-validity": 2592000,</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"redirect-</a:t>
            </a:r>
            <a:r>
              <a:rPr lang="en-US" sz="1400" b="0" dirty="0" err="1">
                <a:solidFill>
                  <a:schemeClr val="tx1"/>
                </a:solidFill>
                <a:latin typeface="Consolas"/>
                <a:ea typeface="Consolas"/>
                <a:cs typeface="Consolas"/>
                <a:sym typeface="Consolas"/>
              </a:rPr>
              <a:t>uris</a:t>
            </a:r>
            <a:r>
              <a:rPr lang="en-US" sz="1400" b="0" dirty="0">
                <a:solidFill>
                  <a:schemeClr val="tx1"/>
                </a:solidFill>
                <a:latin typeface="Consolas"/>
                <a:ea typeface="Consolas"/>
                <a:cs typeface="Consolas"/>
                <a:sym typeface="Consolas"/>
              </a:rPr>
              <a:t>":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"https://.cfapps.us10-001.hana.ondemand.com/login/callback"</a:t>
            </a:r>
            <a:endParaRPr sz="1400" b="0" dirty="0">
              <a:solidFill>
                <a:schemeClr val="tx1"/>
              </a:solidFill>
              <a:latin typeface="Consolas"/>
              <a:ea typeface="Consolas"/>
              <a:cs typeface="Consolas"/>
              <a:sym typeface="Consolas"/>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a:t>
            </a:r>
            <a:endParaRPr dirty="0">
              <a:solidFill>
                <a:schemeClr val="tx1"/>
              </a:solidFill>
            </a:endParaRPr>
          </a:p>
        </p:txBody>
      </p:sp>
    </p:spTree>
    <p:extLst>
      <p:ext uri="{BB962C8B-B14F-4D97-AF65-F5344CB8AC3E}">
        <p14:creationId xmlns:p14="http://schemas.microsoft.com/office/powerpoint/2010/main" val="3487890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102"/>
          <p:cNvSpPr txBox="1"/>
          <p:nvPr/>
        </p:nvSpPr>
        <p:spPr>
          <a:xfrm>
            <a:off x="191294" y="889843"/>
            <a:ext cx="11806237" cy="507831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Create the Dev space in BAS tool</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Open the bas tool and open folder to choose projects folder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have to open terminal and login to </a:t>
            </a:r>
            <a:r>
              <a:rPr lang="en-US" sz="1800" dirty="0" err="1">
                <a:solidFill>
                  <a:schemeClr val="dk1"/>
                </a:solidFill>
                <a:latin typeface="Calibri"/>
                <a:ea typeface="Calibri"/>
                <a:cs typeface="Calibri"/>
                <a:sym typeface="Calibri"/>
              </a:rPr>
              <a:t>btp</a:t>
            </a:r>
            <a:r>
              <a:rPr lang="en-US" sz="1800" dirty="0">
                <a:solidFill>
                  <a:schemeClr val="dk1"/>
                </a:solidFill>
                <a:latin typeface="Calibri"/>
                <a:ea typeface="Calibri"/>
                <a:cs typeface="Calibri"/>
                <a:sym typeface="Calibri"/>
              </a:rPr>
              <a:t> a/c </a:t>
            </a:r>
            <a:r>
              <a:rPr lang="en-US" sz="1800" dirty="0" err="1">
                <a:solidFill>
                  <a:schemeClr val="dk1"/>
                </a:solidFill>
                <a:latin typeface="Calibri"/>
                <a:ea typeface="Calibri"/>
                <a:cs typeface="Calibri"/>
                <a:sym typeface="Calibri"/>
              </a:rPr>
              <a:t>cf</a:t>
            </a:r>
            <a:r>
              <a:rPr lang="en-US" sz="1800" dirty="0">
                <a:solidFill>
                  <a:schemeClr val="dk1"/>
                </a:solidFill>
                <a:latin typeface="Calibri"/>
                <a:ea typeface="Calibri"/>
                <a:cs typeface="Calibri"/>
                <a:sym typeface="Calibri"/>
              </a:rPr>
              <a:t> login -a https://api.cf.us10-001.hana.ondemand.com --</a:t>
            </a:r>
            <a:r>
              <a:rPr lang="en-US" sz="1800" dirty="0" err="1">
                <a:solidFill>
                  <a:schemeClr val="dk1"/>
                </a:solidFill>
                <a:latin typeface="Calibri"/>
                <a:ea typeface="Calibri"/>
                <a:cs typeface="Calibri"/>
                <a:sym typeface="Calibri"/>
              </a:rPr>
              <a:t>sso</a:t>
            </a: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Press F1 and choose open application generator to generate Fiori app of template: List Report Template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Select the system as AOC and choose our service binding name for processor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Provide app details, deployment details (</a:t>
            </a:r>
            <a:r>
              <a:rPr lang="en-US" sz="1800" dirty="0" err="1">
                <a:solidFill>
                  <a:schemeClr val="dk1"/>
                </a:solidFill>
                <a:latin typeface="Calibri"/>
                <a:ea typeface="Calibri"/>
                <a:cs typeface="Calibri"/>
                <a:sym typeface="Calibri"/>
              </a:rPr>
              <a:t>btp</a:t>
            </a:r>
            <a:r>
              <a:rPr lang="en-US" sz="1800" dirty="0">
                <a:solidFill>
                  <a:schemeClr val="dk1"/>
                </a:solidFill>
                <a:latin typeface="Calibri"/>
                <a:ea typeface="Calibri"/>
                <a:cs typeface="Calibri"/>
                <a:sym typeface="Calibri"/>
              </a:rPr>
              <a:t>), launchpad details and create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Right click on </a:t>
            </a:r>
            <a:r>
              <a:rPr lang="en-US" sz="1800" dirty="0" err="1">
                <a:solidFill>
                  <a:schemeClr val="dk1"/>
                </a:solidFill>
                <a:latin typeface="Calibri"/>
                <a:ea typeface="Calibri"/>
                <a:cs typeface="Calibri"/>
                <a:sym typeface="Calibri"/>
              </a:rPr>
              <a:t>mta.yml</a:t>
            </a:r>
            <a:r>
              <a:rPr lang="en-US" sz="1800" dirty="0">
                <a:solidFill>
                  <a:schemeClr val="dk1"/>
                </a:solidFill>
                <a:latin typeface="Calibri"/>
                <a:ea typeface="Calibri"/>
                <a:cs typeface="Calibri"/>
                <a:sym typeface="Calibri"/>
              </a:rPr>
              <a:t> and build MTA </a:t>
            </a:r>
            <a:r>
              <a:rPr lang="en-US" sz="1800" dirty="0" err="1">
                <a:solidFill>
                  <a:schemeClr val="dk1"/>
                </a:solidFill>
                <a:latin typeface="Calibri"/>
                <a:ea typeface="Calibri"/>
                <a:cs typeface="Calibri"/>
                <a:sym typeface="Calibri"/>
              </a:rPr>
              <a:t>archieve</a:t>
            </a: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Choose F1, open application info and select deploy</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Assign the roles of our Launchpad service to our user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Open SAP Build </a:t>
            </a:r>
            <a:r>
              <a:rPr lang="en-US" sz="1800" dirty="0" err="1">
                <a:solidFill>
                  <a:schemeClr val="dk1"/>
                </a:solidFill>
                <a:latin typeface="Calibri"/>
                <a:ea typeface="Calibri"/>
                <a:cs typeface="Calibri"/>
                <a:sym typeface="Calibri"/>
              </a:rPr>
              <a:t>workzone</a:t>
            </a:r>
            <a:r>
              <a:rPr lang="en-US" sz="1800" dirty="0">
                <a:solidFill>
                  <a:schemeClr val="dk1"/>
                </a:solidFill>
                <a:latin typeface="Calibri"/>
                <a:ea typeface="Calibri"/>
                <a:cs typeface="Calibri"/>
                <a:sym typeface="Calibri"/>
              </a:rPr>
              <a:t> and create a site with name </a:t>
            </a:r>
            <a:r>
              <a:rPr lang="en-US" sz="1800" dirty="0" err="1">
                <a:solidFill>
                  <a:schemeClr val="dk1"/>
                </a:solidFill>
                <a:latin typeface="Calibri"/>
                <a:ea typeface="Calibri"/>
                <a:cs typeface="Calibri"/>
                <a:sym typeface="Calibri"/>
              </a:rPr>
              <a:t>mylaunchpad</a:t>
            </a: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Go to channel manager and refresh the apps which are stored in html5-repository</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Go to content manager and choose content explorer and pull the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Create a catalog and a group and add our app to them</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Go to everyone role and assign the app to the role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Open the site to test our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Repeat the same steps if there is a change in the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need to create a </a:t>
            </a:r>
            <a:r>
              <a:rPr lang="en-US" sz="1800" dirty="0" err="1">
                <a:solidFill>
                  <a:schemeClr val="dk1"/>
                </a:solidFill>
                <a:latin typeface="Calibri"/>
                <a:ea typeface="Calibri"/>
                <a:cs typeface="Calibri"/>
                <a:sym typeface="Calibri"/>
              </a:rPr>
              <a:t>git</a:t>
            </a:r>
            <a:r>
              <a:rPr lang="en-US" sz="1800" dirty="0">
                <a:solidFill>
                  <a:schemeClr val="dk1"/>
                </a:solidFill>
                <a:latin typeface="Calibri"/>
                <a:ea typeface="Calibri"/>
                <a:cs typeface="Calibri"/>
                <a:sym typeface="Calibri"/>
              </a:rPr>
              <a:t> repository and push our app code (backup)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Register a web hook and use the same in CI CD service so that the application will deploy automatically to BTP cloud</a:t>
            </a:r>
            <a:endParaRPr dirty="0"/>
          </a:p>
        </p:txBody>
      </p:sp>
      <p:sp>
        <p:nvSpPr>
          <p:cNvPr id="1812" name="Google Shape;1812;p102"/>
          <p:cNvSpPr txBox="1"/>
          <p:nvPr/>
        </p:nvSpPr>
        <p:spPr>
          <a:xfrm>
            <a:off x="191294" y="96431"/>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How did Anubhav build and deploy fiori</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7"/>
        <p:cNvGrpSpPr/>
        <p:nvPr/>
      </p:nvGrpSpPr>
      <p:grpSpPr>
        <a:xfrm>
          <a:off x="0" y="0"/>
          <a:ext cx="0" cy="0"/>
          <a:chOff x="0" y="0"/>
          <a:chExt cx="0" cy="0"/>
        </a:xfrm>
      </p:grpSpPr>
      <p:sp>
        <p:nvSpPr>
          <p:cNvPr id="1909" name="Google Shape;1909;p108"/>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Git is a source code repository management system, git hub is a repository on internet. We interact with </a:t>
            </a:r>
            <a:r>
              <a:rPr lang="en-US" sz="1800" dirty="0" err="1">
                <a:solidFill>
                  <a:schemeClr val="dk1"/>
                </a:solidFill>
                <a:latin typeface="Calibri"/>
                <a:ea typeface="Calibri"/>
                <a:cs typeface="Calibri"/>
                <a:sym typeface="Calibri"/>
              </a:rPr>
              <a:t>github</a:t>
            </a:r>
            <a:r>
              <a:rPr lang="en-US" sz="1800" dirty="0">
                <a:solidFill>
                  <a:schemeClr val="dk1"/>
                </a:solidFill>
                <a:latin typeface="Calibri"/>
                <a:ea typeface="Calibri"/>
                <a:cs typeface="Calibri"/>
                <a:sym typeface="Calibri"/>
              </a:rPr>
              <a:t> using git software. If I want to take a backup of all our code which we created in AOC system, git is a great choice. This way we can also export import our code between cloud and on-premise system.</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For cloud system, we use git plugin in eclipse which is provided by SAP. The installation was covered in 3</a:t>
            </a:r>
            <a:r>
              <a:rPr lang="en-US" sz="1800" baseline="30000" dirty="0">
                <a:solidFill>
                  <a:schemeClr val="dk1"/>
                </a:solidFill>
                <a:latin typeface="Calibri"/>
                <a:ea typeface="Calibri"/>
                <a:cs typeface="Calibri"/>
                <a:sym typeface="Calibri"/>
              </a:rPr>
              <a:t>rd</a:t>
            </a:r>
            <a:r>
              <a:rPr lang="en-US" sz="1800" dirty="0">
                <a:solidFill>
                  <a:schemeClr val="dk1"/>
                </a:solidFill>
                <a:latin typeface="Calibri"/>
                <a:ea typeface="Calibri"/>
                <a:cs typeface="Calibri"/>
                <a:sym typeface="Calibri"/>
              </a:rPr>
              <a:t> session.</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Steps: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We need to add the plugin for </a:t>
            </a:r>
            <a:r>
              <a:rPr lang="en-US" sz="1800" dirty="0" err="1">
                <a:solidFill>
                  <a:schemeClr val="dk1"/>
                </a:solidFill>
                <a:latin typeface="Calibri"/>
                <a:ea typeface="Calibri"/>
                <a:cs typeface="Calibri"/>
                <a:sym typeface="Calibri"/>
              </a:rPr>
              <a:t>abap</a:t>
            </a:r>
            <a:r>
              <a:rPr lang="en-US" sz="1800" dirty="0">
                <a:solidFill>
                  <a:schemeClr val="dk1"/>
                </a:solidFill>
                <a:latin typeface="Calibri"/>
                <a:ea typeface="Calibri"/>
                <a:cs typeface="Calibri"/>
                <a:sym typeface="Calibri"/>
              </a:rPr>
              <a:t> git in ADT - </a:t>
            </a:r>
            <a:r>
              <a:rPr lang="en-US" sz="1400" b="0" i="0" u="sng" dirty="0">
                <a:solidFill>
                  <a:srgbClr val="E6EDF3"/>
                </a:solidFill>
                <a:latin typeface="Arial"/>
                <a:ea typeface="Arial"/>
                <a:cs typeface="Arial"/>
                <a:sym typeface="Arial"/>
                <a:hlinkClick r:id="rId3">
                  <a:extLst>
                    <a:ext uri="{A12FA001-AC4F-418D-AE19-62706E023703}">
                      <ahyp:hlinkClr xmlns:ahyp="http://schemas.microsoft.com/office/drawing/2018/hyperlinkcolor" val="tx"/>
                    </a:ext>
                  </a:extLst>
                </a:hlinkClick>
              </a:rPr>
              <a:t>http://eclipse.abapgit.org/updatesite/</a:t>
            </a:r>
            <a:endParaRPr sz="1400" b="0" i="0" dirty="0">
              <a:solidFill>
                <a:srgbClr val="E6EDF3"/>
              </a:solidFill>
              <a:latin typeface="Arial"/>
              <a:ea typeface="Arial"/>
              <a:cs typeface="Arial"/>
              <a:sym typeface="Arial"/>
            </a:endParaRPr>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a:t>
            </a:r>
            <a:r>
              <a:rPr lang="en-US" sz="1800" dirty="0" err="1">
                <a:solidFill>
                  <a:schemeClr val="dk1"/>
                </a:solidFill>
                <a:latin typeface="Calibri"/>
                <a:ea typeface="Calibri"/>
                <a:cs typeface="Calibri"/>
                <a:sym typeface="Calibri"/>
              </a:rPr>
              <a:t>github</a:t>
            </a:r>
            <a:r>
              <a:rPr lang="en-US" sz="1800" dirty="0">
                <a:solidFill>
                  <a:schemeClr val="dk1"/>
                </a:solidFill>
                <a:latin typeface="Calibri"/>
                <a:ea typeface="Calibri"/>
                <a:cs typeface="Calibri"/>
                <a:sym typeface="Calibri"/>
              </a:rPr>
              <a:t> account and add a PAT token under developer setting</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repository in git hub</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Click on Add to link a repository and paste </a:t>
            </a:r>
            <a:r>
              <a:rPr lang="en-US" sz="1800" dirty="0" err="1">
                <a:solidFill>
                  <a:schemeClr val="dk1"/>
                </a:solidFill>
                <a:latin typeface="Calibri"/>
                <a:ea typeface="Calibri"/>
                <a:cs typeface="Calibri"/>
                <a:sym typeface="Calibri"/>
              </a:rPr>
              <a:t>url</a:t>
            </a:r>
            <a:r>
              <a:rPr lang="en-US" sz="1800" dirty="0">
                <a:solidFill>
                  <a:schemeClr val="dk1"/>
                </a:solidFill>
                <a:latin typeface="Calibri"/>
                <a:ea typeface="Calibri"/>
                <a:cs typeface="Calibri"/>
                <a:sym typeface="Calibri"/>
              </a:rPr>
              <a:t> from step 3</a:t>
            </a:r>
            <a:endParaRPr dirty="0"/>
          </a:p>
          <a:p>
            <a:pPr marL="342900" marR="0" lvl="0" indent="-228600" algn="l" rtl="0">
              <a:spcBef>
                <a:spcPts val="0"/>
              </a:spcBef>
              <a:spcAft>
                <a:spcPts val="0"/>
              </a:spcAft>
              <a:buClr>
                <a:schemeClr val="dk1"/>
              </a:buClr>
              <a:buSzPts val="1800"/>
              <a:buFont typeface="Calibri"/>
              <a:buNone/>
            </a:pPr>
            <a:endParaRPr sz="1800" dirty="0">
              <a:solidFill>
                <a:schemeClr val="dk1"/>
              </a:solidFill>
              <a:latin typeface="Calibri"/>
              <a:ea typeface="Calibri"/>
              <a:cs typeface="Calibri"/>
              <a:sym typeface="Calibri"/>
            </a:endParaRPr>
          </a:p>
        </p:txBody>
      </p:sp>
      <p:sp>
        <p:nvSpPr>
          <p:cNvPr id="1910" name="Google Shape;1910;p108"/>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err="1">
                <a:solidFill>
                  <a:srgbClr val="FFC000"/>
                </a:solidFill>
                <a:latin typeface="Cooper Black" panose="0208090404030B020404" pitchFamily="18" charset="0"/>
                <a:ea typeface="Corben"/>
                <a:cs typeface="Corben"/>
                <a:sym typeface="Corben"/>
              </a:rPr>
              <a:t>Git</a:t>
            </a:r>
            <a:r>
              <a:rPr lang="en-US" sz="3599" dirty="0">
                <a:solidFill>
                  <a:srgbClr val="FFC000"/>
                </a:solidFill>
                <a:latin typeface="Cooper Black" panose="0208090404030B020404" pitchFamily="18" charset="0"/>
                <a:ea typeface="Corben"/>
                <a:cs typeface="Corben"/>
                <a:sym typeface="Corben"/>
              </a:rPr>
              <a:t> and ABAP on </a:t>
            </a:r>
            <a:r>
              <a:rPr lang="en-US" sz="3599" dirty="0" err="1">
                <a:solidFill>
                  <a:srgbClr val="FFC000"/>
                </a:solidFill>
                <a:latin typeface="Cooper Black" panose="0208090404030B020404" pitchFamily="18" charset="0"/>
                <a:ea typeface="Corben"/>
                <a:cs typeface="Corben"/>
                <a:sym typeface="Corben"/>
              </a:rPr>
              <a:t>git</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solidFill>
                  <a:schemeClr val="accent1"/>
                </a:solidFill>
              </a:rPr>
              <a:t>Git and Git HUB</a:t>
            </a:r>
          </a:p>
        </p:txBody>
      </p:sp>
      <p:pic>
        <p:nvPicPr>
          <p:cNvPr id="47" name="Picture 46">
            <a:extLst>
              <a:ext uri="{FF2B5EF4-FFF2-40B4-BE49-F238E27FC236}">
                <a16:creationId xmlns:a16="http://schemas.microsoft.com/office/drawing/2014/main" id="{56007C54-3524-9466-6672-46E876D55D02}"/>
              </a:ext>
            </a:extLst>
          </p:cNvPr>
          <p:cNvPicPr>
            <a:picLocks noChangeAspect="1"/>
          </p:cNvPicPr>
          <p:nvPr/>
        </p:nvPicPr>
        <p:blipFill>
          <a:blip r:embed="rId3"/>
          <a:stretch>
            <a:fillRect/>
          </a:stretch>
        </p:blipFill>
        <p:spPr>
          <a:xfrm>
            <a:off x="477787" y="980728"/>
            <a:ext cx="10969943" cy="5519564"/>
          </a:xfrm>
          <a:prstGeom prst="rect">
            <a:avLst/>
          </a:prstGeom>
        </p:spPr>
      </p:pic>
    </p:spTree>
    <p:extLst>
      <p:ext uri="{BB962C8B-B14F-4D97-AF65-F5344CB8AC3E}">
        <p14:creationId xmlns:p14="http://schemas.microsoft.com/office/powerpoint/2010/main" val="1145430302"/>
      </p:ext>
    </p:extLst>
  </p:cSld>
  <p:clrMapOvr>
    <a:overrideClrMapping bg1="lt1" tx1="dk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FF632-0B89-F39A-3973-4D2397F81772}"/>
            </a:ext>
          </a:extLst>
        </p:cNvPr>
        <p:cNvGrpSpPr/>
        <p:nvPr/>
      </p:nvGrpSpPr>
      <p:grpSpPr>
        <a:xfrm>
          <a:off x="0" y="0"/>
          <a:ext cx="0" cy="0"/>
          <a:chOff x="0" y="0"/>
          <a:chExt cx="0" cy="0"/>
        </a:xfrm>
      </p:grpSpPr>
      <p:pic>
        <p:nvPicPr>
          <p:cNvPr id="1026" name="Picture 2" descr="Male user avatar icon in flat design | Premium Vector">
            <a:extLst>
              <a:ext uri="{FF2B5EF4-FFF2-40B4-BE49-F238E27FC236}">
                <a16:creationId xmlns:a16="http://schemas.microsoft.com/office/drawing/2014/main" id="{937935F4-8CC6-B54E-ADCA-C919E68618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49" y="0"/>
            <a:ext cx="1492042" cy="14920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A04D779-33F7-5288-B20F-79D7F451017D}"/>
              </a:ext>
            </a:extLst>
          </p:cNvPr>
          <p:cNvSpPr txBox="1"/>
          <p:nvPr/>
        </p:nvSpPr>
        <p:spPr>
          <a:xfrm>
            <a:off x="509036" y="1492042"/>
            <a:ext cx="1266755" cy="523220"/>
          </a:xfrm>
          <a:prstGeom prst="rect">
            <a:avLst/>
          </a:prstGeom>
          <a:noFill/>
        </p:spPr>
        <p:txBody>
          <a:bodyPr wrap="square" rtlCol="0">
            <a:spAutoFit/>
          </a:bodyPr>
          <a:lstStyle/>
          <a:p>
            <a:pPr algn="ctr"/>
            <a:r>
              <a:rPr lang="en-IN" b="1" dirty="0"/>
              <a:t>BTP Admin</a:t>
            </a:r>
          </a:p>
          <a:p>
            <a:pPr algn="ctr"/>
            <a:r>
              <a:rPr lang="en-IN" b="1" dirty="0"/>
              <a:t>Anubhav</a:t>
            </a:r>
          </a:p>
        </p:txBody>
      </p:sp>
      <p:pic>
        <p:nvPicPr>
          <p:cNvPr id="1028" name="Picture 4" descr="Software developer - Free user icons">
            <a:extLst>
              <a:ext uri="{FF2B5EF4-FFF2-40B4-BE49-F238E27FC236}">
                <a16:creationId xmlns:a16="http://schemas.microsoft.com/office/drawing/2014/main" id="{83F29AB6-5D3E-F888-2D41-18B83AA0F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6657" y="119029"/>
            <a:ext cx="1394791" cy="139479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4B60D24-3AC2-50FE-D7AA-C73ED842F607}"/>
              </a:ext>
            </a:extLst>
          </p:cNvPr>
          <p:cNvSpPr txBox="1"/>
          <p:nvPr/>
        </p:nvSpPr>
        <p:spPr>
          <a:xfrm>
            <a:off x="3070674" y="1513820"/>
            <a:ext cx="1266755" cy="523220"/>
          </a:xfrm>
          <a:prstGeom prst="rect">
            <a:avLst/>
          </a:prstGeom>
          <a:noFill/>
        </p:spPr>
        <p:txBody>
          <a:bodyPr wrap="square" rtlCol="0">
            <a:spAutoFit/>
          </a:bodyPr>
          <a:lstStyle/>
          <a:p>
            <a:pPr algn="ctr"/>
            <a:r>
              <a:rPr lang="en-IN" b="1" dirty="0"/>
              <a:t>Developer</a:t>
            </a:r>
          </a:p>
          <a:p>
            <a:pPr algn="ctr"/>
            <a:r>
              <a:rPr lang="en-IN" b="1" dirty="0"/>
              <a:t>Raj Shetty</a:t>
            </a:r>
          </a:p>
        </p:txBody>
      </p:sp>
      <p:pic>
        <p:nvPicPr>
          <p:cNvPr id="1032" name="Picture 8" descr="Fitness, User, Computer Software, Skin, User Interface, User Profile, End  User, Purple transparent background PNG clipart | HiClipart">
            <a:extLst>
              <a:ext uri="{FF2B5EF4-FFF2-40B4-BE49-F238E27FC236}">
                <a16:creationId xmlns:a16="http://schemas.microsoft.com/office/drawing/2014/main" id="{EB236143-7B16-3A2A-B3BC-99908A1AA5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1551" y="271668"/>
            <a:ext cx="1424609" cy="14246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99A3E4-0FFA-D455-2D47-DF5470E1D834}"/>
              </a:ext>
            </a:extLst>
          </p:cNvPr>
          <p:cNvSpPr txBox="1"/>
          <p:nvPr/>
        </p:nvSpPr>
        <p:spPr>
          <a:xfrm>
            <a:off x="10413034" y="1753652"/>
            <a:ext cx="1266755" cy="523220"/>
          </a:xfrm>
          <a:prstGeom prst="rect">
            <a:avLst/>
          </a:prstGeom>
          <a:noFill/>
        </p:spPr>
        <p:txBody>
          <a:bodyPr wrap="square" rtlCol="0">
            <a:spAutoFit/>
          </a:bodyPr>
          <a:lstStyle/>
          <a:p>
            <a:pPr algn="ctr"/>
            <a:r>
              <a:rPr lang="en-IN" b="1" dirty="0"/>
              <a:t>Developer</a:t>
            </a:r>
          </a:p>
          <a:p>
            <a:pPr algn="ctr"/>
            <a:r>
              <a:rPr lang="en-IN" b="1" dirty="0"/>
              <a:t>Uday Shetty</a:t>
            </a:r>
          </a:p>
        </p:txBody>
      </p:sp>
      <p:pic>
        <p:nvPicPr>
          <p:cNvPr id="1034" name="Picture 10" descr="End user Flaticons Flat icon | Freepik">
            <a:extLst>
              <a:ext uri="{FF2B5EF4-FFF2-40B4-BE49-F238E27FC236}">
                <a16:creationId xmlns:a16="http://schemas.microsoft.com/office/drawing/2014/main" id="{A60518E9-E895-2A00-1D70-A9331597FB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6657" y="67433"/>
            <a:ext cx="1424609" cy="142460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C8958F2-5E4E-B9C4-E18C-98956E938B1B}"/>
              </a:ext>
            </a:extLst>
          </p:cNvPr>
          <p:cNvSpPr txBox="1"/>
          <p:nvPr/>
        </p:nvSpPr>
        <p:spPr>
          <a:xfrm>
            <a:off x="6288157" y="1492042"/>
            <a:ext cx="2517913" cy="523220"/>
          </a:xfrm>
          <a:prstGeom prst="rect">
            <a:avLst/>
          </a:prstGeom>
          <a:noFill/>
        </p:spPr>
        <p:txBody>
          <a:bodyPr wrap="square" rtlCol="0">
            <a:spAutoFit/>
          </a:bodyPr>
          <a:lstStyle/>
          <a:p>
            <a:pPr algn="ctr"/>
            <a:r>
              <a:rPr lang="en-IN" b="1" dirty="0"/>
              <a:t>Security Admin</a:t>
            </a:r>
          </a:p>
          <a:p>
            <a:pPr algn="ctr"/>
            <a:r>
              <a:rPr lang="en-IN" b="1" dirty="0" err="1"/>
              <a:t>Subu</a:t>
            </a:r>
            <a:r>
              <a:rPr lang="en-IN" b="1" dirty="0"/>
              <a:t> Swamy</a:t>
            </a:r>
          </a:p>
        </p:txBody>
      </p:sp>
      <p:sp>
        <p:nvSpPr>
          <p:cNvPr id="9" name="Rectangle 8">
            <a:extLst>
              <a:ext uri="{FF2B5EF4-FFF2-40B4-BE49-F238E27FC236}">
                <a16:creationId xmlns:a16="http://schemas.microsoft.com/office/drawing/2014/main" id="{1C081E0A-78AE-81F6-331D-96AF69030AC1}"/>
              </a:ext>
            </a:extLst>
          </p:cNvPr>
          <p:cNvSpPr/>
          <p:nvPr/>
        </p:nvSpPr>
        <p:spPr>
          <a:xfrm>
            <a:off x="688924" y="5893841"/>
            <a:ext cx="11079990" cy="637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BTP</a:t>
            </a:r>
          </a:p>
        </p:txBody>
      </p:sp>
      <p:cxnSp>
        <p:nvCxnSpPr>
          <p:cNvPr id="11" name="Connector: Elbow 10">
            <a:extLst>
              <a:ext uri="{FF2B5EF4-FFF2-40B4-BE49-F238E27FC236}">
                <a16:creationId xmlns:a16="http://schemas.microsoft.com/office/drawing/2014/main" id="{5918A6BB-0950-32A8-F239-B0AF4A03FA68}"/>
              </a:ext>
            </a:extLst>
          </p:cNvPr>
          <p:cNvCxnSpPr/>
          <p:nvPr/>
        </p:nvCxnSpPr>
        <p:spPr>
          <a:xfrm rot="16200000" flipH="1">
            <a:off x="352598" y="2612094"/>
            <a:ext cx="2349430" cy="11993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C9E4520-9CFB-1DF7-02BE-46F4227A9F15}"/>
              </a:ext>
            </a:extLst>
          </p:cNvPr>
          <p:cNvSpPr/>
          <p:nvPr/>
        </p:nvSpPr>
        <p:spPr>
          <a:xfrm>
            <a:off x="688924" y="4408248"/>
            <a:ext cx="3048000" cy="829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Cloud Identity Service</a:t>
            </a:r>
          </a:p>
          <a:p>
            <a:pPr algn="ctr"/>
            <a:r>
              <a:rPr lang="en-IN" dirty="0"/>
              <a:t>IDP</a:t>
            </a:r>
          </a:p>
        </p:txBody>
      </p:sp>
      <p:cxnSp>
        <p:nvCxnSpPr>
          <p:cNvPr id="14" name="Connector: Elbow 13">
            <a:extLst>
              <a:ext uri="{FF2B5EF4-FFF2-40B4-BE49-F238E27FC236}">
                <a16:creationId xmlns:a16="http://schemas.microsoft.com/office/drawing/2014/main" id="{BAB294A6-0EB5-6736-5D1C-0E0C4FF94898}"/>
              </a:ext>
            </a:extLst>
          </p:cNvPr>
          <p:cNvCxnSpPr>
            <a:stCxn id="12" idx="3"/>
            <a:endCxn id="8" idx="2"/>
          </p:cNvCxnSpPr>
          <p:nvPr/>
        </p:nvCxnSpPr>
        <p:spPr>
          <a:xfrm flipV="1">
            <a:off x="3736924" y="2015262"/>
            <a:ext cx="3810190" cy="280770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866AE26-DC89-48F0-3697-21A2ED73BC7C}"/>
              </a:ext>
            </a:extLst>
          </p:cNvPr>
          <p:cNvSpPr txBox="1"/>
          <p:nvPr/>
        </p:nvSpPr>
        <p:spPr>
          <a:xfrm>
            <a:off x="3935895" y="4769712"/>
            <a:ext cx="2690191" cy="523220"/>
          </a:xfrm>
          <a:prstGeom prst="rect">
            <a:avLst/>
          </a:prstGeom>
          <a:noFill/>
        </p:spPr>
        <p:txBody>
          <a:bodyPr wrap="square" rtlCol="0">
            <a:spAutoFit/>
          </a:bodyPr>
          <a:lstStyle/>
          <a:p>
            <a:r>
              <a:rPr lang="en-IN" dirty="0"/>
              <a:t>Selects as Admin to manage users, roles, permissions</a:t>
            </a:r>
          </a:p>
        </p:txBody>
      </p:sp>
      <p:sp>
        <p:nvSpPr>
          <p:cNvPr id="16" name="TextBox 15">
            <a:extLst>
              <a:ext uri="{FF2B5EF4-FFF2-40B4-BE49-F238E27FC236}">
                <a16:creationId xmlns:a16="http://schemas.microsoft.com/office/drawing/2014/main" id="{1B733414-9E2B-FAE4-26AB-7AF4E2B05955}"/>
              </a:ext>
            </a:extLst>
          </p:cNvPr>
          <p:cNvSpPr txBox="1"/>
          <p:nvPr/>
        </p:nvSpPr>
        <p:spPr>
          <a:xfrm>
            <a:off x="717015" y="3199527"/>
            <a:ext cx="2690191" cy="307777"/>
          </a:xfrm>
          <a:prstGeom prst="rect">
            <a:avLst/>
          </a:prstGeom>
          <a:noFill/>
        </p:spPr>
        <p:txBody>
          <a:bodyPr wrap="square" rtlCol="0">
            <a:spAutoFit/>
          </a:bodyPr>
          <a:lstStyle/>
          <a:p>
            <a:r>
              <a:rPr lang="en-IN" dirty="0"/>
              <a:t>Create subscription</a:t>
            </a:r>
          </a:p>
        </p:txBody>
      </p:sp>
      <p:sp>
        <p:nvSpPr>
          <p:cNvPr id="19" name="Arrow: Left 18">
            <a:extLst>
              <a:ext uri="{FF2B5EF4-FFF2-40B4-BE49-F238E27FC236}">
                <a16:creationId xmlns:a16="http://schemas.microsoft.com/office/drawing/2014/main" id="{23CB2479-7146-F126-491E-145C6BD60557}"/>
              </a:ext>
            </a:extLst>
          </p:cNvPr>
          <p:cNvSpPr/>
          <p:nvPr/>
        </p:nvSpPr>
        <p:spPr>
          <a:xfrm>
            <a:off x="8514522" y="816424"/>
            <a:ext cx="1656521" cy="47566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register</a:t>
            </a:r>
          </a:p>
        </p:txBody>
      </p:sp>
      <p:cxnSp>
        <p:nvCxnSpPr>
          <p:cNvPr id="21" name="Connector: Elbow 20">
            <a:extLst>
              <a:ext uri="{FF2B5EF4-FFF2-40B4-BE49-F238E27FC236}">
                <a16:creationId xmlns:a16="http://schemas.microsoft.com/office/drawing/2014/main" id="{F82B9859-7B88-2E8E-DE73-1F5860D64F24}"/>
              </a:ext>
            </a:extLst>
          </p:cNvPr>
          <p:cNvCxnSpPr>
            <a:cxnSpLocks/>
          </p:cNvCxnSpPr>
          <p:nvPr/>
        </p:nvCxnSpPr>
        <p:spPr>
          <a:xfrm rot="5400000">
            <a:off x="4301463" y="1280604"/>
            <a:ext cx="2641823" cy="38131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13E1CFE-0807-3DD5-FE65-34AE5569F1B6}"/>
              </a:ext>
            </a:extLst>
          </p:cNvPr>
          <p:cNvSpPr txBox="1"/>
          <p:nvPr/>
        </p:nvSpPr>
        <p:spPr>
          <a:xfrm>
            <a:off x="3947561" y="4038135"/>
            <a:ext cx="2690191" cy="461665"/>
          </a:xfrm>
          <a:prstGeom prst="rect">
            <a:avLst/>
          </a:prstGeom>
          <a:noFill/>
        </p:spPr>
        <p:txBody>
          <a:bodyPr wrap="square" rtlCol="0">
            <a:spAutoFit/>
          </a:bodyPr>
          <a:lstStyle/>
          <a:p>
            <a:r>
              <a:rPr lang="en-IN" sz="1200" dirty="0"/>
              <a:t>Register business user </a:t>
            </a:r>
            <a:r>
              <a:rPr lang="en-IN" sz="1200" dirty="0" err="1"/>
              <a:t>uday</a:t>
            </a:r>
            <a:r>
              <a:rPr lang="en-IN" sz="1200" dirty="0"/>
              <a:t> Shetty - sasoy29360@creteanu.com</a:t>
            </a:r>
          </a:p>
        </p:txBody>
      </p:sp>
      <p:sp>
        <p:nvSpPr>
          <p:cNvPr id="26" name="TextBox 25">
            <a:extLst>
              <a:ext uri="{FF2B5EF4-FFF2-40B4-BE49-F238E27FC236}">
                <a16:creationId xmlns:a16="http://schemas.microsoft.com/office/drawing/2014/main" id="{0D3F1C84-5602-4A5D-FBED-14FEF6BFC209}"/>
              </a:ext>
            </a:extLst>
          </p:cNvPr>
          <p:cNvSpPr txBox="1"/>
          <p:nvPr/>
        </p:nvSpPr>
        <p:spPr>
          <a:xfrm>
            <a:off x="9520892" y="2180358"/>
            <a:ext cx="3125925" cy="307777"/>
          </a:xfrm>
          <a:prstGeom prst="rect">
            <a:avLst/>
          </a:prstGeom>
          <a:noFill/>
        </p:spPr>
        <p:txBody>
          <a:bodyPr wrap="square">
            <a:spAutoFit/>
          </a:bodyPr>
          <a:lstStyle/>
          <a:p>
            <a:r>
              <a:rPr lang="en-IN" dirty="0"/>
              <a:t>sasoy29360@creteanu.com</a:t>
            </a:r>
          </a:p>
        </p:txBody>
      </p:sp>
      <p:pic>
        <p:nvPicPr>
          <p:cNvPr id="28" name="Picture 27">
            <a:extLst>
              <a:ext uri="{FF2B5EF4-FFF2-40B4-BE49-F238E27FC236}">
                <a16:creationId xmlns:a16="http://schemas.microsoft.com/office/drawing/2014/main" id="{54139DF7-B1E8-EFF8-98DD-8F393A5054EA}"/>
              </a:ext>
            </a:extLst>
          </p:cNvPr>
          <p:cNvPicPr>
            <a:picLocks noChangeAspect="1"/>
          </p:cNvPicPr>
          <p:nvPr/>
        </p:nvPicPr>
        <p:blipFill>
          <a:blip r:embed="rId6"/>
          <a:stretch>
            <a:fillRect/>
          </a:stretch>
        </p:blipFill>
        <p:spPr>
          <a:xfrm>
            <a:off x="10413034" y="2504272"/>
            <a:ext cx="1497092" cy="1238601"/>
          </a:xfrm>
          <a:prstGeom prst="rect">
            <a:avLst/>
          </a:prstGeom>
        </p:spPr>
      </p:pic>
      <p:cxnSp>
        <p:nvCxnSpPr>
          <p:cNvPr id="30" name="Connector: Curved 29">
            <a:extLst>
              <a:ext uri="{FF2B5EF4-FFF2-40B4-BE49-F238E27FC236}">
                <a16:creationId xmlns:a16="http://schemas.microsoft.com/office/drawing/2014/main" id="{C5FBA3F7-918B-BC9D-7C49-4DFB7F1189BB}"/>
              </a:ext>
            </a:extLst>
          </p:cNvPr>
          <p:cNvCxnSpPr>
            <a:stCxn id="12" idx="2"/>
          </p:cNvCxnSpPr>
          <p:nvPr/>
        </p:nvCxnSpPr>
        <p:spPr>
          <a:xfrm rot="16200000" flipH="1">
            <a:off x="2153296" y="5297310"/>
            <a:ext cx="656159" cy="536902"/>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EC62DA9-B271-6498-1B13-EF49C6B83F7D}"/>
              </a:ext>
            </a:extLst>
          </p:cNvPr>
          <p:cNvSpPr txBox="1"/>
          <p:nvPr/>
        </p:nvSpPr>
        <p:spPr>
          <a:xfrm>
            <a:off x="1466902" y="5365958"/>
            <a:ext cx="1492043" cy="307777"/>
          </a:xfrm>
          <a:prstGeom prst="rect">
            <a:avLst/>
          </a:prstGeom>
          <a:noFill/>
        </p:spPr>
        <p:txBody>
          <a:bodyPr wrap="square" rtlCol="0">
            <a:spAutoFit/>
          </a:bodyPr>
          <a:lstStyle/>
          <a:p>
            <a:r>
              <a:rPr lang="en-IN" dirty="0"/>
              <a:t>Establish trust</a:t>
            </a:r>
          </a:p>
        </p:txBody>
      </p:sp>
      <p:cxnSp>
        <p:nvCxnSpPr>
          <p:cNvPr id="33" name="Connector: Elbow 32">
            <a:extLst>
              <a:ext uri="{FF2B5EF4-FFF2-40B4-BE49-F238E27FC236}">
                <a16:creationId xmlns:a16="http://schemas.microsoft.com/office/drawing/2014/main" id="{3F109CB8-DB12-D3F1-9126-CFADAE12903D}"/>
              </a:ext>
            </a:extLst>
          </p:cNvPr>
          <p:cNvCxnSpPr>
            <a:cxnSpLocks/>
            <a:stCxn id="1026" idx="1"/>
            <a:endCxn id="31" idx="1"/>
          </p:cNvCxnSpPr>
          <p:nvPr/>
        </p:nvCxnSpPr>
        <p:spPr>
          <a:xfrm rot="10800000" flipH="1" flipV="1">
            <a:off x="283748" y="746021"/>
            <a:ext cx="1183153" cy="4773826"/>
          </a:xfrm>
          <a:prstGeom prst="bentConnector3">
            <a:avLst>
              <a:gd name="adj1" fmla="val -1932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3854EF6B-3D01-B9DF-2EB8-5CF2033DCDB6}"/>
              </a:ext>
            </a:extLst>
          </p:cNvPr>
          <p:cNvSpPr/>
          <p:nvPr/>
        </p:nvSpPr>
        <p:spPr>
          <a:xfrm>
            <a:off x="3046412" y="3014283"/>
            <a:ext cx="3048000" cy="829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Build </a:t>
            </a:r>
            <a:r>
              <a:rPr lang="en-IN" dirty="0" err="1"/>
              <a:t>Workzone</a:t>
            </a:r>
            <a:endParaRPr lang="en-IN" dirty="0"/>
          </a:p>
        </p:txBody>
      </p:sp>
      <p:sp>
        <p:nvSpPr>
          <p:cNvPr id="42" name="TextBox 41">
            <a:extLst>
              <a:ext uri="{FF2B5EF4-FFF2-40B4-BE49-F238E27FC236}">
                <a16:creationId xmlns:a16="http://schemas.microsoft.com/office/drawing/2014/main" id="{8EBE8742-8B8D-E86D-B976-F42E4877315A}"/>
              </a:ext>
            </a:extLst>
          </p:cNvPr>
          <p:cNvSpPr txBox="1"/>
          <p:nvPr/>
        </p:nvSpPr>
        <p:spPr>
          <a:xfrm>
            <a:off x="1511317" y="2327686"/>
            <a:ext cx="2690191" cy="307777"/>
          </a:xfrm>
          <a:prstGeom prst="rect">
            <a:avLst/>
          </a:prstGeom>
          <a:noFill/>
        </p:spPr>
        <p:txBody>
          <a:bodyPr wrap="square" rtlCol="0">
            <a:spAutoFit/>
          </a:bodyPr>
          <a:lstStyle/>
          <a:p>
            <a:r>
              <a:rPr lang="en-IN" dirty="0"/>
              <a:t>Create subscription</a:t>
            </a:r>
          </a:p>
        </p:txBody>
      </p:sp>
      <p:cxnSp>
        <p:nvCxnSpPr>
          <p:cNvPr id="44" name="Connector: Elbow 43">
            <a:extLst>
              <a:ext uri="{FF2B5EF4-FFF2-40B4-BE49-F238E27FC236}">
                <a16:creationId xmlns:a16="http://schemas.microsoft.com/office/drawing/2014/main" id="{5C2C4454-BC23-1528-77B6-18C06F92C104}"/>
              </a:ext>
            </a:extLst>
          </p:cNvPr>
          <p:cNvCxnSpPr>
            <a:stCxn id="4" idx="2"/>
            <a:endCxn id="41" idx="0"/>
          </p:cNvCxnSpPr>
          <p:nvPr/>
        </p:nvCxnSpPr>
        <p:spPr>
          <a:xfrm rot="16200000" flipH="1">
            <a:off x="2356903" y="800773"/>
            <a:ext cx="999021" cy="342799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7D605AB-8450-8418-DE51-E01DE4133775}"/>
              </a:ext>
            </a:extLst>
          </p:cNvPr>
          <p:cNvCxnSpPr>
            <a:stCxn id="1026" idx="3"/>
          </p:cNvCxnSpPr>
          <p:nvPr/>
        </p:nvCxnSpPr>
        <p:spPr>
          <a:xfrm>
            <a:off x="1775791" y="746021"/>
            <a:ext cx="14444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A670E545-45E4-7459-0B54-F33382813D78}"/>
              </a:ext>
            </a:extLst>
          </p:cNvPr>
          <p:cNvSpPr txBox="1"/>
          <p:nvPr/>
        </p:nvSpPr>
        <p:spPr>
          <a:xfrm>
            <a:off x="1921564" y="437322"/>
            <a:ext cx="1298713" cy="738664"/>
          </a:xfrm>
          <a:prstGeom prst="rect">
            <a:avLst/>
          </a:prstGeom>
          <a:noFill/>
        </p:spPr>
        <p:txBody>
          <a:bodyPr wrap="square" rtlCol="0">
            <a:spAutoFit/>
          </a:bodyPr>
          <a:lstStyle/>
          <a:p>
            <a:r>
              <a:rPr lang="en-IN" dirty="0"/>
              <a:t>Grant access of Build </a:t>
            </a:r>
            <a:r>
              <a:rPr lang="en-IN" dirty="0" err="1"/>
              <a:t>Workzone</a:t>
            </a:r>
            <a:endParaRPr lang="en-IN" dirty="0"/>
          </a:p>
        </p:txBody>
      </p:sp>
    </p:spTree>
    <p:extLst>
      <p:ext uri="{BB962C8B-B14F-4D97-AF65-F5344CB8AC3E}">
        <p14:creationId xmlns:p14="http://schemas.microsoft.com/office/powerpoint/2010/main" val="1327572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15</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err="1">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themeOverride>
</file>

<file path=docProps/app.xml><?xml version="1.0" encoding="utf-8"?>
<Properties xmlns="http://schemas.openxmlformats.org/officeDocument/2006/extended-properties" xmlns:vt="http://schemas.openxmlformats.org/officeDocument/2006/docPropsVTypes">
  <TotalTime>3532</TotalTime>
  <Words>1511</Words>
  <Application>Microsoft Office PowerPoint</Application>
  <PresentationFormat>Custom</PresentationFormat>
  <Paragraphs>160</Paragraphs>
  <Slides>17</Slides>
  <Notes>12</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17</vt:i4>
      </vt:variant>
    </vt:vector>
  </HeadingPairs>
  <TitlesOfParts>
    <vt:vector size="31" baseType="lpstr">
      <vt:lpstr>Cooper Black</vt:lpstr>
      <vt:lpstr>Arial Black</vt:lpstr>
      <vt:lpstr>Consolas</vt:lpstr>
      <vt:lpstr>Open Sans</vt:lpstr>
      <vt:lpstr>Corben</vt:lpstr>
      <vt:lpstr>Quattrocento Sans</vt:lpstr>
      <vt:lpstr>Segoe UI Light</vt:lpstr>
      <vt:lpstr>Segoe UI</vt:lpstr>
      <vt:lpstr>Calibri</vt:lpstr>
      <vt:lpstr>Arial</vt:lpstr>
      <vt:lpstr>Cambria</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 and Git HUB</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122</cp:revision>
  <dcterms:created xsi:type="dcterms:W3CDTF">2023-10-03T21:33:12Z</dcterms:created>
  <dcterms:modified xsi:type="dcterms:W3CDTF">2026-02-25T08:05:10Z</dcterms:modified>
</cp:coreProperties>
</file>