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6"/>
  </p:notesMasterIdLst>
  <p:sldIdLst>
    <p:sldId id="256" r:id="rId4"/>
    <p:sldId id="402" r:id="rId5"/>
    <p:sldId id="276" r:id="rId6"/>
    <p:sldId id="4816" r:id="rId7"/>
    <p:sldId id="314" r:id="rId8"/>
    <p:sldId id="4820" r:id="rId9"/>
    <p:sldId id="4821" r:id="rId10"/>
    <p:sldId id="4822" r:id="rId11"/>
    <p:sldId id="4813" r:id="rId12"/>
    <p:sldId id="4817" r:id="rId13"/>
    <p:sldId id="419" r:id="rId14"/>
    <p:sldId id="409" r:id="rId15"/>
  </p:sldIdLst>
  <p:sldSz cx="12188825" cy="6858000"/>
  <p:notesSz cx="6858000" cy="9144000"/>
  <p:embeddedFontLst>
    <p:embeddedFont>
      <p:font typeface="Arial Black" panose="020B0A04020102020204" pitchFamily="34" charset="0"/>
      <p:regular r:id="rId17"/>
      <p:bold r:id="rId18"/>
    </p:embeddedFont>
    <p:embeddedFont>
      <p:font typeface="Cambria" panose="02040503050406030204" pitchFamily="18" charset="0"/>
      <p:regular r:id="rId19"/>
      <p:bold r:id="rId20"/>
      <p:italic r:id="rId21"/>
      <p:boldItalic r:id="rId22"/>
    </p:embeddedFont>
    <p:embeddedFont>
      <p:font typeface="Cooper Black" panose="0208090404030B020404" pitchFamily="18" charset="0"/>
      <p:regular r:id="rId23"/>
    </p:embeddedFont>
    <p:embeddedFont>
      <p:font typeface="Corben" panose="020B0604020202020204" charset="0"/>
      <p:bold r:id="rId24"/>
    </p:embeddedFont>
    <p:embeddedFont>
      <p:font typeface="Open Sans" panose="020B0606030504020204" pitchFamily="34" charset="0"/>
      <p:regular r:id="rId25"/>
      <p:bold r:id="rId26"/>
      <p:italic r:id="rId27"/>
      <p:boldItalic r:id="rId28"/>
    </p:embeddedFont>
    <p:embeddedFont>
      <p:font typeface="Quattrocento Sans" panose="020B0502050000020003" pitchFamily="34" charset="0"/>
      <p:regular r:id="rId29"/>
      <p:bold r:id="rId30"/>
      <p:italic r:id="rId31"/>
      <p:boldItalic r:id="rId32"/>
    </p:embeddedFont>
    <p:embeddedFont>
      <p:font typeface="Segoe UI" panose="020B0502040204020203" pitchFamily="34" charset="0"/>
      <p:regular r:id="rId33"/>
      <p:bold r:id="rId34"/>
      <p:italic r:id="rId35"/>
      <p:boldItalic r:id="rId36"/>
    </p:embeddedFont>
    <p:embeddedFont>
      <p:font typeface="Segoe UI Light" panose="020B0502040204020203" pitchFamily="34"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2/26/2026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8.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tiff"/><Relationship Id="rId2" Type="http://schemas.openxmlformats.org/officeDocument/2006/relationships/notesSlide" Target="../notesSlides/notesSlide8.xml"/><Relationship Id="rId1" Type="http://schemas.openxmlformats.org/officeDocument/2006/relationships/slideLayout" Target="../slideLayouts/slideLayout38.xml"/><Relationship Id="rId6" Type="http://schemas.openxmlformats.org/officeDocument/2006/relationships/image" Target="../media/image16.tiff"/><Relationship Id="rId5" Type="http://schemas.openxmlformats.org/officeDocument/2006/relationships/image" Target="../media/image15.tiff"/><Relationship Id="rId4" Type="http://schemas.openxmlformats.org/officeDocument/2006/relationships/image" Target="../media/image14.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DAY-28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Build </a:t>
            </a:r>
            <a:r>
              <a:rPr lang="en-IN" sz="1800" b="1" dirty="0" err="1">
                <a:solidFill>
                  <a:schemeClr val="accent4"/>
                </a:solidFill>
                <a:latin typeface="Open Sans" panose="020B0606030504020204" pitchFamily="34" charset="0"/>
                <a:ea typeface="Open Sans" panose="020B0606030504020204" pitchFamily="34" charset="0"/>
                <a:cs typeface="Open Sans" panose="020B0606030504020204" pitchFamily="34" charset="0"/>
              </a:rPr>
              <a:t>Workzone</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Approver scenario</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Unmanaged </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Extensibility</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05090454-E17B-8177-89BC-94D8ED18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oftware developer - Free user icons">
            <a:extLst>
              <a:ext uri="{FF2B5EF4-FFF2-40B4-BE49-F238E27FC236}">
                <a16:creationId xmlns:a16="http://schemas.microsoft.com/office/drawing/2014/main" id="{EB6A4ECD-8991-8486-61AE-261566288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4829" y="67433"/>
            <a:ext cx="1394791" cy="13947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16C24B1D-473A-0C4E-8100-3709DAEF8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nd user Flaticons Flat icon | Freepik">
            <a:extLst>
              <a:ext uri="{FF2B5EF4-FFF2-40B4-BE49-F238E27FC236}">
                <a16:creationId xmlns:a16="http://schemas.microsoft.com/office/drawing/2014/main" id="{F197390D-B334-4D01-DFFA-0462157F21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75988384-BA22-D56F-7747-CD1ECB088FE5}"/>
              </a:ext>
            </a:extLst>
          </p:cNvPr>
          <p:cNvSpPr txBox="1"/>
          <p:nvPr/>
        </p:nvSpPr>
        <p:spPr>
          <a:xfrm>
            <a:off x="155783" y="1434667"/>
            <a:ext cx="1643269" cy="523220"/>
          </a:xfrm>
          <a:prstGeom prst="rect">
            <a:avLst/>
          </a:prstGeom>
          <a:noFill/>
        </p:spPr>
        <p:txBody>
          <a:bodyPr wrap="square" rtlCol="0">
            <a:spAutoFit/>
          </a:bodyPr>
          <a:lstStyle/>
          <a:p>
            <a:pPr algn="ctr"/>
            <a:r>
              <a:rPr lang="en-IN" b="1" dirty="0"/>
              <a:t>BTP Admin</a:t>
            </a:r>
          </a:p>
          <a:p>
            <a:pPr algn="ctr"/>
            <a:r>
              <a:rPr lang="en-IN" b="1" dirty="0"/>
              <a:t>Anubhav</a:t>
            </a:r>
          </a:p>
        </p:txBody>
      </p:sp>
      <p:sp>
        <p:nvSpPr>
          <p:cNvPr id="49" name="TextBox 48">
            <a:extLst>
              <a:ext uri="{FF2B5EF4-FFF2-40B4-BE49-F238E27FC236}">
                <a16:creationId xmlns:a16="http://schemas.microsoft.com/office/drawing/2014/main" id="{FBECBFAA-0865-F9D6-DB31-4493DC910CA5}"/>
              </a:ext>
            </a:extLst>
          </p:cNvPr>
          <p:cNvSpPr txBox="1"/>
          <p:nvPr/>
        </p:nvSpPr>
        <p:spPr>
          <a:xfrm>
            <a:off x="3190529" y="1434667"/>
            <a:ext cx="1643269" cy="523220"/>
          </a:xfrm>
          <a:prstGeom prst="rect">
            <a:avLst/>
          </a:prstGeom>
          <a:noFill/>
        </p:spPr>
        <p:txBody>
          <a:bodyPr wrap="square" rtlCol="0">
            <a:spAutoFit/>
          </a:bodyPr>
          <a:lstStyle/>
          <a:p>
            <a:pPr algn="ctr"/>
            <a:r>
              <a:rPr lang="en-IN" b="1" dirty="0"/>
              <a:t>Developer</a:t>
            </a:r>
          </a:p>
          <a:p>
            <a:pPr algn="ctr"/>
            <a:r>
              <a:rPr lang="en-IN" b="1" dirty="0"/>
              <a:t>Raj Shetty</a:t>
            </a:r>
          </a:p>
        </p:txBody>
      </p:sp>
      <p:sp>
        <p:nvSpPr>
          <p:cNvPr id="50" name="TextBox 49">
            <a:extLst>
              <a:ext uri="{FF2B5EF4-FFF2-40B4-BE49-F238E27FC236}">
                <a16:creationId xmlns:a16="http://schemas.microsoft.com/office/drawing/2014/main" id="{54F89EEE-3A17-CB98-1617-94B617AD04BA}"/>
              </a:ext>
            </a:extLst>
          </p:cNvPr>
          <p:cNvSpPr txBox="1"/>
          <p:nvPr/>
        </p:nvSpPr>
        <p:spPr>
          <a:xfrm>
            <a:off x="10262220" y="1696277"/>
            <a:ext cx="1643269" cy="523220"/>
          </a:xfrm>
          <a:prstGeom prst="rect">
            <a:avLst/>
          </a:prstGeom>
          <a:noFill/>
        </p:spPr>
        <p:txBody>
          <a:bodyPr wrap="square" rtlCol="0">
            <a:spAutoFit/>
          </a:bodyPr>
          <a:lstStyle/>
          <a:p>
            <a:pPr algn="ctr"/>
            <a:r>
              <a:rPr lang="en-IN" b="1" dirty="0"/>
              <a:t>Business User</a:t>
            </a:r>
          </a:p>
          <a:p>
            <a:pPr algn="ctr"/>
            <a:r>
              <a:rPr lang="en-IN" b="1" dirty="0"/>
              <a:t>Uday Shetty</a:t>
            </a:r>
          </a:p>
        </p:txBody>
      </p:sp>
      <p:sp>
        <p:nvSpPr>
          <p:cNvPr id="51" name="TextBox 50">
            <a:extLst>
              <a:ext uri="{FF2B5EF4-FFF2-40B4-BE49-F238E27FC236}">
                <a16:creationId xmlns:a16="http://schemas.microsoft.com/office/drawing/2014/main" id="{9ED2DDD3-C1A5-B574-3FAB-6B263C538DB0}"/>
              </a:ext>
            </a:extLst>
          </p:cNvPr>
          <p:cNvSpPr txBox="1"/>
          <p:nvPr/>
        </p:nvSpPr>
        <p:spPr>
          <a:xfrm>
            <a:off x="6713951" y="1407921"/>
            <a:ext cx="1643269" cy="523220"/>
          </a:xfrm>
          <a:prstGeom prst="rect">
            <a:avLst/>
          </a:prstGeom>
          <a:noFill/>
        </p:spPr>
        <p:txBody>
          <a:bodyPr wrap="square" rtlCol="0">
            <a:spAutoFit/>
          </a:bodyPr>
          <a:lstStyle/>
          <a:p>
            <a:pPr algn="ctr"/>
            <a:r>
              <a:rPr lang="en-IN" b="1" dirty="0"/>
              <a:t>SAP Security</a:t>
            </a:r>
          </a:p>
          <a:p>
            <a:pPr algn="ctr"/>
            <a:r>
              <a:rPr lang="en-IN" b="1" dirty="0"/>
              <a:t>Subbu Swamy</a:t>
            </a:r>
          </a:p>
        </p:txBody>
      </p:sp>
      <p:sp>
        <p:nvSpPr>
          <p:cNvPr id="52" name="Rectangle 51">
            <a:extLst>
              <a:ext uri="{FF2B5EF4-FFF2-40B4-BE49-F238E27FC236}">
                <a16:creationId xmlns:a16="http://schemas.microsoft.com/office/drawing/2014/main" id="{43BB9F1A-FD42-929A-BDE9-D01DB7089DEE}"/>
              </a:ext>
            </a:extLst>
          </p:cNvPr>
          <p:cNvSpPr/>
          <p:nvPr/>
        </p:nvSpPr>
        <p:spPr>
          <a:xfrm>
            <a:off x="437322" y="6063112"/>
            <a:ext cx="11304104"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BTP</a:t>
            </a:r>
          </a:p>
        </p:txBody>
      </p:sp>
      <p:sp>
        <p:nvSpPr>
          <p:cNvPr id="53" name="Rectangle 52">
            <a:extLst>
              <a:ext uri="{FF2B5EF4-FFF2-40B4-BE49-F238E27FC236}">
                <a16:creationId xmlns:a16="http://schemas.microsoft.com/office/drawing/2014/main" id="{D02A5C9F-B1F0-B57B-7B0C-5ACC9F3F5F8A}"/>
              </a:ext>
            </a:extLst>
          </p:cNvPr>
          <p:cNvSpPr/>
          <p:nvPr/>
        </p:nvSpPr>
        <p:spPr>
          <a:xfrm>
            <a:off x="649357" y="4310027"/>
            <a:ext cx="3339548" cy="980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Cloud Identity Service</a:t>
            </a:r>
          </a:p>
          <a:p>
            <a:pPr algn="ctr"/>
            <a:r>
              <a:rPr lang="en-IN" dirty="0"/>
              <a:t>IDP – Identity provider</a:t>
            </a:r>
          </a:p>
        </p:txBody>
      </p:sp>
      <p:cxnSp>
        <p:nvCxnSpPr>
          <p:cNvPr id="55" name="Connector: Elbow 54">
            <a:extLst>
              <a:ext uri="{FF2B5EF4-FFF2-40B4-BE49-F238E27FC236}">
                <a16:creationId xmlns:a16="http://schemas.microsoft.com/office/drawing/2014/main" id="{E8F68CEC-CB03-CB30-2F2E-097BAF6A2FCD}"/>
              </a:ext>
            </a:extLst>
          </p:cNvPr>
          <p:cNvCxnSpPr>
            <a:stCxn id="48" idx="2"/>
          </p:cNvCxnSpPr>
          <p:nvPr/>
        </p:nvCxnSpPr>
        <p:spPr>
          <a:xfrm rot="16200000" flipH="1">
            <a:off x="212165" y="2723140"/>
            <a:ext cx="2352140" cy="8216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D2F0609-F753-A647-40F7-9CE59CA80205}"/>
              </a:ext>
            </a:extLst>
          </p:cNvPr>
          <p:cNvSpPr txBox="1"/>
          <p:nvPr/>
        </p:nvSpPr>
        <p:spPr>
          <a:xfrm>
            <a:off x="649357" y="2849217"/>
            <a:ext cx="1868556" cy="830997"/>
          </a:xfrm>
          <a:prstGeom prst="rect">
            <a:avLst/>
          </a:prstGeom>
          <a:noFill/>
        </p:spPr>
        <p:txBody>
          <a:bodyPr wrap="square" rtlCol="0">
            <a:spAutoFit/>
          </a:bodyPr>
          <a:lstStyle/>
          <a:p>
            <a:r>
              <a:rPr lang="en-IN" sz="1200" b="1" i="1" dirty="0"/>
              <a:t>Subscribe to cloud identity service and appoint a administrator - Subbu</a:t>
            </a:r>
          </a:p>
        </p:txBody>
      </p:sp>
      <p:cxnSp>
        <p:nvCxnSpPr>
          <p:cNvPr id="57" name="Connector: Elbow 56">
            <a:extLst>
              <a:ext uri="{FF2B5EF4-FFF2-40B4-BE49-F238E27FC236}">
                <a16:creationId xmlns:a16="http://schemas.microsoft.com/office/drawing/2014/main" id="{8F5842D6-CF21-209A-13E2-712B89F9F900}"/>
              </a:ext>
            </a:extLst>
          </p:cNvPr>
          <p:cNvCxnSpPr>
            <a:cxnSpLocks/>
          </p:cNvCxnSpPr>
          <p:nvPr/>
        </p:nvCxnSpPr>
        <p:spPr>
          <a:xfrm rot="10800000" flipV="1">
            <a:off x="4002224" y="1931140"/>
            <a:ext cx="3533362" cy="2513859"/>
          </a:xfrm>
          <a:prstGeom prst="bentConnector3">
            <a:avLst>
              <a:gd name="adj1" fmla="val 219"/>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2F8FCCDF-38FE-BB0B-17D5-6A5756BA66BD}"/>
              </a:ext>
            </a:extLst>
          </p:cNvPr>
          <p:cNvSpPr txBox="1"/>
          <p:nvPr/>
        </p:nvSpPr>
        <p:spPr>
          <a:xfrm>
            <a:off x="4651580" y="4776893"/>
            <a:ext cx="3339547" cy="461665"/>
          </a:xfrm>
          <a:prstGeom prst="rect">
            <a:avLst/>
          </a:prstGeom>
          <a:noFill/>
        </p:spPr>
        <p:txBody>
          <a:bodyPr wrap="square" rtlCol="0">
            <a:spAutoFit/>
          </a:bodyPr>
          <a:lstStyle/>
          <a:p>
            <a:r>
              <a:rPr lang="en-IN" sz="1200" b="1" i="1" dirty="0"/>
              <a:t>Subbu needs to register the business user Uday </a:t>
            </a:r>
            <a:r>
              <a:rPr lang="en-IN" sz="1200" b="1" i="1" dirty="0" err="1"/>
              <a:t>shetty</a:t>
            </a:r>
            <a:endParaRPr lang="en-IN" sz="1200" b="1" i="1" dirty="0"/>
          </a:p>
        </p:txBody>
      </p:sp>
      <p:pic>
        <p:nvPicPr>
          <p:cNvPr id="1036" name="Picture 12" descr="The Vaccine War star, Nana Patekar finally reveals why he's not in Welcome  To The Jungle">
            <a:extLst>
              <a:ext uri="{FF2B5EF4-FFF2-40B4-BE49-F238E27FC236}">
                <a16:creationId xmlns:a16="http://schemas.microsoft.com/office/drawing/2014/main" id="{AAD5375F-7B24-94F6-8CB9-F01559E59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0299" y="2257115"/>
            <a:ext cx="1992313" cy="930954"/>
          </a:xfrm>
          <a:prstGeom prst="rect">
            <a:avLst/>
          </a:prstGeom>
          <a:noFill/>
          <a:extLst>
            <a:ext uri="{909E8E84-426E-40DD-AFC4-6F175D3DCCD1}">
              <a14:hiddenFill xmlns:a14="http://schemas.microsoft.com/office/drawing/2010/main">
                <a:solidFill>
                  <a:srgbClr val="FFFFFF"/>
                </a:solidFill>
              </a14:hiddenFill>
            </a:ext>
          </a:extLst>
        </p:spPr>
      </p:pic>
      <p:sp>
        <p:nvSpPr>
          <p:cNvPr id="61" name="Arrow: Left 60">
            <a:extLst>
              <a:ext uri="{FF2B5EF4-FFF2-40B4-BE49-F238E27FC236}">
                <a16:creationId xmlns:a16="http://schemas.microsoft.com/office/drawing/2014/main" id="{3C0E975E-2AB7-2A9B-780C-AE9D6D87881A}"/>
              </a:ext>
            </a:extLst>
          </p:cNvPr>
          <p:cNvSpPr/>
          <p:nvPr/>
        </p:nvSpPr>
        <p:spPr>
          <a:xfrm>
            <a:off x="8241266" y="172114"/>
            <a:ext cx="2071134" cy="74541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for a user in </a:t>
            </a:r>
            <a:r>
              <a:rPr lang="en-IN" dirty="0" err="1"/>
              <a:t>btp</a:t>
            </a:r>
            <a:endParaRPr lang="en-IN" dirty="0"/>
          </a:p>
        </p:txBody>
      </p:sp>
      <p:cxnSp>
        <p:nvCxnSpPr>
          <p:cNvPr id="63" name="Connector: Elbow 62">
            <a:extLst>
              <a:ext uri="{FF2B5EF4-FFF2-40B4-BE49-F238E27FC236}">
                <a16:creationId xmlns:a16="http://schemas.microsoft.com/office/drawing/2014/main" id="{E564363D-ED57-71CC-F457-E6EF52D35A1D}"/>
              </a:ext>
            </a:extLst>
          </p:cNvPr>
          <p:cNvCxnSpPr>
            <a:stCxn id="51" idx="3"/>
            <a:endCxn id="53" idx="3"/>
          </p:cNvCxnSpPr>
          <p:nvPr/>
        </p:nvCxnSpPr>
        <p:spPr>
          <a:xfrm flipH="1">
            <a:off x="3988905" y="1669531"/>
            <a:ext cx="4368315" cy="3130888"/>
          </a:xfrm>
          <a:prstGeom prst="bentConnector3">
            <a:avLst>
              <a:gd name="adj1" fmla="val -5233"/>
            </a:avLst>
          </a:prstGeom>
          <a:ln>
            <a:tailEnd type="triangle"/>
          </a:ln>
        </p:spPr>
        <p:style>
          <a:lnRef idx="1">
            <a:schemeClr val="accent1"/>
          </a:lnRef>
          <a:fillRef idx="0">
            <a:schemeClr val="accent1"/>
          </a:fillRef>
          <a:effectRef idx="0">
            <a:schemeClr val="accent1"/>
          </a:effectRef>
          <a:fontRef idx="minor">
            <a:schemeClr val="tx1"/>
          </a:fontRef>
        </p:style>
      </p:cxnSp>
      <p:sp>
        <p:nvSpPr>
          <p:cNvPr id="1024" name="TextBox 1023">
            <a:extLst>
              <a:ext uri="{FF2B5EF4-FFF2-40B4-BE49-F238E27FC236}">
                <a16:creationId xmlns:a16="http://schemas.microsoft.com/office/drawing/2014/main" id="{1958DC09-7990-BBBC-C520-AF739067B071}"/>
              </a:ext>
            </a:extLst>
          </p:cNvPr>
          <p:cNvSpPr txBox="1"/>
          <p:nvPr/>
        </p:nvSpPr>
        <p:spPr>
          <a:xfrm>
            <a:off x="4251530" y="4180794"/>
            <a:ext cx="3339547" cy="461665"/>
          </a:xfrm>
          <a:prstGeom prst="rect">
            <a:avLst/>
          </a:prstGeom>
          <a:noFill/>
        </p:spPr>
        <p:txBody>
          <a:bodyPr wrap="square" rtlCol="0">
            <a:spAutoFit/>
          </a:bodyPr>
          <a:lstStyle/>
          <a:p>
            <a:r>
              <a:rPr lang="en-IN" sz="1200" b="1" i="1" dirty="0"/>
              <a:t>Subbu on-board himself as Admin for the cloud identity service of our a/c</a:t>
            </a:r>
          </a:p>
        </p:txBody>
      </p:sp>
      <p:sp>
        <p:nvSpPr>
          <p:cNvPr id="1025" name="Arrow: Right 1024">
            <a:extLst>
              <a:ext uri="{FF2B5EF4-FFF2-40B4-BE49-F238E27FC236}">
                <a16:creationId xmlns:a16="http://schemas.microsoft.com/office/drawing/2014/main" id="{6D65F8C4-8CDC-2758-A5FC-8767D4418D2B}"/>
              </a:ext>
            </a:extLst>
          </p:cNvPr>
          <p:cNvSpPr/>
          <p:nvPr/>
        </p:nvSpPr>
        <p:spPr>
          <a:xfrm>
            <a:off x="8418508" y="803138"/>
            <a:ext cx="1898377" cy="4903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Whats</a:t>
            </a:r>
            <a:r>
              <a:rPr lang="en-IN" dirty="0"/>
              <a:t> the mail?</a:t>
            </a:r>
          </a:p>
        </p:txBody>
      </p:sp>
      <p:sp>
        <p:nvSpPr>
          <p:cNvPr id="1029" name="TextBox 1028">
            <a:extLst>
              <a:ext uri="{FF2B5EF4-FFF2-40B4-BE49-F238E27FC236}">
                <a16:creationId xmlns:a16="http://schemas.microsoft.com/office/drawing/2014/main" id="{FF926F29-13C9-C668-A85A-6941A0F9F6E5}"/>
              </a:ext>
            </a:extLst>
          </p:cNvPr>
          <p:cNvSpPr txBox="1"/>
          <p:nvPr/>
        </p:nvSpPr>
        <p:spPr>
          <a:xfrm>
            <a:off x="9828212" y="3195353"/>
            <a:ext cx="2444750" cy="307777"/>
          </a:xfrm>
          <a:prstGeom prst="rect">
            <a:avLst/>
          </a:prstGeom>
          <a:noFill/>
        </p:spPr>
        <p:txBody>
          <a:bodyPr wrap="square">
            <a:spAutoFit/>
          </a:bodyPr>
          <a:lstStyle/>
          <a:p>
            <a:r>
              <a:rPr lang="en-IN" dirty="0"/>
              <a:t>dimogo1504@netoiu.com</a:t>
            </a:r>
          </a:p>
        </p:txBody>
      </p:sp>
      <p:cxnSp>
        <p:nvCxnSpPr>
          <p:cNvPr id="1033" name="Connector: Curved 1032">
            <a:extLst>
              <a:ext uri="{FF2B5EF4-FFF2-40B4-BE49-F238E27FC236}">
                <a16:creationId xmlns:a16="http://schemas.microsoft.com/office/drawing/2014/main" id="{7009EFFC-F275-5A0A-82AE-A0BAA3E56F65}"/>
              </a:ext>
            </a:extLst>
          </p:cNvPr>
          <p:cNvCxnSpPr>
            <a:stCxn id="53" idx="2"/>
            <a:endCxn id="52" idx="0"/>
          </p:cNvCxnSpPr>
          <p:nvPr/>
        </p:nvCxnSpPr>
        <p:spPr>
          <a:xfrm rot="16200000" flipH="1">
            <a:off x="3818102" y="3791839"/>
            <a:ext cx="772301" cy="3770243"/>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5" name="TextBox 1034">
            <a:extLst>
              <a:ext uri="{FF2B5EF4-FFF2-40B4-BE49-F238E27FC236}">
                <a16:creationId xmlns:a16="http://schemas.microsoft.com/office/drawing/2014/main" id="{F2D517FF-12C0-6FE1-8FBA-244BBBF08DA0}"/>
              </a:ext>
            </a:extLst>
          </p:cNvPr>
          <p:cNvSpPr txBox="1"/>
          <p:nvPr/>
        </p:nvSpPr>
        <p:spPr>
          <a:xfrm>
            <a:off x="3717302" y="5364528"/>
            <a:ext cx="1868556" cy="646331"/>
          </a:xfrm>
          <a:prstGeom prst="rect">
            <a:avLst/>
          </a:prstGeom>
          <a:noFill/>
        </p:spPr>
        <p:txBody>
          <a:bodyPr wrap="square" rtlCol="0">
            <a:spAutoFit/>
          </a:bodyPr>
          <a:lstStyle/>
          <a:p>
            <a:r>
              <a:rPr lang="en-IN" sz="1200" b="1" i="1" dirty="0"/>
              <a:t>A trust needs to be established with CIS and our BTP</a:t>
            </a:r>
          </a:p>
        </p:txBody>
      </p:sp>
      <p:cxnSp>
        <p:nvCxnSpPr>
          <p:cNvPr id="1039" name="Connector: Curved 1038">
            <a:extLst>
              <a:ext uri="{FF2B5EF4-FFF2-40B4-BE49-F238E27FC236}">
                <a16:creationId xmlns:a16="http://schemas.microsoft.com/office/drawing/2014/main" id="{127F16E8-65D6-4BB5-583E-538E95E974D5}"/>
              </a:ext>
            </a:extLst>
          </p:cNvPr>
          <p:cNvCxnSpPr>
            <a:cxnSpLocks/>
          </p:cNvCxnSpPr>
          <p:nvPr/>
        </p:nvCxnSpPr>
        <p:spPr>
          <a:xfrm rot="16200000" flipH="1">
            <a:off x="1167057" y="2084227"/>
            <a:ext cx="3681093" cy="2960307"/>
          </a:xfrm>
          <a:prstGeom prst="curvedConnector3">
            <a:avLst>
              <a:gd name="adj1" fmla="val 89676"/>
            </a:avLst>
          </a:prstGeom>
          <a:ln>
            <a:tailEnd type="triangle"/>
          </a:ln>
        </p:spPr>
        <p:style>
          <a:lnRef idx="1">
            <a:schemeClr val="accent6"/>
          </a:lnRef>
          <a:fillRef idx="0">
            <a:schemeClr val="accent6"/>
          </a:fillRef>
          <a:effectRef idx="0">
            <a:schemeClr val="accent6"/>
          </a:effectRef>
          <a:fontRef idx="minor">
            <a:schemeClr val="tx1"/>
          </a:fontRef>
        </p:style>
      </p:cxnSp>
      <p:sp>
        <p:nvSpPr>
          <p:cNvPr id="1045" name="Rectangle: Rounded Corners 1044">
            <a:extLst>
              <a:ext uri="{FF2B5EF4-FFF2-40B4-BE49-F238E27FC236}">
                <a16:creationId xmlns:a16="http://schemas.microsoft.com/office/drawing/2014/main" id="{AFBBFC60-7E63-4158-82D9-791878DFFBE3}"/>
              </a:ext>
            </a:extLst>
          </p:cNvPr>
          <p:cNvSpPr/>
          <p:nvPr/>
        </p:nvSpPr>
        <p:spPr>
          <a:xfrm>
            <a:off x="2794000" y="2938668"/>
            <a:ext cx="3829050" cy="9332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a:p>
            <a:pPr algn="ctr"/>
            <a:r>
              <a:rPr lang="en-IN" dirty="0" err="1"/>
              <a:t>cFLP</a:t>
            </a:r>
            <a:r>
              <a:rPr lang="en-IN" dirty="0"/>
              <a:t> – Single Entry point for end users to access apps</a:t>
            </a:r>
          </a:p>
        </p:txBody>
      </p:sp>
      <p:cxnSp>
        <p:nvCxnSpPr>
          <p:cNvPr id="1047" name="Connector: Elbow 1046">
            <a:extLst>
              <a:ext uri="{FF2B5EF4-FFF2-40B4-BE49-F238E27FC236}">
                <a16:creationId xmlns:a16="http://schemas.microsoft.com/office/drawing/2014/main" id="{18A1EB0C-141D-D1A8-1E10-2D897D582F61}"/>
              </a:ext>
            </a:extLst>
          </p:cNvPr>
          <p:cNvCxnSpPr>
            <a:cxnSpLocks/>
          </p:cNvCxnSpPr>
          <p:nvPr/>
        </p:nvCxnSpPr>
        <p:spPr>
          <a:xfrm>
            <a:off x="98130" y="1681068"/>
            <a:ext cx="2909473" cy="12423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3FE7EC89-9AC1-3A3D-2265-D0B50621DA7F}"/>
              </a:ext>
            </a:extLst>
          </p:cNvPr>
          <p:cNvSpPr txBox="1"/>
          <p:nvPr/>
        </p:nvSpPr>
        <p:spPr>
          <a:xfrm>
            <a:off x="2017139" y="2149115"/>
            <a:ext cx="1868556" cy="461665"/>
          </a:xfrm>
          <a:prstGeom prst="rect">
            <a:avLst/>
          </a:prstGeom>
          <a:noFill/>
        </p:spPr>
        <p:txBody>
          <a:bodyPr wrap="square" rtlCol="0">
            <a:spAutoFit/>
          </a:bodyPr>
          <a:lstStyle/>
          <a:p>
            <a:r>
              <a:rPr lang="en-IN" sz="1200" b="1" i="1" dirty="0"/>
              <a:t>Subscribe to Build </a:t>
            </a:r>
            <a:r>
              <a:rPr lang="en-IN" sz="1200" b="1" i="1" dirty="0" err="1"/>
              <a:t>Workzone</a:t>
            </a:r>
            <a:endParaRPr lang="en-IN" sz="1200" b="1" i="1" dirty="0"/>
          </a:p>
        </p:txBody>
      </p:sp>
      <p:sp>
        <p:nvSpPr>
          <p:cNvPr id="2" name="Cube 1">
            <a:extLst>
              <a:ext uri="{FF2B5EF4-FFF2-40B4-BE49-F238E27FC236}">
                <a16:creationId xmlns:a16="http://schemas.microsoft.com/office/drawing/2014/main" id="{21B5EEBB-9C04-7529-5FC7-66CA437D5699}"/>
              </a:ext>
            </a:extLst>
          </p:cNvPr>
          <p:cNvSpPr/>
          <p:nvPr/>
        </p:nvSpPr>
        <p:spPr>
          <a:xfrm>
            <a:off x="4833798" y="516835"/>
            <a:ext cx="1533872" cy="714556"/>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a:p>
            <a:pPr algn="ctr"/>
            <a:r>
              <a:rPr lang="en-IN" dirty="0"/>
              <a:t>(BAS)</a:t>
            </a:r>
          </a:p>
        </p:txBody>
      </p:sp>
      <p:sp>
        <p:nvSpPr>
          <p:cNvPr id="3" name="Rectangle: Rounded Corners 2">
            <a:extLst>
              <a:ext uri="{FF2B5EF4-FFF2-40B4-BE49-F238E27FC236}">
                <a16:creationId xmlns:a16="http://schemas.microsoft.com/office/drawing/2014/main" id="{CED2779C-FFA4-4AF0-BA1F-A7FA1BF9F464}"/>
              </a:ext>
            </a:extLst>
          </p:cNvPr>
          <p:cNvSpPr/>
          <p:nvPr/>
        </p:nvSpPr>
        <p:spPr>
          <a:xfrm>
            <a:off x="8241266" y="6010859"/>
            <a:ext cx="2020954" cy="4282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HTML5 Repo</a:t>
            </a:r>
          </a:p>
        </p:txBody>
      </p:sp>
      <p:cxnSp>
        <p:nvCxnSpPr>
          <p:cNvPr id="5" name="Connector: Elbow 4">
            <a:extLst>
              <a:ext uri="{FF2B5EF4-FFF2-40B4-BE49-F238E27FC236}">
                <a16:creationId xmlns:a16="http://schemas.microsoft.com/office/drawing/2014/main" id="{C14CEFC1-6AC6-B1E1-D1A8-C0A86C864008}"/>
              </a:ext>
            </a:extLst>
          </p:cNvPr>
          <p:cNvCxnSpPr>
            <a:stCxn id="2" idx="3"/>
            <a:endCxn id="3" idx="0"/>
          </p:cNvCxnSpPr>
          <p:nvPr/>
        </p:nvCxnSpPr>
        <p:spPr>
          <a:xfrm rot="16200000" flipH="1">
            <a:off x="4991845" y="1750961"/>
            <a:ext cx="4779468" cy="3740328"/>
          </a:xfrm>
          <a:prstGeom prst="bentConnector3">
            <a:avLst>
              <a:gd name="adj1" fmla="val 22966"/>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0D3B7E8-E5B3-C7E4-9C64-F3E9066CD76E}"/>
              </a:ext>
            </a:extLst>
          </p:cNvPr>
          <p:cNvSpPr txBox="1"/>
          <p:nvPr/>
        </p:nvSpPr>
        <p:spPr>
          <a:xfrm>
            <a:off x="9251744" y="5595520"/>
            <a:ext cx="1197596" cy="276999"/>
          </a:xfrm>
          <a:prstGeom prst="rect">
            <a:avLst/>
          </a:prstGeom>
          <a:noFill/>
        </p:spPr>
        <p:txBody>
          <a:bodyPr wrap="square" rtlCol="0">
            <a:spAutoFit/>
          </a:bodyPr>
          <a:lstStyle/>
          <a:p>
            <a:r>
              <a:rPr lang="en-IN" sz="1200" b="1" i="1" dirty="0"/>
              <a:t>deployment</a:t>
            </a:r>
          </a:p>
        </p:txBody>
      </p:sp>
      <p:cxnSp>
        <p:nvCxnSpPr>
          <p:cNvPr id="9" name="Connector: Elbow 8">
            <a:extLst>
              <a:ext uri="{FF2B5EF4-FFF2-40B4-BE49-F238E27FC236}">
                <a16:creationId xmlns:a16="http://schemas.microsoft.com/office/drawing/2014/main" id="{1D23BA09-BF44-0465-DC1D-CD2AA2FFF4D6}"/>
              </a:ext>
            </a:extLst>
          </p:cNvPr>
          <p:cNvCxnSpPr>
            <a:endCxn id="1045" idx="3"/>
          </p:cNvCxnSpPr>
          <p:nvPr/>
        </p:nvCxnSpPr>
        <p:spPr>
          <a:xfrm rot="5400000">
            <a:off x="6185674" y="2368517"/>
            <a:ext cx="1474138" cy="5993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D891841-48AE-6792-6982-CBF04E125F55}"/>
              </a:ext>
            </a:extLst>
          </p:cNvPr>
          <p:cNvCxnSpPr/>
          <p:nvPr/>
        </p:nvCxnSpPr>
        <p:spPr>
          <a:xfrm>
            <a:off x="1669776" y="1565205"/>
            <a:ext cx="5552660" cy="123128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2" name="TextBox 11">
            <a:extLst>
              <a:ext uri="{FF2B5EF4-FFF2-40B4-BE49-F238E27FC236}">
                <a16:creationId xmlns:a16="http://schemas.microsoft.com/office/drawing/2014/main" id="{7174419B-6BFD-20CF-D446-230F6D165DD1}"/>
              </a:ext>
            </a:extLst>
          </p:cNvPr>
          <p:cNvSpPr txBox="1"/>
          <p:nvPr/>
        </p:nvSpPr>
        <p:spPr>
          <a:xfrm>
            <a:off x="6367670" y="2876351"/>
            <a:ext cx="2216562" cy="1015663"/>
          </a:xfrm>
          <a:prstGeom prst="rect">
            <a:avLst/>
          </a:prstGeom>
          <a:noFill/>
        </p:spPr>
        <p:txBody>
          <a:bodyPr wrap="square" rtlCol="0">
            <a:spAutoFit/>
          </a:bodyPr>
          <a:lstStyle/>
          <a:p>
            <a:r>
              <a:rPr lang="en-IN" sz="1200" b="1" i="1" dirty="0"/>
              <a:t>Create Site</a:t>
            </a:r>
          </a:p>
          <a:p>
            <a:r>
              <a:rPr lang="en-IN" sz="1200" b="1" i="1" dirty="0"/>
              <a:t>Create </a:t>
            </a:r>
            <a:r>
              <a:rPr lang="en-IN" sz="1200" b="1" i="1" dirty="0" err="1"/>
              <a:t>Catalog</a:t>
            </a:r>
            <a:endParaRPr lang="en-IN" sz="1200" b="1" i="1" dirty="0"/>
          </a:p>
          <a:p>
            <a:r>
              <a:rPr lang="en-IN" sz="1200" b="1" i="1" dirty="0"/>
              <a:t>Group</a:t>
            </a:r>
          </a:p>
          <a:p>
            <a:r>
              <a:rPr lang="en-IN" sz="1200" b="1" i="1" dirty="0"/>
              <a:t>Role</a:t>
            </a:r>
          </a:p>
          <a:p>
            <a:r>
              <a:rPr lang="en-IN" sz="1200" b="1" i="1" dirty="0"/>
              <a:t>Link Site with Role</a:t>
            </a:r>
          </a:p>
        </p:txBody>
      </p:sp>
      <p:sp>
        <p:nvSpPr>
          <p:cNvPr id="13" name="TextBox 12">
            <a:extLst>
              <a:ext uri="{FF2B5EF4-FFF2-40B4-BE49-F238E27FC236}">
                <a16:creationId xmlns:a16="http://schemas.microsoft.com/office/drawing/2014/main" id="{3A3805D5-851C-90D9-BFC7-0BCEC7590589}"/>
              </a:ext>
            </a:extLst>
          </p:cNvPr>
          <p:cNvSpPr txBox="1"/>
          <p:nvPr/>
        </p:nvSpPr>
        <p:spPr>
          <a:xfrm>
            <a:off x="4138889" y="2188361"/>
            <a:ext cx="2216562" cy="461665"/>
          </a:xfrm>
          <a:prstGeom prst="rect">
            <a:avLst/>
          </a:prstGeom>
          <a:noFill/>
        </p:spPr>
        <p:txBody>
          <a:bodyPr wrap="square" rtlCol="0">
            <a:spAutoFit/>
          </a:bodyPr>
          <a:lstStyle/>
          <a:p>
            <a:r>
              <a:rPr lang="en-IN" sz="1200" b="1" i="1" dirty="0"/>
              <a:t>Provide Build </a:t>
            </a:r>
            <a:r>
              <a:rPr lang="en-IN" sz="1200" b="1" i="1" dirty="0" err="1"/>
              <a:t>Workzone</a:t>
            </a:r>
            <a:endParaRPr lang="en-IN" sz="1200" b="1" i="1" dirty="0"/>
          </a:p>
          <a:p>
            <a:r>
              <a:rPr lang="en-IN" sz="1200" b="1" i="1" dirty="0"/>
              <a:t>Access to Security Admin</a:t>
            </a:r>
          </a:p>
        </p:txBody>
      </p:sp>
      <p:cxnSp>
        <p:nvCxnSpPr>
          <p:cNvPr id="15" name="Connector: Elbow 14">
            <a:extLst>
              <a:ext uri="{FF2B5EF4-FFF2-40B4-BE49-F238E27FC236}">
                <a16:creationId xmlns:a16="http://schemas.microsoft.com/office/drawing/2014/main" id="{7773D4B2-96A4-665C-B32E-3DB252CE2F36}"/>
              </a:ext>
            </a:extLst>
          </p:cNvPr>
          <p:cNvCxnSpPr>
            <a:endCxn id="12" idx="0"/>
          </p:cNvCxnSpPr>
          <p:nvPr/>
        </p:nvCxnSpPr>
        <p:spPr>
          <a:xfrm rot="16200000" flipV="1">
            <a:off x="6693026" y="3659276"/>
            <a:ext cx="3134508" cy="1568658"/>
          </a:xfrm>
          <a:prstGeom prst="bentConnector3">
            <a:avLst>
              <a:gd name="adj1" fmla="val 10729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279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Approver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Display the travel request data</a:t>
            </a:r>
            <a:endParaRPr dirty="0"/>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 </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Approver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25 fields</a:t>
            </a:r>
            <a:endParaRPr dirty="0"/>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definition</a:t>
            </a:r>
            <a:endParaRPr dirty="0"/>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Approver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approver role in company</a:t>
            </a:r>
            <a:endParaRPr dirty="0"/>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197197E8-0213-26B4-F1AA-BDBEE5248ED7}"/>
              </a:ext>
            </a:extLst>
          </p:cNvPr>
          <p:cNvPicPr preferRelativeResize="0"/>
          <p:nvPr/>
        </p:nvPicPr>
        <p:blipFill rotWithShape="1">
          <a:blip r:embed="rId3">
            <a:alphaModFix/>
          </a:blip>
          <a:srcRect/>
          <a:stretch/>
        </p:blipFill>
        <p:spPr>
          <a:xfrm>
            <a:off x="66713" y="534468"/>
            <a:ext cx="457206" cy="457206"/>
          </a:xfrm>
          <a:prstGeom prst="rect">
            <a:avLst/>
          </a:prstGeom>
          <a:noFill/>
          <a:ln>
            <a:noFill/>
          </a:ln>
        </p:spPr>
      </p:pic>
      <p:pic>
        <p:nvPicPr>
          <p:cNvPr id="13" name="Google Shape;1332;p59" descr="A green circle with a white tick in it&#10;&#10;Description automatically generated">
            <a:extLst>
              <a:ext uri="{FF2B5EF4-FFF2-40B4-BE49-F238E27FC236}">
                <a16:creationId xmlns:a16="http://schemas.microsoft.com/office/drawing/2014/main" id="{36FEA8DF-0D15-5EBB-8405-1FD7BE8F9D0B}"/>
              </a:ext>
            </a:extLst>
          </p:cNvPr>
          <p:cNvPicPr preferRelativeResize="0"/>
          <p:nvPr/>
        </p:nvPicPr>
        <p:blipFill rotWithShape="1">
          <a:blip r:embed="rId3">
            <a:alphaModFix/>
          </a:blip>
          <a:srcRect/>
          <a:stretch/>
        </p:blipFill>
        <p:spPr>
          <a:xfrm>
            <a:off x="8698196" y="4764615"/>
            <a:ext cx="457206" cy="457206"/>
          </a:xfrm>
          <a:prstGeom prst="rect">
            <a:avLst/>
          </a:prstGeom>
          <a:noFill/>
          <a:ln>
            <a:noFill/>
          </a:ln>
        </p:spPr>
      </p:pic>
      <p:pic>
        <p:nvPicPr>
          <p:cNvPr id="14" name="Google Shape;1332;p59" descr="A green circle with a white tick in it&#10;&#10;Description automatically generated">
            <a:extLst>
              <a:ext uri="{FF2B5EF4-FFF2-40B4-BE49-F238E27FC236}">
                <a16:creationId xmlns:a16="http://schemas.microsoft.com/office/drawing/2014/main" id="{953F3D41-39DC-30D7-F4A6-B7FBF00B4F5D}"/>
              </a:ext>
            </a:extLst>
          </p:cNvPr>
          <p:cNvPicPr preferRelativeResize="0"/>
          <p:nvPr/>
        </p:nvPicPr>
        <p:blipFill rotWithShape="1">
          <a:blip r:embed="rId3">
            <a:alphaModFix/>
          </a:blip>
          <a:srcRect/>
          <a:stretch/>
        </p:blipFill>
        <p:spPr>
          <a:xfrm>
            <a:off x="8708558" y="3447333"/>
            <a:ext cx="457206" cy="4572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1115640"/>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1845940" y="449148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1125860" y="4644176"/>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6022404" y="4932208"/>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4726404" y="4788240"/>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400608" y="5695912"/>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3621560" y="5701411"/>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3891722" y="3205250"/>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5499574" y="4818449"/>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1197868" y="2708920"/>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a:t>
            </a:r>
            <a:endParaRPr sz="3599" dirty="0">
              <a:solidFill>
                <a:srgbClr val="FFC000"/>
              </a:solidFill>
              <a:latin typeface="Cooper Black" panose="0208090404030B020404" pitchFamily="18" charset="0"/>
              <a:ea typeface="Corben"/>
              <a:cs typeface="Corben"/>
              <a:sym typeface="Corben"/>
            </a:endParaRPr>
          </a:p>
        </p:txBody>
      </p:sp>
      <p:sp>
        <p:nvSpPr>
          <p:cNvPr id="1841" name="Google Shape;1841;p104"/>
          <p:cNvSpPr/>
          <p:nvPr/>
        </p:nvSpPr>
        <p:spPr>
          <a:xfrm>
            <a:off x="639805" y="5174087"/>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Agency</a:t>
            </a:r>
            <a:endParaRPr/>
          </a:p>
        </p:txBody>
      </p:sp>
      <p:sp>
        <p:nvSpPr>
          <p:cNvPr id="1842" name="Google Shape;1842;p104"/>
          <p:cNvSpPr/>
          <p:nvPr/>
        </p:nvSpPr>
        <p:spPr>
          <a:xfrm>
            <a:off x="3502124" y="5174087"/>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Customer</a:t>
            </a:r>
            <a:endParaRPr dirty="0"/>
          </a:p>
        </p:txBody>
      </p:sp>
      <p:sp>
        <p:nvSpPr>
          <p:cNvPr id="1843" name="Google Shape;1843;p104"/>
          <p:cNvSpPr/>
          <p:nvPr/>
        </p:nvSpPr>
        <p:spPr>
          <a:xfrm>
            <a:off x="909836" y="6283631"/>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agency</a:t>
            </a:r>
            <a:endParaRPr dirty="0"/>
          </a:p>
        </p:txBody>
      </p:sp>
      <p:sp>
        <p:nvSpPr>
          <p:cNvPr id="1844" name="Google Shape;1844;p104"/>
          <p:cNvSpPr/>
          <p:nvPr/>
        </p:nvSpPr>
        <p:spPr>
          <a:xfrm>
            <a:off x="3790156" y="6283631"/>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customer</a:t>
            </a:r>
            <a:endParaRPr dirty="0"/>
          </a:p>
        </p:txBody>
      </p:sp>
      <p:sp>
        <p:nvSpPr>
          <p:cNvPr id="1845" name="Google Shape;1845;p104"/>
          <p:cNvSpPr/>
          <p:nvPr/>
        </p:nvSpPr>
        <p:spPr>
          <a:xfrm>
            <a:off x="6670476" y="6263796"/>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a:t>
            </a:r>
            <a:r>
              <a:rPr lang="en-US" sz="1600" dirty="0" err="1">
                <a:solidFill>
                  <a:schemeClr val="lt1"/>
                </a:solidFill>
                <a:latin typeface="Calibri"/>
                <a:ea typeface="Calibri"/>
                <a:cs typeface="Calibri"/>
                <a:sym typeface="Calibri"/>
              </a:rPr>
              <a:t>dmo</a:t>
            </a:r>
            <a:r>
              <a:rPr lang="en-US" sz="1600" dirty="0">
                <a:solidFill>
                  <a:schemeClr val="lt1"/>
                </a:solidFill>
                <a:latin typeface="Calibri"/>
                <a:ea typeface="Calibri"/>
                <a:cs typeface="Calibri"/>
                <a:sym typeface="Calibri"/>
              </a:rPr>
              <a:t>/travel</a:t>
            </a:r>
            <a:endParaRPr dirty="0"/>
          </a:p>
        </p:txBody>
      </p:sp>
      <p:sp>
        <p:nvSpPr>
          <p:cNvPr id="1846" name="Google Shape;1846;p104"/>
          <p:cNvSpPr/>
          <p:nvPr/>
        </p:nvSpPr>
        <p:spPr>
          <a:xfrm>
            <a:off x="4745504" y="4004882"/>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err="1">
                <a:solidFill>
                  <a:schemeClr val="lt1"/>
                </a:solidFill>
                <a:latin typeface="Calibri"/>
                <a:ea typeface="Calibri"/>
                <a:cs typeface="Calibri"/>
                <a:sym typeface="Calibri"/>
              </a:rPr>
              <a:t>Travel_U</a:t>
            </a:r>
            <a:endParaRPr sz="2400" dirty="0">
              <a:solidFill>
                <a:schemeClr val="lt1"/>
              </a:solidFill>
              <a:latin typeface="Calibri"/>
              <a:ea typeface="Calibri"/>
              <a:cs typeface="Calibri"/>
              <a:sym typeface="Calibri"/>
            </a:endParaRPr>
          </a:p>
        </p:txBody>
      </p:sp>
      <p:cxnSp>
        <p:nvCxnSpPr>
          <p:cNvPr id="1847" name="Google Shape;1847;p104"/>
          <p:cNvCxnSpPr>
            <a:stCxn id="1844" idx="0"/>
            <a:endCxn id="1842" idx="2"/>
          </p:cNvCxnSpPr>
          <p:nvPr/>
        </p:nvCxnSpPr>
        <p:spPr>
          <a:xfrm rot="10800000">
            <a:off x="4546240" y="5966231"/>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1665920" y="5966175"/>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4843690" y="4228037"/>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3412403" y="2796871"/>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6204829" y="4509096"/>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7462565" y="4024743"/>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Travel_U_MDE</a:t>
            </a:r>
            <a:endParaRPr sz="2400">
              <a:solidFill>
                <a:schemeClr val="lt1"/>
              </a:solidFill>
              <a:latin typeface="Calibri"/>
              <a:ea typeface="Calibri"/>
              <a:cs typeface="Calibri"/>
              <a:sym typeface="Calibri"/>
            </a:endParaRPr>
          </a:p>
        </p:txBody>
      </p:sp>
      <p:cxnSp>
        <p:nvCxnSpPr>
          <p:cNvPr id="1853" name="Google Shape;1853;p104"/>
          <p:cNvCxnSpPr>
            <a:stCxn id="1846" idx="3"/>
            <a:endCxn id="1852" idx="1"/>
          </p:cNvCxnSpPr>
          <p:nvPr/>
        </p:nvCxnSpPr>
        <p:spPr>
          <a:xfrm>
            <a:off x="6833736" y="4265118"/>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4673496" y="28107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definition</a:t>
            </a:r>
            <a:endParaRPr/>
          </a:p>
        </p:txBody>
      </p:sp>
      <p:cxnSp>
        <p:nvCxnSpPr>
          <p:cNvPr id="1855" name="Google Shape;1855;p104"/>
          <p:cNvCxnSpPr>
            <a:stCxn id="1846" idx="0"/>
            <a:endCxn id="1854" idx="2"/>
          </p:cNvCxnSpPr>
          <p:nvPr/>
        </p:nvCxnSpPr>
        <p:spPr>
          <a:xfrm rot="10800000">
            <a:off x="5789620" y="3530882"/>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4673496" y="1570221"/>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Impl.</a:t>
            </a:r>
            <a:endParaRPr/>
          </a:p>
        </p:txBody>
      </p:sp>
      <p:cxnSp>
        <p:nvCxnSpPr>
          <p:cNvPr id="1857" name="Google Shape;1857;p104"/>
          <p:cNvCxnSpPr>
            <a:stCxn id="1854" idx="0"/>
            <a:endCxn id="1856" idx="2"/>
          </p:cNvCxnSpPr>
          <p:nvPr/>
        </p:nvCxnSpPr>
        <p:spPr>
          <a:xfrm rot="10800000">
            <a:off x="5789620" y="2290272"/>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1557909" y="3860386"/>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 unmanaged</a:t>
            </a:r>
            <a:endParaRPr dirty="0"/>
          </a:p>
        </p:txBody>
      </p:sp>
      <p:sp>
        <p:nvSpPr>
          <p:cNvPr id="1859" name="Google Shape;1859;p104"/>
          <p:cNvSpPr/>
          <p:nvPr/>
        </p:nvSpPr>
        <p:spPr>
          <a:xfrm>
            <a:off x="1557909" y="2894196"/>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BIMP-unmanaged</a:t>
            </a:r>
            <a:endParaRPr dirty="0"/>
          </a:p>
        </p:txBody>
      </p:sp>
      <p:cxnSp>
        <p:nvCxnSpPr>
          <p:cNvPr id="1860" name="Google Shape;1860;p104"/>
          <p:cNvCxnSpPr>
            <a:stCxn id="1858" idx="3"/>
            <a:endCxn id="1846" idx="1"/>
          </p:cNvCxnSpPr>
          <p:nvPr/>
        </p:nvCxnSpPr>
        <p:spPr>
          <a:xfrm>
            <a:off x="3989419" y="4184753"/>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2773664" y="3542930"/>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Title</a:t>
            </a:r>
            <a:endParaRPr sz="3599" dirty="0">
              <a:solidFill>
                <a:srgbClr val="FFC000"/>
              </a:solidFill>
              <a:latin typeface="Cooper Black" panose="0208090404030B020404" pitchFamily="18" charset="0"/>
              <a:ea typeface="Corben"/>
              <a:cs typeface="Corben"/>
              <a:sym typeface="Corben"/>
            </a:endParaRPr>
          </a:p>
        </p:txBody>
      </p:sp>
      <p:sp>
        <p:nvSpPr>
          <p:cNvPr id="1871" name="Google Shape;1871;p105"/>
          <p:cNvSpPr/>
          <p:nvPr/>
        </p:nvSpPr>
        <p:spPr>
          <a:xfrm>
            <a:off x="661566" y="1039696"/>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5" name="Google Shape;1875;p105"/>
          <p:cNvSpPr/>
          <p:nvPr/>
        </p:nvSpPr>
        <p:spPr>
          <a:xfrm>
            <a:off x="991516"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you know in the code which fields are changed on the screen by the user.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So accordingly we can update the data into the database only for the changed fields??</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RAP provides a compiler structure called %control which will tell us what fields were changed on UI.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We need to tell the RAP, what will be the datatype for the control structure.</a:t>
            </a:r>
            <a:endParaRPr dirty="0"/>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Git is a source code repository management system, git hub is a repository on internet. We interact with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cloud system, we use git plugin in eclipse which is provided by SAP. The installation was covered in 3</a:t>
            </a:r>
            <a:r>
              <a:rPr lang="en-US" sz="1800" baseline="30000" dirty="0">
                <a:solidFill>
                  <a:schemeClr val="dk1"/>
                </a:solidFill>
                <a:latin typeface="Calibri"/>
                <a:ea typeface="Calibri"/>
                <a:cs typeface="Calibri"/>
                <a:sym typeface="Calibri"/>
              </a:rPr>
              <a:t>rd</a:t>
            </a:r>
            <a:r>
              <a:rPr lang="en-US" sz="1800" dirty="0">
                <a:solidFill>
                  <a:schemeClr val="dk1"/>
                </a:solidFill>
                <a:latin typeface="Calibri"/>
                <a:ea typeface="Calibri"/>
                <a:cs typeface="Calibri"/>
                <a:sym typeface="Calibri"/>
              </a:rPr>
              <a:t> session.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We need to add the plugin for </a:t>
            </a:r>
            <a:r>
              <a:rPr lang="en-US" sz="1800" dirty="0" err="1">
                <a:solidFill>
                  <a:schemeClr val="dk1"/>
                </a:solidFill>
                <a:latin typeface="Calibri"/>
                <a:ea typeface="Calibri"/>
                <a:cs typeface="Calibri"/>
                <a:sym typeface="Calibri"/>
              </a:rPr>
              <a:t>abap</a:t>
            </a:r>
            <a:r>
              <a:rPr lang="en-US" sz="1800" dirty="0">
                <a:solidFill>
                  <a:schemeClr val="dk1"/>
                </a:solidFill>
                <a:latin typeface="Calibri"/>
                <a:ea typeface="Calibri"/>
                <a:cs typeface="Calibri"/>
                <a:sym typeface="Calibri"/>
              </a:rPr>
              <a:t> git in ADT - </a:t>
            </a:r>
            <a:r>
              <a:rPr lang="en-US" sz="1400" b="0" i="0" u="sng" dirty="0">
                <a:solidFill>
                  <a:srgbClr val="E6EDF3"/>
                </a:solidFill>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sz="1400" b="0" i="0" dirty="0">
              <a:solidFill>
                <a:srgbClr val="E6EDF3"/>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account and add a PAT token under developer setting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repository in git hub</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Click on Add to link a repository and paste </a:t>
            </a:r>
            <a:r>
              <a:rPr lang="en-US" sz="1800" dirty="0" err="1">
                <a:solidFill>
                  <a:schemeClr val="dk1"/>
                </a:solidFill>
                <a:latin typeface="Calibri"/>
                <a:ea typeface="Calibri"/>
                <a:cs typeface="Calibri"/>
                <a:sym typeface="Calibri"/>
              </a:rPr>
              <a:t>url</a:t>
            </a:r>
            <a:r>
              <a:rPr lang="en-US" sz="1800" dirty="0">
                <a:solidFill>
                  <a:schemeClr val="dk1"/>
                </a:solidFill>
                <a:latin typeface="Calibri"/>
                <a:ea typeface="Calibri"/>
                <a:cs typeface="Calibri"/>
                <a:sym typeface="Calibri"/>
              </a:rPr>
              <a:t> from step 3</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err="1">
                <a:solidFill>
                  <a:srgbClr val="FFC000"/>
                </a:solidFill>
                <a:latin typeface="Cooper Black" panose="0208090404030B020404" pitchFamily="18" charset="0"/>
                <a:ea typeface="Corben"/>
                <a:cs typeface="Corben"/>
                <a:sym typeface="Corben"/>
              </a:rPr>
              <a:t>Git</a:t>
            </a:r>
            <a:r>
              <a:rPr lang="en-US" sz="3599" dirty="0">
                <a:solidFill>
                  <a:srgbClr val="FFC000"/>
                </a:solidFill>
                <a:latin typeface="Cooper Black" panose="0208090404030B020404" pitchFamily="18" charset="0"/>
                <a:ea typeface="Corben"/>
                <a:cs typeface="Corben"/>
                <a:sym typeface="Corben"/>
              </a:rPr>
              <a:t> and ABAP on </a:t>
            </a:r>
            <a:r>
              <a:rPr lang="en-US" sz="3599" dirty="0" err="1">
                <a:solidFill>
                  <a:srgbClr val="FFC000"/>
                </a:solidFill>
                <a:latin typeface="Cooper Black" panose="0208090404030B020404" pitchFamily="18" charset="0"/>
                <a:ea typeface="Corben"/>
                <a:cs typeface="Corben"/>
                <a:sym typeface="Corben"/>
              </a:rPr>
              <a:t>git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F632-0B89-F39A-3973-4D2397F81772}"/>
            </a:ext>
          </a:extLst>
        </p:cNvPr>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937935F4-8CC6-B54E-ADCA-C919E6861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04D779-33F7-5288-B20F-79D7F451017D}"/>
              </a:ext>
            </a:extLst>
          </p:cNvPr>
          <p:cNvSpPr txBox="1"/>
          <p:nvPr/>
        </p:nvSpPr>
        <p:spPr>
          <a:xfrm>
            <a:off x="509036" y="1492042"/>
            <a:ext cx="1266755" cy="523220"/>
          </a:xfrm>
          <a:prstGeom prst="rect">
            <a:avLst/>
          </a:prstGeom>
          <a:noFill/>
        </p:spPr>
        <p:txBody>
          <a:bodyPr wrap="square" rtlCol="0">
            <a:spAutoFit/>
          </a:bodyPr>
          <a:lstStyle/>
          <a:p>
            <a:pPr algn="ctr"/>
            <a:r>
              <a:rPr lang="en-IN" b="1" dirty="0"/>
              <a:t>BTP Admin</a:t>
            </a:r>
          </a:p>
          <a:p>
            <a:pPr algn="ctr"/>
            <a:r>
              <a:rPr lang="en-IN" b="1" dirty="0"/>
              <a:t>Anubhav</a:t>
            </a:r>
          </a:p>
        </p:txBody>
      </p:sp>
      <p:pic>
        <p:nvPicPr>
          <p:cNvPr id="1028" name="Picture 4" descr="Software developer - Free user icons">
            <a:extLst>
              <a:ext uri="{FF2B5EF4-FFF2-40B4-BE49-F238E27FC236}">
                <a16:creationId xmlns:a16="http://schemas.microsoft.com/office/drawing/2014/main" id="{83F29AB6-5D3E-F888-2D41-18B83AA0F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657" y="119029"/>
            <a:ext cx="1394791" cy="13947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B60D24-3AC2-50FE-D7AA-C73ED842F607}"/>
              </a:ext>
            </a:extLst>
          </p:cNvPr>
          <p:cNvSpPr txBox="1"/>
          <p:nvPr/>
        </p:nvSpPr>
        <p:spPr>
          <a:xfrm>
            <a:off x="3070674" y="1513820"/>
            <a:ext cx="1266755" cy="523220"/>
          </a:xfrm>
          <a:prstGeom prst="rect">
            <a:avLst/>
          </a:prstGeom>
          <a:noFill/>
        </p:spPr>
        <p:txBody>
          <a:bodyPr wrap="square" rtlCol="0">
            <a:spAutoFit/>
          </a:bodyPr>
          <a:lstStyle/>
          <a:p>
            <a:pPr algn="ctr"/>
            <a:r>
              <a:rPr lang="en-IN" b="1" dirty="0"/>
              <a:t>Developer</a:t>
            </a:r>
          </a:p>
          <a:p>
            <a:pPr algn="ctr"/>
            <a:r>
              <a:rPr lang="en-IN" b="1" dirty="0"/>
              <a:t>Raj Shetty</a:t>
            </a:r>
          </a:p>
        </p:txBody>
      </p:sp>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EB236143-7B16-3A2A-B3BC-99908A1AA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99A3E4-0FFA-D455-2D47-DF5470E1D834}"/>
              </a:ext>
            </a:extLst>
          </p:cNvPr>
          <p:cNvSpPr txBox="1"/>
          <p:nvPr/>
        </p:nvSpPr>
        <p:spPr>
          <a:xfrm>
            <a:off x="10371551" y="1744880"/>
            <a:ext cx="1508746" cy="523220"/>
          </a:xfrm>
          <a:prstGeom prst="rect">
            <a:avLst/>
          </a:prstGeom>
          <a:noFill/>
        </p:spPr>
        <p:txBody>
          <a:bodyPr wrap="square" rtlCol="0">
            <a:spAutoFit/>
          </a:bodyPr>
          <a:lstStyle/>
          <a:p>
            <a:pPr algn="ctr"/>
            <a:r>
              <a:rPr lang="en-IN" b="1" dirty="0"/>
              <a:t>Business user</a:t>
            </a:r>
          </a:p>
          <a:p>
            <a:pPr algn="ctr"/>
            <a:r>
              <a:rPr lang="en-IN" b="1" dirty="0"/>
              <a:t>Uday Shetty</a:t>
            </a:r>
          </a:p>
        </p:txBody>
      </p:sp>
      <p:pic>
        <p:nvPicPr>
          <p:cNvPr id="1034" name="Picture 10" descr="End user Flaticons Flat icon | Freepik">
            <a:extLst>
              <a:ext uri="{FF2B5EF4-FFF2-40B4-BE49-F238E27FC236}">
                <a16:creationId xmlns:a16="http://schemas.microsoft.com/office/drawing/2014/main" id="{A60518E9-E895-2A00-1D70-A9331597FB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C8958F2-5E4E-B9C4-E18C-98956E938B1B}"/>
              </a:ext>
            </a:extLst>
          </p:cNvPr>
          <p:cNvSpPr txBox="1"/>
          <p:nvPr/>
        </p:nvSpPr>
        <p:spPr>
          <a:xfrm>
            <a:off x="6288157" y="1492042"/>
            <a:ext cx="2517913" cy="523220"/>
          </a:xfrm>
          <a:prstGeom prst="rect">
            <a:avLst/>
          </a:prstGeom>
          <a:noFill/>
        </p:spPr>
        <p:txBody>
          <a:bodyPr wrap="square" rtlCol="0">
            <a:spAutoFit/>
          </a:bodyPr>
          <a:lstStyle/>
          <a:p>
            <a:pPr algn="ctr"/>
            <a:r>
              <a:rPr lang="en-IN" b="1" dirty="0"/>
              <a:t>Security Admin</a:t>
            </a:r>
          </a:p>
          <a:p>
            <a:pPr algn="ctr"/>
            <a:r>
              <a:rPr lang="en-IN" b="1" dirty="0" err="1"/>
              <a:t>Subu</a:t>
            </a:r>
            <a:r>
              <a:rPr lang="en-IN" b="1" dirty="0"/>
              <a:t> Swamy</a:t>
            </a:r>
          </a:p>
        </p:txBody>
      </p:sp>
      <p:sp>
        <p:nvSpPr>
          <p:cNvPr id="9" name="Rectangle 8">
            <a:extLst>
              <a:ext uri="{FF2B5EF4-FFF2-40B4-BE49-F238E27FC236}">
                <a16:creationId xmlns:a16="http://schemas.microsoft.com/office/drawing/2014/main" id="{1C081E0A-78AE-81F6-331D-96AF69030AC1}"/>
              </a:ext>
            </a:extLst>
          </p:cNvPr>
          <p:cNvSpPr/>
          <p:nvPr/>
        </p:nvSpPr>
        <p:spPr>
          <a:xfrm>
            <a:off x="688924" y="5893841"/>
            <a:ext cx="11079990" cy="637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BTP</a:t>
            </a:r>
          </a:p>
        </p:txBody>
      </p:sp>
      <p:cxnSp>
        <p:nvCxnSpPr>
          <p:cNvPr id="11" name="Connector: Elbow 10">
            <a:extLst>
              <a:ext uri="{FF2B5EF4-FFF2-40B4-BE49-F238E27FC236}">
                <a16:creationId xmlns:a16="http://schemas.microsoft.com/office/drawing/2014/main" id="{5918A6BB-0950-32A8-F239-B0AF4A03FA68}"/>
              </a:ext>
            </a:extLst>
          </p:cNvPr>
          <p:cNvCxnSpPr/>
          <p:nvPr/>
        </p:nvCxnSpPr>
        <p:spPr>
          <a:xfrm rot="16200000" flipH="1">
            <a:off x="352598" y="2612094"/>
            <a:ext cx="2349430" cy="11993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C9E4520-9CFB-1DF7-02BE-46F4227A9F15}"/>
              </a:ext>
            </a:extLst>
          </p:cNvPr>
          <p:cNvSpPr/>
          <p:nvPr/>
        </p:nvSpPr>
        <p:spPr>
          <a:xfrm>
            <a:off x="688924" y="4408248"/>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Cloud Identity Service</a:t>
            </a:r>
          </a:p>
          <a:p>
            <a:pPr algn="ctr"/>
            <a:r>
              <a:rPr lang="en-IN" dirty="0"/>
              <a:t>IDP</a:t>
            </a:r>
          </a:p>
        </p:txBody>
      </p:sp>
      <p:cxnSp>
        <p:nvCxnSpPr>
          <p:cNvPr id="14" name="Connector: Elbow 13">
            <a:extLst>
              <a:ext uri="{FF2B5EF4-FFF2-40B4-BE49-F238E27FC236}">
                <a16:creationId xmlns:a16="http://schemas.microsoft.com/office/drawing/2014/main" id="{BAB294A6-0EB5-6736-5D1C-0E0C4FF94898}"/>
              </a:ext>
            </a:extLst>
          </p:cNvPr>
          <p:cNvCxnSpPr>
            <a:stCxn id="12" idx="3"/>
            <a:endCxn id="8" idx="2"/>
          </p:cNvCxnSpPr>
          <p:nvPr/>
        </p:nvCxnSpPr>
        <p:spPr>
          <a:xfrm flipV="1">
            <a:off x="3736924" y="2015262"/>
            <a:ext cx="3810190" cy="28077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866AE26-DC89-48F0-3697-21A2ED73BC7C}"/>
              </a:ext>
            </a:extLst>
          </p:cNvPr>
          <p:cNvSpPr txBox="1"/>
          <p:nvPr/>
        </p:nvSpPr>
        <p:spPr>
          <a:xfrm>
            <a:off x="3935895" y="4769712"/>
            <a:ext cx="2690191" cy="523220"/>
          </a:xfrm>
          <a:prstGeom prst="rect">
            <a:avLst/>
          </a:prstGeom>
          <a:noFill/>
        </p:spPr>
        <p:txBody>
          <a:bodyPr wrap="square" rtlCol="0">
            <a:spAutoFit/>
          </a:bodyPr>
          <a:lstStyle/>
          <a:p>
            <a:r>
              <a:rPr lang="en-IN" dirty="0"/>
              <a:t>Selects as Admin to manage users, roles, permissions</a:t>
            </a:r>
          </a:p>
        </p:txBody>
      </p:sp>
      <p:sp>
        <p:nvSpPr>
          <p:cNvPr id="16" name="TextBox 15">
            <a:extLst>
              <a:ext uri="{FF2B5EF4-FFF2-40B4-BE49-F238E27FC236}">
                <a16:creationId xmlns:a16="http://schemas.microsoft.com/office/drawing/2014/main" id="{1B733414-9E2B-FAE4-26AB-7AF4E2B05955}"/>
              </a:ext>
            </a:extLst>
          </p:cNvPr>
          <p:cNvSpPr txBox="1"/>
          <p:nvPr/>
        </p:nvSpPr>
        <p:spPr>
          <a:xfrm>
            <a:off x="717015" y="3199527"/>
            <a:ext cx="2690191" cy="307777"/>
          </a:xfrm>
          <a:prstGeom prst="rect">
            <a:avLst/>
          </a:prstGeom>
          <a:noFill/>
        </p:spPr>
        <p:txBody>
          <a:bodyPr wrap="square" rtlCol="0">
            <a:spAutoFit/>
          </a:bodyPr>
          <a:lstStyle/>
          <a:p>
            <a:r>
              <a:rPr lang="en-IN" dirty="0"/>
              <a:t>Create subscription</a:t>
            </a:r>
          </a:p>
        </p:txBody>
      </p:sp>
      <p:sp>
        <p:nvSpPr>
          <p:cNvPr id="19" name="Arrow: Left 18">
            <a:extLst>
              <a:ext uri="{FF2B5EF4-FFF2-40B4-BE49-F238E27FC236}">
                <a16:creationId xmlns:a16="http://schemas.microsoft.com/office/drawing/2014/main" id="{23CB2479-7146-F126-491E-145C6BD60557}"/>
              </a:ext>
            </a:extLst>
          </p:cNvPr>
          <p:cNvSpPr/>
          <p:nvPr/>
        </p:nvSpPr>
        <p:spPr>
          <a:xfrm>
            <a:off x="8514522" y="816424"/>
            <a:ext cx="1656521" cy="47566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register</a:t>
            </a:r>
          </a:p>
        </p:txBody>
      </p:sp>
      <p:cxnSp>
        <p:nvCxnSpPr>
          <p:cNvPr id="21" name="Connector: Elbow 20">
            <a:extLst>
              <a:ext uri="{FF2B5EF4-FFF2-40B4-BE49-F238E27FC236}">
                <a16:creationId xmlns:a16="http://schemas.microsoft.com/office/drawing/2014/main" id="{F82B9859-7B88-2E8E-DE73-1F5860D64F24}"/>
              </a:ext>
            </a:extLst>
          </p:cNvPr>
          <p:cNvCxnSpPr>
            <a:cxnSpLocks/>
          </p:cNvCxnSpPr>
          <p:nvPr/>
        </p:nvCxnSpPr>
        <p:spPr>
          <a:xfrm rot="5400000">
            <a:off x="4301463" y="1280604"/>
            <a:ext cx="2641823" cy="38131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13E1CFE-0807-3DD5-FE65-34AE5569F1B6}"/>
              </a:ext>
            </a:extLst>
          </p:cNvPr>
          <p:cNvSpPr txBox="1"/>
          <p:nvPr/>
        </p:nvSpPr>
        <p:spPr>
          <a:xfrm>
            <a:off x="3947561" y="4038135"/>
            <a:ext cx="2690191" cy="461665"/>
          </a:xfrm>
          <a:prstGeom prst="rect">
            <a:avLst/>
          </a:prstGeom>
          <a:noFill/>
        </p:spPr>
        <p:txBody>
          <a:bodyPr wrap="square" rtlCol="0">
            <a:spAutoFit/>
          </a:bodyPr>
          <a:lstStyle/>
          <a:p>
            <a:r>
              <a:rPr lang="en-IN" sz="1200" dirty="0"/>
              <a:t>Register business user </a:t>
            </a:r>
            <a:r>
              <a:rPr lang="en-IN" sz="1200" dirty="0" err="1"/>
              <a:t>uday</a:t>
            </a:r>
            <a:r>
              <a:rPr lang="en-IN" sz="1200" dirty="0"/>
              <a:t> Shetty - sasoy29360@creteanu.com</a:t>
            </a:r>
          </a:p>
        </p:txBody>
      </p:sp>
      <p:sp>
        <p:nvSpPr>
          <p:cNvPr id="26" name="TextBox 25">
            <a:extLst>
              <a:ext uri="{FF2B5EF4-FFF2-40B4-BE49-F238E27FC236}">
                <a16:creationId xmlns:a16="http://schemas.microsoft.com/office/drawing/2014/main" id="{0D3F1C84-5602-4A5D-FBED-14FEF6BFC209}"/>
              </a:ext>
            </a:extLst>
          </p:cNvPr>
          <p:cNvSpPr txBox="1"/>
          <p:nvPr/>
        </p:nvSpPr>
        <p:spPr>
          <a:xfrm>
            <a:off x="9520892" y="2180358"/>
            <a:ext cx="3125925" cy="307777"/>
          </a:xfrm>
          <a:prstGeom prst="rect">
            <a:avLst/>
          </a:prstGeom>
          <a:noFill/>
        </p:spPr>
        <p:txBody>
          <a:bodyPr wrap="square">
            <a:spAutoFit/>
          </a:bodyPr>
          <a:lstStyle/>
          <a:p>
            <a:r>
              <a:rPr lang="en-IN" dirty="0"/>
              <a:t>sasoy29360@creteanu.com</a:t>
            </a:r>
          </a:p>
        </p:txBody>
      </p:sp>
      <p:pic>
        <p:nvPicPr>
          <p:cNvPr id="28" name="Picture 27">
            <a:extLst>
              <a:ext uri="{FF2B5EF4-FFF2-40B4-BE49-F238E27FC236}">
                <a16:creationId xmlns:a16="http://schemas.microsoft.com/office/drawing/2014/main" id="{54139DF7-B1E8-EFF8-98DD-8F393A5054EA}"/>
              </a:ext>
            </a:extLst>
          </p:cNvPr>
          <p:cNvPicPr>
            <a:picLocks noChangeAspect="1"/>
          </p:cNvPicPr>
          <p:nvPr/>
        </p:nvPicPr>
        <p:blipFill>
          <a:blip r:embed="rId6"/>
          <a:stretch>
            <a:fillRect/>
          </a:stretch>
        </p:blipFill>
        <p:spPr>
          <a:xfrm>
            <a:off x="10413034" y="2504272"/>
            <a:ext cx="1497092" cy="1238601"/>
          </a:xfrm>
          <a:prstGeom prst="rect">
            <a:avLst/>
          </a:prstGeom>
        </p:spPr>
      </p:pic>
      <p:cxnSp>
        <p:nvCxnSpPr>
          <p:cNvPr id="30" name="Connector: Curved 29">
            <a:extLst>
              <a:ext uri="{FF2B5EF4-FFF2-40B4-BE49-F238E27FC236}">
                <a16:creationId xmlns:a16="http://schemas.microsoft.com/office/drawing/2014/main" id="{C5FBA3F7-918B-BC9D-7C49-4DFB7F1189BB}"/>
              </a:ext>
            </a:extLst>
          </p:cNvPr>
          <p:cNvCxnSpPr>
            <a:stCxn id="12" idx="2"/>
          </p:cNvCxnSpPr>
          <p:nvPr/>
        </p:nvCxnSpPr>
        <p:spPr>
          <a:xfrm rot="16200000" flipH="1">
            <a:off x="2153296" y="5297310"/>
            <a:ext cx="656159" cy="536902"/>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EC62DA9-B271-6498-1B13-EF49C6B83F7D}"/>
              </a:ext>
            </a:extLst>
          </p:cNvPr>
          <p:cNvSpPr txBox="1"/>
          <p:nvPr/>
        </p:nvSpPr>
        <p:spPr>
          <a:xfrm>
            <a:off x="1466902" y="5365958"/>
            <a:ext cx="1492043" cy="307777"/>
          </a:xfrm>
          <a:prstGeom prst="rect">
            <a:avLst/>
          </a:prstGeom>
          <a:noFill/>
        </p:spPr>
        <p:txBody>
          <a:bodyPr wrap="square" rtlCol="0">
            <a:spAutoFit/>
          </a:bodyPr>
          <a:lstStyle/>
          <a:p>
            <a:r>
              <a:rPr lang="en-IN" dirty="0"/>
              <a:t>Establish trust</a:t>
            </a:r>
          </a:p>
        </p:txBody>
      </p:sp>
      <p:cxnSp>
        <p:nvCxnSpPr>
          <p:cNvPr id="33" name="Connector: Elbow 32">
            <a:extLst>
              <a:ext uri="{FF2B5EF4-FFF2-40B4-BE49-F238E27FC236}">
                <a16:creationId xmlns:a16="http://schemas.microsoft.com/office/drawing/2014/main" id="{3F109CB8-DB12-D3F1-9126-CFADAE12903D}"/>
              </a:ext>
            </a:extLst>
          </p:cNvPr>
          <p:cNvCxnSpPr>
            <a:cxnSpLocks/>
            <a:stCxn id="1026" idx="1"/>
            <a:endCxn id="31" idx="1"/>
          </p:cNvCxnSpPr>
          <p:nvPr/>
        </p:nvCxnSpPr>
        <p:spPr>
          <a:xfrm rot="10800000" flipH="1" flipV="1">
            <a:off x="283748" y="746021"/>
            <a:ext cx="1183153" cy="4773826"/>
          </a:xfrm>
          <a:prstGeom prst="bentConnector3">
            <a:avLst>
              <a:gd name="adj1" fmla="val -1932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854EF6B-3D01-B9DF-2EB8-5CF2033DCDB6}"/>
              </a:ext>
            </a:extLst>
          </p:cNvPr>
          <p:cNvSpPr/>
          <p:nvPr/>
        </p:nvSpPr>
        <p:spPr>
          <a:xfrm>
            <a:off x="3046412" y="3014283"/>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p:txBody>
      </p:sp>
      <p:sp>
        <p:nvSpPr>
          <p:cNvPr id="42" name="TextBox 41">
            <a:extLst>
              <a:ext uri="{FF2B5EF4-FFF2-40B4-BE49-F238E27FC236}">
                <a16:creationId xmlns:a16="http://schemas.microsoft.com/office/drawing/2014/main" id="{8EBE8742-8B8D-E86D-B976-F42E4877315A}"/>
              </a:ext>
            </a:extLst>
          </p:cNvPr>
          <p:cNvSpPr txBox="1"/>
          <p:nvPr/>
        </p:nvSpPr>
        <p:spPr>
          <a:xfrm>
            <a:off x="1511317" y="2327686"/>
            <a:ext cx="2690191" cy="307777"/>
          </a:xfrm>
          <a:prstGeom prst="rect">
            <a:avLst/>
          </a:prstGeom>
          <a:noFill/>
        </p:spPr>
        <p:txBody>
          <a:bodyPr wrap="square" rtlCol="0">
            <a:spAutoFit/>
          </a:bodyPr>
          <a:lstStyle/>
          <a:p>
            <a:r>
              <a:rPr lang="en-IN" dirty="0"/>
              <a:t>Create subscription</a:t>
            </a:r>
          </a:p>
        </p:txBody>
      </p:sp>
      <p:cxnSp>
        <p:nvCxnSpPr>
          <p:cNvPr id="44" name="Connector: Elbow 43">
            <a:extLst>
              <a:ext uri="{FF2B5EF4-FFF2-40B4-BE49-F238E27FC236}">
                <a16:creationId xmlns:a16="http://schemas.microsoft.com/office/drawing/2014/main" id="{5C2C4454-BC23-1528-77B6-18C06F92C104}"/>
              </a:ext>
            </a:extLst>
          </p:cNvPr>
          <p:cNvCxnSpPr>
            <a:stCxn id="4" idx="2"/>
            <a:endCxn id="41" idx="0"/>
          </p:cNvCxnSpPr>
          <p:nvPr/>
        </p:nvCxnSpPr>
        <p:spPr>
          <a:xfrm rot="16200000" flipH="1">
            <a:off x="2356903" y="800773"/>
            <a:ext cx="999021" cy="34279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7D605AB-8450-8418-DE51-E01DE4133775}"/>
              </a:ext>
            </a:extLst>
          </p:cNvPr>
          <p:cNvCxnSpPr>
            <a:stCxn id="1026" idx="3"/>
          </p:cNvCxnSpPr>
          <p:nvPr/>
        </p:nvCxnSpPr>
        <p:spPr>
          <a:xfrm>
            <a:off x="1775791" y="746021"/>
            <a:ext cx="1444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A670E545-45E4-7459-0B54-F33382813D78}"/>
              </a:ext>
            </a:extLst>
          </p:cNvPr>
          <p:cNvSpPr txBox="1"/>
          <p:nvPr/>
        </p:nvSpPr>
        <p:spPr>
          <a:xfrm>
            <a:off x="1921564" y="437322"/>
            <a:ext cx="1298713" cy="738664"/>
          </a:xfrm>
          <a:prstGeom prst="rect">
            <a:avLst/>
          </a:prstGeom>
          <a:noFill/>
        </p:spPr>
        <p:txBody>
          <a:bodyPr wrap="square" rtlCol="0">
            <a:spAutoFit/>
          </a:bodyPr>
          <a:lstStyle/>
          <a:p>
            <a:r>
              <a:rPr lang="en-IN" dirty="0"/>
              <a:t>Grant access of Build </a:t>
            </a:r>
            <a:r>
              <a:rPr lang="en-IN" dirty="0" err="1"/>
              <a:t>Workzone</a:t>
            </a:r>
            <a:endParaRPr lang="en-IN" dirty="0"/>
          </a:p>
        </p:txBody>
      </p:sp>
      <p:sp>
        <p:nvSpPr>
          <p:cNvPr id="2" name="Cube 1">
            <a:extLst>
              <a:ext uri="{FF2B5EF4-FFF2-40B4-BE49-F238E27FC236}">
                <a16:creationId xmlns:a16="http://schemas.microsoft.com/office/drawing/2014/main" id="{8003A676-3322-A1C1-F3C2-644F879C45C6}"/>
              </a:ext>
            </a:extLst>
          </p:cNvPr>
          <p:cNvSpPr/>
          <p:nvPr/>
        </p:nvSpPr>
        <p:spPr>
          <a:xfrm>
            <a:off x="4570412" y="602974"/>
            <a:ext cx="1313553" cy="662396"/>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Application</a:t>
            </a:r>
          </a:p>
          <a:p>
            <a:pPr algn="ctr"/>
            <a:r>
              <a:rPr lang="en-IN" dirty="0"/>
              <a:t>(BAS)</a:t>
            </a:r>
          </a:p>
        </p:txBody>
      </p:sp>
      <p:cxnSp>
        <p:nvCxnSpPr>
          <p:cNvPr id="6" name="Connector: Elbow 5">
            <a:extLst>
              <a:ext uri="{FF2B5EF4-FFF2-40B4-BE49-F238E27FC236}">
                <a16:creationId xmlns:a16="http://schemas.microsoft.com/office/drawing/2014/main" id="{46EF1F0D-FE27-D5DD-8131-C1C5BC976F93}"/>
              </a:ext>
            </a:extLst>
          </p:cNvPr>
          <p:cNvCxnSpPr>
            <a:stCxn id="2" idx="3"/>
          </p:cNvCxnSpPr>
          <p:nvPr/>
        </p:nvCxnSpPr>
        <p:spPr>
          <a:xfrm rot="16200000" flipH="1">
            <a:off x="4571542" y="1838217"/>
            <a:ext cx="4628471" cy="3482776"/>
          </a:xfrm>
          <a:prstGeom prst="bentConnector3">
            <a:avLst>
              <a:gd name="adj1" fmla="val 23515"/>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34B899A0-532D-F499-92FB-74351F062E7E}"/>
              </a:ext>
            </a:extLst>
          </p:cNvPr>
          <p:cNvSpPr/>
          <p:nvPr/>
        </p:nvSpPr>
        <p:spPr>
          <a:xfrm>
            <a:off x="7898296" y="5893841"/>
            <a:ext cx="1925698" cy="4728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HTML5 Repo</a:t>
            </a:r>
          </a:p>
        </p:txBody>
      </p:sp>
      <p:cxnSp>
        <p:nvCxnSpPr>
          <p:cNvPr id="18" name="Connector: Elbow 17">
            <a:extLst>
              <a:ext uri="{FF2B5EF4-FFF2-40B4-BE49-F238E27FC236}">
                <a16:creationId xmlns:a16="http://schemas.microsoft.com/office/drawing/2014/main" id="{F6E7BDF6-3AFC-D283-F86C-6971B7EB5736}"/>
              </a:ext>
            </a:extLst>
          </p:cNvPr>
          <p:cNvCxnSpPr>
            <a:cxnSpLocks/>
            <a:endCxn id="41" idx="3"/>
          </p:cNvCxnSpPr>
          <p:nvPr/>
        </p:nvCxnSpPr>
        <p:spPr>
          <a:xfrm rot="5400000">
            <a:off x="5910862" y="2112389"/>
            <a:ext cx="1500162" cy="11330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3469715-A295-AEC6-B149-80ACA8911FEE}"/>
              </a:ext>
            </a:extLst>
          </p:cNvPr>
          <p:cNvSpPr txBox="1"/>
          <p:nvPr/>
        </p:nvSpPr>
        <p:spPr>
          <a:xfrm>
            <a:off x="5551075" y="2096853"/>
            <a:ext cx="2690191" cy="276999"/>
          </a:xfrm>
          <a:prstGeom prst="rect">
            <a:avLst/>
          </a:prstGeom>
          <a:noFill/>
        </p:spPr>
        <p:txBody>
          <a:bodyPr wrap="square" rtlCol="0">
            <a:spAutoFit/>
          </a:bodyPr>
          <a:lstStyle/>
          <a:p>
            <a:r>
              <a:rPr lang="en-IN" sz="1200" b="1" dirty="0"/>
              <a:t>MTAR deploy</a:t>
            </a:r>
          </a:p>
        </p:txBody>
      </p:sp>
      <p:cxnSp>
        <p:nvCxnSpPr>
          <p:cNvPr id="29" name="Connector: Elbow 28">
            <a:extLst>
              <a:ext uri="{FF2B5EF4-FFF2-40B4-BE49-F238E27FC236}">
                <a16:creationId xmlns:a16="http://schemas.microsoft.com/office/drawing/2014/main" id="{1A7BC164-E753-01F2-6880-3545ED41CF3F}"/>
              </a:ext>
            </a:extLst>
          </p:cNvPr>
          <p:cNvCxnSpPr>
            <a:cxnSpLocks/>
          </p:cNvCxnSpPr>
          <p:nvPr/>
        </p:nvCxnSpPr>
        <p:spPr>
          <a:xfrm>
            <a:off x="6094412" y="3682186"/>
            <a:ext cx="2766733" cy="22163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3EE3659-DE86-0472-F2CD-B8A7D0ED1B8C}"/>
              </a:ext>
            </a:extLst>
          </p:cNvPr>
          <p:cNvSpPr txBox="1"/>
          <p:nvPr/>
        </p:nvSpPr>
        <p:spPr>
          <a:xfrm>
            <a:off x="6115548" y="2726311"/>
            <a:ext cx="1330923" cy="830997"/>
          </a:xfrm>
          <a:prstGeom prst="rect">
            <a:avLst/>
          </a:prstGeom>
          <a:noFill/>
        </p:spPr>
        <p:txBody>
          <a:bodyPr wrap="square" rtlCol="0">
            <a:spAutoFit/>
          </a:bodyPr>
          <a:lstStyle/>
          <a:p>
            <a:r>
              <a:rPr lang="en-IN" sz="1200" dirty="0"/>
              <a:t>Create Role, </a:t>
            </a:r>
            <a:r>
              <a:rPr lang="en-IN" sz="1200" dirty="0" err="1"/>
              <a:t>Catalog</a:t>
            </a:r>
            <a:r>
              <a:rPr lang="en-IN" sz="1200" dirty="0"/>
              <a:t>, Group with assignment of Role</a:t>
            </a:r>
          </a:p>
        </p:txBody>
      </p:sp>
    </p:spTree>
    <p:extLst>
      <p:ext uri="{BB962C8B-B14F-4D97-AF65-F5344CB8AC3E}">
        <p14:creationId xmlns:p14="http://schemas.microsoft.com/office/powerpoint/2010/main" val="132757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28</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3815</TotalTime>
  <Words>965</Words>
  <Application>Microsoft Office PowerPoint</Application>
  <PresentationFormat>Custom</PresentationFormat>
  <Paragraphs>169</Paragraphs>
  <Slides>12</Slides>
  <Notes>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12</vt:i4>
      </vt:variant>
    </vt:vector>
  </HeadingPairs>
  <TitlesOfParts>
    <vt:vector size="25" baseType="lpstr">
      <vt:lpstr>Cambria</vt:lpstr>
      <vt:lpstr>Quattrocento Sans</vt:lpstr>
      <vt:lpstr>Cooper Black</vt:lpstr>
      <vt:lpstr>Arial Black</vt:lpstr>
      <vt:lpstr>Open Sans</vt:lpstr>
      <vt:lpstr>Corben</vt:lpstr>
      <vt:lpstr>Segoe UI Light</vt:lpstr>
      <vt:lpstr>Segoe UI</vt:lpstr>
      <vt:lpstr>Calibri</vt:lpstr>
      <vt:lpstr>Arial</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133</cp:revision>
  <dcterms:created xsi:type="dcterms:W3CDTF">2023-10-03T21:33:12Z</dcterms:created>
  <dcterms:modified xsi:type="dcterms:W3CDTF">2026-02-26T08:16:27Z</dcterms:modified>
</cp:coreProperties>
</file>