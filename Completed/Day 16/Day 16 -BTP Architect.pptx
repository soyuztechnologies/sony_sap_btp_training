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Lst>
  <p:notesMasterIdLst>
    <p:notesMasterId r:id="rId32"/>
  </p:notesMasterIdLst>
  <p:sldIdLst>
    <p:sldId id="276" r:id="rId3"/>
    <p:sldId id="4122" r:id="rId4"/>
    <p:sldId id="277" r:id="rId5"/>
    <p:sldId id="4712" r:id="rId6"/>
    <p:sldId id="4714" r:id="rId7"/>
    <p:sldId id="4713" r:id="rId8"/>
    <p:sldId id="4715" r:id="rId9"/>
    <p:sldId id="4716" r:id="rId10"/>
    <p:sldId id="4717" r:id="rId11"/>
    <p:sldId id="4718" r:id="rId12"/>
    <p:sldId id="4719" r:id="rId13"/>
    <p:sldId id="4721" r:id="rId14"/>
    <p:sldId id="4824" r:id="rId15"/>
    <p:sldId id="4825" r:id="rId16"/>
    <p:sldId id="4826" r:id="rId17"/>
    <p:sldId id="4827" r:id="rId18"/>
    <p:sldId id="4828" r:id="rId19"/>
    <p:sldId id="4832" r:id="rId20"/>
    <p:sldId id="4840" r:id="rId21"/>
    <p:sldId id="4833" r:id="rId22"/>
    <p:sldId id="4834" r:id="rId23"/>
    <p:sldId id="4835" r:id="rId24"/>
    <p:sldId id="4836" r:id="rId25"/>
    <p:sldId id="4798" r:id="rId26"/>
    <p:sldId id="4787" r:id="rId27"/>
    <p:sldId id="4788" r:id="rId28"/>
    <p:sldId id="282" r:id="rId29"/>
    <p:sldId id="280" r:id="rId30"/>
    <p:sldId id="4711" r:id="rId31"/>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40" autoAdjust="0"/>
    <p:restoredTop sz="95033" autoAdjust="0"/>
  </p:normalViewPr>
  <p:slideViewPr>
    <p:cSldViewPr>
      <p:cViewPr varScale="1">
        <p:scale>
          <a:sx n="102" d="100"/>
          <a:sy n="102" d="100"/>
        </p:scale>
        <p:origin x="640" y="288"/>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2/10/2026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29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2.xml"/><Relationship Id="rId1" Type="http://schemas.openxmlformats.org/officeDocument/2006/relationships/themeOverride" Target="../theme/themeOverride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2/10/2026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67662" y="1498600"/>
            <a:ext cx="7008574" cy="711200"/>
          </a:xfrm>
          <a:prstGeom prst="rect">
            <a:avLst/>
          </a:prstGeom>
        </p:spPr>
        <p:txBody>
          <a:bodyPr vert="horz" lIns="91440" tIns="45720" rIns="91440" bIns="45720" rtlCol="0" anchor="ctr">
            <a:noAutofit/>
          </a:bodyPr>
          <a:lstStyle>
            <a:lvl1pPr algn="r">
              <a:defRPr lang="en-US" sz="4799" dirty="0"/>
            </a:lvl1pPr>
          </a:lstStyle>
          <a:p>
            <a:pPr lvl="0"/>
            <a:r>
              <a:rPr lang="en-US" dirty="0"/>
              <a:t>Click to edit title</a:t>
            </a:r>
          </a:p>
        </p:txBody>
      </p:sp>
      <p:sp>
        <p:nvSpPr>
          <p:cNvPr id="3" name="Subtitle 2"/>
          <p:cNvSpPr>
            <a:spLocks noGrp="1"/>
          </p:cNvSpPr>
          <p:nvPr>
            <p:ph type="subTitle" idx="1"/>
          </p:nvPr>
        </p:nvSpPr>
        <p:spPr>
          <a:xfrm>
            <a:off x="4367662" y="2209800"/>
            <a:ext cx="7008574" cy="1219200"/>
          </a:xfrm>
        </p:spPr>
        <p:txBody>
          <a:bodyPr/>
          <a:lstStyle>
            <a:lvl1pPr marL="0" indent="0" algn="r">
              <a:buNone/>
              <a:defRPr>
                <a:solidFill>
                  <a:schemeClr val="bg1">
                    <a:lumMod val="50000"/>
                  </a:schemeClr>
                </a:solidFill>
                <a:effectLst/>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BA5CE939-B381-3A45-13A6-F58CC000B48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5421984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609441" y="6356351"/>
            <a:ext cx="2844059" cy="365125"/>
          </a:xfrm>
        </p:spPr>
        <p:txBody>
          <a:bodyPr/>
          <a:lstStyle>
            <a:lvl1pPr algn="l">
              <a:defRPr/>
            </a:lvl1pPr>
          </a:lstStyle>
          <a:p>
            <a:fld id="{B6F15528-21DE-4FAA-801E-634DDDAF4B2B}" type="slidenum">
              <a:rPr lang="en-US" smtClean="0"/>
              <a:pPr/>
              <a:t>‹#›</a:t>
            </a:fld>
            <a:endParaRPr lang="en-US"/>
          </a:p>
        </p:txBody>
      </p:sp>
      <p:sp>
        <p:nvSpPr>
          <p:cNvPr id="8"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BE9035D6-1EB0-67FD-788E-258B941A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8312760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2833" y="4406901"/>
            <a:ext cx="10360501" cy="1362075"/>
          </a:xfrm>
          <a:prstGeom prst="rect">
            <a:avLst/>
          </a:prstGeom>
        </p:spPr>
        <p:txBody>
          <a:bodyPr anchor="t"/>
          <a:lstStyle>
            <a:lvl1pPr algn="l">
              <a:defRPr sz="4266" b="1" cap="none"/>
            </a:lvl1pPr>
          </a:lstStyle>
          <a:p>
            <a:r>
              <a:rPr lang="en-US"/>
              <a:t>Click to edit title style</a:t>
            </a:r>
            <a:endParaRPr lang="en-US" dirty="0"/>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666">
                <a:solidFill>
                  <a:schemeClr val="tx1">
                    <a:tint val="75000"/>
                  </a:schemeClr>
                </a:solidFill>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304721" y="6356351"/>
            <a:ext cx="2844059" cy="365125"/>
          </a:xfrm>
        </p:spPr>
        <p:txBody>
          <a:bodyPr/>
          <a:lstStyle>
            <a:lvl1pPr algn="l">
              <a:defRPr/>
            </a:lvl1p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19859E39-C1F4-F452-A609-81C93B9864E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5737351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76201"/>
            <a:ext cx="10969943" cy="812801"/>
          </a:xfrm>
          <a:prstGeom prst="rect">
            <a:avLst/>
          </a:prstGeom>
        </p:spPr>
        <p:txBody>
          <a:bodyPr/>
          <a:lstStyle/>
          <a:p>
            <a:r>
              <a:rPr lang="en-US" dirty="0"/>
              <a:t>Click to edit title style</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5383398"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p:cNvSpPr>
            <a:spLocks noGrp="1"/>
          </p:cNvSpPr>
          <p:nvPr>
            <p:ph sz="quarter" idx="14"/>
          </p:nvPr>
        </p:nvSpPr>
        <p:spPr>
          <a:xfrm>
            <a:off x="6195986" y="1295400"/>
            <a:ext cx="5383398" cy="4876800"/>
          </a:xfrm>
        </p:spPr>
        <p:txBody>
          <a:bodyPr>
            <a:normAutofit/>
          </a:bodyPr>
          <a:lstStyle>
            <a:lvl1pPr marL="0" inden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yellow circle with black letters and a black background&#10;&#10;Description automatically generated">
            <a:extLst>
              <a:ext uri="{FF2B5EF4-FFF2-40B4-BE49-F238E27FC236}">
                <a16:creationId xmlns:a16="http://schemas.microsoft.com/office/drawing/2014/main" id="{361F23F3-4276-7AC6-FA37-CDC6351B9F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206302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4316876"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8"/>
          <p:cNvSpPr>
            <a:spLocks noGrp="1"/>
          </p:cNvSpPr>
          <p:nvPr>
            <p:ph sz="quarter" idx="15"/>
          </p:nvPr>
        </p:nvSpPr>
        <p:spPr>
          <a:xfrm>
            <a:off x="8024310"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5FDBF0D3-6CF9-4440-94E9-AA4A742169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0300600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4316876"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CB3935A3-C998-9B3D-079E-B7BC7E8C2A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3649059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www.anubhavtrainings.com</a:t>
            </a:r>
          </a:p>
        </p:txBody>
      </p:sp>
      <p:sp>
        <p:nvSpPr>
          <p:cNvPr id="5" name="Slide Number Placeholder 4"/>
          <p:cNvSpPr>
            <a:spLocks noGrp="1"/>
          </p:cNvSpPr>
          <p:nvPr>
            <p:ph type="sldNum" sz="quarter" idx="12"/>
          </p:nvPr>
        </p:nvSpPr>
        <p:spPr>
          <a:xfrm>
            <a:off x="203147" y="6375400"/>
            <a:ext cx="2844059" cy="365125"/>
          </a:xfrm>
        </p:spPr>
        <p:txBody>
          <a:bodyPr/>
          <a:lstStyle>
            <a:lvl1pPr algn="l">
              <a:defRPr/>
            </a:lvl1pPr>
          </a:lstStyle>
          <a:p>
            <a:fld id="{B6F15528-21DE-4FAA-801E-634DDDAF4B2B}" type="slidenum">
              <a:rPr lang="en-US" smtClean="0"/>
              <a:pPr/>
              <a:t>‹#›</a:t>
            </a:fld>
            <a:endParaRPr lang="en-US"/>
          </a:p>
        </p:txBody>
      </p:sp>
      <p:sp>
        <p:nvSpPr>
          <p:cNvPr id="6" name="Title 1"/>
          <p:cNvSpPr>
            <a:spLocks noGrp="1"/>
          </p:cNvSpPr>
          <p:nvPr>
            <p:ph type="title" hasCustomPrompt="1"/>
          </p:nvPr>
        </p:nvSpPr>
        <p:spPr>
          <a:xfrm>
            <a:off x="222045" y="279401"/>
            <a:ext cx="10969943" cy="711201"/>
          </a:xfrm>
          <a:prstGeom prst="rect">
            <a:avLst/>
          </a:prstGeom>
        </p:spPr>
        <p:txBody>
          <a:bodyPr/>
          <a:lstStyle>
            <a:lvl1pPr>
              <a:defRPr sz="3466">
                <a:gradFill>
                  <a:gsLst>
                    <a:gs pos="0">
                      <a:srgbClr val="002060"/>
                    </a:gs>
                    <a:gs pos="100000">
                      <a:srgbClr val="0070C0"/>
                    </a:gs>
                  </a:gsLst>
                  <a:lin ang="5400000" scaled="0"/>
                </a:gradFill>
                <a:latin typeface="Cooper Black" panose="0208090404030B020404" pitchFamily="18" charset="0"/>
              </a:defRPr>
            </a:lvl1pPr>
          </a:lstStyle>
          <a:p>
            <a:r>
              <a:rPr lang="en-US" dirty="0"/>
              <a:t>Click to edit title style</a:t>
            </a:r>
          </a:p>
        </p:txBody>
      </p:sp>
      <p:pic>
        <p:nvPicPr>
          <p:cNvPr id="8" name="Picture 7" descr="A yellow circle with black letters and a black background&#10;&#10;Description automatically generated">
            <a:extLst>
              <a:ext uri="{FF2B5EF4-FFF2-40B4-BE49-F238E27FC236}">
                <a16:creationId xmlns:a16="http://schemas.microsoft.com/office/drawing/2014/main" id="{547D5447-D822-E114-D105-30608DBB5E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77810" y="76201"/>
            <a:ext cx="658210" cy="650287"/>
          </a:xfrm>
          <a:prstGeom prst="rect">
            <a:avLst/>
          </a:prstGeom>
        </p:spPr>
      </p:pic>
    </p:spTree>
    <p:extLst>
      <p:ext uri="{BB962C8B-B14F-4D97-AF65-F5344CB8AC3E}">
        <p14:creationId xmlns:p14="http://schemas.microsoft.com/office/powerpoint/2010/main" val="16351548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www.anubhavtrainings.com</a:t>
            </a:r>
          </a:p>
        </p:txBody>
      </p:sp>
      <p:sp>
        <p:nvSpPr>
          <p:cNvPr id="4" name="Slide Number Placeholder 3"/>
          <p:cNvSpPr>
            <a:spLocks noGrp="1"/>
          </p:cNvSpPr>
          <p:nvPr>
            <p:ph type="sldNum" sz="quarter" idx="12"/>
          </p:nvPr>
        </p:nvSpPr>
        <p:spPr>
          <a:xfrm>
            <a:off x="203147" y="6356351"/>
            <a:ext cx="2844059" cy="365125"/>
          </a:xfrm>
        </p:spPr>
        <p:txBody>
          <a:bodyPr/>
          <a:lstStyle>
            <a:lvl1pPr algn="l">
              <a:defRPr/>
            </a:lvl1pPr>
          </a:lstStyle>
          <a:p>
            <a:fld id="{B6F15528-21DE-4FAA-801E-634DDDAF4B2B}" type="slidenum">
              <a:rPr lang="en-US" smtClean="0"/>
              <a:pPr/>
              <a:t>‹#›</a:t>
            </a:fld>
            <a:endParaRPr lang="en-US"/>
          </a:p>
        </p:txBody>
      </p:sp>
      <p:pic>
        <p:nvPicPr>
          <p:cNvPr id="5" name="Picture 4" descr="A yellow circle with black letters and a black background&#10;&#10;Description automatically generated">
            <a:extLst>
              <a:ext uri="{FF2B5EF4-FFF2-40B4-BE49-F238E27FC236}">
                <a16:creationId xmlns:a16="http://schemas.microsoft.com/office/drawing/2014/main" id="{BFC459EA-C247-C5E7-6491-AEF2B5F94E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300472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3" y="1092200"/>
            <a:ext cx="4010039" cy="1162051"/>
          </a:xfrm>
          <a:prstGeom prst="rect">
            <a:avLst/>
          </a:prstGeom>
        </p:spPr>
        <p:txBody>
          <a:bodyPr anchor="b"/>
          <a:lstStyle>
            <a:lvl1pPr algn="l">
              <a:defRPr sz="2666" b="1"/>
            </a:lvl1pPr>
          </a:lstStyle>
          <a:p>
            <a:r>
              <a:rPr lang="en-US"/>
              <a:t>Click to edit Master title style</a:t>
            </a:r>
          </a:p>
        </p:txBody>
      </p:sp>
      <p:sp>
        <p:nvSpPr>
          <p:cNvPr id="3" name="Content Placeholder 2"/>
          <p:cNvSpPr>
            <a:spLocks noGrp="1"/>
          </p:cNvSpPr>
          <p:nvPr>
            <p:ph idx="1"/>
          </p:nvPr>
        </p:nvSpPr>
        <p:spPr>
          <a:xfrm>
            <a:off x="4765492" y="1092201"/>
            <a:ext cx="6813892" cy="5033964"/>
          </a:xfrm>
        </p:spPr>
        <p:txBody>
          <a:bodyPr>
            <a:normAutofit/>
          </a:bodyPr>
          <a:lstStyle>
            <a:lvl1pPr>
              <a:defRPr sz="3199"/>
            </a:lvl1pPr>
            <a:lvl2pPr>
              <a:defRPr sz="2666"/>
            </a:lvl2pPr>
            <a:lvl3pPr>
              <a:defRPr sz="2399"/>
            </a:lvl3pPr>
            <a:lvl4pPr>
              <a:defRPr sz="2133"/>
            </a:lvl4pPr>
            <a:lvl5pPr>
              <a:defRPr sz="2133"/>
            </a:lvl5pPr>
            <a:lvl6pPr>
              <a:defRPr sz="2666"/>
            </a:lvl6pPr>
            <a:lvl7pPr>
              <a:defRPr sz="2666"/>
            </a:lvl7pPr>
            <a:lvl8pPr>
              <a:defRPr sz="2666"/>
            </a:lvl8pPr>
            <a:lvl9pPr>
              <a:defRPr sz="266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443" y="2311401"/>
            <a:ext cx="4010039" cy="3814764"/>
          </a:xfr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40C7AE83-204E-A484-7237-A7EA3EBC4D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0703294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9"/>
          </a:xfrm>
          <a:prstGeom prst="rect">
            <a:avLst/>
          </a:prstGeom>
        </p:spPr>
        <p:txBody>
          <a:bodyPr anchor="b"/>
          <a:lstStyle>
            <a:lvl1pPr algn="l">
              <a:defRPr sz="2666" b="1"/>
            </a:lvl1pPr>
          </a:lstStyle>
          <a:p>
            <a:r>
              <a:rPr lang="en-US"/>
              <a:t>Click to edit Master title style</a:t>
            </a:r>
          </a:p>
        </p:txBody>
      </p:sp>
      <p:sp>
        <p:nvSpPr>
          <p:cNvPr id="3" name="Picture Placeholder 2"/>
          <p:cNvSpPr>
            <a:spLocks noGrp="1"/>
          </p:cNvSpPr>
          <p:nvPr>
            <p:ph type="pic" idx="1"/>
          </p:nvPr>
        </p:nvSpPr>
        <p:spPr>
          <a:xfrm>
            <a:off x="2389095" y="1193799"/>
            <a:ext cx="7313295" cy="3533775"/>
          </a:xfrm>
        </p:spPr>
        <p:txBody>
          <a:bodyPr/>
          <a:lstStyle>
            <a:lvl1pPr marL="0" indent="0">
              <a:buNone/>
              <a:defRPr sz="4266"/>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endParaRPr lang="en-US"/>
          </a:p>
        </p:txBody>
      </p:sp>
      <p:sp>
        <p:nvSpPr>
          <p:cNvPr id="4" name="Text Placeholder 3"/>
          <p:cNvSpPr>
            <a:spLocks noGrp="1"/>
          </p:cNvSpPr>
          <p:nvPr>
            <p:ph type="body" sz="half" idx="2"/>
          </p:nvPr>
        </p:nvSpPr>
        <p:spPr>
          <a:xfrm>
            <a:off x="2389095" y="5367338"/>
            <a:ext cx="7313295" cy="804863"/>
          </a:xfr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23DAEE89-C03B-1705-0782-CE3B90349A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5958783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FDBE062A-C013-A203-17DC-F9C61DBF2E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3677042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836898" y="1396999"/>
            <a:ext cx="2742486" cy="4729164"/>
          </a:xfrm>
          <a:prstGeom prst="rect">
            <a:avLst/>
          </a:prstGeom>
        </p:spPr>
        <p:txBody>
          <a:bodyPr vert="eaVert"/>
          <a:lstStyle/>
          <a:p>
            <a:r>
              <a:rPr lang="en-US" dirty="0"/>
              <a:t>Click to edit title style</a:t>
            </a:r>
          </a:p>
        </p:txBody>
      </p:sp>
      <p:sp>
        <p:nvSpPr>
          <p:cNvPr id="3" name="Vertical Text Placeholder 2"/>
          <p:cNvSpPr>
            <a:spLocks noGrp="1"/>
          </p:cNvSpPr>
          <p:nvPr>
            <p:ph type="body" orient="vert" idx="1"/>
          </p:nvPr>
        </p:nvSpPr>
        <p:spPr>
          <a:xfrm>
            <a:off x="609441" y="1396999"/>
            <a:ext cx="8024310" cy="47291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CA6DBE16-F08A-6A41-329C-56621EE536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9576933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3">
            <a:lum/>
          </a:blip>
          <a:srcRect/>
          <a:stretch>
            <a:fillRect b="-20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441" y="1803400"/>
            <a:ext cx="10969943" cy="1727200"/>
          </a:xfrm>
          <a:prstGeom prst="rect">
            <a:avLst/>
          </a:prstGeom>
        </p:spPr>
        <p:txBody>
          <a:bodyPr/>
          <a:lstStyle>
            <a:lvl1pPr algn="l">
              <a:defRPr sz="7998" b="1">
                <a:gradFill flip="none" rotWithShape="1">
                  <a:gsLst>
                    <a:gs pos="0">
                      <a:srgbClr val="0070C0"/>
                    </a:gs>
                    <a:gs pos="100000">
                      <a:srgbClr val="00B0F0"/>
                    </a:gs>
                  </a:gsLst>
                  <a:lin ang="16200000" scaled="1"/>
                  <a:tileRect/>
                </a:gradFill>
                <a:effectLst/>
              </a:defRPr>
            </a:lvl1pPr>
          </a:lstStyle>
          <a:p>
            <a:r>
              <a:rPr lang="en-US"/>
              <a:t>Thank You</a:t>
            </a:r>
            <a:endParaRPr lang="en-US" dirty="0"/>
          </a:p>
        </p:txBody>
      </p:sp>
      <p:sp>
        <p:nvSpPr>
          <p:cNvPr id="3" name="Subtitle 2"/>
          <p:cNvSpPr>
            <a:spLocks noGrp="1"/>
          </p:cNvSpPr>
          <p:nvPr>
            <p:ph type="subTitle" idx="1" hasCustomPrompt="1"/>
          </p:nvPr>
        </p:nvSpPr>
        <p:spPr>
          <a:xfrm>
            <a:off x="609441" y="3530600"/>
            <a:ext cx="10969943" cy="1219200"/>
          </a:xfrm>
        </p:spPr>
        <p:txBody>
          <a:bodyPr/>
          <a:lstStyle>
            <a:lvl1pPr marL="0" indent="0" algn="l">
              <a:buNone/>
              <a:defRPr>
                <a:solidFill>
                  <a:schemeClr val="tx1">
                    <a:lumMod val="85000"/>
                    <a:lumOff val="15000"/>
                  </a:schemeClr>
                </a:solidFill>
                <a:effectLst/>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a:t>Contact Information</a:t>
            </a:r>
            <a:endParaRPr lang="en-US" dirty="0"/>
          </a:p>
        </p:txBody>
      </p:sp>
      <p:pic>
        <p:nvPicPr>
          <p:cNvPr id="4" name="Picture 3" descr="A yellow circle with black letters and a black background&#10;&#10;Description automatically generated">
            <a:extLst>
              <a:ext uri="{FF2B5EF4-FFF2-40B4-BE49-F238E27FC236}">
                <a16:creationId xmlns:a16="http://schemas.microsoft.com/office/drawing/2014/main" id="{624E307F-BC23-D6AD-3DDE-45757A637AC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67813327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jp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2/10/2026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441" y="1295401"/>
            <a:ext cx="10969943" cy="483076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940CB006-912F-44E1-9560-9CBFEBE946EF}" type="datetime4">
              <a:rPr lang="en-US" smtClean="0"/>
              <a:t>February 10, 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r>
              <a:rPr lang="en-US"/>
              <a:t>slidemodel.com</a:t>
            </a:r>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25160400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hf hdr="0"/>
  <p:txStyles>
    <p:titleStyle>
      <a:lvl1pPr algn="l" defTabSz="1218895" rtl="0" eaLnBrk="1" latinLnBrk="0" hangingPunct="1">
        <a:spcBef>
          <a:spcPct val="0"/>
        </a:spcBef>
        <a:buNone/>
        <a:defRPr lang="en-US" sz="3732" b="1" kern="1200" dirty="0">
          <a:gradFill flip="none" rotWithShape="1">
            <a:gsLst>
              <a:gs pos="0">
                <a:srgbClr val="26588D"/>
              </a:gs>
              <a:gs pos="100000">
                <a:srgbClr val="4197C6"/>
              </a:gs>
            </a:gsLst>
            <a:lin ang="16200000" scaled="1"/>
            <a:tileRect/>
          </a:gradFill>
          <a:latin typeface="Arial" pitchFamily="34" charset="0"/>
          <a:ea typeface="+mj-ea"/>
          <a:cs typeface="Arial" pitchFamily="34" charset="0"/>
        </a:defRPr>
      </a:lvl1pPr>
    </p:titleStyle>
    <p:bodyStyle>
      <a:lvl1pPr marL="457086" indent="-457086" algn="l" defTabSz="1218895" rtl="0" eaLnBrk="1" latinLnBrk="0" hangingPunct="1">
        <a:spcBef>
          <a:spcPct val="20000"/>
        </a:spcBef>
        <a:buFont typeface="Arial" pitchFamily="34" charset="0"/>
        <a:buChar char="•"/>
        <a:defRPr sz="3199" kern="1200">
          <a:solidFill>
            <a:schemeClr val="tx1"/>
          </a:solidFill>
          <a:latin typeface="+mn-lt"/>
          <a:ea typeface="+mn-ea"/>
          <a:cs typeface="+mn-cs"/>
        </a:defRPr>
      </a:lvl1pPr>
      <a:lvl2pPr marL="990352" indent="-380905"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2pPr>
      <a:lvl3pPr marL="1523619" indent="-304724" algn="l" defTabSz="1218895" rtl="0" eaLnBrk="1" latinLnBrk="0" hangingPunct="1">
        <a:spcBef>
          <a:spcPct val="20000"/>
        </a:spcBef>
        <a:buFont typeface="Arial" pitchFamily="34" charset="0"/>
        <a:buChar char="•"/>
        <a:defRPr sz="2399" kern="1200">
          <a:solidFill>
            <a:schemeClr val="tx1"/>
          </a:solidFill>
          <a:latin typeface="+mn-lt"/>
          <a:ea typeface="+mn-ea"/>
          <a:cs typeface="+mn-cs"/>
        </a:defRPr>
      </a:lvl3pPr>
      <a:lvl4pPr marL="2133067" indent="-304724" algn="l" defTabSz="1218895" rtl="0" eaLnBrk="1" latinLnBrk="0" hangingPunct="1">
        <a:spcBef>
          <a:spcPct val="20000"/>
        </a:spcBef>
        <a:buFont typeface="Arial" pitchFamily="34" charset="0"/>
        <a:buChar char="–"/>
        <a:defRPr sz="2133" kern="1200">
          <a:solidFill>
            <a:schemeClr val="tx1"/>
          </a:solidFill>
          <a:latin typeface="+mn-lt"/>
          <a:ea typeface="+mn-ea"/>
          <a:cs typeface="+mn-cs"/>
        </a:defRPr>
      </a:lvl4pPr>
      <a:lvl5pPr marL="2742514" indent="-304724" algn="l" defTabSz="1218895" rtl="0" eaLnBrk="1" latinLnBrk="0" hangingPunct="1">
        <a:spcBef>
          <a:spcPct val="20000"/>
        </a:spcBef>
        <a:buFont typeface="Arial" pitchFamily="34" charset="0"/>
        <a:buChar char="»"/>
        <a:defRPr sz="2133" kern="1200">
          <a:solidFill>
            <a:schemeClr val="tx1"/>
          </a:solidFill>
          <a:latin typeface="+mn-lt"/>
          <a:ea typeface="+mn-ea"/>
          <a:cs typeface="+mn-cs"/>
        </a:defRPr>
      </a:lvl5pPr>
      <a:lvl6pPr marL="3351962"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6pPr>
      <a:lvl7pPr marL="3961409"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7pPr>
      <a:lvl8pPr marL="4570857"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8pPr>
      <a:lvl9pPr marL="5180305"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9pPr>
    </p:bodyStyle>
    <p:other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hyperlink" Target="https://api.sap.com/" TargetMode="Externa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sap.github.io/cloud-sdk/docs/js/getting-started"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21.png"/><Relationship Id="rId4" Type="http://schemas.openxmlformats.org/officeDocument/2006/relationships/hyperlink" Target="http://www.dribbble.com/" TargetMode="External"/></Relationships>
</file>

<file path=ppt/slides/_rels/slide29.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2.jpeg"/><Relationship Id="rId7" Type="http://schemas.openxmlformats.org/officeDocument/2006/relationships/image" Target="../media/image26.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25.tiff"/><Relationship Id="rId5" Type="http://schemas.openxmlformats.org/officeDocument/2006/relationships/image" Target="../media/image24.tiff"/><Relationship Id="rId4" Type="http://schemas.openxmlformats.org/officeDocument/2006/relationships/image" Target="../media/image23.tiff"/><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16</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a:t>
            </a:r>
            <a:r>
              <a:rPr lang="en-US">
                <a:solidFill>
                  <a:schemeClr val="bg1"/>
                </a:solidFill>
                <a:latin typeface="Cooper Black" panose="0208090404030B020404" pitchFamily="18" charset="0"/>
              </a:rPr>
              <a:t>Day 16</a:t>
            </a:r>
            <a:endParaRPr lang="en-IN" dirty="0">
              <a:solidFill>
                <a:schemeClr val="bg1"/>
              </a:solidFill>
              <a:latin typeface="Cooper Black" panose="0208090404030B020404" pitchFamily="18" charset="0"/>
            </a:endParaRPr>
          </a:p>
        </p:txBody>
      </p:sp>
      <p:sp>
        <p:nvSpPr>
          <p:cNvPr id="5" name="Rectangle: Rounded Corners 4">
            <a:extLst>
              <a:ext uri="{FF2B5EF4-FFF2-40B4-BE49-F238E27FC236}">
                <a16:creationId xmlns:a16="http://schemas.microsoft.com/office/drawing/2014/main" id="{8EE791A1-2958-78B0-ECDD-F89DDE02F4B6}"/>
              </a:ext>
            </a:extLst>
          </p:cNvPr>
          <p:cNvSpPr/>
          <p:nvPr/>
        </p:nvSpPr>
        <p:spPr>
          <a:xfrm>
            <a:off x="3453886" y="131323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5B89E801-E285-EBED-06F5-7E2B1B8E1E7A}"/>
              </a:ext>
            </a:extLst>
          </p:cNvPr>
          <p:cNvSpPr/>
          <p:nvPr/>
        </p:nvSpPr>
        <p:spPr>
          <a:xfrm>
            <a:off x="3453886" y="3068960"/>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ABAB72EB-5FE6-B5CA-C654-D15CE54000E9}"/>
              </a:ext>
            </a:extLst>
          </p:cNvPr>
          <p:cNvSpPr/>
          <p:nvPr/>
        </p:nvSpPr>
        <p:spPr>
          <a:xfrm>
            <a:off x="3453886" y="4824683"/>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1A27EE0E-9853-D0E9-E5A8-87BE731920EA}"/>
              </a:ext>
            </a:extLst>
          </p:cNvPr>
          <p:cNvGrpSpPr/>
          <p:nvPr/>
        </p:nvGrpSpPr>
        <p:grpSpPr>
          <a:xfrm>
            <a:off x="4118571" y="1566251"/>
            <a:ext cx="4359562" cy="922336"/>
            <a:chOff x="1395616" y="871285"/>
            <a:chExt cx="3825734" cy="1064137"/>
          </a:xfrm>
        </p:grpSpPr>
        <p:sp>
          <p:nvSpPr>
            <p:cNvPr id="9" name="TextBox 8">
              <a:extLst>
                <a:ext uri="{FF2B5EF4-FFF2-40B4-BE49-F238E27FC236}">
                  <a16:creationId xmlns:a16="http://schemas.microsoft.com/office/drawing/2014/main" id="{8B429D3B-7C38-B33E-067B-835764291C87}"/>
                </a:ext>
              </a:extLst>
            </p:cNvPr>
            <p:cNvSpPr txBox="1"/>
            <p:nvPr/>
          </p:nvSpPr>
          <p:spPr>
            <a:xfrm>
              <a:off x="2984420" y="1243566"/>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What is Clean Core</a:t>
              </a:r>
            </a:p>
          </p:txBody>
        </p:sp>
        <p:sp>
          <p:nvSpPr>
            <p:cNvPr id="10" name="TextBox 9">
              <a:extLst>
                <a:ext uri="{FF2B5EF4-FFF2-40B4-BE49-F238E27FC236}">
                  <a16:creationId xmlns:a16="http://schemas.microsoft.com/office/drawing/2014/main" id="{118C39A3-CA2B-146F-D772-D14998B4D672}"/>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 name="Group 10">
            <a:extLst>
              <a:ext uri="{FF2B5EF4-FFF2-40B4-BE49-F238E27FC236}">
                <a16:creationId xmlns:a16="http://schemas.microsoft.com/office/drawing/2014/main" id="{F7773B0C-4C36-F5CF-6049-15A22D3353B9}"/>
              </a:ext>
            </a:extLst>
          </p:cNvPr>
          <p:cNvGrpSpPr/>
          <p:nvPr/>
        </p:nvGrpSpPr>
        <p:grpSpPr>
          <a:xfrm>
            <a:off x="4118571" y="3321970"/>
            <a:ext cx="4431570" cy="922336"/>
            <a:chOff x="1395616" y="871285"/>
            <a:chExt cx="3825734" cy="1064137"/>
          </a:xfrm>
        </p:grpSpPr>
        <p:sp>
          <p:nvSpPr>
            <p:cNvPr id="12" name="TextBox 11">
              <a:extLst>
                <a:ext uri="{FF2B5EF4-FFF2-40B4-BE49-F238E27FC236}">
                  <a16:creationId xmlns:a16="http://schemas.microsoft.com/office/drawing/2014/main" id="{58BB80F5-BF50-C0D2-25DF-59F695C70420}"/>
                </a:ext>
              </a:extLst>
            </p:cNvPr>
            <p:cNvSpPr txBox="1"/>
            <p:nvPr/>
          </p:nvSpPr>
          <p:spPr>
            <a:xfrm>
              <a:off x="2984420" y="1243562"/>
              <a:ext cx="2236930" cy="319585"/>
            </a:xfrm>
            <a:prstGeom prst="rect">
              <a:avLst/>
            </a:prstGeom>
            <a:noFill/>
          </p:spPr>
          <p:txBody>
            <a:bodyPr wrap="square" lIns="0" tIns="0" rIns="0" bIns="0" rtlCol="0" anchor="ctr">
              <a:spAutoFit/>
            </a:bodyPr>
            <a:lstStyle/>
            <a:p>
              <a:r>
                <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Extensibility Model</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3" name="TextBox 12">
              <a:extLst>
                <a:ext uri="{FF2B5EF4-FFF2-40B4-BE49-F238E27FC236}">
                  <a16:creationId xmlns:a16="http://schemas.microsoft.com/office/drawing/2014/main" id="{6824D9CE-F522-A342-1387-CC55E9C4494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4" name="Group 13">
            <a:extLst>
              <a:ext uri="{FF2B5EF4-FFF2-40B4-BE49-F238E27FC236}">
                <a16:creationId xmlns:a16="http://schemas.microsoft.com/office/drawing/2014/main" id="{51BD1B35-A18B-68D7-E07B-1A1A9AD2E859}"/>
              </a:ext>
            </a:extLst>
          </p:cNvPr>
          <p:cNvGrpSpPr/>
          <p:nvPr/>
        </p:nvGrpSpPr>
        <p:grpSpPr>
          <a:xfrm>
            <a:off x="4118571" y="5077693"/>
            <a:ext cx="4431570" cy="922336"/>
            <a:chOff x="1395616" y="871285"/>
            <a:chExt cx="4290329" cy="1064137"/>
          </a:xfrm>
        </p:grpSpPr>
        <p:sp>
          <p:nvSpPr>
            <p:cNvPr id="15" name="TextBox 14">
              <a:extLst>
                <a:ext uri="{FF2B5EF4-FFF2-40B4-BE49-F238E27FC236}">
                  <a16:creationId xmlns:a16="http://schemas.microsoft.com/office/drawing/2014/main" id="{2BEC2032-A77D-A0B0-E149-A23467DC1CAA}"/>
                </a:ext>
              </a:extLst>
            </p:cNvPr>
            <p:cNvSpPr txBox="1"/>
            <p:nvPr/>
          </p:nvSpPr>
          <p:spPr>
            <a:xfrm>
              <a:off x="2984420" y="1243560"/>
              <a:ext cx="2701525" cy="31958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Connect S/4HANA</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6" name="TextBox 15">
              <a:extLst>
                <a:ext uri="{FF2B5EF4-FFF2-40B4-BE49-F238E27FC236}">
                  <a16:creationId xmlns:a16="http://schemas.microsoft.com/office/drawing/2014/main" id="{C60195D9-2B81-A5CA-17AA-E418FAD1D320}"/>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8BABE-0AA6-8150-20C6-04FE530EF92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688663-05EA-574D-7D06-B9BA22E9105B}"/>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90527F5B-EEFE-511B-0D48-3ADAA8735421}"/>
              </a:ext>
            </a:extLst>
          </p:cNvPr>
          <p:cNvSpPr>
            <a:spLocks noGrp="1"/>
          </p:cNvSpPr>
          <p:nvPr>
            <p:ph type="sldNum" sz="quarter" idx="12"/>
          </p:nvPr>
        </p:nvSpPr>
        <p:spPr>
          <a:xfrm>
            <a:off x="204683" y="6373867"/>
            <a:ext cx="609283" cy="364936"/>
          </a:xfrm>
        </p:spPr>
        <p:txBody>
          <a:bodyPr/>
          <a:lstStyle/>
          <a:p>
            <a:pPr defTabSz="1218895"/>
            <a:fld id="{B6F15528-21DE-4FAA-801E-634DDDAF4B2B}" type="slidenum">
              <a:rPr lang="en-US">
                <a:solidFill>
                  <a:prstClr val="black">
                    <a:tint val="75000"/>
                  </a:prstClr>
                </a:solidFill>
                <a:latin typeface="Calibri"/>
              </a:rPr>
              <a:pPr defTabSz="1218895"/>
              <a:t>4</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3EA034B1-2CE0-E3E4-A6EB-D7B4A1348139}"/>
              </a:ext>
            </a:extLst>
          </p:cNvPr>
          <p:cNvSpPr>
            <a:spLocks noGrp="1"/>
          </p:cNvSpPr>
          <p:nvPr>
            <p:ph type="title"/>
          </p:nvPr>
        </p:nvSpPr>
        <p:spPr>
          <a:xfrm>
            <a:off x="103135" y="179493"/>
            <a:ext cx="10967086" cy="710831"/>
          </a:xfrm>
        </p:spPr>
        <p:txBody>
          <a:bodyPr/>
          <a:lstStyle/>
          <a:p>
            <a:r>
              <a:rPr lang="en-IN" sz="3333" dirty="0"/>
              <a:t>Welcome to the new world</a:t>
            </a:r>
          </a:p>
        </p:txBody>
      </p:sp>
      <p:pic>
        <p:nvPicPr>
          <p:cNvPr id="2" name="Picture 1">
            <a:extLst>
              <a:ext uri="{FF2B5EF4-FFF2-40B4-BE49-F238E27FC236}">
                <a16:creationId xmlns:a16="http://schemas.microsoft.com/office/drawing/2014/main" id="{428570B2-0C2B-9FB1-3655-39F0F2B02D06}"/>
              </a:ext>
            </a:extLst>
          </p:cNvPr>
          <p:cNvPicPr>
            <a:picLocks noChangeAspect="1"/>
          </p:cNvPicPr>
          <p:nvPr/>
        </p:nvPicPr>
        <p:blipFill>
          <a:blip r:embed="rId2"/>
          <a:stretch>
            <a:fillRect/>
          </a:stretch>
        </p:blipFill>
        <p:spPr>
          <a:xfrm>
            <a:off x="103135" y="1778042"/>
            <a:ext cx="11967420" cy="3689830"/>
          </a:xfrm>
          <a:prstGeom prst="rect">
            <a:avLst/>
          </a:prstGeom>
        </p:spPr>
      </p:pic>
    </p:spTree>
    <p:extLst>
      <p:ext uri="{BB962C8B-B14F-4D97-AF65-F5344CB8AC3E}">
        <p14:creationId xmlns:p14="http://schemas.microsoft.com/office/powerpoint/2010/main" val="3339761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38C5F-9053-AE6F-F95E-BE7CAD6169C7}"/>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386B15E0-93CA-7B8A-B7E0-12E7E264A343}"/>
              </a:ext>
            </a:extLst>
          </p:cNvPr>
          <p:cNvSpPr/>
          <p:nvPr/>
        </p:nvSpPr>
        <p:spPr>
          <a:xfrm>
            <a:off x="8421526" y="1334448"/>
            <a:ext cx="3239516" cy="439134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defTabSz="1218895"/>
            <a:endParaRPr lang="en-IN" sz="1800">
              <a:solidFill>
                <a:prstClr val="black"/>
              </a:solidFill>
              <a:latin typeface="Calibri"/>
            </a:endParaRPr>
          </a:p>
        </p:txBody>
      </p:sp>
      <p:sp>
        <p:nvSpPr>
          <p:cNvPr id="12" name="Rectangle: Rounded Corners 11">
            <a:extLst>
              <a:ext uri="{FF2B5EF4-FFF2-40B4-BE49-F238E27FC236}">
                <a16:creationId xmlns:a16="http://schemas.microsoft.com/office/drawing/2014/main" id="{A6897B2A-3067-C765-50C6-F4925AD4439E}"/>
              </a:ext>
            </a:extLst>
          </p:cNvPr>
          <p:cNvSpPr/>
          <p:nvPr/>
        </p:nvSpPr>
        <p:spPr>
          <a:xfrm>
            <a:off x="4766071" y="1341312"/>
            <a:ext cx="3239516" cy="439134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defTabSz="1218895"/>
            <a:endParaRPr lang="en-IN" sz="1800">
              <a:solidFill>
                <a:prstClr val="black"/>
              </a:solidFill>
              <a:latin typeface="Calibri"/>
            </a:endParaRPr>
          </a:p>
        </p:txBody>
      </p:sp>
      <p:sp>
        <p:nvSpPr>
          <p:cNvPr id="11" name="Rectangle: Rounded Corners 10">
            <a:extLst>
              <a:ext uri="{FF2B5EF4-FFF2-40B4-BE49-F238E27FC236}">
                <a16:creationId xmlns:a16="http://schemas.microsoft.com/office/drawing/2014/main" id="{4116373E-9EB6-D0D3-C007-6832C717176B}"/>
              </a:ext>
            </a:extLst>
          </p:cNvPr>
          <p:cNvSpPr/>
          <p:nvPr/>
        </p:nvSpPr>
        <p:spPr>
          <a:xfrm>
            <a:off x="1127154" y="1341312"/>
            <a:ext cx="3239516" cy="439134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defTabSz="1218895"/>
            <a:endParaRPr lang="en-IN" sz="1800">
              <a:solidFill>
                <a:prstClr val="black"/>
              </a:solidFill>
              <a:latin typeface="Calibri"/>
            </a:endParaRPr>
          </a:p>
        </p:txBody>
      </p:sp>
      <p:sp>
        <p:nvSpPr>
          <p:cNvPr id="3" name="Footer Placeholder 2">
            <a:extLst>
              <a:ext uri="{FF2B5EF4-FFF2-40B4-BE49-F238E27FC236}">
                <a16:creationId xmlns:a16="http://schemas.microsoft.com/office/drawing/2014/main" id="{8F917924-C113-6A1B-CE98-70115B6A6ECE}"/>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706E3146-BEAA-4402-B035-310F2A6635D6}"/>
              </a:ext>
            </a:extLst>
          </p:cNvPr>
          <p:cNvSpPr>
            <a:spLocks noGrp="1"/>
          </p:cNvSpPr>
          <p:nvPr>
            <p:ph type="sldNum" sz="quarter" idx="12"/>
          </p:nvPr>
        </p:nvSpPr>
        <p:spPr>
          <a:xfrm>
            <a:off x="204683" y="6373867"/>
            <a:ext cx="609283" cy="364936"/>
          </a:xfrm>
        </p:spPr>
        <p:txBody>
          <a:bodyPr/>
          <a:lstStyle/>
          <a:p>
            <a:pPr defTabSz="1218895"/>
            <a:fld id="{B6F15528-21DE-4FAA-801E-634DDDAF4B2B}" type="slidenum">
              <a:rPr lang="en-US">
                <a:solidFill>
                  <a:prstClr val="black">
                    <a:tint val="75000"/>
                  </a:prstClr>
                </a:solidFill>
                <a:latin typeface="Calibri"/>
              </a:rPr>
              <a:pPr defTabSz="1218895"/>
              <a:t>5</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0E1F4AE1-8C4B-D24F-9FA8-872C5D4F2740}"/>
              </a:ext>
            </a:extLst>
          </p:cNvPr>
          <p:cNvSpPr>
            <a:spLocks noGrp="1"/>
          </p:cNvSpPr>
          <p:nvPr>
            <p:ph type="title"/>
          </p:nvPr>
        </p:nvSpPr>
        <p:spPr>
          <a:xfrm>
            <a:off x="103135" y="179493"/>
            <a:ext cx="10967086" cy="710831"/>
          </a:xfrm>
        </p:spPr>
        <p:txBody>
          <a:bodyPr/>
          <a:lstStyle/>
          <a:p>
            <a:r>
              <a:rPr lang="en-IN" sz="3333" dirty="0"/>
              <a:t>Looming Threats</a:t>
            </a:r>
          </a:p>
        </p:txBody>
      </p:sp>
      <p:pic>
        <p:nvPicPr>
          <p:cNvPr id="6" name="Picture 5">
            <a:extLst>
              <a:ext uri="{FF2B5EF4-FFF2-40B4-BE49-F238E27FC236}">
                <a16:creationId xmlns:a16="http://schemas.microsoft.com/office/drawing/2014/main" id="{C5BE58F5-695F-B83A-C07A-659002044ACE}"/>
              </a:ext>
            </a:extLst>
          </p:cNvPr>
          <p:cNvPicPr>
            <a:picLocks noChangeAspect="1"/>
          </p:cNvPicPr>
          <p:nvPr/>
        </p:nvPicPr>
        <p:blipFill>
          <a:blip r:embed="rId2"/>
          <a:stretch>
            <a:fillRect/>
          </a:stretch>
        </p:blipFill>
        <p:spPr>
          <a:xfrm>
            <a:off x="1271133" y="1557280"/>
            <a:ext cx="2958481" cy="2793416"/>
          </a:xfrm>
          <a:prstGeom prst="rect">
            <a:avLst/>
          </a:prstGeom>
        </p:spPr>
      </p:pic>
      <p:pic>
        <p:nvPicPr>
          <p:cNvPr id="8" name="Picture 7">
            <a:extLst>
              <a:ext uri="{FF2B5EF4-FFF2-40B4-BE49-F238E27FC236}">
                <a16:creationId xmlns:a16="http://schemas.microsoft.com/office/drawing/2014/main" id="{7629A8A3-B4E3-1360-6795-5BDCD8A170B6}"/>
              </a:ext>
            </a:extLst>
          </p:cNvPr>
          <p:cNvPicPr>
            <a:picLocks noChangeAspect="1"/>
          </p:cNvPicPr>
          <p:nvPr/>
        </p:nvPicPr>
        <p:blipFill>
          <a:blip r:embed="rId3"/>
          <a:stretch>
            <a:fillRect/>
          </a:stretch>
        </p:blipFill>
        <p:spPr>
          <a:xfrm>
            <a:off x="4900241" y="1557280"/>
            <a:ext cx="2971179" cy="2806113"/>
          </a:xfrm>
          <a:prstGeom prst="rect">
            <a:avLst/>
          </a:prstGeom>
        </p:spPr>
      </p:pic>
      <p:pic>
        <p:nvPicPr>
          <p:cNvPr id="10" name="Picture 9">
            <a:extLst>
              <a:ext uri="{FF2B5EF4-FFF2-40B4-BE49-F238E27FC236}">
                <a16:creationId xmlns:a16="http://schemas.microsoft.com/office/drawing/2014/main" id="{DE700108-8C70-558C-9876-AA22CFEAA7C8}"/>
              </a:ext>
            </a:extLst>
          </p:cNvPr>
          <p:cNvPicPr>
            <a:picLocks noChangeAspect="1"/>
          </p:cNvPicPr>
          <p:nvPr/>
        </p:nvPicPr>
        <p:blipFill>
          <a:blip r:embed="rId4"/>
          <a:stretch>
            <a:fillRect/>
          </a:stretch>
        </p:blipFill>
        <p:spPr>
          <a:xfrm>
            <a:off x="8542047" y="1544583"/>
            <a:ext cx="2971179" cy="2793416"/>
          </a:xfrm>
          <a:prstGeom prst="rect">
            <a:avLst/>
          </a:prstGeom>
        </p:spPr>
      </p:pic>
      <p:sp>
        <p:nvSpPr>
          <p:cNvPr id="14" name="TextBox 13">
            <a:extLst>
              <a:ext uri="{FF2B5EF4-FFF2-40B4-BE49-F238E27FC236}">
                <a16:creationId xmlns:a16="http://schemas.microsoft.com/office/drawing/2014/main" id="{12A2D827-0E57-35C6-CD56-DC708EB80327}"/>
              </a:ext>
            </a:extLst>
          </p:cNvPr>
          <p:cNvSpPr txBox="1"/>
          <p:nvPr/>
        </p:nvSpPr>
        <p:spPr>
          <a:xfrm>
            <a:off x="1415111" y="4652817"/>
            <a:ext cx="2591613" cy="953851"/>
          </a:xfrm>
          <a:prstGeom prst="rect">
            <a:avLst/>
          </a:prstGeom>
          <a:noFill/>
        </p:spPr>
        <p:txBody>
          <a:bodyPr wrap="square" rtlCol="0">
            <a:spAutoFit/>
          </a:bodyPr>
          <a:lstStyle/>
          <a:p>
            <a:pPr algn="ctr" defTabSz="1218895"/>
            <a:r>
              <a:rPr lang="en-IN" sz="2799" dirty="0">
                <a:solidFill>
                  <a:prstClr val="black"/>
                </a:solidFill>
                <a:latin typeface="ADLaM Display" panose="02010000000000000000" pitchFamily="2" charset="0"/>
                <a:ea typeface="ADLaM Display" panose="02010000000000000000" pitchFamily="2" charset="0"/>
                <a:cs typeface="ADLaM Display" panose="02010000000000000000" pitchFamily="2" charset="0"/>
              </a:rPr>
              <a:t>Geopolitical</a:t>
            </a:r>
          </a:p>
          <a:p>
            <a:pPr algn="ctr" defTabSz="1218895"/>
            <a:r>
              <a:rPr lang="en-IN" sz="2799" dirty="0">
                <a:solidFill>
                  <a:prstClr val="black"/>
                </a:solidFill>
                <a:latin typeface="ADLaM Display" panose="02010000000000000000" pitchFamily="2" charset="0"/>
                <a:ea typeface="ADLaM Display" panose="02010000000000000000" pitchFamily="2" charset="0"/>
                <a:cs typeface="ADLaM Display" panose="02010000000000000000" pitchFamily="2" charset="0"/>
              </a:rPr>
              <a:t>Instability </a:t>
            </a:r>
          </a:p>
        </p:txBody>
      </p:sp>
      <p:sp>
        <p:nvSpPr>
          <p:cNvPr id="15" name="TextBox 14">
            <a:extLst>
              <a:ext uri="{FF2B5EF4-FFF2-40B4-BE49-F238E27FC236}">
                <a16:creationId xmlns:a16="http://schemas.microsoft.com/office/drawing/2014/main" id="{A11D0D34-A56E-3842-71EE-29084BB56C47}"/>
              </a:ext>
            </a:extLst>
          </p:cNvPr>
          <p:cNvSpPr txBox="1"/>
          <p:nvPr/>
        </p:nvSpPr>
        <p:spPr>
          <a:xfrm>
            <a:off x="5014573" y="4649531"/>
            <a:ext cx="2591613" cy="953851"/>
          </a:xfrm>
          <a:prstGeom prst="rect">
            <a:avLst/>
          </a:prstGeom>
          <a:noFill/>
        </p:spPr>
        <p:txBody>
          <a:bodyPr wrap="square" rtlCol="0">
            <a:spAutoFit/>
          </a:bodyPr>
          <a:lstStyle/>
          <a:p>
            <a:pPr algn="ctr" defTabSz="1218895"/>
            <a:r>
              <a:rPr lang="en-IN" sz="2799" dirty="0">
                <a:solidFill>
                  <a:prstClr val="black"/>
                </a:solidFill>
                <a:latin typeface="ADLaM Display" panose="02010000000000000000" pitchFamily="2" charset="0"/>
                <a:ea typeface="ADLaM Display" panose="02010000000000000000" pitchFamily="2" charset="0"/>
                <a:cs typeface="ADLaM Display" panose="02010000000000000000" pitchFamily="2" charset="0"/>
              </a:rPr>
              <a:t>Economic Uncertainties</a:t>
            </a:r>
          </a:p>
        </p:txBody>
      </p:sp>
      <p:sp>
        <p:nvSpPr>
          <p:cNvPr id="16" name="TextBox 15">
            <a:extLst>
              <a:ext uri="{FF2B5EF4-FFF2-40B4-BE49-F238E27FC236}">
                <a16:creationId xmlns:a16="http://schemas.microsoft.com/office/drawing/2014/main" id="{2B1E4614-4B0F-9F65-81C5-2738FE2F3A86}"/>
              </a:ext>
            </a:extLst>
          </p:cNvPr>
          <p:cNvSpPr txBox="1"/>
          <p:nvPr/>
        </p:nvSpPr>
        <p:spPr>
          <a:xfrm>
            <a:off x="8731829" y="4569693"/>
            <a:ext cx="2591613" cy="953851"/>
          </a:xfrm>
          <a:prstGeom prst="rect">
            <a:avLst/>
          </a:prstGeom>
          <a:noFill/>
        </p:spPr>
        <p:txBody>
          <a:bodyPr wrap="square" rtlCol="0">
            <a:spAutoFit/>
          </a:bodyPr>
          <a:lstStyle/>
          <a:p>
            <a:pPr algn="ctr" defTabSz="1218895"/>
            <a:r>
              <a:rPr lang="en-IN" sz="2799" dirty="0">
                <a:solidFill>
                  <a:prstClr val="black"/>
                </a:solidFill>
                <a:latin typeface="ADLaM Display" panose="02010000000000000000" pitchFamily="2" charset="0"/>
                <a:ea typeface="ADLaM Display" panose="02010000000000000000" pitchFamily="2" charset="0"/>
                <a:cs typeface="ADLaM Display" panose="02010000000000000000" pitchFamily="2" charset="0"/>
              </a:rPr>
              <a:t>Disruptive Technologies</a:t>
            </a:r>
          </a:p>
        </p:txBody>
      </p:sp>
    </p:spTree>
    <p:extLst>
      <p:ext uri="{BB962C8B-B14F-4D97-AF65-F5344CB8AC3E}">
        <p14:creationId xmlns:p14="http://schemas.microsoft.com/office/powerpoint/2010/main" val="729932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animBg="1"/>
      <p:bldP spid="11" grpId="0" animBg="1"/>
      <p:bldP spid="14" grpId="0"/>
      <p:bldP spid="15"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96F17-313F-2D13-FE2C-D4C2F9F0A95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0A70B7-32DD-64EB-4E0A-8C454F3C283F}"/>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9CBB9239-13C2-BA56-B028-A7C37A8AF7DA}"/>
              </a:ext>
            </a:extLst>
          </p:cNvPr>
          <p:cNvSpPr>
            <a:spLocks noGrp="1"/>
          </p:cNvSpPr>
          <p:nvPr>
            <p:ph type="sldNum" sz="quarter" idx="12"/>
          </p:nvPr>
        </p:nvSpPr>
        <p:spPr>
          <a:xfrm>
            <a:off x="204683" y="6373867"/>
            <a:ext cx="609283" cy="364936"/>
          </a:xfrm>
        </p:spPr>
        <p:txBody>
          <a:bodyPr/>
          <a:lstStyle/>
          <a:p>
            <a:pPr defTabSz="1218895"/>
            <a:fld id="{B6F15528-21DE-4FAA-801E-634DDDAF4B2B}" type="slidenum">
              <a:rPr lang="en-US">
                <a:solidFill>
                  <a:prstClr val="black">
                    <a:tint val="75000"/>
                  </a:prstClr>
                </a:solidFill>
                <a:latin typeface="Calibri"/>
              </a:rPr>
              <a:pPr defTabSz="1218895"/>
              <a:t>6</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973F2214-7475-AFE1-98E6-5C2619AAA3E1}"/>
              </a:ext>
            </a:extLst>
          </p:cNvPr>
          <p:cNvSpPr>
            <a:spLocks noGrp="1"/>
          </p:cNvSpPr>
          <p:nvPr>
            <p:ph type="title"/>
          </p:nvPr>
        </p:nvSpPr>
        <p:spPr>
          <a:xfrm>
            <a:off x="103135" y="179493"/>
            <a:ext cx="10967086" cy="710831"/>
          </a:xfrm>
        </p:spPr>
        <p:txBody>
          <a:bodyPr/>
          <a:lstStyle/>
          <a:p>
            <a:r>
              <a:rPr lang="en-IN" sz="3333" dirty="0"/>
              <a:t>Everything is code</a:t>
            </a:r>
          </a:p>
        </p:txBody>
      </p:sp>
      <p:pic>
        <p:nvPicPr>
          <p:cNvPr id="2" name="Picture 1">
            <a:extLst>
              <a:ext uri="{FF2B5EF4-FFF2-40B4-BE49-F238E27FC236}">
                <a16:creationId xmlns:a16="http://schemas.microsoft.com/office/drawing/2014/main" id="{0651ADC9-69E7-71C5-A244-ECEA6BAEEF83}"/>
              </a:ext>
            </a:extLst>
          </p:cNvPr>
          <p:cNvPicPr>
            <a:picLocks noChangeAspect="1"/>
          </p:cNvPicPr>
          <p:nvPr/>
        </p:nvPicPr>
        <p:blipFill>
          <a:blip r:embed="rId2"/>
          <a:stretch>
            <a:fillRect/>
          </a:stretch>
        </p:blipFill>
        <p:spPr>
          <a:xfrm>
            <a:off x="1457" y="1773248"/>
            <a:ext cx="12182965" cy="4355411"/>
          </a:xfrm>
          <a:prstGeom prst="rect">
            <a:avLst/>
          </a:prstGeom>
          <a:noFill/>
        </p:spPr>
      </p:pic>
    </p:spTree>
    <p:extLst>
      <p:ext uri="{BB962C8B-B14F-4D97-AF65-F5344CB8AC3E}">
        <p14:creationId xmlns:p14="http://schemas.microsoft.com/office/powerpoint/2010/main" val="4096990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028F3-D58C-2FDC-98EF-3B2AF23A6AB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09DD97D-86CC-D4AF-196E-57BD1BE9469B}"/>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82D65795-2D02-CEB1-BB93-27A64000089A}"/>
              </a:ext>
            </a:extLst>
          </p:cNvPr>
          <p:cNvSpPr>
            <a:spLocks noGrp="1"/>
          </p:cNvSpPr>
          <p:nvPr>
            <p:ph type="sldNum" sz="quarter" idx="12"/>
          </p:nvPr>
        </p:nvSpPr>
        <p:spPr>
          <a:xfrm>
            <a:off x="204683" y="6373867"/>
            <a:ext cx="609283" cy="364936"/>
          </a:xfrm>
        </p:spPr>
        <p:txBody>
          <a:bodyPr/>
          <a:lstStyle/>
          <a:p>
            <a:pPr defTabSz="1218895"/>
            <a:fld id="{B6F15528-21DE-4FAA-801E-634DDDAF4B2B}" type="slidenum">
              <a:rPr lang="en-US">
                <a:solidFill>
                  <a:prstClr val="black">
                    <a:tint val="75000"/>
                  </a:prstClr>
                </a:solidFill>
                <a:latin typeface="Calibri"/>
              </a:rPr>
              <a:pPr defTabSz="1218895"/>
              <a:t>7</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342C458B-6C5B-9E8C-8D9B-19D337C0AC69}"/>
              </a:ext>
            </a:extLst>
          </p:cNvPr>
          <p:cNvSpPr>
            <a:spLocks noGrp="1"/>
          </p:cNvSpPr>
          <p:nvPr>
            <p:ph type="title"/>
          </p:nvPr>
        </p:nvSpPr>
        <p:spPr>
          <a:xfrm>
            <a:off x="103135" y="179493"/>
            <a:ext cx="10967086" cy="710831"/>
          </a:xfrm>
        </p:spPr>
        <p:txBody>
          <a:bodyPr/>
          <a:lstStyle/>
          <a:p>
            <a:r>
              <a:rPr lang="en-IN" sz="3333" dirty="0"/>
              <a:t>How to be fast</a:t>
            </a:r>
          </a:p>
        </p:txBody>
      </p:sp>
      <p:pic>
        <p:nvPicPr>
          <p:cNvPr id="2" name="Picture 1">
            <a:extLst>
              <a:ext uri="{FF2B5EF4-FFF2-40B4-BE49-F238E27FC236}">
                <a16:creationId xmlns:a16="http://schemas.microsoft.com/office/drawing/2014/main" id="{0D672D90-084F-5FF4-3D5E-FA7272A9CEB9}"/>
              </a:ext>
            </a:extLst>
          </p:cNvPr>
          <p:cNvPicPr>
            <a:picLocks noChangeAspect="1"/>
          </p:cNvPicPr>
          <p:nvPr/>
        </p:nvPicPr>
        <p:blipFill>
          <a:blip r:embed="rId2"/>
          <a:srcRect t="2172"/>
          <a:stretch/>
        </p:blipFill>
        <p:spPr>
          <a:xfrm>
            <a:off x="172241" y="1989215"/>
            <a:ext cx="11844345" cy="3815430"/>
          </a:xfrm>
          <a:prstGeom prst="rect">
            <a:avLst/>
          </a:prstGeom>
        </p:spPr>
      </p:pic>
    </p:spTree>
    <p:extLst>
      <p:ext uri="{BB962C8B-B14F-4D97-AF65-F5344CB8AC3E}">
        <p14:creationId xmlns:p14="http://schemas.microsoft.com/office/powerpoint/2010/main" val="3312645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57EB1-B732-DC5A-C936-51E1BC5C9CE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359E693-B195-B641-0168-F93E8761A9D8}"/>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33F8C66A-D919-7463-4150-CB34A9FEF3A4}"/>
              </a:ext>
            </a:extLst>
          </p:cNvPr>
          <p:cNvSpPr>
            <a:spLocks noGrp="1"/>
          </p:cNvSpPr>
          <p:nvPr>
            <p:ph type="sldNum" sz="quarter" idx="12"/>
          </p:nvPr>
        </p:nvSpPr>
        <p:spPr>
          <a:xfrm>
            <a:off x="204683" y="6373867"/>
            <a:ext cx="609283" cy="364936"/>
          </a:xfrm>
        </p:spPr>
        <p:txBody>
          <a:bodyPr/>
          <a:lstStyle/>
          <a:p>
            <a:pPr defTabSz="1218895"/>
            <a:fld id="{B6F15528-21DE-4FAA-801E-634DDDAF4B2B}" type="slidenum">
              <a:rPr lang="en-US">
                <a:solidFill>
                  <a:prstClr val="black">
                    <a:tint val="75000"/>
                  </a:prstClr>
                </a:solidFill>
                <a:latin typeface="Calibri"/>
              </a:rPr>
              <a:pPr defTabSz="1218895"/>
              <a:t>8</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90D15BC4-0B83-F78E-B355-855BD3E47386}"/>
              </a:ext>
            </a:extLst>
          </p:cNvPr>
          <p:cNvSpPr>
            <a:spLocks noGrp="1"/>
          </p:cNvSpPr>
          <p:nvPr>
            <p:ph type="title"/>
          </p:nvPr>
        </p:nvSpPr>
        <p:spPr>
          <a:xfrm>
            <a:off x="103135" y="179493"/>
            <a:ext cx="10967086" cy="710831"/>
          </a:xfrm>
        </p:spPr>
        <p:txBody>
          <a:bodyPr/>
          <a:lstStyle/>
          <a:p>
            <a:r>
              <a:rPr lang="en-IN" sz="3333" dirty="0"/>
              <a:t>The Clean Core</a:t>
            </a:r>
          </a:p>
        </p:txBody>
      </p:sp>
      <p:sp>
        <p:nvSpPr>
          <p:cNvPr id="2" name="TextBox 1">
            <a:extLst>
              <a:ext uri="{FF2B5EF4-FFF2-40B4-BE49-F238E27FC236}">
                <a16:creationId xmlns:a16="http://schemas.microsoft.com/office/drawing/2014/main" id="{BDDFBD62-18F7-B468-92E5-D45191750654}"/>
              </a:ext>
            </a:extLst>
          </p:cNvPr>
          <p:cNvSpPr txBox="1"/>
          <p:nvPr/>
        </p:nvSpPr>
        <p:spPr>
          <a:xfrm>
            <a:off x="1588" y="1485292"/>
            <a:ext cx="11483853" cy="2277492"/>
          </a:xfrm>
          <a:prstGeom prst="rect">
            <a:avLst/>
          </a:prstGeom>
          <a:noFill/>
        </p:spPr>
        <p:txBody>
          <a:bodyPr wrap="square" lIns="121867" tIns="60933" rIns="121867" bIns="60933" rtlCol="0">
            <a:spAutoFit/>
          </a:bodyPr>
          <a:lstStyle/>
          <a:p>
            <a:pPr defTabSz="1218895"/>
            <a:r>
              <a:rPr lang="en-IN" sz="2000" dirty="0">
                <a:solidFill>
                  <a:prstClr val="black"/>
                </a:solidFill>
                <a:latin typeface="Calibri"/>
              </a:rPr>
              <a:t>Clean means up-to-date, documented, unmodified, consistent, efficient and upgrade ready. </a:t>
            </a:r>
          </a:p>
          <a:p>
            <a:pPr defTabSz="1218895"/>
            <a:r>
              <a:rPr lang="en-IN" sz="2000" dirty="0">
                <a:solidFill>
                  <a:prstClr val="black"/>
                </a:solidFill>
                <a:latin typeface="Calibri"/>
              </a:rPr>
              <a:t>S/4HANA Cloud Private Edition =&gt; S/4HANA On-premise – GUI Access, Full Control on system, upgrade when customer want, postpone upgrades, SPRO Access, Full access to system code like ECC – 85-90%</a:t>
            </a:r>
          </a:p>
          <a:p>
            <a:pPr defTabSz="1218895"/>
            <a:r>
              <a:rPr lang="en-IN" sz="2000" dirty="0">
                <a:solidFill>
                  <a:prstClr val="black"/>
                </a:solidFill>
                <a:latin typeface="Calibri"/>
              </a:rPr>
              <a:t>S/4HANA Cloud Public Edition =&gt; Shared environment, Infra is owned by SAP, not have full control and code, No SAPGUI access, only through browser, Force upgrade (always up to date) -10~15%</a:t>
            </a:r>
          </a:p>
          <a:p>
            <a:pPr defTabSz="1218895"/>
            <a:r>
              <a:rPr lang="en-IN" sz="2000" dirty="0">
                <a:solidFill>
                  <a:prstClr val="black"/>
                </a:solidFill>
                <a:latin typeface="Calibri"/>
              </a:rPr>
              <a:t>Capabilities of clean core depend on Software stack.</a:t>
            </a:r>
          </a:p>
          <a:p>
            <a:pPr defTabSz="1218895"/>
            <a:r>
              <a:rPr lang="en-IN" sz="2000" dirty="0">
                <a:solidFill>
                  <a:prstClr val="black"/>
                </a:solidFill>
                <a:latin typeface="Calibri"/>
              </a:rPr>
              <a:t>Bundle for Rise/Grow with SAP – ERP (Core S/4HANA), BTP (BTPEA), SAC, DS…</a:t>
            </a:r>
          </a:p>
        </p:txBody>
      </p:sp>
    </p:spTree>
    <p:extLst>
      <p:ext uri="{BB962C8B-B14F-4D97-AF65-F5344CB8AC3E}">
        <p14:creationId xmlns:p14="http://schemas.microsoft.com/office/powerpoint/2010/main" val="1783266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6E7B5-87F9-7850-9594-5CE52FAB8A9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9674249-864A-7999-2755-39ACE917CDD2}"/>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78E2E1BC-9E59-F37C-3CE6-20402AC4F0DF}"/>
              </a:ext>
            </a:extLst>
          </p:cNvPr>
          <p:cNvSpPr>
            <a:spLocks noGrp="1"/>
          </p:cNvSpPr>
          <p:nvPr>
            <p:ph type="sldNum" sz="quarter" idx="12"/>
          </p:nvPr>
        </p:nvSpPr>
        <p:spPr>
          <a:xfrm>
            <a:off x="204683" y="6373867"/>
            <a:ext cx="609283" cy="364936"/>
          </a:xfrm>
        </p:spPr>
        <p:txBody>
          <a:bodyPr/>
          <a:lstStyle/>
          <a:p>
            <a:pPr defTabSz="1218895"/>
            <a:fld id="{B6F15528-21DE-4FAA-801E-634DDDAF4B2B}" type="slidenum">
              <a:rPr lang="en-US">
                <a:solidFill>
                  <a:prstClr val="black">
                    <a:tint val="75000"/>
                  </a:prstClr>
                </a:solidFill>
                <a:latin typeface="Calibri"/>
              </a:rPr>
              <a:pPr defTabSz="1218895"/>
              <a:t>9</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B1AB0207-61FB-EE5C-2F6A-BBAEBCD994FF}"/>
              </a:ext>
            </a:extLst>
          </p:cNvPr>
          <p:cNvSpPr>
            <a:spLocks noGrp="1"/>
          </p:cNvSpPr>
          <p:nvPr>
            <p:ph type="title"/>
          </p:nvPr>
        </p:nvSpPr>
        <p:spPr>
          <a:xfrm>
            <a:off x="103135" y="179493"/>
            <a:ext cx="10967086" cy="710831"/>
          </a:xfrm>
        </p:spPr>
        <p:txBody>
          <a:bodyPr/>
          <a:lstStyle/>
          <a:p>
            <a:r>
              <a:rPr lang="en-IN" sz="3333" dirty="0"/>
              <a:t>Benefits of Clean Core</a:t>
            </a:r>
          </a:p>
        </p:txBody>
      </p:sp>
      <p:sp>
        <p:nvSpPr>
          <p:cNvPr id="2" name="TextBox 1">
            <a:extLst>
              <a:ext uri="{FF2B5EF4-FFF2-40B4-BE49-F238E27FC236}">
                <a16:creationId xmlns:a16="http://schemas.microsoft.com/office/drawing/2014/main" id="{EA0BD020-D27F-6AA9-013D-E783BB0AD14B}"/>
              </a:ext>
            </a:extLst>
          </p:cNvPr>
          <p:cNvSpPr txBox="1"/>
          <p:nvPr/>
        </p:nvSpPr>
        <p:spPr>
          <a:xfrm>
            <a:off x="82581" y="1485291"/>
            <a:ext cx="11483853" cy="2893045"/>
          </a:xfrm>
          <a:prstGeom prst="rect">
            <a:avLst/>
          </a:prstGeom>
          <a:noFill/>
        </p:spPr>
        <p:txBody>
          <a:bodyPr wrap="square" lIns="121867" tIns="60933" rIns="121867" bIns="60933" rtlCol="0">
            <a:spAutoFit/>
          </a:bodyPr>
          <a:lstStyle/>
          <a:p>
            <a:pPr defTabSz="1218895"/>
            <a:r>
              <a:rPr lang="en-IN" sz="1800" dirty="0">
                <a:solidFill>
                  <a:prstClr val="black"/>
                </a:solidFill>
                <a:latin typeface="Calibri"/>
              </a:rPr>
              <a:t>Access to Innovation – all the latest S/4HANA features can be accessed faster because since you don’t have dependency on custom code, you can upgrade in short time, agile to decide. SAP partners can offer upgrade at fix price.</a:t>
            </a:r>
          </a:p>
          <a:p>
            <a:pPr defTabSz="1218895"/>
            <a:r>
              <a:rPr lang="en-IN" sz="1800" dirty="0">
                <a:solidFill>
                  <a:prstClr val="black"/>
                </a:solidFill>
                <a:latin typeface="Calibri"/>
              </a:rPr>
              <a:t>Upgrade Simplicity – You can apply upgrades stress free.</a:t>
            </a:r>
          </a:p>
          <a:p>
            <a:pPr defTabSz="1218895"/>
            <a:r>
              <a:rPr lang="en-IN" sz="1800" dirty="0">
                <a:solidFill>
                  <a:prstClr val="black"/>
                </a:solidFill>
                <a:latin typeface="Calibri"/>
              </a:rPr>
              <a:t>Lower TCO – Since we follow clean core, we actually use upgrade safe APIs to develop our custom apps. This remains stable release-on-release.</a:t>
            </a:r>
          </a:p>
          <a:p>
            <a:pPr defTabSz="1218895"/>
            <a:r>
              <a:rPr lang="en-IN" sz="1800" dirty="0">
                <a:solidFill>
                  <a:prstClr val="black"/>
                </a:solidFill>
                <a:latin typeface="Calibri"/>
              </a:rPr>
              <a:t>Enhanced security – secure your data and applications which are exposed in cloud.</a:t>
            </a:r>
          </a:p>
          <a:p>
            <a:pPr defTabSz="1218895"/>
            <a:r>
              <a:rPr lang="en-IN" sz="1800" dirty="0">
                <a:solidFill>
                  <a:prstClr val="black"/>
                </a:solidFill>
                <a:latin typeface="Calibri"/>
              </a:rPr>
              <a:t>Improved performance – core is clean, it doesn’t have to interact with lots of custom code, store custom code hence increase the speed.</a:t>
            </a:r>
          </a:p>
          <a:p>
            <a:pPr defTabSz="1218895"/>
            <a:r>
              <a:rPr lang="en-IN" sz="1800" dirty="0">
                <a:solidFill>
                  <a:prstClr val="black"/>
                </a:solidFill>
                <a:latin typeface="Calibri"/>
              </a:rPr>
              <a:t>Data Simplification – which data is privates, which data is public.</a:t>
            </a:r>
          </a:p>
          <a:p>
            <a:pPr defTabSz="1218895"/>
            <a:endParaRPr lang="en-IN" sz="1800" dirty="0">
              <a:solidFill>
                <a:prstClr val="black"/>
              </a:solidFill>
              <a:latin typeface="Calibri"/>
            </a:endParaRPr>
          </a:p>
        </p:txBody>
      </p:sp>
    </p:spTree>
    <p:extLst>
      <p:ext uri="{BB962C8B-B14F-4D97-AF65-F5344CB8AC3E}">
        <p14:creationId xmlns:p14="http://schemas.microsoft.com/office/powerpoint/2010/main" val="2935931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D369F-1C3A-AA2B-81ED-9ED18256726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C4017C4-6E1C-38DE-7317-B1CB377E144D}"/>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3E478FEA-EF6D-178F-D2AA-4FF46F755D36}"/>
              </a:ext>
            </a:extLst>
          </p:cNvPr>
          <p:cNvSpPr>
            <a:spLocks noGrp="1"/>
          </p:cNvSpPr>
          <p:nvPr>
            <p:ph type="sldNum" sz="quarter" idx="12"/>
          </p:nvPr>
        </p:nvSpPr>
        <p:spPr>
          <a:xfrm>
            <a:off x="204683" y="6373867"/>
            <a:ext cx="609283" cy="364936"/>
          </a:xfrm>
        </p:spPr>
        <p:txBody>
          <a:bodyPr/>
          <a:lstStyle/>
          <a:p>
            <a:pPr defTabSz="1218895"/>
            <a:fld id="{B6F15528-21DE-4FAA-801E-634DDDAF4B2B}" type="slidenum">
              <a:rPr lang="en-US">
                <a:solidFill>
                  <a:prstClr val="black">
                    <a:tint val="75000"/>
                  </a:prstClr>
                </a:solidFill>
                <a:latin typeface="Calibri"/>
              </a:rPr>
              <a:pPr defTabSz="1218895"/>
              <a:t>10</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E476247E-46BC-3A52-BAA8-A23943C2DC3A}"/>
              </a:ext>
            </a:extLst>
          </p:cNvPr>
          <p:cNvSpPr>
            <a:spLocks noGrp="1"/>
          </p:cNvSpPr>
          <p:nvPr>
            <p:ph type="title"/>
          </p:nvPr>
        </p:nvSpPr>
        <p:spPr>
          <a:xfrm>
            <a:off x="103135" y="179493"/>
            <a:ext cx="10967086" cy="710831"/>
          </a:xfrm>
        </p:spPr>
        <p:txBody>
          <a:bodyPr/>
          <a:lstStyle/>
          <a:p>
            <a:r>
              <a:rPr lang="en-IN" sz="3333" dirty="0"/>
              <a:t>Elements of Clean Core</a:t>
            </a:r>
          </a:p>
        </p:txBody>
      </p:sp>
      <p:pic>
        <p:nvPicPr>
          <p:cNvPr id="2" name="Picture 2">
            <a:extLst>
              <a:ext uri="{FF2B5EF4-FFF2-40B4-BE49-F238E27FC236}">
                <a16:creationId xmlns:a16="http://schemas.microsoft.com/office/drawing/2014/main" id="{5AF01ECD-2C54-7162-5872-CE80CC5F19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028" y="889403"/>
            <a:ext cx="10282800" cy="5584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1709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45E47-94D3-751A-8A40-6165E9883B9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241D78B-0DF3-7BE3-4412-AD47218A6EEB}"/>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5ED815F8-EB7E-4D62-A1A0-738179B8F4C1}"/>
              </a:ext>
            </a:extLst>
          </p:cNvPr>
          <p:cNvSpPr>
            <a:spLocks noGrp="1"/>
          </p:cNvSpPr>
          <p:nvPr>
            <p:ph type="sldNum" sz="quarter" idx="12"/>
          </p:nvPr>
        </p:nvSpPr>
        <p:spPr>
          <a:xfrm>
            <a:off x="204683" y="6373867"/>
            <a:ext cx="609283" cy="364936"/>
          </a:xfrm>
        </p:spPr>
        <p:txBody>
          <a:bodyPr/>
          <a:lstStyle/>
          <a:p>
            <a:pPr defTabSz="1218895"/>
            <a:fld id="{B6F15528-21DE-4FAA-801E-634DDDAF4B2B}" type="slidenum">
              <a:rPr lang="en-US">
                <a:solidFill>
                  <a:prstClr val="black">
                    <a:tint val="75000"/>
                  </a:prstClr>
                </a:solidFill>
                <a:latin typeface="Calibri"/>
              </a:rPr>
              <a:pPr defTabSz="1218895"/>
              <a:t>11</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E2C694CF-F5C5-BD9C-E562-12A4C4A4547A}"/>
              </a:ext>
            </a:extLst>
          </p:cNvPr>
          <p:cNvSpPr>
            <a:spLocks noGrp="1"/>
          </p:cNvSpPr>
          <p:nvPr>
            <p:ph type="title"/>
          </p:nvPr>
        </p:nvSpPr>
        <p:spPr>
          <a:xfrm>
            <a:off x="103135" y="179493"/>
            <a:ext cx="10967086" cy="710831"/>
          </a:xfrm>
        </p:spPr>
        <p:txBody>
          <a:bodyPr/>
          <a:lstStyle/>
          <a:p>
            <a:r>
              <a:rPr lang="en-IN" sz="3333" dirty="0"/>
              <a:t>High level guidance</a:t>
            </a:r>
          </a:p>
        </p:txBody>
      </p:sp>
      <p:pic>
        <p:nvPicPr>
          <p:cNvPr id="24" name="Picture 2">
            <a:extLst>
              <a:ext uri="{FF2B5EF4-FFF2-40B4-BE49-F238E27FC236}">
                <a16:creationId xmlns:a16="http://schemas.microsoft.com/office/drawing/2014/main" id="{41CA9ED7-D501-07D2-D014-4577D89402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55" y="1194330"/>
            <a:ext cx="11913865" cy="5179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4769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CFEFB-2E02-260F-15AE-52E9D16C428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FD82C1-0E2D-A070-84C4-D98862B62F4D}"/>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3F7A0B55-C4EC-FCF9-0B1A-1A61973B49D3}"/>
              </a:ext>
            </a:extLst>
          </p:cNvPr>
          <p:cNvSpPr>
            <a:spLocks noGrp="1"/>
          </p:cNvSpPr>
          <p:nvPr>
            <p:ph type="sldNum" sz="quarter" idx="12"/>
          </p:nvPr>
        </p:nvSpPr>
        <p:spPr>
          <a:xfrm>
            <a:off x="204683" y="6373867"/>
            <a:ext cx="609283" cy="364936"/>
          </a:xfrm>
        </p:spPr>
        <p:txBody>
          <a:bodyPr/>
          <a:lstStyle/>
          <a:p>
            <a:pPr defTabSz="1218895"/>
            <a:fld id="{B6F15528-21DE-4FAA-801E-634DDDAF4B2B}" type="slidenum">
              <a:rPr lang="en-US">
                <a:solidFill>
                  <a:prstClr val="black">
                    <a:tint val="75000"/>
                  </a:prstClr>
                </a:solidFill>
                <a:latin typeface="Calibri"/>
              </a:rPr>
              <a:pPr defTabSz="1218895"/>
              <a:t>12</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A5A288A9-FCA8-91E7-3A9A-77579535929A}"/>
              </a:ext>
            </a:extLst>
          </p:cNvPr>
          <p:cNvSpPr>
            <a:spLocks noGrp="1"/>
          </p:cNvSpPr>
          <p:nvPr>
            <p:ph type="title"/>
          </p:nvPr>
        </p:nvSpPr>
        <p:spPr>
          <a:xfrm>
            <a:off x="103135" y="179493"/>
            <a:ext cx="10967086" cy="710831"/>
          </a:xfrm>
        </p:spPr>
        <p:txBody>
          <a:bodyPr/>
          <a:lstStyle/>
          <a:p>
            <a:r>
              <a:rPr lang="en-IN" sz="3333" dirty="0"/>
              <a:t>SAP Business Accelerator HUB</a:t>
            </a:r>
          </a:p>
        </p:txBody>
      </p:sp>
      <p:sp>
        <p:nvSpPr>
          <p:cNvPr id="9" name="TextBox 8">
            <a:extLst>
              <a:ext uri="{FF2B5EF4-FFF2-40B4-BE49-F238E27FC236}">
                <a16:creationId xmlns:a16="http://schemas.microsoft.com/office/drawing/2014/main" id="{719B5E92-A2F6-7CE9-7E20-0D16990E7FC2}"/>
              </a:ext>
            </a:extLst>
          </p:cNvPr>
          <p:cNvSpPr txBox="1"/>
          <p:nvPr/>
        </p:nvSpPr>
        <p:spPr>
          <a:xfrm>
            <a:off x="103694" y="1557280"/>
            <a:ext cx="11749858" cy="3416320"/>
          </a:xfrm>
          <a:prstGeom prst="rect">
            <a:avLst/>
          </a:prstGeom>
          <a:noFill/>
        </p:spPr>
        <p:txBody>
          <a:bodyPr wrap="square">
            <a:spAutoFit/>
          </a:bodyPr>
          <a:lstStyle/>
          <a:p>
            <a:pPr algn="just" defTabSz="1218895"/>
            <a:r>
              <a:rPr lang="en-US" sz="1800" dirty="0">
                <a:solidFill>
                  <a:prstClr val="black"/>
                </a:solidFill>
                <a:latin typeface="Calibri"/>
              </a:rPr>
              <a:t>The SAP Business Accelerator Hub (formerly known as SAP API Business Hub) is a central, cloud-based platform provided by SAP that offers access to a wide range of APIs, pre-packaged integrations, and business services. Located at </a:t>
            </a:r>
            <a:r>
              <a:rPr lang="en-US" sz="1800" dirty="0">
                <a:solidFill>
                  <a:prstClr val="black"/>
                </a:solidFill>
                <a:latin typeface="Calibri"/>
                <a:hlinkClick r:id="rId2"/>
              </a:rPr>
              <a:t>https://api.sap.com</a:t>
            </a:r>
            <a:r>
              <a:rPr lang="en-US" sz="1800" dirty="0">
                <a:solidFill>
                  <a:prstClr val="black"/>
                </a:solidFill>
                <a:latin typeface="Calibri"/>
              </a:rPr>
              <a:t> , it serves as a comprehensive catalog for developers, partners, and enterprises looking to explore, test, and adopt SAP's digital capabilities. The hub provides resources that span various SAP products like S/4HANA, SuccessFactors, Ariba, and more, enabling seamless integration into SAP and non-SAP systems through standardized APIs and events.</a:t>
            </a:r>
          </a:p>
          <a:p>
            <a:pPr algn="just" defTabSz="1218895"/>
            <a:endParaRPr lang="en-US" sz="1800" dirty="0">
              <a:solidFill>
                <a:prstClr val="black"/>
              </a:solidFill>
              <a:latin typeface="Calibri"/>
            </a:endParaRPr>
          </a:p>
          <a:p>
            <a:pPr algn="just" defTabSz="1218895"/>
            <a:r>
              <a:rPr lang="en-US" sz="1800" dirty="0">
                <a:solidFill>
                  <a:prstClr val="black"/>
                </a:solidFill>
                <a:latin typeface="Calibri"/>
              </a:rPr>
              <a:t>Users of the SAP Business Accelerator Hub can interact with APIs in a live sandbox environment, download pre-configured integration packages, and access detailed documentation and code snippets. The platform supports both SAP BTP (Business Technology Platform) and third-party development, accelerating innovation and reducing time to value. It is an essential tool for enterprises undergoing digital transformation, allowing for rapid prototyping, scalable integration, and efficient development across a variety of business domains.</a:t>
            </a:r>
          </a:p>
        </p:txBody>
      </p:sp>
    </p:spTree>
    <p:extLst>
      <p:ext uri="{BB962C8B-B14F-4D97-AF65-F5344CB8AC3E}">
        <p14:creationId xmlns:p14="http://schemas.microsoft.com/office/powerpoint/2010/main" val="253193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What is Extensibility</a:t>
            </a:r>
          </a:p>
        </p:txBody>
      </p:sp>
      <p:sp>
        <p:nvSpPr>
          <p:cNvPr id="4" name="TextBox 3">
            <a:extLst>
              <a:ext uri="{FF2B5EF4-FFF2-40B4-BE49-F238E27FC236}">
                <a16:creationId xmlns:a16="http://schemas.microsoft.com/office/drawing/2014/main" id="{418EE39F-0396-D3D1-87DE-CAB8F7B1126E}"/>
              </a:ext>
            </a:extLst>
          </p:cNvPr>
          <p:cNvSpPr txBox="1"/>
          <p:nvPr/>
        </p:nvSpPr>
        <p:spPr>
          <a:xfrm>
            <a:off x="189755" y="772349"/>
            <a:ext cx="11609405" cy="4524315"/>
          </a:xfrm>
          <a:prstGeom prst="rect">
            <a:avLst/>
          </a:prstGeom>
          <a:noFill/>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BentonSansRegular"/>
                <a:ea typeface="+mn-ea"/>
                <a:cs typeface="+mn-cs"/>
              </a:rPr>
              <a:t>Extensibility is a key capability of SAP ECC and SAP S/4HANA. It enables customers to create a competitive advantage by customizing their business processes and allows partners to enrich core ECC or S/4HANA with tailor-made solutions</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BentonSansRegular"/>
                <a:ea typeface="+mn-ea"/>
                <a:cs typeface="+mn-cs"/>
              </a:rPr>
              <a:t>During the last decades SAP’s on-premise customers and partners have mainly used classic ABAP extensibility to extend their ERP solution. Classic extensibility allows ABAP developers to use and even to modify all SAP objects. Although, classic extensibility is very powerful and flexible, it is no longer a good option in today’s cloud world.</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BentonSansRegular"/>
                <a:ea typeface="+mn-ea"/>
                <a:cs typeface="+mn-cs"/>
              </a:rPr>
              <a:t>In-lined with cloud strategy, SAP S/4HANA provides a new </a:t>
            </a:r>
            <a:r>
              <a:rPr kumimoji="0" lang="en-US" sz="2400" b="1" i="0" u="none" strike="noStrike" kern="1200" cap="none" spc="0" normalizeH="0" baseline="0" noProof="0" dirty="0">
                <a:ln>
                  <a:noFill/>
                </a:ln>
                <a:solidFill>
                  <a:prstClr val="white"/>
                </a:solidFill>
                <a:effectLst/>
                <a:uLnTx/>
                <a:uFillTx/>
                <a:latin typeface="BentonSansRegular"/>
                <a:ea typeface="+mn-ea"/>
                <a:cs typeface="+mn-cs"/>
              </a:rPr>
              <a:t>upgrade-stable cloud extensibility model</a:t>
            </a:r>
            <a:r>
              <a:rPr kumimoji="0" lang="en-US" sz="2400" b="0" i="0" u="none" strike="noStrike" kern="1200" cap="none" spc="0" normalizeH="0" baseline="0" noProof="0" dirty="0">
                <a:ln>
                  <a:noFill/>
                </a:ln>
                <a:solidFill>
                  <a:prstClr val="white"/>
                </a:solidFill>
                <a:effectLst/>
                <a:uLnTx/>
                <a:uFillTx/>
                <a:latin typeface="BentonSansRegular"/>
                <a:ea typeface="+mn-ea"/>
                <a:cs typeface="+mn-cs"/>
              </a:rPr>
              <a:t> that clearly separates SAP code and extensions via public SAP APIs and SAP extension points.</a:t>
            </a:r>
          </a:p>
        </p:txBody>
      </p:sp>
    </p:spTree>
    <p:extLst>
      <p:ext uri="{BB962C8B-B14F-4D97-AF65-F5344CB8AC3E}">
        <p14:creationId xmlns:p14="http://schemas.microsoft.com/office/powerpoint/2010/main" val="473876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1000"/>
                                        <p:tgtEl>
                                          <p:spTgt spid="4">
                                            <p:txEl>
                                              <p:pRg st="4" end="4"/>
                                            </p:txEl>
                                          </p:spTgt>
                                        </p:tgtEl>
                                      </p:cBhvr>
                                    </p:animEffect>
                                    <p:anim calcmode="lin" valueType="num">
                                      <p:cBhvr>
                                        <p:cTn id="2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95177-32D4-C1F2-3C4B-EB42C8AA5B10}"/>
              </a:ext>
            </a:extLst>
          </p:cNvPr>
          <p:cNvSpPr>
            <a:spLocks noGrp="1"/>
          </p:cNvSpPr>
          <p:nvPr>
            <p:ph type="title"/>
          </p:nvPr>
        </p:nvSpPr>
        <p:spPr/>
        <p:txBody>
          <a:bodyPr/>
          <a:lstStyle/>
          <a:p>
            <a:r>
              <a:rPr lang="en-US" dirty="0"/>
              <a:t>What is Extension?</a:t>
            </a:r>
          </a:p>
        </p:txBody>
      </p:sp>
      <p:sp>
        <p:nvSpPr>
          <p:cNvPr id="4" name="TextBox 3">
            <a:extLst>
              <a:ext uri="{FF2B5EF4-FFF2-40B4-BE49-F238E27FC236}">
                <a16:creationId xmlns:a16="http://schemas.microsoft.com/office/drawing/2014/main" id="{2B94EE42-CB71-6633-5128-C0A8DEE9BFF5}"/>
              </a:ext>
            </a:extLst>
          </p:cNvPr>
          <p:cNvSpPr txBox="1"/>
          <p:nvPr/>
        </p:nvSpPr>
        <p:spPr>
          <a:xfrm>
            <a:off x="155449" y="908720"/>
            <a:ext cx="11809312" cy="1938992"/>
          </a:xfrm>
          <a:prstGeom prst="rect">
            <a:avLst/>
          </a:prstGeom>
          <a:noFill/>
        </p:spPr>
        <p:txBody>
          <a:bodyPr wrap="square">
            <a:spAutoFit/>
          </a:bodyPr>
          <a:lstStyle/>
          <a:p>
            <a:pPr marL="0" marR="0" lvl="0" indent="0" algn="just"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BentonSansRegular"/>
                <a:ea typeface="+mn-ea"/>
                <a:cs typeface="+mn-cs"/>
              </a:rPr>
              <a:t>We all know that standard SAP software doesn’t cover the scope of all the company business processes. There is always a need for a new app, a new report, or a new functionality. SAP partners and customers have been traditionally building extensions on SAP ECC system using ABAP code. However, with SAP S/4HANA and customer’s digital transformation journey towards cloud, we need a more robust yet loosely coupled extensibility model.</a:t>
            </a:r>
            <a:endParaRPr kumimoji="0" lang="en-US" sz="2400" b="0" i="0" u="none" strike="noStrike" kern="1200" cap="none" spc="0" normalizeH="0" baseline="0" noProof="0" dirty="0">
              <a:ln>
                <a:noFill/>
              </a:ln>
              <a:solidFill>
                <a:prstClr val="white"/>
              </a:solidFill>
              <a:effectLst/>
              <a:uLnTx/>
              <a:uFillTx/>
              <a:latin typeface="Segoe UI"/>
              <a:ea typeface="+mn-ea"/>
              <a:cs typeface="+mn-cs"/>
            </a:endParaRPr>
          </a:p>
        </p:txBody>
      </p:sp>
      <p:pic>
        <p:nvPicPr>
          <p:cNvPr id="1026" name="Picture 2">
            <a:extLst>
              <a:ext uri="{FF2B5EF4-FFF2-40B4-BE49-F238E27FC236}">
                <a16:creationId xmlns:a16="http://schemas.microsoft.com/office/drawing/2014/main" id="{EEBE6DA0-D33D-FA0A-8A42-15C9DA31747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38028" y="3284984"/>
            <a:ext cx="5950397" cy="32200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9254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DBD95-E4A8-1108-687D-1331CF485436}"/>
              </a:ext>
            </a:extLst>
          </p:cNvPr>
          <p:cNvSpPr>
            <a:spLocks noGrp="1"/>
          </p:cNvSpPr>
          <p:nvPr>
            <p:ph type="title"/>
          </p:nvPr>
        </p:nvSpPr>
        <p:spPr/>
        <p:txBody>
          <a:bodyPr/>
          <a:lstStyle/>
          <a:p>
            <a:r>
              <a:rPr lang="en-US" dirty="0"/>
              <a:t>Classic Extensions and Challenges</a:t>
            </a:r>
          </a:p>
        </p:txBody>
      </p:sp>
      <p:sp>
        <p:nvSpPr>
          <p:cNvPr id="4" name="TextBox 3">
            <a:extLst>
              <a:ext uri="{FF2B5EF4-FFF2-40B4-BE49-F238E27FC236}">
                <a16:creationId xmlns:a16="http://schemas.microsoft.com/office/drawing/2014/main" id="{94CAA23E-FAAE-FEE5-8D19-38B98E54D8C9}"/>
              </a:ext>
            </a:extLst>
          </p:cNvPr>
          <p:cNvSpPr txBox="1"/>
          <p:nvPr/>
        </p:nvSpPr>
        <p:spPr>
          <a:xfrm>
            <a:off x="189756" y="818614"/>
            <a:ext cx="11809312" cy="2554545"/>
          </a:xfrm>
          <a:prstGeom prst="rect">
            <a:avLst/>
          </a:prstGeom>
          <a:noFill/>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BentonSansRegular"/>
                <a:ea typeface="+mn-ea"/>
                <a:cs typeface="+mn-cs"/>
              </a:rPr>
              <a:t>Traditionally, SAP partners and customers have been using classic ABAP extensibility to extend their ERP solution.</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BentonSansRegular"/>
                <a:ea typeface="+mn-ea"/>
                <a:cs typeface="+mn-cs"/>
              </a:rPr>
              <a:t>Classic Extensibility (aka classic ABAP custom development) in SAP S/4HANA (or in SAP ECC):</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0000"/>
                </a:solidFill>
                <a:effectLst/>
                <a:uLnTx/>
                <a:uFillTx/>
                <a:latin typeface="BentonSansRegular"/>
                <a:ea typeface="+mn-ea"/>
                <a:cs typeface="+mn-cs"/>
              </a:rPr>
              <a:t>Allows you to use </a:t>
            </a:r>
            <a:r>
              <a:rPr kumimoji="0" lang="en-US" sz="2000" b="1" i="0" u="none" strike="noStrike" kern="1200" cap="none" spc="0" normalizeH="0" baseline="0" noProof="0" dirty="0">
                <a:ln>
                  <a:noFill/>
                </a:ln>
                <a:solidFill>
                  <a:srgbClr val="FF0000"/>
                </a:solidFill>
                <a:effectLst/>
                <a:uLnTx/>
                <a:uFillTx/>
                <a:latin typeface="BentonSansRegular"/>
                <a:ea typeface="+mn-ea"/>
                <a:cs typeface="+mn-cs"/>
              </a:rPr>
              <a:t>classic development tools and techniques </a:t>
            </a:r>
            <a:r>
              <a:rPr kumimoji="0" lang="en-US" sz="2000" b="0" i="0" u="none" strike="noStrike" kern="1200" cap="none" spc="0" normalizeH="0" baseline="0" noProof="0" dirty="0">
                <a:ln>
                  <a:noFill/>
                </a:ln>
                <a:solidFill>
                  <a:srgbClr val="FF0000"/>
                </a:solidFill>
                <a:effectLst/>
                <a:uLnTx/>
                <a:uFillTx/>
                <a:latin typeface="BentonSansRegular"/>
                <a:ea typeface="+mn-ea"/>
                <a:cs typeface="+mn-cs"/>
              </a:rPr>
              <a:t>(e.g., transaction SE80, Eclipse IDE, BAdIs etc.)</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0000"/>
                </a:solidFill>
                <a:effectLst/>
                <a:uLnTx/>
                <a:uFillTx/>
                <a:latin typeface="BentonSansRegular"/>
                <a:ea typeface="+mn-ea"/>
                <a:cs typeface="+mn-cs"/>
              </a:rPr>
              <a:t>Very rich of features and functions.</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0000"/>
                </a:solidFill>
                <a:effectLst/>
                <a:uLnTx/>
                <a:uFillTx/>
                <a:latin typeface="BentonSansRegular"/>
                <a:ea typeface="+mn-ea"/>
                <a:cs typeface="+mn-cs"/>
              </a:rPr>
              <a:t>Extremely flexible and even allows you to modify SAP code itself.</a:t>
            </a:r>
          </a:p>
        </p:txBody>
      </p:sp>
      <p:sp>
        <p:nvSpPr>
          <p:cNvPr id="6" name="TextBox 5">
            <a:extLst>
              <a:ext uri="{FF2B5EF4-FFF2-40B4-BE49-F238E27FC236}">
                <a16:creationId xmlns:a16="http://schemas.microsoft.com/office/drawing/2014/main" id="{2B5E60DF-34BA-807F-484D-3CC77D659947}"/>
              </a:ext>
            </a:extLst>
          </p:cNvPr>
          <p:cNvSpPr txBox="1"/>
          <p:nvPr/>
        </p:nvSpPr>
        <p:spPr>
          <a:xfrm>
            <a:off x="203873" y="3729747"/>
            <a:ext cx="11593288" cy="2862322"/>
          </a:xfrm>
          <a:prstGeom prst="rect">
            <a:avLst/>
          </a:prstGeom>
          <a:noFill/>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Although, being very powerful, flexible, and popular, classic extensibility has some major drawbacks.</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One of them is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High Upgrade Efforts</a:t>
            </a: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The missing clear interface between SAP code and extensions might lead to issues in the extensions during upgrades. As a result,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upgrades require high planning, regression test, and adaption efforts</a:t>
            </a: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 which is one of the reasons why customers delay upgrades.</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Example:</a:t>
            </a: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You have used an SAP object that is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not whitelisted by SAP </a:t>
            </a: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in your extension. After an upgrade the used SAP Object has been changed or deleted. Now you will have to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adjust the extension </a:t>
            </a: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thus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upgrade is delayed</a:t>
            </a: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a:t>
            </a:r>
          </a:p>
        </p:txBody>
      </p:sp>
    </p:spTree>
    <p:extLst>
      <p:ext uri="{BB962C8B-B14F-4D97-AF65-F5344CB8AC3E}">
        <p14:creationId xmlns:p14="http://schemas.microsoft.com/office/powerpoint/2010/main" val="1994322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1000"/>
                                        <p:tgtEl>
                                          <p:spTgt spid="4">
                                            <p:txEl>
                                              <p:pRg st="4" end="4"/>
                                            </p:txEl>
                                          </p:spTgt>
                                        </p:tgtEl>
                                      </p:cBhvr>
                                    </p:animEffect>
                                    <p:anim calcmode="lin" valueType="num">
                                      <p:cBhvr>
                                        <p:cTn id="2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1000"/>
                                        <p:tgtEl>
                                          <p:spTgt spid="4">
                                            <p:txEl>
                                              <p:pRg st="5" end="5"/>
                                            </p:txEl>
                                          </p:spTgt>
                                        </p:tgtEl>
                                      </p:cBhvr>
                                    </p:animEffect>
                                    <p:anim calcmode="lin" valueType="num">
                                      <p:cBhvr>
                                        <p:cTn id="2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animEffect transition="in" filter="fade">
                                      <p:cBhvr>
                                        <p:cTn id="33" dur="1000"/>
                                        <p:tgtEl>
                                          <p:spTgt spid="4">
                                            <p:txEl>
                                              <p:pRg st="6" end="6"/>
                                            </p:txEl>
                                          </p:spTgt>
                                        </p:tgtEl>
                                      </p:cBhvr>
                                    </p:animEffect>
                                    <p:anim calcmode="lin" valueType="num">
                                      <p:cBhvr>
                                        <p:cTn id="34"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ppt_x</p:attrName>
                                        </p:attrNameLst>
                                      </p:cBhvr>
                                      <p:tavLst>
                                        <p:tav tm="0">
                                          <p:val>
                                            <p:strVal val="#ppt_x"/>
                                          </p:val>
                                        </p:tav>
                                        <p:tav tm="100000">
                                          <p:val>
                                            <p:strVal val="#ppt_x"/>
                                          </p:val>
                                        </p:tav>
                                      </p:tavLst>
                                    </p:anim>
                                    <p:anim calcmode="lin" valueType="num">
                                      <p:cBhvr additive="base">
                                        <p:cTn id="4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7F54-4532-E4E8-9F0B-6BA6890ABE1C}"/>
              </a:ext>
            </a:extLst>
          </p:cNvPr>
          <p:cNvSpPr>
            <a:spLocks noGrp="1"/>
          </p:cNvSpPr>
          <p:nvPr>
            <p:ph type="title"/>
          </p:nvPr>
        </p:nvSpPr>
        <p:spPr/>
        <p:txBody>
          <a:bodyPr/>
          <a:lstStyle/>
          <a:p>
            <a:r>
              <a:rPr lang="en-US" dirty="0"/>
              <a:t>Clean Core and Benefits</a:t>
            </a:r>
          </a:p>
        </p:txBody>
      </p:sp>
      <p:sp>
        <p:nvSpPr>
          <p:cNvPr id="4" name="TextBox 3">
            <a:extLst>
              <a:ext uri="{FF2B5EF4-FFF2-40B4-BE49-F238E27FC236}">
                <a16:creationId xmlns:a16="http://schemas.microsoft.com/office/drawing/2014/main" id="{4673BCDB-880F-6184-2294-474D78AC2377}"/>
              </a:ext>
            </a:extLst>
          </p:cNvPr>
          <p:cNvSpPr txBox="1"/>
          <p:nvPr/>
        </p:nvSpPr>
        <p:spPr>
          <a:xfrm>
            <a:off x="117749" y="692696"/>
            <a:ext cx="12071076" cy="2862322"/>
          </a:xfrm>
          <a:prstGeom prst="rect">
            <a:avLst/>
          </a:prstGeom>
          <a:noFill/>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Clean core is an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extension methodology</a:t>
            </a: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 in which</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Extensions are kept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strictly separate </a:t>
            </a: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from the SAP application.</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Extensions access SAP business objects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only through well defined, upgrade-stable interfaces</a:t>
            </a: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 </a:t>
            </a: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By following clean core paradigm, you make sure that</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Extensions do not break an upgrade </a:t>
            </a: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and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upgrades do not break an extension.</a:t>
            </a: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Extensions do not create a problem when you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migrate from SAP S/4HANA on-Premise to SAP S/4HANA Cloud</a:t>
            </a: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 </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SAP’s rationale behind the “clean core” paradigm is simple – </a:t>
            </a: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Allow customers to extend their SAP S/4HANA software while making the software updates eventually non-events.</a:t>
            </a: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p:txBody>
      </p:sp>
      <p:sp>
        <p:nvSpPr>
          <p:cNvPr id="6" name="TextBox 5">
            <a:extLst>
              <a:ext uri="{FF2B5EF4-FFF2-40B4-BE49-F238E27FC236}">
                <a16:creationId xmlns:a16="http://schemas.microsoft.com/office/drawing/2014/main" id="{CB2D9146-83D1-360E-B486-F4E512580012}"/>
              </a:ext>
            </a:extLst>
          </p:cNvPr>
          <p:cNvSpPr txBox="1"/>
          <p:nvPr/>
        </p:nvSpPr>
        <p:spPr>
          <a:xfrm>
            <a:off x="119263" y="3555018"/>
            <a:ext cx="11762555" cy="3139321"/>
          </a:xfrm>
          <a:prstGeom prst="rect">
            <a:avLst/>
          </a:prstGeom>
          <a:noFill/>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Clean core paradigm is the back-bone of S/4HANA new extensibility model. It provides following benefits</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Reduce TCO</a:t>
            </a: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Make upgrades non-events from a custom code point of view</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Reduce test efforts for business users</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Reduce adaption efforts for developers</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IT service providers can offer upgrade projects at a fixed price</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Speed and Innovation</a:t>
            </a: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Absorb innovation delivered by SAP at a faster rate</a:t>
            </a: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React fast on changing business requirements</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BentonSansRegular"/>
                <a:ea typeface="+mn-ea"/>
                <a:cs typeface="+mn-cs"/>
              </a:rPr>
              <a:t>Be cloud ready</a:t>
            </a:r>
            <a:endParaRPr kumimoji="0" lang="en-US" sz="1800" b="0" i="0" u="none" strike="noStrike" kern="1200" cap="none" spc="0" normalizeH="0" baseline="0" noProof="0" dirty="0">
              <a:ln>
                <a:noFill/>
              </a:ln>
              <a:solidFill>
                <a:prstClr val="white"/>
              </a:solidFill>
              <a:effectLst/>
              <a:uLnTx/>
              <a:uFillTx/>
              <a:latin typeface="BentonSansRegular"/>
              <a:ea typeface="+mn-ea"/>
              <a:cs typeface="+mn-cs"/>
            </a:endParaRPr>
          </a:p>
          <a:p>
            <a:pPr marL="0" marR="0" lvl="0" indent="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BentonSansRegular"/>
                <a:ea typeface="+mn-ea"/>
                <a:cs typeface="+mn-cs"/>
              </a:rPr>
              <a:t>Lay the foundation today to move to the cloud from a custom extension perspective</a:t>
            </a:r>
          </a:p>
        </p:txBody>
      </p:sp>
      <p:pic>
        <p:nvPicPr>
          <p:cNvPr id="2050" name="Picture 2">
            <a:extLst>
              <a:ext uri="{FF2B5EF4-FFF2-40B4-BE49-F238E27FC236}">
                <a16:creationId xmlns:a16="http://schemas.microsoft.com/office/drawing/2014/main" id="{CBE2907E-90CC-62F6-BB3F-AA2D2CC25AA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42684" y="4234047"/>
            <a:ext cx="3011273" cy="2204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0004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Approaches for Side-by-Side Extension</a:t>
            </a:r>
          </a:p>
        </p:txBody>
      </p:sp>
      <p:pic>
        <p:nvPicPr>
          <p:cNvPr id="3074" name="Picture 2" descr="SAP S/4HANA Cloud – Side-by-Side Extensibility">
            <a:extLst>
              <a:ext uri="{FF2B5EF4-FFF2-40B4-BE49-F238E27FC236}">
                <a16:creationId xmlns:a16="http://schemas.microsoft.com/office/drawing/2014/main" id="{7B0B7C3B-89C6-47A4-847A-BA69F0483AA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9193"/>
          <a:stretch/>
        </p:blipFill>
        <p:spPr bwMode="auto">
          <a:xfrm>
            <a:off x="1291331" y="1340767"/>
            <a:ext cx="4155009" cy="45815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SAP S/4HANA Cloud – Side-by-Side Extensibility">
            <a:extLst>
              <a:ext uri="{FF2B5EF4-FFF2-40B4-BE49-F238E27FC236}">
                <a16:creationId xmlns:a16="http://schemas.microsoft.com/office/drawing/2014/main" id="{6E513C64-2F56-8EC2-7918-30C233CFD30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4144"/>
          <a:stretch/>
        </p:blipFill>
        <p:spPr bwMode="auto">
          <a:xfrm>
            <a:off x="7750596" y="1340767"/>
            <a:ext cx="3650953" cy="458152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SAP S/4HANA Cloud – Side-by-Side Extensibility">
            <a:extLst>
              <a:ext uri="{FF2B5EF4-FFF2-40B4-BE49-F238E27FC236}">
                <a16:creationId xmlns:a16="http://schemas.microsoft.com/office/drawing/2014/main" id="{49B2C87F-AC51-B2CE-847D-CCB5FE988B1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1514" r="35856"/>
          <a:stretch/>
        </p:blipFill>
        <p:spPr bwMode="auto">
          <a:xfrm>
            <a:off x="5446340" y="1340768"/>
            <a:ext cx="2304256" cy="4581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319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5" presetClass="entr" presetSubtype="0" fill="hold" nodeType="clickEffect">
                                  <p:stCondLst>
                                    <p:cond delay="0"/>
                                  </p:stCondLst>
                                  <p:childTnLst>
                                    <p:set>
                                      <p:cBhvr>
                                        <p:cTn id="14" dur="1" fill="hold">
                                          <p:stCondLst>
                                            <p:cond delay="0"/>
                                          </p:stCondLst>
                                        </p:cTn>
                                        <p:tgtEl>
                                          <p:spTgt spid="3078"/>
                                        </p:tgtEl>
                                        <p:attrNameLst>
                                          <p:attrName>style.visibility</p:attrName>
                                        </p:attrNameLst>
                                      </p:cBhvr>
                                      <p:to>
                                        <p:strVal val="visible"/>
                                      </p:to>
                                    </p:set>
                                    <p:animEffect transition="in" filter="fade">
                                      <p:cBhvr>
                                        <p:cTn id="15" dur="2000"/>
                                        <p:tgtEl>
                                          <p:spTgt spid="3078"/>
                                        </p:tgtEl>
                                      </p:cBhvr>
                                    </p:animEffect>
                                    <p:anim calcmode="lin" valueType="num">
                                      <p:cBhvr>
                                        <p:cTn id="16" dur="2000" fill="hold"/>
                                        <p:tgtEl>
                                          <p:spTgt spid="3078"/>
                                        </p:tgtEl>
                                        <p:attrNameLst>
                                          <p:attrName>ppt_w</p:attrName>
                                        </p:attrNameLst>
                                      </p:cBhvr>
                                      <p:tavLst>
                                        <p:tav tm="0" fmla="#ppt_w*sin(2.5*pi*$)">
                                          <p:val>
                                            <p:fltVal val="0"/>
                                          </p:val>
                                        </p:tav>
                                        <p:tav tm="100000">
                                          <p:val>
                                            <p:fltVal val="1"/>
                                          </p:val>
                                        </p:tav>
                                      </p:tavLst>
                                    </p:anim>
                                    <p:anim calcmode="lin" valueType="num">
                                      <p:cBhvr>
                                        <p:cTn id="17" dur="2000" fill="hold"/>
                                        <p:tgtEl>
                                          <p:spTgt spid="307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7F54-4532-E4E8-9F0B-6BA6890ABE1C}"/>
              </a:ext>
            </a:extLst>
          </p:cNvPr>
          <p:cNvSpPr>
            <a:spLocks noGrp="1"/>
          </p:cNvSpPr>
          <p:nvPr>
            <p:ph type="title"/>
          </p:nvPr>
        </p:nvSpPr>
        <p:spPr/>
        <p:txBody>
          <a:bodyPr/>
          <a:lstStyle/>
          <a:p>
            <a:r>
              <a:rPr lang="en-US" dirty="0"/>
              <a:t>Scenario 1: UI Extensibility </a:t>
            </a:r>
          </a:p>
        </p:txBody>
      </p:sp>
      <p:pic>
        <p:nvPicPr>
          <p:cNvPr id="5122" name="Picture 2" descr="Solution%20Diagram">
            <a:extLst>
              <a:ext uri="{FF2B5EF4-FFF2-40B4-BE49-F238E27FC236}">
                <a16:creationId xmlns:a16="http://schemas.microsoft.com/office/drawing/2014/main" id="{CA945781-1D56-EEF3-83EC-7FE5D0E53E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9836" y="980728"/>
            <a:ext cx="10126861" cy="5506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0984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a:xfrm>
            <a:off x="189756" y="332656"/>
            <a:ext cx="10969943" cy="711081"/>
          </a:xfrm>
        </p:spPr>
        <p:txBody>
          <a:bodyPr/>
          <a:lstStyle/>
          <a:p>
            <a:r>
              <a:rPr lang="en-US" dirty="0"/>
              <a:t>Hands on: Create Display like App for Sales Order</a:t>
            </a:r>
          </a:p>
        </p:txBody>
      </p:sp>
      <p:sp>
        <p:nvSpPr>
          <p:cNvPr id="4" name="TextBox 3">
            <a:extLst>
              <a:ext uri="{FF2B5EF4-FFF2-40B4-BE49-F238E27FC236}">
                <a16:creationId xmlns:a16="http://schemas.microsoft.com/office/drawing/2014/main" id="{E2D4CB00-16D0-210C-CA38-8E01C8CC8797}"/>
              </a:ext>
            </a:extLst>
          </p:cNvPr>
          <p:cNvSpPr txBox="1"/>
          <p:nvPr/>
        </p:nvSpPr>
        <p:spPr>
          <a:xfrm>
            <a:off x="189756" y="1412776"/>
            <a:ext cx="11665296" cy="2308324"/>
          </a:xfrm>
          <a:prstGeom prst="rect">
            <a:avLst/>
          </a:prstGeom>
          <a:noFill/>
        </p:spPr>
        <p:txBody>
          <a:bodyPr wrap="square">
            <a:spAutoFit/>
          </a:bodyPr>
          <a:lstStyle/>
          <a:p>
            <a:pPr algn="l">
              <a:buFont typeface="Arial" panose="020B0604020202020204" pitchFamily="34" charset="0"/>
              <a:buChar char="•"/>
            </a:pPr>
            <a:r>
              <a:rPr lang="en-US" b="0" i="0" dirty="0">
                <a:solidFill>
                  <a:schemeClr val="bg1"/>
                </a:solidFill>
                <a:effectLst/>
                <a:latin typeface="BentonSansRegular"/>
              </a:rPr>
              <a:t> Enabling an OData API on SAP S/4HANA</a:t>
            </a:r>
          </a:p>
          <a:p>
            <a:pPr algn="l">
              <a:buFont typeface="Arial" panose="020B0604020202020204" pitchFamily="34" charset="0"/>
              <a:buChar char="•"/>
            </a:pPr>
            <a:r>
              <a:rPr lang="en-US" b="0" i="0" dirty="0">
                <a:solidFill>
                  <a:schemeClr val="bg1"/>
                </a:solidFill>
                <a:effectLst/>
                <a:latin typeface="BentonSansRegular"/>
              </a:rPr>
              <a:t> Setting up SAP Cloud Connector and S/4HANA for principal propagation</a:t>
            </a:r>
          </a:p>
          <a:p>
            <a:pPr algn="l">
              <a:buFont typeface="Arial" panose="020B0604020202020204" pitchFamily="34" charset="0"/>
              <a:buChar char="•"/>
            </a:pPr>
            <a:r>
              <a:rPr lang="en-US" b="0" i="0" dirty="0">
                <a:solidFill>
                  <a:schemeClr val="bg1"/>
                </a:solidFill>
                <a:effectLst/>
                <a:latin typeface="BentonSansRegular"/>
              </a:rPr>
              <a:t> Setting up an SAP BTP BAS Subscription</a:t>
            </a:r>
          </a:p>
          <a:p>
            <a:pPr algn="l">
              <a:buFont typeface="Arial" panose="020B0604020202020204" pitchFamily="34" charset="0"/>
              <a:buChar char="•"/>
            </a:pPr>
            <a:r>
              <a:rPr lang="en-US" b="0" i="0" dirty="0">
                <a:solidFill>
                  <a:schemeClr val="bg1"/>
                </a:solidFill>
                <a:effectLst/>
                <a:latin typeface="BentonSansRegular"/>
              </a:rPr>
              <a:t> Developing of a simple Fiori Application with the SAP Business Application Studio</a:t>
            </a:r>
          </a:p>
          <a:p>
            <a:pPr algn="l">
              <a:buFont typeface="Arial" panose="020B0604020202020204" pitchFamily="34" charset="0"/>
              <a:buChar char="•"/>
            </a:pPr>
            <a:r>
              <a:rPr lang="en-US" b="0" i="0" dirty="0">
                <a:solidFill>
                  <a:schemeClr val="bg1"/>
                </a:solidFill>
                <a:effectLst/>
                <a:latin typeface="BentonSansRegular"/>
              </a:rPr>
              <a:t> Deploying the application to the HTLM5 repository service</a:t>
            </a:r>
          </a:p>
          <a:p>
            <a:pPr algn="l">
              <a:buFont typeface="Arial" panose="020B0604020202020204" pitchFamily="34" charset="0"/>
              <a:buChar char="•"/>
            </a:pPr>
            <a:r>
              <a:rPr lang="en-US" b="0" i="0" dirty="0">
                <a:solidFill>
                  <a:schemeClr val="bg1"/>
                </a:solidFill>
                <a:effectLst/>
                <a:latin typeface="BentonSansRegular"/>
              </a:rPr>
              <a:t> Integrating he application into the Launchpad service</a:t>
            </a:r>
          </a:p>
        </p:txBody>
      </p:sp>
      <p:sp>
        <p:nvSpPr>
          <p:cNvPr id="5" name="TextBox 4">
            <a:extLst>
              <a:ext uri="{FF2B5EF4-FFF2-40B4-BE49-F238E27FC236}">
                <a16:creationId xmlns:a16="http://schemas.microsoft.com/office/drawing/2014/main" id="{E72DF0D5-C121-4FFF-7DE9-147BC61F721F}"/>
              </a:ext>
            </a:extLst>
          </p:cNvPr>
          <p:cNvSpPr txBox="1"/>
          <p:nvPr/>
        </p:nvSpPr>
        <p:spPr>
          <a:xfrm>
            <a:off x="117748" y="4005064"/>
            <a:ext cx="11809312" cy="2246769"/>
          </a:xfrm>
          <a:prstGeom prst="rect">
            <a:avLst/>
          </a:prstGeom>
          <a:noFill/>
        </p:spPr>
        <p:txBody>
          <a:bodyPr wrap="square" rtlCol="0">
            <a:spAutoFit/>
          </a:bodyPr>
          <a:lstStyle/>
          <a:p>
            <a:pPr marL="457200" indent="-457200">
              <a:buAutoNum type="arabicPeriod"/>
            </a:pPr>
            <a:r>
              <a:rPr lang="en-US" sz="2000" dirty="0">
                <a:solidFill>
                  <a:schemeClr val="bg1"/>
                </a:solidFill>
              </a:rPr>
              <a:t>Destination service – to read the destination from SAP BTP at runtime for the purpose of connection</a:t>
            </a:r>
          </a:p>
          <a:p>
            <a:pPr marL="457200" indent="-457200">
              <a:buAutoNum type="arabicPeriod"/>
            </a:pPr>
            <a:r>
              <a:rPr lang="en-US" sz="2000" dirty="0">
                <a:solidFill>
                  <a:schemeClr val="bg1"/>
                </a:solidFill>
              </a:rPr>
              <a:t>Connectivity service – once the destination is read, it will use connectivity service to connect to our </a:t>
            </a:r>
            <a:r>
              <a:rPr lang="en-US" sz="2000" dirty="0" err="1">
                <a:solidFill>
                  <a:schemeClr val="bg1"/>
                </a:solidFill>
              </a:rPr>
              <a:t>oData</a:t>
            </a:r>
            <a:r>
              <a:rPr lang="en-US" sz="2000" dirty="0">
                <a:solidFill>
                  <a:schemeClr val="bg1"/>
                </a:solidFill>
              </a:rPr>
              <a:t> source</a:t>
            </a:r>
          </a:p>
          <a:p>
            <a:pPr marL="457200" indent="-457200">
              <a:buAutoNum type="arabicPeriod"/>
            </a:pPr>
            <a:r>
              <a:rPr lang="en-US" sz="2000" dirty="0">
                <a:solidFill>
                  <a:schemeClr val="bg1"/>
                </a:solidFill>
              </a:rPr>
              <a:t>HTML5 deployer – this will be used to deploy our app to HTML5 repository.</a:t>
            </a:r>
          </a:p>
          <a:p>
            <a:pPr marL="457200" indent="-457200">
              <a:buAutoNum type="arabicPeriod"/>
            </a:pPr>
            <a:r>
              <a:rPr lang="en-US" sz="2000" dirty="0">
                <a:solidFill>
                  <a:schemeClr val="bg1"/>
                </a:solidFill>
              </a:rPr>
              <a:t>HTML5 Repo Runtime – Will load the Fiori app when requested at runtime.</a:t>
            </a:r>
          </a:p>
          <a:p>
            <a:pPr marL="457200" indent="-457200">
              <a:buAutoNum type="arabicPeriod"/>
            </a:pPr>
            <a:r>
              <a:rPr lang="en-US" sz="2000" dirty="0">
                <a:solidFill>
                  <a:schemeClr val="bg1"/>
                </a:solidFill>
              </a:rPr>
              <a:t>Fiori launchpad service – which displays Fiori apps as a tile.</a:t>
            </a:r>
            <a:endParaRPr lang="en-IN" sz="2000" dirty="0">
              <a:solidFill>
                <a:schemeClr val="bg1"/>
              </a:solidFill>
            </a:endParaRPr>
          </a:p>
        </p:txBody>
      </p:sp>
    </p:spTree>
    <p:extLst>
      <p:ext uri="{BB962C8B-B14F-4D97-AF65-F5344CB8AC3E}">
        <p14:creationId xmlns:p14="http://schemas.microsoft.com/office/powerpoint/2010/main" val="1264472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7F54-4532-E4E8-9F0B-6BA6890ABE1C}"/>
              </a:ext>
            </a:extLst>
          </p:cNvPr>
          <p:cNvSpPr>
            <a:spLocks noGrp="1"/>
          </p:cNvSpPr>
          <p:nvPr>
            <p:ph type="title"/>
          </p:nvPr>
        </p:nvSpPr>
        <p:spPr/>
        <p:txBody>
          <a:bodyPr/>
          <a:lstStyle/>
          <a:p>
            <a:r>
              <a:rPr lang="en-US" dirty="0"/>
              <a:t>Scenario 2: </a:t>
            </a:r>
          </a:p>
        </p:txBody>
      </p:sp>
      <p:sp>
        <p:nvSpPr>
          <p:cNvPr id="27" name="Rectangle 26">
            <a:extLst>
              <a:ext uri="{FF2B5EF4-FFF2-40B4-BE49-F238E27FC236}">
                <a16:creationId xmlns:a16="http://schemas.microsoft.com/office/drawing/2014/main" id="{3DEDE388-1C69-F73B-2341-9A5162010CCC}"/>
              </a:ext>
            </a:extLst>
          </p:cNvPr>
          <p:cNvSpPr/>
          <p:nvPr/>
        </p:nvSpPr>
        <p:spPr>
          <a:xfrm>
            <a:off x="9046740" y="1916832"/>
            <a:ext cx="2592288" cy="1944216"/>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SAP or Non SAP API OData which we want to reuse</a:t>
            </a:r>
          </a:p>
        </p:txBody>
      </p:sp>
      <p:sp>
        <p:nvSpPr>
          <p:cNvPr id="28" name="Rectangle 27">
            <a:extLst>
              <a:ext uri="{FF2B5EF4-FFF2-40B4-BE49-F238E27FC236}">
                <a16:creationId xmlns:a16="http://schemas.microsoft.com/office/drawing/2014/main" id="{A6D99C49-CFD9-3CE2-8C2B-3299E8CADDC4}"/>
              </a:ext>
            </a:extLst>
          </p:cNvPr>
          <p:cNvSpPr/>
          <p:nvPr/>
        </p:nvSpPr>
        <p:spPr>
          <a:xfrm>
            <a:off x="3718148" y="2276872"/>
            <a:ext cx="3744416" cy="1224136"/>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CAPM App</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Middleware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Data manipulation, enrichment, Security, automation, movement, proxy</a:t>
            </a:r>
          </a:p>
        </p:txBody>
      </p:sp>
      <p:cxnSp>
        <p:nvCxnSpPr>
          <p:cNvPr id="29" name="Straight Arrow Connector 28">
            <a:extLst>
              <a:ext uri="{FF2B5EF4-FFF2-40B4-BE49-F238E27FC236}">
                <a16:creationId xmlns:a16="http://schemas.microsoft.com/office/drawing/2014/main" id="{BDD867DC-C05A-C396-96F6-E7297E14844B}"/>
              </a:ext>
            </a:extLst>
          </p:cNvPr>
          <p:cNvCxnSpPr>
            <a:stCxn id="28" idx="3"/>
            <a:endCxn id="27" idx="1"/>
          </p:cNvCxnSpPr>
          <p:nvPr/>
        </p:nvCxnSpPr>
        <p:spPr>
          <a:xfrm>
            <a:off x="7462564" y="2888940"/>
            <a:ext cx="1584176" cy="0"/>
          </a:xfrm>
          <a:prstGeom prst="straightConnector1">
            <a:avLst/>
          </a:prstGeom>
          <a:noFill/>
          <a:ln w="9525" cap="flat" cmpd="sng" algn="ctr">
            <a:solidFill>
              <a:schemeClr val="bg1"/>
            </a:solidFill>
            <a:prstDash val="solid"/>
            <a:headEnd type="triangle"/>
            <a:tailEnd type="triangle"/>
          </a:ln>
          <a:effectLst/>
        </p:spPr>
      </p:cxnSp>
      <p:sp>
        <p:nvSpPr>
          <p:cNvPr id="30" name="Rectangle 29">
            <a:extLst>
              <a:ext uri="{FF2B5EF4-FFF2-40B4-BE49-F238E27FC236}">
                <a16:creationId xmlns:a16="http://schemas.microsoft.com/office/drawing/2014/main" id="{855E0D34-71EA-9DC5-8463-A646BB0B45D2}"/>
              </a:ext>
            </a:extLst>
          </p:cNvPr>
          <p:cNvSpPr/>
          <p:nvPr/>
        </p:nvSpPr>
        <p:spPr>
          <a:xfrm>
            <a:off x="4726260" y="4149080"/>
            <a:ext cx="1512168" cy="792088"/>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HANA</a:t>
            </a:r>
          </a:p>
        </p:txBody>
      </p:sp>
      <p:sp>
        <p:nvSpPr>
          <p:cNvPr id="31" name="Arrow: Down 30">
            <a:extLst>
              <a:ext uri="{FF2B5EF4-FFF2-40B4-BE49-F238E27FC236}">
                <a16:creationId xmlns:a16="http://schemas.microsoft.com/office/drawing/2014/main" id="{12FC8EE1-CF00-157D-2D7E-BC12CDB70012}"/>
              </a:ext>
            </a:extLst>
          </p:cNvPr>
          <p:cNvSpPr/>
          <p:nvPr/>
        </p:nvSpPr>
        <p:spPr>
          <a:xfrm>
            <a:off x="4726260" y="3573016"/>
            <a:ext cx="504056" cy="504056"/>
          </a:xfrm>
          <a:prstGeom prst="downArrow">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32" name="Arrow: Down 31">
            <a:extLst>
              <a:ext uri="{FF2B5EF4-FFF2-40B4-BE49-F238E27FC236}">
                <a16:creationId xmlns:a16="http://schemas.microsoft.com/office/drawing/2014/main" id="{D2B1FAC0-1C04-B82A-A7A6-015191B7C784}"/>
              </a:ext>
            </a:extLst>
          </p:cNvPr>
          <p:cNvSpPr/>
          <p:nvPr/>
        </p:nvSpPr>
        <p:spPr>
          <a:xfrm rot="10800000">
            <a:off x="5590356" y="3559869"/>
            <a:ext cx="504056" cy="504056"/>
          </a:xfrm>
          <a:prstGeom prst="downArrow">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913B93FE-659E-CEB6-6EEB-7A2BA2DCB497}"/>
              </a:ext>
            </a:extLst>
          </p:cNvPr>
          <p:cNvSpPr/>
          <p:nvPr/>
        </p:nvSpPr>
        <p:spPr>
          <a:xfrm>
            <a:off x="4366220" y="908720"/>
            <a:ext cx="2448272" cy="720080"/>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Own Fiori App</a:t>
            </a:r>
          </a:p>
        </p:txBody>
      </p:sp>
      <p:cxnSp>
        <p:nvCxnSpPr>
          <p:cNvPr id="34" name="Straight Arrow Connector 33">
            <a:extLst>
              <a:ext uri="{FF2B5EF4-FFF2-40B4-BE49-F238E27FC236}">
                <a16:creationId xmlns:a16="http://schemas.microsoft.com/office/drawing/2014/main" id="{A6298F06-C247-4BA9-CF6F-22C72B2A487B}"/>
              </a:ext>
            </a:extLst>
          </p:cNvPr>
          <p:cNvCxnSpPr>
            <a:stCxn id="33" idx="2"/>
            <a:endCxn id="28" idx="0"/>
          </p:cNvCxnSpPr>
          <p:nvPr/>
        </p:nvCxnSpPr>
        <p:spPr>
          <a:xfrm>
            <a:off x="5590356" y="1628800"/>
            <a:ext cx="0" cy="648072"/>
          </a:xfrm>
          <a:prstGeom prst="straightConnector1">
            <a:avLst/>
          </a:prstGeom>
          <a:noFill/>
          <a:ln w="9525" cap="flat" cmpd="sng" algn="ctr">
            <a:solidFill>
              <a:schemeClr val="bg1"/>
            </a:solidFill>
            <a:prstDash val="solid"/>
            <a:headEnd type="triangle"/>
            <a:tailEnd type="triangle"/>
          </a:ln>
          <a:effectLst/>
        </p:spPr>
      </p:cxnSp>
      <p:sp>
        <p:nvSpPr>
          <p:cNvPr id="35" name="Arrow: Right 34">
            <a:extLst>
              <a:ext uri="{FF2B5EF4-FFF2-40B4-BE49-F238E27FC236}">
                <a16:creationId xmlns:a16="http://schemas.microsoft.com/office/drawing/2014/main" id="{10DFE58B-C58F-5FCB-5DC2-E2B7A641EF99}"/>
              </a:ext>
            </a:extLst>
          </p:cNvPr>
          <p:cNvSpPr/>
          <p:nvPr/>
        </p:nvSpPr>
        <p:spPr>
          <a:xfrm>
            <a:off x="1989956" y="2420888"/>
            <a:ext cx="1584176" cy="307777"/>
          </a:xfrm>
          <a:prstGeom prst="rightArrow">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36" name="Arrow: Right 35">
            <a:extLst>
              <a:ext uri="{FF2B5EF4-FFF2-40B4-BE49-F238E27FC236}">
                <a16:creationId xmlns:a16="http://schemas.microsoft.com/office/drawing/2014/main" id="{CE4759A3-7ED1-1123-1CD9-2B2B55223900}"/>
              </a:ext>
            </a:extLst>
          </p:cNvPr>
          <p:cNvSpPr/>
          <p:nvPr/>
        </p:nvSpPr>
        <p:spPr>
          <a:xfrm rot="10800000">
            <a:off x="1989956" y="2855170"/>
            <a:ext cx="1584176" cy="307777"/>
          </a:xfrm>
          <a:prstGeom prst="rightArrow">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37" name="Rectangle 36">
            <a:extLst>
              <a:ext uri="{FF2B5EF4-FFF2-40B4-BE49-F238E27FC236}">
                <a16:creationId xmlns:a16="http://schemas.microsoft.com/office/drawing/2014/main" id="{A440883C-2D2F-2F80-6B0F-3A997CA1FE9B}"/>
              </a:ext>
            </a:extLst>
          </p:cNvPr>
          <p:cNvSpPr/>
          <p:nvPr/>
        </p:nvSpPr>
        <p:spPr>
          <a:xfrm>
            <a:off x="261761" y="2132856"/>
            <a:ext cx="1584177" cy="1440160"/>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Android App</a:t>
            </a:r>
          </a:p>
          <a:p>
            <a:pPr marL="0" marR="0" lvl="0" indent="0" algn="ctr" defTabSz="914400" eaLnBrk="1" fontAlgn="auto" latinLnBrk="0" hangingPunct="1">
              <a:lnSpc>
                <a:spcPct val="100000"/>
              </a:lnSpc>
              <a:spcBef>
                <a:spcPts val="0"/>
              </a:spcBef>
              <a:spcAft>
                <a:spcPts val="0"/>
              </a:spcAft>
              <a:buClrTx/>
              <a:buSzTx/>
              <a:buFontTx/>
              <a:buNone/>
              <a:tabLst/>
              <a:defRPr/>
            </a:pPr>
            <a:r>
              <a:rPr lang="en-US" sz="1800" kern="0" dirty="0">
                <a:solidFill>
                  <a:prstClr val="white"/>
                </a:solidFill>
                <a:latin typeface="Segoe UI"/>
              </a:rPr>
              <a:t>SAP UI5 App</a:t>
            </a: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11227299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Hands on: Initialize CAPM Extension</a:t>
            </a:r>
          </a:p>
        </p:txBody>
      </p:sp>
      <p:sp>
        <p:nvSpPr>
          <p:cNvPr id="5" name="TextBox 4">
            <a:extLst>
              <a:ext uri="{FF2B5EF4-FFF2-40B4-BE49-F238E27FC236}">
                <a16:creationId xmlns:a16="http://schemas.microsoft.com/office/drawing/2014/main" id="{2F2B31D3-E342-461D-7674-04DB2CC57CA4}"/>
              </a:ext>
            </a:extLst>
          </p:cNvPr>
          <p:cNvSpPr txBox="1"/>
          <p:nvPr/>
        </p:nvSpPr>
        <p:spPr>
          <a:xfrm>
            <a:off x="189756" y="874455"/>
            <a:ext cx="11809312" cy="2554545"/>
          </a:xfrm>
          <a:prstGeom prst="rect">
            <a:avLst/>
          </a:prstGeom>
          <a:noFill/>
        </p:spPr>
        <p:txBody>
          <a:bodyPr wrap="square" rtlCol="0">
            <a:spAutoFit/>
          </a:bodyPr>
          <a:lstStyle/>
          <a:p>
            <a:pPr marL="457200" indent="-457200">
              <a:buAutoNum type="arabicPeriod"/>
            </a:pPr>
            <a:r>
              <a:rPr lang="en-US" sz="2000" dirty="0">
                <a:solidFill>
                  <a:schemeClr val="bg1"/>
                </a:solidFill>
              </a:rPr>
              <a:t>Create a new cap project with </a:t>
            </a:r>
            <a:r>
              <a:rPr lang="en-US" sz="2000" b="1" dirty="0" err="1">
                <a:solidFill>
                  <a:schemeClr val="bg1"/>
                </a:solidFill>
              </a:rPr>
              <a:t>cds</a:t>
            </a:r>
            <a:r>
              <a:rPr lang="en-US" sz="2000" b="1" dirty="0">
                <a:solidFill>
                  <a:schemeClr val="bg1"/>
                </a:solidFill>
              </a:rPr>
              <a:t> </a:t>
            </a:r>
            <a:r>
              <a:rPr lang="en-US" sz="2000" b="1" dirty="0" err="1">
                <a:solidFill>
                  <a:schemeClr val="bg1"/>
                </a:solidFill>
              </a:rPr>
              <a:t>init</a:t>
            </a:r>
            <a:endParaRPr lang="en-US" sz="2000" dirty="0">
              <a:solidFill>
                <a:schemeClr val="bg1"/>
              </a:solidFill>
            </a:endParaRPr>
          </a:p>
          <a:p>
            <a:pPr marL="457200" indent="-457200">
              <a:buAutoNum type="arabicPeriod"/>
            </a:pPr>
            <a:r>
              <a:rPr lang="en-US" sz="2000" dirty="0">
                <a:solidFill>
                  <a:schemeClr val="bg1"/>
                </a:solidFill>
              </a:rPr>
              <a:t>Drag drop </a:t>
            </a:r>
            <a:r>
              <a:rPr lang="en-US" sz="2000" dirty="0" err="1">
                <a:solidFill>
                  <a:schemeClr val="bg1"/>
                </a:solidFill>
              </a:rPr>
              <a:t>edmx</a:t>
            </a:r>
            <a:r>
              <a:rPr lang="en-US" sz="2000" dirty="0">
                <a:solidFill>
                  <a:schemeClr val="bg1"/>
                </a:solidFill>
              </a:rPr>
              <a:t> file downloaded from API hub and perform </a:t>
            </a:r>
            <a:r>
              <a:rPr lang="en-US" sz="2000" b="1" dirty="0" err="1">
                <a:solidFill>
                  <a:schemeClr val="bg1"/>
                </a:solidFill>
              </a:rPr>
              <a:t>cds</a:t>
            </a:r>
            <a:r>
              <a:rPr lang="en-US" sz="2000" b="1" dirty="0">
                <a:solidFill>
                  <a:schemeClr val="bg1"/>
                </a:solidFill>
              </a:rPr>
              <a:t> import </a:t>
            </a:r>
            <a:r>
              <a:rPr lang="en-US" sz="2000" dirty="0">
                <a:solidFill>
                  <a:schemeClr val="bg1"/>
                </a:solidFill>
              </a:rPr>
              <a:t>PATH_OF_EDMX</a:t>
            </a:r>
          </a:p>
          <a:p>
            <a:pPr marL="457200" indent="-457200">
              <a:buAutoNum type="arabicPeriod"/>
            </a:pPr>
            <a:r>
              <a:rPr lang="en-US" sz="2000" dirty="0">
                <a:solidFill>
                  <a:schemeClr val="bg1"/>
                </a:solidFill>
              </a:rPr>
              <a:t>Add a new </a:t>
            </a:r>
            <a:r>
              <a:rPr lang="en-US" sz="2000" dirty="0" err="1">
                <a:solidFill>
                  <a:schemeClr val="bg1"/>
                </a:solidFill>
              </a:rPr>
              <a:t>CatalogService.cds</a:t>
            </a:r>
            <a:r>
              <a:rPr lang="en-US" sz="2000" dirty="0">
                <a:solidFill>
                  <a:schemeClr val="bg1"/>
                </a:solidFill>
              </a:rPr>
              <a:t> and CatalogService.js</a:t>
            </a:r>
          </a:p>
          <a:p>
            <a:pPr marL="457200" indent="-457200">
              <a:buAutoNum type="arabicPeriod"/>
            </a:pPr>
            <a:r>
              <a:rPr lang="en-US" sz="2000" dirty="0">
                <a:solidFill>
                  <a:srgbClr val="0000FF"/>
                </a:solidFill>
                <a:hlinkClick r:id="rId2">
                  <a:extLst>
                    <a:ext uri="{A12FA001-AC4F-418D-AE19-62706E023703}">
                      <ahyp:hlinkClr xmlns:ahyp="http://schemas.microsoft.com/office/drawing/2018/hyperlinkcolor" val="tx"/>
                    </a:ext>
                  </a:extLst>
                </a:hlinkClick>
              </a:rPr>
              <a:t>S4HANA cloud </a:t>
            </a:r>
            <a:r>
              <a:rPr lang="en-US" sz="2000" dirty="0" err="1">
                <a:solidFill>
                  <a:srgbClr val="0000FF"/>
                </a:solidFill>
                <a:hlinkClick r:id="rId2">
                  <a:extLst>
                    <a:ext uri="{A12FA001-AC4F-418D-AE19-62706E023703}">
                      <ahyp:hlinkClr xmlns:ahyp="http://schemas.microsoft.com/office/drawing/2018/hyperlinkcolor" val="tx"/>
                    </a:ext>
                  </a:extLst>
                </a:hlinkClick>
              </a:rPr>
              <a:t>sdk</a:t>
            </a:r>
            <a:r>
              <a:rPr lang="en-US" sz="2000" dirty="0">
                <a:solidFill>
                  <a:schemeClr val="bg1"/>
                </a:solidFill>
                <a:hlinkClick r:id="rId2">
                  <a:extLst>
                    <a:ext uri="{A12FA001-AC4F-418D-AE19-62706E023703}">
                      <ahyp:hlinkClr xmlns:ahyp="http://schemas.microsoft.com/office/drawing/2018/hyperlinkcolor" val="tx"/>
                    </a:ext>
                  </a:extLst>
                </a:hlinkClick>
              </a:rPr>
              <a:t> </a:t>
            </a:r>
            <a:r>
              <a:rPr lang="en-US" sz="2000" dirty="0">
                <a:solidFill>
                  <a:schemeClr val="bg1"/>
                </a:solidFill>
              </a:rPr>
              <a:t>is SAP’s portfolio of all the type safe API (node modules) to communicate to SAP APIs.</a:t>
            </a:r>
          </a:p>
          <a:p>
            <a:pPr marL="457200" indent="-457200">
              <a:buAutoNum type="arabicPeriod"/>
            </a:pPr>
            <a:r>
              <a:rPr lang="en-IN" sz="2000" dirty="0">
                <a:solidFill>
                  <a:schemeClr val="bg1"/>
                </a:solidFill>
              </a:rPr>
              <a:t>Install the node module @sap/cloud-sdk-vdm-sales-order-service</a:t>
            </a:r>
          </a:p>
          <a:p>
            <a:pPr marL="457200" indent="-457200">
              <a:buAutoNum type="arabicPeriod"/>
            </a:pPr>
            <a:r>
              <a:rPr lang="en-IN" sz="2000" dirty="0">
                <a:solidFill>
                  <a:schemeClr val="bg1"/>
                </a:solidFill>
              </a:rPr>
              <a:t>Add the configuration to test our </a:t>
            </a:r>
            <a:r>
              <a:rPr lang="en-IN" sz="2000" dirty="0" err="1">
                <a:solidFill>
                  <a:schemeClr val="bg1"/>
                </a:solidFill>
              </a:rPr>
              <a:t>api</a:t>
            </a:r>
            <a:r>
              <a:rPr lang="en-IN" sz="2000" dirty="0">
                <a:solidFill>
                  <a:schemeClr val="bg1"/>
                </a:solidFill>
              </a:rPr>
              <a:t> locally – credentials </a:t>
            </a:r>
          </a:p>
          <a:p>
            <a:pPr marL="457200" indent="-457200">
              <a:buAutoNum type="arabicPeriod"/>
            </a:pPr>
            <a:endParaRPr lang="en-IN" sz="2000" dirty="0">
              <a:solidFill>
                <a:schemeClr val="bg1"/>
              </a:solidFill>
            </a:endParaRPr>
          </a:p>
        </p:txBody>
      </p:sp>
    </p:spTree>
    <p:extLst>
      <p:ext uri="{BB962C8B-B14F-4D97-AF65-F5344CB8AC3E}">
        <p14:creationId xmlns:p14="http://schemas.microsoft.com/office/powerpoint/2010/main" val="6983464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7F54-4532-E4E8-9F0B-6BA6890ABE1C}"/>
              </a:ext>
            </a:extLst>
          </p:cNvPr>
          <p:cNvSpPr>
            <a:spLocks noGrp="1"/>
          </p:cNvSpPr>
          <p:nvPr>
            <p:ph type="title"/>
          </p:nvPr>
        </p:nvSpPr>
        <p:spPr/>
        <p:txBody>
          <a:bodyPr/>
          <a:lstStyle/>
          <a:p>
            <a:r>
              <a:rPr lang="en-US" dirty="0"/>
              <a:t>Hands on: Initialize CAPM Extension</a:t>
            </a:r>
          </a:p>
        </p:txBody>
      </p:sp>
      <p:sp>
        <p:nvSpPr>
          <p:cNvPr id="3" name="TextBox 2">
            <a:extLst>
              <a:ext uri="{FF2B5EF4-FFF2-40B4-BE49-F238E27FC236}">
                <a16:creationId xmlns:a16="http://schemas.microsoft.com/office/drawing/2014/main" id="{69E7517E-7184-B854-6DC3-2C27B9924D1A}"/>
              </a:ext>
            </a:extLst>
          </p:cNvPr>
          <p:cNvSpPr txBox="1"/>
          <p:nvPr/>
        </p:nvSpPr>
        <p:spPr>
          <a:xfrm>
            <a:off x="189756" y="980728"/>
            <a:ext cx="11809312" cy="5324535"/>
          </a:xfrm>
          <a:prstGeom prst="rect">
            <a:avLst/>
          </a:prstGeom>
          <a:noFill/>
        </p:spPr>
        <p:txBody>
          <a:bodyPr wrap="square" rtlCol="0">
            <a:spAutoFit/>
          </a:bodyPr>
          <a:lstStyle/>
          <a:p>
            <a:pPr marL="457200" indent="-457200">
              <a:buAutoNum type="arabicPeriod"/>
            </a:pPr>
            <a:r>
              <a:rPr lang="en-US" sz="2000" dirty="0">
                <a:solidFill>
                  <a:schemeClr val="bg1"/>
                </a:solidFill>
              </a:rPr>
              <a:t>Create a new folder and initialize cap project using </a:t>
            </a:r>
            <a:r>
              <a:rPr lang="en-US" sz="2000" b="1" dirty="0" err="1">
                <a:solidFill>
                  <a:schemeClr val="bg1"/>
                </a:solidFill>
              </a:rPr>
              <a:t>cds</a:t>
            </a:r>
            <a:r>
              <a:rPr lang="en-US" sz="2000" b="1" dirty="0">
                <a:solidFill>
                  <a:schemeClr val="bg1"/>
                </a:solidFill>
              </a:rPr>
              <a:t> </a:t>
            </a:r>
            <a:r>
              <a:rPr lang="en-US" sz="2000" b="1" dirty="0" err="1">
                <a:solidFill>
                  <a:schemeClr val="bg1"/>
                </a:solidFill>
              </a:rPr>
              <a:t>init</a:t>
            </a:r>
            <a:endParaRPr lang="en-US" sz="2000" b="1" dirty="0">
              <a:solidFill>
                <a:schemeClr val="bg1"/>
              </a:solidFill>
            </a:endParaRPr>
          </a:p>
          <a:p>
            <a:pPr marL="457200" indent="-457200">
              <a:buAutoNum type="arabicPeriod"/>
            </a:pPr>
            <a:r>
              <a:rPr lang="en-US" sz="2000" dirty="0">
                <a:solidFill>
                  <a:schemeClr val="bg1"/>
                </a:solidFill>
              </a:rPr>
              <a:t>Go inside project and install following modules</a:t>
            </a:r>
          </a:p>
          <a:p>
            <a:pPr lvl="1"/>
            <a:r>
              <a:rPr lang="en-IN" sz="2000" dirty="0">
                <a:solidFill>
                  <a:schemeClr val="bg1"/>
                </a:solidFill>
              </a:rPr>
              <a:t>2.1 Cloud Foundry Security - @sap/xssec, @sap/xsenv, passport</a:t>
            </a:r>
          </a:p>
          <a:p>
            <a:pPr lvl="1"/>
            <a:r>
              <a:rPr lang="en-IN" sz="2000" dirty="0">
                <a:solidFill>
                  <a:schemeClr val="bg1"/>
                </a:solidFill>
              </a:rPr>
              <a:t>2.2 OData V2 @sap/cds-odata-v2-adapter-proxy</a:t>
            </a:r>
          </a:p>
          <a:p>
            <a:pPr lvl="1"/>
            <a:r>
              <a:rPr lang="en-IN" sz="2000" dirty="0">
                <a:solidFill>
                  <a:schemeClr val="bg1"/>
                </a:solidFill>
              </a:rPr>
              <a:t>2.3 Serving </a:t>
            </a:r>
            <a:r>
              <a:rPr lang="en-IN" sz="2000" dirty="0" err="1">
                <a:solidFill>
                  <a:schemeClr val="bg1"/>
                </a:solidFill>
              </a:rPr>
              <a:t>odata</a:t>
            </a:r>
            <a:r>
              <a:rPr lang="en-IN" sz="2000" dirty="0">
                <a:solidFill>
                  <a:schemeClr val="bg1"/>
                </a:solidFill>
              </a:rPr>
              <a:t> v2 over cloud </a:t>
            </a:r>
            <a:r>
              <a:rPr lang="en-IN" sz="2000" dirty="0" err="1">
                <a:solidFill>
                  <a:schemeClr val="bg1"/>
                </a:solidFill>
              </a:rPr>
              <a:t>sdk</a:t>
            </a:r>
            <a:r>
              <a:rPr lang="en-IN" sz="2000" dirty="0">
                <a:solidFill>
                  <a:schemeClr val="bg1"/>
                </a:solidFill>
              </a:rPr>
              <a:t> - @sap-cloud-sdk/odata-v2</a:t>
            </a:r>
          </a:p>
          <a:p>
            <a:pPr lvl="1"/>
            <a:r>
              <a:rPr lang="en-IN" sz="2000" dirty="0">
                <a:solidFill>
                  <a:schemeClr val="bg1"/>
                </a:solidFill>
              </a:rPr>
              <a:t>2.4 To generate the service code in node </a:t>
            </a:r>
            <a:r>
              <a:rPr lang="en-IN" sz="2000" dirty="0" err="1">
                <a:solidFill>
                  <a:schemeClr val="bg1"/>
                </a:solidFill>
              </a:rPr>
              <a:t>js</a:t>
            </a:r>
            <a:r>
              <a:rPr lang="en-IN" sz="2000" dirty="0">
                <a:solidFill>
                  <a:schemeClr val="bg1"/>
                </a:solidFill>
              </a:rPr>
              <a:t>, install cloud </a:t>
            </a:r>
            <a:r>
              <a:rPr lang="en-IN" sz="2000" dirty="0" err="1">
                <a:solidFill>
                  <a:schemeClr val="bg1"/>
                </a:solidFill>
              </a:rPr>
              <a:t>sdk</a:t>
            </a:r>
            <a:r>
              <a:rPr lang="en-IN" sz="2000" dirty="0">
                <a:solidFill>
                  <a:schemeClr val="bg1"/>
                </a:solidFill>
              </a:rPr>
              <a:t> generator module using @sap-cloud-sdk/generator</a:t>
            </a:r>
          </a:p>
          <a:p>
            <a:r>
              <a:rPr lang="en-IN" sz="2000" dirty="0">
                <a:solidFill>
                  <a:schemeClr val="bg1"/>
                </a:solidFill>
              </a:rPr>
              <a:t>3. Create a new folder service-spec, and </a:t>
            </a:r>
            <a:r>
              <a:rPr lang="en-IN" sz="2000" dirty="0" err="1">
                <a:solidFill>
                  <a:schemeClr val="bg1"/>
                </a:solidFill>
              </a:rPr>
              <a:t>cds</a:t>
            </a:r>
            <a:r>
              <a:rPr lang="en-IN" sz="2000" dirty="0">
                <a:solidFill>
                  <a:schemeClr val="bg1"/>
                </a:solidFill>
              </a:rPr>
              <a:t> watch, after that drag drop the </a:t>
            </a:r>
            <a:r>
              <a:rPr lang="en-IN" sz="2000" dirty="0" err="1">
                <a:solidFill>
                  <a:schemeClr val="bg1"/>
                </a:solidFill>
              </a:rPr>
              <a:t>edmx</a:t>
            </a:r>
            <a:r>
              <a:rPr lang="en-IN" sz="2000" dirty="0">
                <a:solidFill>
                  <a:schemeClr val="bg1"/>
                </a:solidFill>
              </a:rPr>
              <a:t> file of our service to the folder. It will create external folder</a:t>
            </a:r>
          </a:p>
          <a:p>
            <a:r>
              <a:rPr lang="en-IN" sz="2000" dirty="0">
                <a:solidFill>
                  <a:schemeClr val="bg1"/>
                </a:solidFill>
              </a:rPr>
              <a:t>4. Generate the JS code to automatically get all the calls which will call the service</a:t>
            </a:r>
          </a:p>
          <a:p>
            <a:r>
              <a:rPr lang="en-IN" sz="2000" b="1" dirty="0" err="1">
                <a:solidFill>
                  <a:schemeClr val="accent4">
                    <a:lumMod val="60000"/>
                    <a:lumOff val="40000"/>
                  </a:schemeClr>
                </a:solidFill>
              </a:rPr>
              <a:t>npx</a:t>
            </a:r>
            <a:r>
              <a:rPr lang="en-IN" sz="2000" b="1" dirty="0">
                <a:solidFill>
                  <a:schemeClr val="accent4">
                    <a:lumMod val="60000"/>
                    <a:lumOff val="40000"/>
                  </a:schemeClr>
                </a:solidFill>
              </a:rPr>
              <a:t> generate-</a:t>
            </a:r>
            <a:r>
              <a:rPr lang="en-IN" sz="2000" b="1" dirty="0" err="1">
                <a:solidFill>
                  <a:schemeClr val="accent4">
                    <a:lumMod val="60000"/>
                    <a:lumOff val="40000"/>
                  </a:schemeClr>
                </a:solidFill>
              </a:rPr>
              <a:t>odata</a:t>
            </a:r>
            <a:r>
              <a:rPr lang="en-IN" sz="2000" b="1" dirty="0">
                <a:solidFill>
                  <a:schemeClr val="accent4">
                    <a:lumMod val="60000"/>
                    <a:lumOff val="40000"/>
                  </a:schemeClr>
                </a:solidFill>
              </a:rPr>
              <a:t>-client --input ./service-spec --</a:t>
            </a:r>
            <a:r>
              <a:rPr lang="en-IN" sz="2000" b="1" dirty="0" err="1">
                <a:solidFill>
                  <a:schemeClr val="accent4">
                    <a:lumMod val="60000"/>
                    <a:lumOff val="40000"/>
                  </a:schemeClr>
                </a:solidFill>
              </a:rPr>
              <a:t>outputDir</a:t>
            </a:r>
            <a:r>
              <a:rPr lang="en-IN" sz="2000" b="1" dirty="0">
                <a:solidFill>
                  <a:schemeClr val="accent4">
                    <a:lumMod val="60000"/>
                    <a:lumOff val="40000"/>
                  </a:schemeClr>
                </a:solidFill>
              </a:rPr>
              <a:t> ./</a:t>
            </a:r>
            <a:r>
              <a:rPr lang="en-IN" sz="2000" b="1" dirty="0" err="1">
                <a:solidFill>
                  <a:schemeClr val="accent4">
                    <a:lumMod val="60000"/>
                    <a:lumOff val="40000"/>
                  </a:schemeClr>
                </a:solidFill>
              </a:rPr>
              <a:t>srv</a:t>
            </a:r>
            <a:r>
              <a:rPr lang="en-IN" sz="2000" b="1" dirty="0">
                <a:solidFill>
                  <a:schemeClr val="accent4">
                    <a:lumMod val="60000"/>
                    <a:lumOff val="40000"/>
                  </a:schemeClr>
                </a:solidFill>
              </a:rPr>
              <a:t>/sales-order-</a:t>
            </a:r>
            <a:r>
              <a:rPr lang="en-IN" sz="2000" b="1" dirty="0" err="1">
                <a:solidFill>
                  <a:schemeClr val="accent4">
                    <a:lumMod val="60000"/>
                    <a:lumOff val="40000"/>
                  </a:schemeClr>
                </a:solidFill>
              </a:rPr>
              <a:t>api</a:t>
            </a:r>
            <a:endParaRPr lang="en-IN" sz="2000" b="1" dirty="0">
              <a:solidFill>
                <a:schemeClr val="accent4">
                  <a:lumMod val="60000"/>
                  <a:lumOff val="40000"/>
                </a:schemeClr>
              </a:solidFill>
            </a:endParaRPr>
          </a:p>
          <a:p>
            <a:r>
              <a:rPr lang="en-IN" sz="2000" dirty="0">
                <a:solidFill>
                  <a:schemeClr val="bg1"/>
                </a:solidFill>
              </a:rPr>
              <a:t>Give the folder path, not the </a:t>
            </a:r>
            <a:r>
              <a:rPr lang="en-IN" sz="2000" dirty="0" err="1">
                <a:solidFill>
                  <a:schemeClr val="bg1"/>
                </a:solidFill>
              </a:rPr>
              <a:t>edmx</a:t>
            </a:r>
            <a:r>
              <a:rPr lang="en-IN" sz="2000" dirty="0">
                <a:solidFill>
                  <a:schemeClr val="bg1"/>
                </a:solidFill>
              </a:rPr>
              <a:t> file path</a:t>
            </a:r>
          </a:p>
          <a:p>
            <a:r>
              <a:rPr lang="en-IN" sz="2000" dirty="0">
                <a:solidFill>
                  <a:schemeClr val="bg1"/>
                </a:solidFill>
              </a:rPr>
              <a:t>5. Define the service definition in </a:t>
            </a:r>
            <a:r>
              <a:rPr lang="en-IN" sz="2000" dirty="0" err="1">
                <a:solidFill>
                  <a:schemeClr val="bg1"/>
                </a:solidFill>
              </a:rPr>
              <a:t>CatalogService.cds</a:t>
            </a:r>
            <a:r>
              <a:rPr lang="en-IN" sz="2000" dirty="0">
                <a:solidFill>
                  <a:schemeClr val="bg1"/>
                </a:solidFill>
              </a:rPr>
              <a:t> file by referencing from </a:t>
            </a:r>
            <a:r>
              <a:rPr lang="en-IN" sz="2000" dirty="0" err="1">
                <a:solidFill>
                  <a:schemeClr val="bg1"/>
                </a:solidFill>
              </a:rPr>
              <a:t>csn</a:t>
            </a:r>
            <a:r>
              <a:rPr lang="en-IN" sz="2000" dirty="0">
                <a:solidFill>
                  <a:schemeClr val="bg1"/>
                </a:solidFill>
              </a:rPr>
              <a:t> file generated based on SAP OData</a:t>
            </a:r>
          </a:p>
          <a:p>
            <a:r>
              <a:rPr lang="en-IN" sz="2000" dirty="0">
                <a:solidFill>
                  <a:schemeClr val="bg1"/>
                </a:solidFill>
              </a:rPr>
              <a:t>6. Define the service implementation CatalogService.js file and write the code to use the generated type script modules which will act like bridge to communicate to our SAP OData Business API.</a:t>
            </a:r>
          </a:p>
          <a:p>
            <a:r>
              <a:rPr lang="en-IN" sz="2000" dirty="0">
                <a:solidFill>
                  <a:schemeClr val="bg1"/>
                </a:solidFill>
              </a:rPr>
              <a:t>7. Generate a Fiori application using free style with local cap project. </a:t>
            </a:r>
          </a:p>
        </p:txBody>
      </p:sp>
    </p:spTree>
    <p:extLst>
      <p:ext uri="{BB962C8B-B14F-4D97-AF65-F5344CB8AC3E}">
        <p14:creationId xmlns:p14="http://schemas.microsoft.com/office/powerpoint/2010/main" val="36665808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Hands on Cloud Extension</a:t>
            </a:r>
          </a:p>
        </p:txBody>
      </p:sp>
      <p:sp>
        <p:nvSpPr>
          <p:cNvPr id="3" name="TextBox 2">
            <a:extLst>
              <a:ext uri="{FF2B5EF4-FFF2-40B4-BE49-F238E27FC236}">
                <a16:creationId xmlns:a16="http://schemas.microsoft.com/office/drawing/2014/main" id="{9B7C5E39-64FC-6595-A253-13AA437144EA}"/>
              </a:ext>
            </a:extLst>
          </p:cNvPr>
          <p:cNvSpPr txBox="1"/>
          <p:nvPr/>
        </p:nvSpPr>
        <p:spPr>
          <a:xfrm>
            <a:off x="189756" y="908720"/>
            <a:ext cx="11809312" cy="3785652"/>
          </a:xfrm>
          <a:prstGeom prst="rect">
            <a:avLst/>
          </a:prstGeom>
          <a:noFill/>
        </p:spPr>
        <p:txBody>
          <a:bodyPr wrap="square" rtlCol="0">
            <a:spAutoFit/>
          </a:bodyPr>
          <a:lstStyle/>
          <a:p>
            <a:r>
              <a:rPr lang="en-US" sz="2000" dirty="0">
                <a:solidFill>
                  <a:schemeClr val="bg1"/>
                </a:solidFill>
              </a:rPr>
              <a:t>8. Replace hardcoded credentials with destination</a:t>
            </a:r>
          </a:p>
          <a:p>
            <a:r>
              <a:rPr lang="en-US" sz="2000" dirty="0">
                <a:solidFill>
                  <a:schemeClr val="bg1"/>
                </a:solidFill>
              </a:rPr>
              <a:t>9. Create a destination service and maintain destination with name S4HANA because the same we used in our code.</a:t>
            </a:r>
          </a:p>
          <a:p>
            <a:r>
              <a:rPr lang="en-US" sz="2000" dirty="0">
                <a:solidFill>
                  <a:schemeClr val="bg1"/>
                </a:solidFill>
              </a:rPr>
              <a:t>10. Create </a:t>
            </a:r>
            <a:r>
              <a:rPr lang="en-US" sz="2000" dirty="0" err="1">
                <a:solidFill>
                  <a:schemeClr val="bg1"/>
                </a:solidFill>
              </a:rPr>
              <a:t>mta.yaml</a:t>
            </a:r>
            <a:r>
              <a:rPr lang="en-US" sz="2000" dirty="0">
                <a:solidFill>
                  <a:schemeClr val="bg1"/>
                </a:solidFill>
              </a:rPr>
              <a:t> file for deployment</a:t>
            </a:r>
          </a:p>
          <a:p>
            <a:r>
              <a:rPr lang="en-US" sz="2000" dirty="0">
                <a:solidFill>
                  <a:schemeClr val="bg1"/>
                </a:solidFill>
              </a:rPr>
              <a:t>11. Add the modules, both </a:t>
            </a:r>
            <a:r>
              <a:rPr lang="en-US" sz="2000" dirty="0" err="1">
                <a:solidFill>
                  <a:schemeClr val="bg1"/>
                </a:solidFill>
              </a:rPr>
              <a:t>srv</a:t>
            </a:r>
            <a:r>
              <a:rPr lang="en-US" sz="2000" dirty="0">
                <a:solidFill>
                  <a:schemeClr val="bg1"/>
                </a:solidFill>
              </a:rPr>
              <a:t> and </a:t>
            </a:r>
            <a:r>
              <a:rPr lang="en-US" sz="2000" dirty="0" err="1">
                <a:solidFill>
                  <a:schemeClr val="bg1"/>
                </a:solidFill>
              </a:rPr>
              <a:t>ui</a:t>
            </a:r>
            <a:r>
              <a:rPr lang="en-US" sz="2000" dirty="0">
                <a:solidFill>
                  <a:schemeClr val="bg1"/>
                </a:solidFill>
              </a:rPr>
              <a:t> module. </a:t>
            </a:r>
          </a:p>
          <a:p>
            <a:r>
              <a:rPr lang="en-US" sz="2000" dirty="0">
                <a:solidFill>
                  <a:schemeClr val="bg1"/>
                </a:solidFill>
              </a:rPr>
              <a:t>12. Add Resources as destination and </a:t>
            </a:r>
            <a:r>
              <a:rPr lang="en-US" sz="2000" dirty="0" err="1">
                <a:solidFill>
                  <a:schemeClr val="bg1"/>
                </a:solidFill>
              </a:rPr>
              <a:t>xsuaa</a:t>
            </a:r>
            <a:r>
              <a:rPr lang="en-US" sz="2000" dirty="0">
                <a:solidFill>
                  <a:schemeClr val="bg1"/>
                </a:solidFill>
              </a:rPr>
              <a:t>. Maintain the </a:t>
            </a:r>
            <a:r>
              <a:rPr lang="en-US" sz="2000" dirty="0" err="1">
                <a:solidFill>
                  <a:schemeClr val="bg1"/>
                </a:solidFill>
              </a:rPr>
              <a:t>xs-security.json</a:t>
            </a:r>
            <a:r>
              <a:rPr lang="en-US" sz="2000" dirty="0">
                <a:solidFill>
                  <a:schemeClr val="bg1"/>
                </a:solidFill>
              </a:rPr>
              <a:t> file</a:t>
            </a:r>
          </a:p>
          <a:p>
            <a:r>
              <a:rPr lang="en-US" sz="2000" dirty="0">
                <a:solidFill>
                  <a:schemeClr val="bg1"/>
                </a:solidFill>
              </a:rPr>
              <a:t>13. Get the package </a:t>
            </a:r>
            <a:r>
              <a:rPr lang="en-US" sz="2000" dirty="0" err="1">
                <a:solidFill>
                  <a:schemeClr val="bg1"/>
                </a:solidFill>
              </a:rPr>
              <a:t>json</a:t>
            </a:r>
            <a:r>
              <a:rPr lang="en-US" sz="2000" dirty="0">
                <a:solidFill>
                  <a:schemeClr val="bg1"/>
                </a:solidFill>
              </a:rPr>
              <a:t> in app folder from </a:t>
            </a:r>
            <a:r>
              <a:rPr lang="en-US" sz="2000" dirty="0" err="1">
                <a:solidFill>
                  <a:schemeClr val="bg1"/>
                </a:solidFill>
              </a:rPr>
              <a:t>ui</a:t>
            </a:r>
            <a:r>
              <a:rPr lang="en-US" sz="2000" dirty="0">
                <a:solidFill>
                  <a:schemeClr val="bg1"/>
                </a:solidFill>
              </a:rPr>
              <a:t> project, Add the app router module @sap/approuter and include start script.</a:t>
            </a:r>
          </a:p>
          <a:p>
            <a:r>
              <a:rPr lang="en-US" sz="2000" dirty="0">
                <a:solidFill>
                  <a:schemeClr val="bg1"/>
                </a:solidFill>
              </a:rPr>
              <a:t>14. </a:t>
            </a:r>
            <a:r>
              <a:rPr lang="en-US" sz="2000" dirty="0" err="1">
                <a:solidFill>
                  <a:schemeClr val="bg1"/>
                </a:solidFill>
              </a:rPr>
              <a:t>xs-app.json</a:t>
            </a:r>
            <a:r>
              <a:rPr lang="en-US" sz="2000" dirty="0">
                <a:solidFill>
                  <a:schemeClr val="bg1"/>
                </a:solidFill>
              </a:rPr>
              <a:t> file for routing paths</a:t>
            </a:r>
          </a:p>
          <a:p>
            <a:r>
              <a:rPr lang="en-US" sz="2000" dirty="0">
                <a:solidFill>
                  <a:schemeClr val="bg1"/>
                </a:solidFill>
              </a:rPr>
              <a:t>15. Push the code to the </a:t>
            </a:r>
            <a:r>
              <a:rPr lang="en-US" sz="2000" dirty="0" err="1">
                <a:solidFill>
                  <a:schemeClr val="bg1"/>
                </a:solidFill>
              </a:rPr>
              <a:t>github</a:t>
            </a:r>
            <a:endParaRPr lang="en-US" sz="2000" dirty="0">
              <a:solidFill>
                <a:schemeClr val="bg1"/>
              </a:solidFill>
            </a:endParaRPr>
          </a:p>
          <a:p>
            <a:r>
              <a:rPr lang="en-US" sz="2000" dirty="0">
                <a:solidFill>
                  <a:schemeClr val="bg1"/>
                </a:solidFill>
              </a:rPr>
              <a:t>16. You can pull the app in BAS tool, Right click on </a:t>
            </a:r>
            <a:r>
              <a:rPr lang="en-US" sz="2000" dirty="0" err="1">
                <a:solidFill>
                  <a:schemeClr val="bg1"/>
                </a:solidFill>
              </a:rPr>
              <a:t>mta.yaml</a:t>
            </a:r>
            <a:r>
              <a:rPr lang="en-US" sz="2000" dirty="0">
                <a:solidFill>
                  <a:schemeClr val="bg1"/>
                </a:solidFill>
              </a:rPr>
              <a:t> and build MTA </a:t>
            </a:r>
            <a:r>
              <a:rPr lang="en-US" sz="2000" dirty="0" err="1">
                <a:solidFill>
                  <a:schemeClr val="bg1"/>
                </a:solidFill>
              </a:rPr>
              <a:t>Archieve</a:t>
            </a:r>
            <a:endParaRPr lang="en-US" sz="2000" dirty="0">
              <a:solidFill>
                <a:schemeClr val="bg1"/>
              </a:solidFill>
            </a:endParaRPr>
          </a:p>
          <a:p>
            <a:r>
              <a:rPr lang="en-US" sz="2000" dirty="0">
                <a:solidFill>
                  <a:schemeClr val="bg1"/>
                </a:solidFill>
              </a:rPr>
              <a:t>17. Once done, right click and deploy </a:t>
            </a:r>
            <a:r>
              <a:rPr lang="en-US" sz="2000" dirty="0" err="1">
                <a:solidFill>
                  <a:schemeClr val="bg1"/>
                </a:solidFill>
              </a:rPr>
              <a:t>MTA_Archieve</a:t>
            </a:r>
            <a:r>
              <a:rPr lang="en-US" sz="2000" dirty="0">
                <a:solidFill>
                  <a:schemeClr val="bg1"/>
                </a:solidFill>
              </a:rPr>
              <a:t> to SAP BTP</a:t>
            </a:r>
            <a:endParaRPr lang="en-IN" sz="2000" dirty="0">
              <a:solidFill>
                <a:schemeClr val="bg1"/>
              </a:solidFill>
            </a:endParaRPr>
          </a:p>
        </p:txBody>
      </p:sp>
    </p:spTree>
    <p:extLst>
      <p:ext uri="{BB962C8B-B14F-4D97-AF65-F5344CB8AC3E}">
        <p14:creationId xmlns:p14="http://schemas.microsoft.com/office/powerpoint/2010/main" val="29619720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Hands on Cloud Extension</a:t>
            </a:r>
          </a:p>
        </p:txBody>
      </p:sp>
      <p:sp>
        <p:nvSpPr>
          <p:cNvPr id="3" name="TextBox 2">
            <a:extLst>
              <a:ext uri="{FF2B5EF4-FFF2-40B4-BE49-F238E27FC236}">
                <a16:creationId xmlns:a16="http://schemas.microsoft.com/office/drawing/2014/main" id="{9B7C5E39-64FC-6595-A253-13AA437144EA}"/>
              </a:ext>
            </a:extLst>
          </p:cNvPr>
          <p:cNvSpPr txBox="1"/>
          <p:nvPr/>
        </p:nvSpPr>
        <p:spPr>
          <a:xfrm>
            <a:off x="189756" y="908720"/>
            <a:ext cx="11809312" cy="3785652"/>
          </a:xfrm>
          <a:prstGeom prst="rect">
            <a:avLst/>
          </a:prstGeom>
          <a:noFill/>
        </p:spPr>
        <p:txBody>
          <a:bodyPr wrap="square" rtlCol="0">
            <a:spAutoFit/>
          </a:bodyPr>
          <a:lstStyle/>
          <a:p>
            <a:r>
              <a:rPr lang="en-US" sz="2000" dirty="0">
                <a:solidFill>
                  <a:schemeClr val="bg1"/>
                </a:solidFill>
              </a:rPr>
              <a:t>8. Replace hardcoded credentials with destination</a:t>
            </a:r>
          </a:p>
          <a:p>
            <a:r>
              <a:rPr lang="en-US" sz="2000" dirty="0">
                <a:solidFill>
                  <a:schemeClr val="bg1"/>
                </a:solidFill>
              </a:rPr>
              <a:t>9. Create a destination service and maintain destination with name S4HANA because the same we used in our code.</a:t>
            </a:r>
          </a:p>
          <a:p>
            <a:r>
              <a:rPr lang="en-US" sz="2000" dirty="0">
                <a:solidFill>
                  <a:schemeClr val="bg1"/>
                </a:solidFill>
              </a:rPr>
              <a:t>10. Create </a:t>
            </a:r>
            <a:r>
              <a:rPr lang="en-US" sz="2000" dirty="0" err="1">
                <a:solidFill>
                  <a:schemeClr val="bg1"/>
                </a:solidFill>
              </a:rPr>
              <a:t>mta.yaml</a:t>
            </a:r>
            <a:r>
              <a:rPr lang="en-US" sz="2000" dirty="0">
                <a:solidFill>
                  <a:schemeClr val="bg1"/>
                </a:solidFill>
              </a:rPr>
              <a:t> file for deployment</a:t>
            </a:r>
          </a:p>
          <a:p>
            <a:r>
              <a:rPr lang="en-US" sz="2000" dirty="0">
                <a:solidFill>
                  <a:schemeClr val="bg1"/>
                </a:solidFill>
              </a:rPr>
              <a:t>11. Add the modules, both </a:t>
            </a:r>
            <a:r>
              <a:rPr lang="en-US" sz="2000" dirty="0" err="1">
                <a:solidFill>
                  <a:schemeClr val="bg1"/>
                </a:solidFill>
              </a:rPr>
              <a:t>srv</a:t>
            </a:r>
            <a:r>
              <a:rPr lang="en-US" sz="2000" dirty="0">
                <a:solidFill>
                  <a:schemeClr val="bg1"/>
                </a:solidFill>
              </a:rPr>
              <a:t> and </a:t>
            </a:r>
            <a:r>
              <a:rPr lang="en-US" sz="2000" dirty="0" err="1">
                <a:solidFill>
                  <a:schemeClr val="bg1"/>
                </a:solidFill>
              </a:rPr>
              <a:t>ui</a:t>
            </a:r>
            <a:r>
              <a:rPr lang="en-US" sz="2000" dirty="0">
                <a:solidFill>
                  <a:schemeClr val="bg1"/>
                </a:solidFill>
              </a:rPr>
              <a:t> module. </a:t>
            </a:r>
          </a:p>
          <a:p>
            <a:r>
              <a:rPr lang="en-US" sz="2000" dirty="0">
                <a:solidFill>
                  <a:schemeClr val="bg1"/>
                </a:solidFill>
              </a:rPr>
              <a:t>12. Add Resources as destination and </a:t>
            </a:r>
            <a:r>
              <a:rPr lang="en-US" sz="2000" dirty="0" err="1">
                <a:solidFill>
                  <a:schemeClr val="bg1"/>
                </a:solidFill>
              </a:rPr>
              <a:t>xsuaa</a:t>
            </a:r>
            <a:r>
              <a:rPr lang="en-US" sz="2000" dirty="0">
                <a:solidFill>
                  <a:schemeClr val="bg1"/>
                </a:solidFill>
              </a:rPr>
              <a:t>. Maintain the </a:t>
            </a:r>
            <a:r>
              <a:rPr lang="en-US" sz="2000" dirty="0" err="1">
                <a:solidFill>
                  <a:schemeClr val="bg1"/>
                </a:solidFill>
              </a:rPr>
              <a:t>xs-security.json</a:t>
            </a:r>
            <a:r>
              <a:rPr lang="en-US" sz="2000" dirty="0">
                <a:solidFill>
                  <a:schemeClr val="bg1"/>
                </a:solidFill>
              </a:rPr>
              <a:t> file</a:t>
            </a:r>
          </a:p>
          <a:p>
            <a:r>
              <a:rPr lang="en-US" sz="2000" dirty="0">
                <a:solidFill>
                  <a:schemeClr val="bg1"/>
                </a:solidFill>
              </a:rPr>
              <a:t>13. Get the package </a:t>
            </a:r>
            <a:r>
              <a:rPr lang="en-US" sz="2000" dirty="0" err="1">
                <a:solidFill>
                  <a:schemeClr val="bg1"/>
                </a:solidFill>
              </a:rPr>
              <a:t>json</a:t>
            </a:r>
            <a:r>
              <a:rPr lang="en-US" sz="2000" dirty="0">
                <a:solidFill>
                  <a:schemeClr val="bg1"/>
                </a:solidFill>
              </a:rPr>
              <a:t> in app folder from </a:t>
            </a:r>
            <a:r>
              <a:rPr lang="en-US" sz="2000" dirty="0" err="1">
                <a:solidFill>
                  <a:schemeClr val="bg1"/>
                </a:solidFill>
              </a:rPr>
              <a:t>ui</a:t>
            </a:r>
            <a:r>
              <a:rPr lang="en-US" sz="2000" dirty="0">
                <a:solidFill>
                  <a:schemeClr val="bg1"/>
                </a:solidFill>
              </a:rPr>
              <a:t> project, Add the app router module @sap/approuter and include start script.</a:t>
            </a:r>
          </a:p>
          <a:p>
            <a:r>
              <a:rPr lang="en-US" sz="2000" dirty="0">
                <a:solidFill>
                  <a:schemeClr val="bg1"/>
                </a:solidFill>
              </a:rPr>
              <a:t>14. </a:t>
            </a:r>
            <a:r>
              <a:rPr lang="en-US" sz="2000" dirty="0" err="1">
                <a:solidFill>
                  <a:schemeClr val="bg1"/>
                </a:solidFill>
              </a:rPr>
              <a:t>xs-app.json</a:t>
            </a:r>
            <a:r>
              <a:rPr lang="en-US" sz="2000" dirty="0">
                <a:solidFill>
                  <a:schemeClr val="bg1"/>
                </a:solidFill>
              </a:rPr>
              <a:t> file for routing paths</a:t>
            </a:r>
          </a:p>
          <a:p>
            <a:r>
              <a:rPr lang="en-US" sz="2000" dirty="0">
                <a:solidFill>
                  <a:schemeClr val="bg1"/>
                </a:solidFill>
              </a:rPr>
              <a:t>15. Push the code to the </a:t>
            </a:r>
            <a:r>
              <a:rPr lang="en-US" sz="2000" dirty="0" err="1">
                <a:solidFill>
                  <a:schemeClr val="bg1"/>
                </a:solidFill>
              </a:rPr>
              <a:t>github</a:t>
            </a:r>
            <a:endParaRPr lang="en-US" sz="2000" dirty="0">
              <a:solidFill>
                <a:schemeClr val="bg1"/>
              </a:solidFill>
            </a:endParaRPr>
          </a:p>
          <a:p>
            <a:r>
              <a:rPr lang="en-US" sz="2000" dirty="0">
                <a:solidFill>
                  <a:schemeClr val="bg1"/>
                </a:solidFill>
              </a:rPr>
              <a:t>16. You can pull the app in BAS tool, Right click on </a:t>
            </a:r>
            <a:r>
              <a:rPr lang="en-US" sz="2000" dirty="0" err="1">
                <a:solidFill>
                  <a:schemeClr val="bg1"/>
                </a:solidFill>
              </a:rPr>
              <a:t>mta.yaml</a:t>
            </a:r>
            <a:r>
              <a:rPr lang="en-US" sz="2000" dirty="0">
                <a:solidFill>
                  <a:schemeClr val="bg1"/>
                </a:solidFill>
              </a:rPr>
              <a:t> and build MTA </a:t>
            </a:r>
            <a:r>
              <a:rPr lang="en-US" sz="2000" dirty="0" err="1">
                <a:solidFill>
                  <a:schemeClr val="bg1"/>
                </a:solidFill>
              </a:rPr>
              <a:t>Archieve</a:t>
            </a:r>
            <a:endParaRPr lang="en-US" sz="2000" dirty="0">
              <a:solidFill>
                <a:schemeClr val="bg1"/>
              </a:solidFill>
            </a:endParaRPr>
          </a:p>
          <a:p>
            <a:r>
              <a:rPr lang="en-US" sz="2000" dirty="0">
                <a:solidFill>
                  <a:schemeClr val="bg1"/>
                </a:solidFill>
              </a:rPr>
              <a:t>17. Once done, right click and deploy </a:t>
            </a:r>
            <a:r>
              <a:rPr lang="en-US" sz="2000" dirty="0" err="1">
                <a:solidFill>
                  <a:schemeClr val="bg1"/>
                </a:solidFill>
              </a:rPr>
              <a:t>MTA_Archieve</a:t>
            </a:r>
            <a:r>
              <a:rPr lang="en-US" sz="2000" dirty="0">
                <a:solidFill>
                  <a:schemeClr val="bg1"/>
                </a:solidFill>
              </a:rPr>
              <a:t> to SAP BTP</a:t>
            </a:r>
            <a:endParaRPr lang="en-IN" sz="2000" dirty="0">
              <a:solidFill>
                <a:schemeClr val="bg1"/>
              </a:solidFill>
            </a:endParaRPr>
          </a:p>
        </p:txBody>
      </p:sp>
    </p:spTree>
    <p:extLst>
      <p:ext uri="{BB962C8B-B14F-4D97-AF65-F5344CB8AC3E}">
        <p14:creationId xmlns:p14="http://schemas.microsoft.com/office/powerpoint/2010/main" val="10932779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64D82-70AA-2D55-B8BE-4C85B34A8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5AD693-4654-2F3D-E4B0-13F998871213}"/>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21747299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5984C-7FDF-0A54-F147-9C740DC5C5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9DA7F2-5068-B234-96CA-9AACF8FFAAE0}"/>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20785370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17</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9040</TotalTime>
  <Words>2102</Words>
  <Application>Microsoft Office PowerPoint</Application>
  <PresentationFormat>Custom</PresentationFormat>
  <Paragraphs>190</Paragraphs>
  <Slides>29</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29</vt:i4>
      </vt:variant>
    </vt:vector>
  </HeadingPairs>
  <TitlesOfParts>
    <vt:vector size="40" baseType="lpstr">
      <vt:lpstr>ADLaM Display</vt:lpstr>
      <vt:lpstr>Amasis MT Pro Black</vt:lpstr>
      <vt:lpstr>Arial</vt:lpstr>
      <vt:lpstr>Arial Black</vt:lpstr>
      <vt:lpstr>BentonSansRegular</vt:lpstr>
      <vt:lpstr>Calibri</vt:lpstr>
      <vt:lpstr>Cooper Black</vt:lpstr>
      <vt:lpstr>Segoe UI</vt:lpstr>
      <vt:lpstr>Segoe UI Light</vt:lpstr>
      <vt:lpstr>Office Theme</vt:lpstr>
      <vt:lpstr>1_Office Theme</vt:lpstr>
      <vt:lpstr>SAP BTP Extension Suite Training</vt:lpstr>
      <vt:lpstr>PowerPoint Presentation</vt:lpstr>
      <vt:lpstr>Agenda – Day 16</vt:lpstr>
      <vt:lpstr>Welcome to the new world</vt:lpstr>
      <vt:lpstr>Looming Threats</vt:lpstr>
      <vt:lpstr>Everything is code</vt:lpstr>
      <vt:lpstr>How to be fast</vt:lpstr>
      <vt:lpstr>The Clean Core</vt:lpstr>
      <vt:lpstr>Benefits of Clean Core</vt:lpstr>
      <vt:lpstr>Elements of Clean Core</vt:lpstr>
      <vt:lpstr>High level guidance</vt:lpstr>
      <vt:lpstr>SAP Business Accelerator HUB</vt:lpstr>
      <vt:lpstr>What is Extensibility</vt:lpstr>
      <vt:lpstr>What is Extension?</vt:lpstr>
      <vt:lpstr>Classic Extensions and Challenges</vt:lpstr>
      <vt:lpstr>Clean Core and Benefits</vt:lpstr>
      <vt:lpstr>Approaches for Side-by-Side Extension</vt:lpstr>
      <vt:lpstr>Scenario 1: UI Extensibility </vt:lpstr>
      <vt:lpstr>Hands on: Create Display like App for Sales Order</vt:lpstr>
      <vt:lpstr>Scenario 2: </vt:lpstr>
      <vt:lpstr>Hands on: Initialize CAPM Extension</vt:lpstr>
      <vt:lpstr>Hands on: Initialize CAPM Extension</vt:lpstr>
      <vt:lpstr>Hands on Cloud Extension</vt:lpstr>
      <vt:lpstr>Hands on Cloud Extension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318</cp:revision>
  <dcterms:created xsi:type="dcterms:W3CDTF">2013-09-12T13:05:01Z</dcterms:created>
  <dcterms:modified xsi:type="dcterms:W3CDTF">2026-02-10T08:34:47Z</dcterms:modified>
</cp:coreProperties>
</file>