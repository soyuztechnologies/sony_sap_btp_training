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22"/>
  </p:notesMasterIdLst>
  <p:sldIdLst>
    <p:sldId id="276" r:id="rId3"/>
    <p:sldId id="4122" r:id="rId4"/>
    <p:sldId id="277" r:id="rId5"/>
    <p:sldId id="4832" r:id="rId6"/>
    <p:sldId id="4833" r:id="rId7"/>
    <p:sldId id="4834" r:id="rId8"/>
    <p:sldId id="4835" r:id="rId9"/>
    <p:sldId id="4836" r:id="rId10"/>
    <p:sldId id="291" r:id="rId11"/>
    <p:sldId id="292" r:id="rId12"/>
    <p:sldId id="288" r:id="rId13"/>
    <p:sldId id="290" r:id="rId14"/>
    <p:sldId id="295" r:id="rId15"/>
    <p:sldId id="296" r:id="rId16"/>
    <p:sldId id="323" r:id="rId17"/>
    <p:sldId id="303" r:id="rId18"/>
    <p:sldId id="282" r:id="rId19"/>
    <p:sldId id="280" r:id="rId20"/>
    <p:sldId id="4711" r:id="rId2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5/20/2025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2.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5/20/2025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67662" y="1498600"/>
            <a:ext cx="7008574" cy="711200"/>
          </a:xfrm>
          <a:prstGeom prst="rect">
            <a:avLst/>
          </a:prstGeom>
        </p:spPr>
        <p:txBody>
          <a:bodyPr vert="horz" lIns="91440" tIns="45720" rIns="91440" bIns="45720" rtlCol="0" anchor="ctr">
            <a:noAutofit/>
          </a:bodyPr>
          <a:lstStyle>
            <a:lvl1pPr algn="r">
              <a:defRPr lang="en-US" sz="4799" dirty="0"/>
            </a:lvl1pPr>
          </a:lstStyle>
          <a:p>
            <a:pPr lvl="0"/>
            <a:r>
              <a:rPr lang="en-US" dirty="0"/>
              <a:t>Click to edit title</a:t>
            </a:r>
          </a:p>
        </p:txBody>
      </p:sp>
      <p:sp>
        <p:nvSpPr>
          <p:cNvPr id="3" name="Subtitle 2"/>
          <p:cNvSpPr>
            <a:spLocks noGrp="1"/>
          </p:cNvSpPr>
          <p:nvPr>
            <p:ph type="subTitle" idx="1"/>
          </p:nvPr>
        </p:nvSpPr>
        <p:spPr>
          <a:xfrm>
            <a:off x="4367662" y="2209800"/>
            <a:ext cx="7008574" cy="1219200"/>
          </a:xfrm>
        </p:spPr>
        <p:txBody>
          <a:bodyPr/>
          <a:lstStyle>
            <a:lvl1pPr marL="0" indent="0" algn="r">
              <a:buNone/>
              <a:defRPr>
                <a:solidFill>
                  <a:schemeClr val="bg1">
                    <a:lumMod val="50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5358977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686823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2833" y="4406901"/>
            <a:ext cx="10360501" cy="1362075"/>
          </a:xfrm>
          <a:prstGeom prst="rect">
            <a:avLst/>
          </a:prstGeom>
        </p:spPr>
        <p:txBody>
          <a:bodyPr anchor="t"/>
          <a:lstStyle>
            <a:lvl1pPr algn="l">
              <a:defRPr sz="4266" b="1" cap="none"/>
            </a:lvl1pPr>
          </a:lstStyle>
          <a:p>
            <a:r>
              <a:rPr lang="en-US"/>
              <a:t>Click to edit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304721" y="6356351"/>
            <a:ext cx="2844059" cy="365125"/>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7321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4038292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8024310"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8730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8962419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203147" y="6375400"/>
            <a:ext cx="2844059" cy="365125"/>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22045" y="279401"/>
            <a:ext cx="10969943" cy="711201"/>
          </a:xfrm>
          <a:prstGeom prst="rect">
            <a:avLst/>
          </a:prstGeom>
        </p:spPr>
        <p:txBody>
          <a:bodyPr/>
          <a:lstStyle>
            <a:lvl1pPr>
              <a:defRPr sz="3466">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7810" y="76201"/>
            <a:ext cx="658210" cy="650287"/>
          </a:xfrm>
          <a:prstGeom prst="rect">
            <a:avLst/>
          </a:prstGeom>
        </p:spPr>
      </p:pic>
    </p:spTree>
    <p:extLst>
      <p:ext uri="{BB962C8B-B14F-4D97-AF65-F5344CB8AC3E}">
        <p14:creationId xmlns:p14="http://schemas.microsoft.com/office/powerpoint/2010/main" val="35966237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203147" y="6356351"/>
            <a:ext cx="2844059" cy="365125"/>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447267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1092200"/>
            <a:ext cx="4010039" cy="1162051"/>
          </a:xfrm>
          <a:prstGeom prst="rect">
            <a:avLst/>
          </a:prstGeo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5492" y="1092201"/>
            <a:ext cx="6813892" cy="5033964"/>
          </a:xfrm>
        </p:spPr>
        <p:txBody>
          <a:bodyPr>
            <a:normAutofit/>
          </a:bodyPr>
          <a:lstStyle>
            <a:lvl1pPr>
              <a:defRPr sz="3199"/>
            </a:lvl1pPr>
            <a:lvl2pPr>
              <a:defRPr sz="2666"/>
            </a:lvl2pPr>
            <a:lvl3pPr>
              <a:defRPr sz="2399"/>
            </a:lvl3pPr>
            <a:lvl4pPr>
              <a:defRPr sz="2133"/>
            </a:lvl4pPr>
            <a:lvl5pPr>
              <a:defRPr sz="2133"/>
            </a:lvl5pPr>
            <a:lvl6pPr>
              <a:defRPr sz="2666"/>
            </a:lvl6pPr>
            <a:lvl7pPr>
              <a:defRPr sz="2666"/>
            </a:lvl7pPr>
            <a:lvl8pPr>
              <a:defRPr sz="2666"/>
            </a:lvl8pPr>
            <a:lvl9pPr>
              <a:defRPr sz="266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443" y="2311401"/>
            <a:ext cx="4010039" cy="3814764"/>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1597235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095" y="1193799"/>
            <a:ext cx="7313295" cy="3533775"/>
          </a:xfr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756376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4056875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6898" y="1396999"/>
            <a:ext cx="2742486" cy="4729164"/>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609441" y="1396999"/>
            <a:ext cx="8024310" cy="47291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8857771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441" y="1803400"/>
            <a:ext cx="10969943" cy="1727200"/>
          </a:xfrm>
          <a:prstGeom prst="rect">
            <a:avLst/>
          </a:prstGeom>
        </p:spPr>
        <p:txBody>
          <a:bodyPr/>
          <a:lstStyle>
            <a:lvl1pPr algn="l">
              <a:defRPr sz="7998"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609441" y="3530600"/>
            <a:ext cx="10969943" cy="1219200"/>
          </a:xfrm>
        </p:spPr>
        <p:txBody>
          <a:bodyPr/>
          <a:lstStyle>
            <a:lvl1pPr marL="0" indent="0" algn="l">
              <a:buNone/>
              <a:defRPr>
                <a:solidFill>
                  <a:schemeClr val="tx1">
                    <a:lumMod val="85000"/>
                    <a:lumOff val="15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27624355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5/20/2025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441" y="1295401"/>
            <a:ext cx="10969943" cy="48307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40CB006-912F-44E1-9560-9CBFEBE946EF}" type="datetime4">
              <a:rPr lang="en-US" smtClean="0"/>
              <a:t>May 20, 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3900352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p:txStyles>
    <p:titleStyle>
      <a:lvl1pPr algn="l" defTabSz="1218895" rtl="0" eaLnBrk="1" latinLnBrk="0" hangingPunct="1">
        <a:spcBef>
          <a:spcPct val="0"/>
        </a:spcBef>
        <a:buNone/>
        <a:defRPr lang="en-US" sz="3732"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457086" indent="-457086"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sap.github.io/cloud-sdk/docs/js/getting-starte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sap.com/products/technology-platform/build.html" TargetMode="Externa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hyperlink" Target="http://www.dribbble.com/"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20</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20</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Scenario 1: UI Extension</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S4 Cloud SDK</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Scenario 2: CAP extension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a:xfrm>
            <a:off x="189756" y="332656"/>
            <a:ext cx="10969943" cy="711081"/>
          </a:xfrm>
        </p:spPr>
        <p:txBody>
          <a:bodyPr/>
          <a:lstStyle/>
          <a:p>
            <a:r>
              <a:rPr lang="en-US" dirty="0"/>
              <a:t>Hands on: Create Display like App for Sales Order</a:t>
            </a:r>
          </a:p>
        </p:txBody>
      </p:sp>
      <p:sp>
        <p:nvSpPr>
          <p:cNvPr id="4" name="TextBox 3">
            <a:extLst>
              <a:ext uri="{FF2B5EF4-FFF2-40B4-BE49-F238E27FC236}">
                <a16:creationId xmlns:a16="http://schemas.microsoft.com/office/drawing/2014/main" id="{E2D4CB00-16D0-210C-CA38-8E01C8CC8797}"/>
              </a:ext>
            </a:extLst>
          </p:cNvPr>
          <p:cNvSpPr txBox="1"/>
          <p:nvPr/>
        </p:nvSpPr>
        <p:spPr>
          <a:xfrm>
            <a:off x="189756" y="1412776"/>
            <a:ext cx="11665296" cy="2308324"/>
          </a:xfrm>
          <a:prstGeom prst="rect">
            <a:avLst/>
          </a:prstGeom>
          <a:noFill/>
        </p:spPr>
        <p:txBody>
          <a:bodyPr wrap="square">
            <a:spAutoFit/>
          </a:bodyPr>
          <a:lstStyle/>
          <a:p>
            <a:pPr algn="l">
              <a:buFont typeface="Arial" panose="020B0604020202020204" pitchFamily="34" charset="0"/>
              <a:buChar char="•"/>
            </a:pPr>
            <a:r>
              <a:rPr lang="en-US" b="0" i="0" dirty="0">
                <a:solidFill>
                  <a:schemeClr val="bg1"/>
                </a:solidFill>
                <a:effectLst/>
                <a:latin typeface="BentonSansRegular"/>
              </a:rPr>
              <a:t> Enabling an OData API on SAP S/4HANA</a:t>
            </a:r>
          </a:p>
          <a:p>
            <a:pPr algn="l">
              <a:buFont typeface="Arial" panose="020B0604020202020204" pitchFamily="34" charset="0"/>
              <a:buChar char="•"/>
            </a:pPr>
            <a:r>
              <a:rPr lang="en-US" b="0" i="0" dirty="0">
                <a:solidFill>
                  <a:schemeClr val="bg1"/>
                </a:solidFill>
                <a:effectLst/>
                <a:latin typeface="BentonSansRegular"/>
              </a:rPr>
              <a:t> Setting up SAP Cloud Connector and S/4HANA for principal propagation</a:t>
            </a:r>
          </a:p>
          <a:p>
            <a:pPr algn="l">
              <a:buFont typeface="Arial" panose="020B0604020202020204" pitchFamily="34" charset="0"/>
              <a:buChar char="•"/>
            </a:pPr>
            <a:r>
              <a:rPr lang="en-US" b="0" i="0" dirty="0">
                <a:solidFill>
                  <a:schemeClr val="bg1"/>
                </a:solidFill>
                <a:effectLst/>
                <a:latin typeface="BentonSansRegular"/>
              </a:rPr>
              <a:t> Setting up an SAP BTP BAS Subscription</a:t>
            </a:r>
          </a:p>
          <a:p>
            <a:pPr algn="l">
              <a:buFont typeface="Arial" panose="020B0604020202020204" pitchFamily="34" charset="0"/>
              <a:buChar char="•"/>
            </a:pPr>
            <a:r>
              <a:rPr lang="en-US" b="0" i="0" dirty="0">
                <a:solidFill>
                  <a:schemeClr val="bg1"/>
                </a:solidFill>
                <a:effectLst/>
                <a:latin typeface="BentonSansRegular"/>
              </a:rPr>
              <a:t> Developing of a simple Fiori Application with the SAP Business Application Studio</a:t>
            </a:r>
          </a:p>
          <a:p>
            <a:pPr algn="l">
              <a:buFont typeface="Arial" panose="020B0604020202020204" pitchFamily="34" charset="0"/>
              <a:buChar char="•"/>
            </a:pPr>
            <a:r>
              <a:rPr lang="en-US" b="0" i="0" dirty="0">
                <a:solidFill>
                  <a:schemeClr val="bg1"/>
                </a:solidFill>
                <a:effectLst/>
                <a:latin typeface="BentonSansRegular"/>
              </a:rPr>
              <a:t> Deploying the application to the HTLM5 repository service</a:t>
            </a:r>
          </a:p>
          <a:p>
            <a:pPr algn="l">
              <a:buFont typeface="Arial" panose="020B0604020202020204" pitchFamily="34" charset="0"/>
              <a:buChar char="•"/>
            </a:pPr>
            <a:r>
              <a:rPr lang="en-US" b="0" i="0" dirty="0">
                <a:solidFill>
                  <a:schemeClr val="bg1"/>
                </a:solidFill>
                <a:effectLst/>
                <a:latin typeface="BentonSansRegular"/>
              </a:rPr>
              <a:t> Integrating he application into the Launchpad service</a:t>
            </a:r>
          </a:p>
        </p:txBody>
      </p:sp>
      <p:sp>
        <p:nvSpPr>
          <p:cNvPr id="5" name="TextBox 4">
            <a:extLst>
              <a:ext uri="{FF2B5EF4-FFF2-40B4-BE49-F238E27FC236}">
                <a16:creationId xmlns:a16="http://schemas.microsoft.com/office/drawing/2014/main" id="{E72DF0D5-C121-4FFF-7DE9-147BC61F721F}"/>
              </a:ext>
            </a:extLst>
          </p:cNvPr>
          <p:cNvSpPr txBox="1"/>
          <p:nvPr/>
        </p:nvSpPr>
        <p:spPr>
          <a:xfrm>
            <a:off x="117748" y="4005064"/>
            <a:ext cx="11809312" cy="2246769"/>
          </a:xfrm>
          <a:prstGeom prst="rect">
            <a:avLst/>
          </a:prstGeom>
          <a:noFill/>
        </p:spPr>
        <p:txBody>
          <a:bodyPr wrap="square" rtlCol="0">
            <a:spAutoFit/>
          </a:bodyPr>
          <a:lstStyle/>
          <a:p>
            <a:pPr marL="457200" indent="-457200">
              <a:buAutoNum type="arabicPeriod"/>
            </a:pPr>
            <a:r>
              <a:rPr lang="en-US" sz="2000" dirty="0">
                <a:solidFill>
                  <a:schemeClr val="bg1"/>
                </a:solidFill>
              </a:rPr>
              <a:t>Destination service – to read the destination from SAP BTP at runtime for the purpose of connection</a:t>
            </a:r>
          </a:p>
          <a:p>
            <a:pPr marL="457200" indent="-457200">
              <a:buAutoNum type="arabicPeriod"/>
            </a:pPr>
            <a:r>
              <a:rPr lang="en-US" sz="2000" dirty="0">
                <a:solidFill>
                  <a:schemeClr val="bg1"/>
                </a:solidFill>
              </a:rPr>
              <a:t>Connectivity service – once the destination is read, it will use connectivity service to connect to our </a:t>
            </a:r>
            <a:r>
              <a:rPr lang="en-US" sz="2000" dirty="0" err="1">
                <a:solidFill>
                  <a:schemeClr val="bg1"/>
                </a:solidFill>
              </a:rPr>
              <a:t>oData</a:t>
            </a:r>
            <a:r>
              <a:rPr lang="en-US" sz="2000" dirty="0">
                <a:solidFill>
                  <a:schemeClr val="bg1"/>
                </a:solidFill>
              </a:rPr>
              <a:t> source</a:t>
            </a:r>
          </a:p>
          <a:p>
            <a:pPr marL="457200" indent="-457200">
              <a:buAutoNum type="arabicPeriod"/>
            </a:pPr>
            <a:r>
              <a:rPr lang="en-US" sz="2000" dirty="0">
                <a:solidFill>
                  <a:schemeClr val="bg1"/>
                </a:solidFill>
              </a:rPr>
              <a:t>HTML5 deployer – this will be used to deploy our app to HTML5 repository.</a:t>
            </a:r>
          </a:p>
          <a:p>
            <a:pPr marL="457200" indent="-457200">
              <a:buAutoNum type="arabicPeriod"/>
            </a:pPr>
            <a:r>
              <a:rPr lang="en-US" sz="2000" dirty="0">
                <a:solidFill>
                  <a:schemeClr val="bg1"/>
                </a:solidFill>
              </a:rPr>
              <a:t>HTML5 Repo Runtime – Will load the Fiori app when requested at runtime.</a:t>
            </a:r>
          </a:p>
          <a:p>
            <a:pPr marL="457200" indent="-457200">
              <a:buAutoNum type="arabicPeriod"/>
            </a:pPr>
            <a:r>
              <a:rPr lang="en-US" sz="2000" dirty="0">
                <a:solidFill>
                  <a:schemeClr val="bg1"/>
                </a:solidFill>
              </a:rPr>
              <a:t>Fiori launchpad service – which displays Fiori apps as a tile.</a:t>
            </a:r>
            <a:endParaRPr lang="en-IN" sz="2000" dirty="0">
              <a:solidFill>
                <a:schemeClr val="bg1"/>
              </a:solidFill>
            </a:endParaRPr>
          </a:p>
        </p:txBody>
      </p:sp>
    </p:spTree>
    <p:extLst>
      <p:ext uri="{BB962C8B-B14F-4D97-AF65-F5344CB8AC3E}">
        <p14:creationId xmlns:p14="http://schemas.microsoft.com/office/powerpoint/2010/main" val="1264472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Scenario 2: </a:t>
            </a:r>
          </a:p>
        </p:txBody>
      </p:sp>
      <p:sp>
        <p:nvSpPr>
          <p:cNvPr id="27" name="Rectangle 26">
            <a:extLst>
              <a:ext uri="{FF2B5EF4-FFF2-40B4-BE49-F238E27FC236}">
                <a16:creationId xmlns:a16="http://schemas.microsoft.com/office/drawing/2014/main" id="{3DEDE388-1C69-F73B-2341-9A5162010CCC}"/>
              </a:ext>
            </a:extLst>
          </p:cNvPr>
          <p:cNvSpPr/>
          <p:nvPr/>
        </p:nvSpPr>
        <p:spPr>
          <a:xfrm>
            <a:off x="9046740" y="1916832"/>
            <a:ext cx="2592288" cy="1944216"/>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SAP or Non SAP API OData which we want to reuse</a:t>
            </a:r>
          </a:p>
        </p:txBody>
      </p:sp>
      <p:sp>
        <p:nvSpPr>
          <p:cNvPr id="28" name="Rectangle 27">
            <a:extLst>
              <a:ext uri="{FF2B5EF4-FFF2-40B4-BE49-F238E27FC236}">
                <a16:creationId xmlns:a16="http://schemas.microsoft.com/office/drawing/2014/main" id="{A6D99C49-CFD9-3CE2-8C2B-3299E8CADDC4}"/>
              </a:ext>
            </a:extLst>
          </p:cNvPr>
          <p:cNvSpPr/>
          <p:nvPr/>
        </p:nvSpPr>
        <p:spPr>
          <a:xfrm>
            <a:off x="3718148" y="2276872"/>
            <a:ext cx="3744416" cy="1224136"/>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App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Middleware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Data manipulation, enrichment, Security, automation, movement, proxy</a:t>
            </a:r>
          </a:p>
        </p:txBody>
      </p:sp>
      <p:cxnSp>
        <p:nvCxnSpPr>
          <p:cNvPr id="29" name="Straight Arrow Connector 28">
            <a:extLst>
              <a:ext uri="{FF2B5EF4-FFF2-40B4-BE49-F238E27FC236}">
                <a16:creationId xmlns:a16="http://schemas.microsoft.com/office/drawing/2014/main" id="{BDD867DC-C05A-C396-96F6-E7297E14844B}"/>
              </a:ext>
            </a:extLst>
          </p:cNvPr>
          <p:cNvCxnSpPr>
            <a:stCxn id="28" idx="3"/>
            <a:endCxn id="27" idx="1"/>
          </p:cNvCxnSpPr>
          <p:nvPr/>
        </p:nvCxnSpPr>
        <p:spPr>
          <a:xfrm>
            <a:off x="7462564" y="2888940"/>
            <a:ext cx="1584176" cy="0"/>
          </a:xfrm>
          <a:prstGeom prst="straightConnector1">
            <a:avLst/>
          </a:prstGeom>
          <a:noFill/>
          <a:ln w="9525" cap="flat" cmpd="sng" algn="ctr">
            <a:solidFill>
              <a:schemeClr val="bg1"/>
            </a:solidFill>
            <a:prstDash val="solid"/>
            <a:headEnd type="triangle"/>
            <a:tailEnd type="triangle"/>
          </a:ln>
          <a:effectLst/>
        </p:spPr>
      </p:cxnSp>
      <p:sp>
        <p:nvSpPr>
          <p:cNvPr id="30" name="Rectangle 29">
            <a:extLst>
              <a:ext uri="{FF2B5EF4-FFF2-40B4-BE49-F238E27FC236}">
                <a16:creationId xmlns:a16="http://schemas.microsoft.com/office/drawing/2014/main" id="{855E0D34-71EA-9DC5-8463-A646BB0B45D2}"/>
              </a:ext>
            </a:extLst>
          </p:cNvPr>
          <p:cNvSpPr/>
          <p:nvPr/>
        </p:nvSpPr>
        <p:spPr>
          <a:xfrm>
            <a:off x="4726260" y="4149080"/>
            <a:ext cx="1512168" cy="792088"/>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31" name="Arrow: Down 30">
            <a:extLst>
              <a:ext uri="{FF2B5EF4-FFF2-40B4-BE49-F238E27FC236}">
                <a16:creationId xmlns:a16="http://schemas.microsoft.com/office/drawing/2014/main" id="{12FC8EE1-CF00-157D-2D7E-BC12CDB70012}"/>
              </a:ext>
            </a:extLst>
          </p:cNvPr>
          <p:cNvSpPr/>
          <p:nvPr/>
        </p:nvSpPr>
        <p:spPr>
          <a:xfrm>
            <a:off x="4726260" y="3573016"/>
            <a:ext cx="504056" cy="504056"/>
          </a:xfrm>
          <a:prstGeom prst="down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2" name="Arrow: Down 31">
            <a:extLst>
              <a:ext uri="{FF2B5EF4-FFF2-40B4-BE49-F238E27FC236}">
                <a16:creationId xmlns:a16="http://schemas.microsoft.com/office/drawing/2014/main" id="{D2B1FAC0-1C04-B82A-A7A6-015191B7C784}"/>
              </a:ext>
            </a:extLst>
          </p:cNvPr>
          <p:cNvSpPr/>
          <p:nvPr/>
        </p:nvSpPr>
        <p:spPr>
          <a:xfrm rot="10800000">
            <a:off x="5590356" y="3559869"/>
            <a:ext cx="504056" cy="504056"/>
          </a:xfrm>
          <a:prstGeom prst="down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913B93FE-659E-CEB6-6EEB-7A2BA2DCB497}"/>
              </a:ext>
            </a:extLst>
          </p:cNvPr>
          <p:cNvSpPr/>
          <p:nvPr/>
        </p:nvSpPr>
        <p:spPr>
          <a:xfrm>
            <a:off x="4366219" y="1072957"/>
            <a:ext cx="2448272" cy="720080"/>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Own Fiori App</a:t>
            </a:r>
          </a:p>
        </p:txBody>
      </p:sp>
      <p:cxnSp>
        <p:nvCxnSpPr>
          <p:cNvPr id="34" name="Straight Arrow Connector 33">
            <a:extLst>
              <a:ext uri="{FF2B5EF4-FFF2-40B4-BE49-F238E27FC236}">
                <a16:creationId xmlns:a16="http://schemas.microsoft.com/office/drawing/2014/main" id="{A6298F06-C247-4BA9-CF6F-22C72B2A487B}"/>
              </a:ext>
            </a:extLst>
          </p:cNvPr>
          <p:cNvCxnSpPr>
            <a:stCxn id="33" idx="2"/>
            <a:endCxn id="28" idx="0"/>
          </p:cNvCxnSpPr>
          <p:nvPr/>
        </p:nvCxnSpPr>
        <p:spPr>
          <a:xfrm>
            <a:off x="5590355" y="1793037"/>
            <a:ext cx="1" cy="483835"/>
          </a:xfrm>
          <a:prstGeom prst="straightConnector1">
            <a:avLst/>
          </a:prstGeom>
          <a:noFill/>
          <a:ln w="9525" cap="flat" cmpd="sng" algn="ctr">
            <a:solidFill>
              <a:schemeClr val="bg1"/>
            </a:solidFill>
            <a:prstDash val="solid"/>
            <a:headEnd type="triangle"/>
            <a:tailEnd type="triangle"/>
          </a:ln>
          <a:effectLst/>
        </p:spPr>
      </p:cxnSp>
      <p:sp>
        <p:nvSpPr>
          <p:cNvPr id="35" name="Arrow: Right 34">
            <a:extLst>
              <a:ext uri="{FF2B5EF4-FFF2-40B4-BE49-F238E27FC236}">
                <a16:creationId xmlns:a16="http://schemas.microsoft.com/office/drawing/2014/main" id="{10DFE58B-C58F-5FCB-5DC2-E2B7A641EF99}"/>
              </a:ext>
            </a:extLst>
          </p:cNvPr>
          <p:cNvSpPr/>
          <p:nvPr/>
        </p:nvSpPr>
        <p:spPr>
          <a:xfrm>
            <a:off x="1989956" y="2420888"/>
            <a:ext cx="1584176" cy="307777"/>
          </a:xfrm>
          <a:prstGeom prst="right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6" name="Arrow: Right 35">
            <a:extLst>
              <a:ext uri="{FF2B5EF4-FFF2-40B4-BE49-F238E27FC236}">
                <a16:creationId xmlns:a16="http://schemas.microsoft.com/office/drawing/2014/main" id="{CE4759A3-7ED1-1123-1CD9-2B2B55223900}"/>
              </a:ext>
            </a:extLst>
          </p:cNvPr>
          <p:cNvSpPr/>
          <p:nvPr/>
        </p:nvSpPr>
        <p:spPr>
          <a:xfrm rot="10800000">
            <a:off x="1989956" y="2855170"/>
            <a:ext cx="1584176" cy="307777"/>
          </a:xfrm>
          <a:prstGeom prst="right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A440883C-2D2F-2F80-6B0F-3A997CA1FE9B}"/>
              </a:ext>
            </a:extLst>
          </p:cNvPr>
          <p:cNvSpPr/>
          <p:nvPr/>
        </p:nvSpPr>
        <p:spPr>
          <a:xfrm>
            <a:off x="261761" y="2132856"/>
            <a:ext cx="1584177" cy="1440160"/>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Android App</a:t>
            </a:r>
          </a:p>
          <a:p>
            <a:pPr marL="0" marR="0" lvl="0" indent="0" algn="ctr" defTabSz="914400" eaLnBrk="1" fontAlgn="auto" latinLnBrk="0" hangingPunct="1">
              <a:lnSpc>
                <a:spcPct val="100000"/>
              </a:lnSpc>
              <a:spcBef>
                <a:spcPts val="0"/>
              </a:spcBef>
              <a:spcAft>
                <a:spcPts val="0"/>
              </a:spcAft>
              <a:buClrTx/>
              <a:buSzTx/>
              <a:buFontTx/>
              <a:buNone/>
              <a:tabLst/>
              <a:defRPr/>
            </a:pPr>
            <a:r>
              <a:rPr lang="en-US" sz="1800" kern="0" dirty="0">
                <a:solidFill>
                  <a:prstClr val="white"/>
                </a:solidFill>
                <a:latin typeface="Segoe UI"/>
              </a:rPr>
              <a:t>SAP UI5 App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122729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Initialize CAPM Extension</a:t>
            </a:r>
          </a:p>
        </p:txBody>
      </p:sp>
      <p:sp>
        <p:nvSpPr>
          <p:cNvPr id="5" name="TextBox 4">
            <a:extLst>
              <a:ext uri="{FF2B5EF4-FFF2-40B4-BE49-F238E27FC236}">
                <a16:creationId xmlns:a16="http://schemas.microsoft.com/office/drawing/2014/main" id="{2F2B31D3-E342-461D-7674-04DB2CC57CA4}"/>
              </a:ext>
            </a:extLst>
          </p:cNvPr>
          <p:cNvSpPr txBox="1"/>
          <p:nvPr/>
        </p:nvSpPr>
        <p:spPr>
          <a:xfrm>
            <a:off x="189756" y="874455"/>
            <a:ext cx="11809312" cy="2554545"/>
          </a:xfrm>
          <a:prstGeom prst="rect">
            <a:avLst/>
          </a:prstGeom>
          <a:noFill/>
        </p:spPr>
        <p:txBody>
          <a:bodyPr wrap="square" rtlCol="0">
            <a:spAutoFit/>
          </a:bodyPr>
          <a:lstStyle/>
          <a:p>
            <a:pPr marL="457200" indent="-457200">
              <a:buAutoNum type="arabicPeriod"/>
            </a:pPr>
            <a:r>
              <a:rPr lang="en-US" sz="2000" dirty="0">
                <a:solidFill>
                  <a:schemeClr val="bg1"/>
                </a:solidFill>
              </a:rPr>
              <a:t>Create a new cap project with </a:t>
            </a:r>
            <a:r>
              <a:rPr lang="en-US" sz="2000" b="1" dirty="0" err="1">
                <a:solidFill>
                  <a:schemeClr val="bg1"/>
                </a:solidFill>
              </a:rPr>
              <a:t>cds</a:t>
            </a:r>
            <a:r>
              <a:rPr lang="en-US" sz="2000" b="1" dirty="0">
                <a:solidFill>
                  <a:schemeClr val="bg1"/>
                </a:solidFill>
              </a:rPr>
              <a:t> </a:t>
            </a:r>
            <a:r>
              <a:rPr lang="en-US" sz="2000" b="1" dirty="0" err="1">
                <a:solidFill>
                  <a:schemeClr val="bg1"/>
                </a:solidFill>
              </a:rPr>
              <a:t>init</a:t>
            </a:r>
            <a:endParaRPr lang="en-US" sz="2000" dirty="0">
              <a:solidFill>
                <a:schemeClr val="bg1"/>
              </a:solidFill>
            </a:endParaRPr>
          </a:p>
          <a:p>
            <a:pPr marL="457200" indent="-457200">
              <a:buAutoNum type="arabicPeriod"/>
            </a:pPr>
            <a:r>
              <a:rPr lang="en-US" sz="2000" dirty="0">
                <a:solidFill>
                  <a:schemeClr val="bg1"/>
                </a:solidFill>
              </a:rPr>
              <a:t>Drag drop </a:t>
            </a:r>
            <a:r>
              <a:rPr lang="en-US" sz="2000" dirty="0" err="1">
                <a:solidFill>
                  <a:schemeClr val="bg1"/>
                </a:solidFill>
              </a:rPr>
              <a:t>edmx</a:t>
            </a:r>
            <a:r>
              <a:rPr lang="en-US" sz="2000" dirty="0">
                <a:solidFill>
                  <a:schemeClr val="bg1"/>
                </a:solidFill>
              </a:rPr>
              <a:t> file downloaded from API hub and perform </a:t>
            </a:r>
            <a:r>
              <a:rPr lang="en-US" sz="2000" b="1" dirty="0" err="1">
                <a:solidFill>
                  <a:schemeClr val="bg1"/>
                </a:solidFill>
              </a:rPr>
              <a:t>cds</a:t>
            </a:r>
            <a:r>
              <a:rPr lang="en-US" sz="2000" b="1" dirty="0">
                <a:solidFill>
                  <a:schemeClr val="bg1"/>
                </a:solidFill>
              </a:rPr>
              <a:t> import </a:t>
            </a:r>
            <a:r>
              <a:rPr lang="en-US" sz="2000" dirty="0">
                <a:solidFill>
                  <a:schemeClr val="bg1"/>
                </a:solidFill>
              </a:rPr>
              <a:t>PATH_OF_EDMX</a:t>
            </a:r>
          </a:p>
          <a:p>
            <a:pPr marL="457200" indent="-457200">
              <a:buAutoNum type="arabicPeriod"/>
            </a:pPr>
            <a:r>
              <a:rPr lang="en-US" sz="2000" dirty="0">
                <a:solidFill>
                  <a:schemeClr val="bg1"/>
                </a:solidFill>
              </a:rPr>
              <a:t>Add a new </a:t>
            </a:r>
            <a:r>
              <a:rPr lang="en-US" sz="2000" dirty="0" err="1">
                <a:solidFill>
                  <a:schemeClr val="bg1"/>
                </a:solidFill>
              </a:rPr>
              <a:t>CatalogService.cds</a:t>
            </a:r>
            <a:r>
              <a:rPr lang="en-US" sz="2000" dirty="0">
                <a:solidFill>
                  <a:schemeClr val="bg1"/>
                </a:solidFill>
              </a:rPr>
              <a:t> and CatalogService.js</a:t>
            </a:r>
          </a:p>
          <a:p>
            <a:pPr marL="457200" indent="-457200">
              <a:buAutoNum type="arabicPeriod"/>
            </a:pPr>
            <a:r>
              <a:rPr lang="en-US" sz="2000" dirty="0">
                <a:solidFill>
                  <a:srgbClr val="0000FF"/>
                </a:solidFill>
                <a:hlinkClick r:id="rId2">
                  <a:extLst>
                    <a:ext uri="{A12FA001-AC4F-418D-AE19-62706E023703}">
                      <ahyp:hlinkClr xmlns:ahyp="http://schemas.microsoft.com/office/drawing/2018/hyperlinkcolor" val="tx"/>
                    </a:ext>
                  </a:extLst>
                </a:hlinkClick>
              </a:rPr>
              <a:t>S4HANA cloud </a:t>
            </a:r>
            <a:r>
              <a:rPr lang="en-US" sz="2000" dirty="0" err="1">
                <a:solidFill>
                  <a:srgbClr val="0000FF"/>
                </a:solidFill>
                <a:hlinkClick r:id="rId2">
                  <a:extLst>
                    <a:ext uri="{A12FA001-AC4F-418D-AE19-62706E023703}">
                      <ahyp:hlinkClr xmlns:ahyp="http://schemas.microsoft.com/office/drawing/2018/hyperlinkcolor" val="tx"/>
                    </a:ext>
                  </a:extLst>
                </a:hlinkClick>
              </a:rPr>
              <a:t>sdk</a:t>
            </a:r>
            <a:r>
              <a:rPr lang="en-US" sz="2000" dirty="0">
                <a:solidFill>
                  <a:schemeClr val="bg1"/>
                </a:solidFill>
                <a:hlinkClick r:id="rId2">
                  <a:extLst>
                    <a:ext uri="{A12FA001-AC4F-418D-AE19-62706E023703}">
                      <ahyp:hlinkClr xmlns:ahyp="http://schemas.microsoft.com/office/drawing/2018/hyperlinkcolor" val="tx"/>
                    </a:ext>
                  </a:extLst>
                </a:hlinkClick>
              </a:rPr>
              <a:t> </a:t>
            </a:r>
            <a:r>
              <a:rPr lang="en-US" sz="2000" dirty="0">
                <a:solidFill>
                  <a:schemeClr val="bg1"/>
                </a:solidFill>
              </a:rPr>
              <a:t>is SAP’s portfolio of all the type safe API (node modules) to communicate to SAP APIs.</a:t>
            </a:r>
          </a:p>
          <a:p>
            <a:pPr marL="457200" indent="-457200">
              <a:buAutoNum type="arabicPeriod"/>
            </a:pPr>
            <a:r>
              <a:rPr lang="en-IN" sz="2000" dirty="0">
                <a:solidFill>
                  <a:schemeClr val="bg1"/>
                </a:solidFill>
              </a:rPr>
              <a:t>Install the node module @sap/cloud-sdk-vdm-sales-order-service</a:t>
            </a:r>
          </a:p>
          <a:p>
            <a:pPr marL="457200" indent="-457200">
              <a:buAutoNum type="arabicPeriod"/>
            </a:pPr>
            <a:r>
              <a:rPr lang="en-IN" sz="2000" dirty="0">
                <a:solidFill>
                  <a:schemeClr val="bg1"/>
                </a:solidFill>
              </a:rPr>
              <a:t>Add the configuration to test our </a:t>
            </a:r>
            <a:r>
              <a:rPr lang="en-IN" sz="2000" dirty="0" err="1">
                <a:solidFill>
                  <a:schemeClr val="bg1"/>
                </a:solidFill>
              </a:rPr>
              <a:t>api</a:t>
            </a:r>
            <a:r>
              <a:rPr lang="en-IN" sz="2000" dirty="0">
                <a:solidFill>
                  <a:schemeClr val="bg1"/>
                </a:solidFill>
              </a:rPr>
              <a:t> locally – credentials </a:t>
            </a:r>
          </a:p>
          <a:p>
            <a:pPr marL="457200" indent="-457200">
              <a:buAutoNum type="arabicPeriod"/>
            </a:pPr>
            <a:endParaRPr lang="en-IN" sz="2000" dirty="0">
              <a:solidFill>
                <a:schemeClr val="bg1"/>
              </a:solidFill>
            </a:endParaRPr>
          </a:p>
        </p:txBody>
      </p:sp>
    </p:spTree>
    <p:extLst>
      <p:ext uri="{BB962C8B-B14F-4D97-AF65-F5344CB8AC3E}">
        <p14:creationId xmlns:p14="http://schemas.microsoft.com/office/powerpoint/2010/main" val="698346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Hands on: Initialize CAPM Extension</a:t>
            </a:r>
          </a:p>
        </p:txBody>
      </p:sp>
      <p:sp>
        <p:nvSpPr>
          <p:cNvPr id="3" name="TextBox 2">
            <a:extLst>
              <a:ext uri="{FF2B5EF4-FFF2-40B4-BE49-F238E27FC236}">
                <a16:creationId xmlns:a16="http://schemas.microsoft.com/office/drawing/2014/main" id="{69E7517E-7184-B854-6DC3-2C27B9924D1A}"/>
              </a:ext>
            </a:extLst>
          </p:cNvPr>
          <p:cNvSpPr txBox="1"/>
          <p:nvPr/>
        </p:nvSpPr>
        <p:spPr>
          <a:xfrm>
            <a:off x="189756" y="980728"/>
            <a:ext cx="11809312" cy="5324535"/>
          </a:xfrm>
          <a:prstGeom prst="rect">
            <a:avLst/>
          </a:prstGeom>
          <a:noFill/>
        </p:spPr>
        <p:txBody>
          <a:bodyPr wrap="square" rtlCol="0">
            <a:spAutoFit/>
          </a:bodyPr>
          <a:lstStyle/>
          <a:p>
            <a:pPr marL="457200" indent="-457200">
              <a:buAutoNum type="arabicPeriod"/>
            </a:pPr>
            <a:r>
              <a:rPr lang="en-US" sz="2000" dirty="0">
                <a:solidFill>
                  <a:schemeClr val="bg1"/>
                </a:solidFill>
              </a:rPr>
              <a:t>Create a new folder and initialize cap project using </a:t>
            </a:r>
            <a:r>
              <a:rPr lang="en-US" sz="2000" b="1" dirty="0" err="1">
                <a:solidFill>
                  <a:schemeClr val="bg1"/>
                </a:solidFill>
              </a:rPr>
              <a:t>cds</a:t>
            </a:r>
            <a:r>
              <a:rPr lang="en-US" sz="2000" b="1" dirty="0">
                <a:solidFill>
                  <a:schemeClr val="bg1"/>
                </a:solidFill>
              </a:rPr>
              <a:t> </a:t>
            </a:r>
            <a:r>
              <a:rPr lang="en-US" sz="2000" b="1" dirty="0" err="1">
                <a:solidFill>
                  <a:schemeClr val="bg1"/>
                </a:solidFill>
              </a:rPr>
              <a:t>init</a:t>
            </a:r>
            <a:endParaRPr lang="en-US" sz="2000" b="1" dirty="0">
              <a:solidFill>
                <a:schemeClr val="bg1"/>
              </a:solidFill>
            </a:endParaRPr>
          </a:p>
          <a:p>
            <a:pPr marL="457200" indent="-457200">
              <a:buAutoNum type="arabicPeriod"/>
            </a:pPr>
            <a:r>
              <a:rPr lang="en-US" sz="2000" dirty="0">
                <a:solidFill>
                  <a:schemeClr val="bg1"/>
                </a:solidFill>
              </a:rPr>
              <a:t>Go inside project and install following modules</a:t>
            </a:r>
          </a:p>
          <a:p>
            <a:pPr lvl="1"/>
            <a:r>
              <a:rPr lang="en-IN" sz="2000" dirty="0">
                <a:solidFill>
                  <a:schemeClr val="bg1"/>
                </a:solidFill>
              </a:rPr>
              <a:t>2.1 Cloud Foundry Security - @sap/xssec, @sap/xsenv, passport</a:t>
            </a:r>
          </a:p>
          <a:p>
            <a:pPr lvl="1"/>
            <a:r>
              <a:rPr lang="en-IN" sz="2000" dirty="0">
                <a:solidFill>
                  <a:schemeClr val="bg1"/>
                </a:solidFill>
              </a:rPr>
              <a:t>2.2 OData V2 @sap/cds-odata-v2-adapter-proxy</a:t>
            </a:r>
          </a:p>
          <a:p>
            <a:pPr lvl="1"/>
            <a:r>
              <a:rPr lang="en-IN" sz="2000" dirty="0">
                <a:solidFill>
                  <a:schemeClr val="bg1"/>
                </a:solidFill>
              </a:rPr>
              <a:t>2.3 Serving </a:t>
            </a:r>
            <a:r>
              <a:rPr lang="en-IN" sz="2000" dirty="0" err="1">
                <a:solidFill>
                  <a:schemeClr val="bg1"/>
                </a:solidFill>
              </a:rPr>
              <a:t>odata</a:t>
            </a:r>
            <a:r>
              <a:rPr lang="en-IN" sz="2000" dirty="0">
                <a:solidFill>
                  <a:schemeClr val="bg1"/>
                </a:solidFill>
              </a:rPr>
              <a:t> v2 over cloud </a:t>
            </a:r>
            <a:r>
              <a:rPr lang="en-IN" sz="2000" dirty="0" err="1">
                <a:solidFill>
                  <a:schemeClr val="bg1"/>
                </a:solidFill>
              </a:rPr>
              <a:t>sdk</a:t>
            </a:r>
            <a:r>
              <a:rPr lang="en-IN" sz="2000" dirty="0">
                <a:solidFill>
                  <a:schemeClr val="bg1"/>
                </a:solidFill>
              </a:rPr>
              <a:t> - @sap-cloud-sdk/odata-v2</a:t>
            </a:r>
          </a:p>
          <a:p>
            <a:pPr lvl="1"/>
            <a:r>
              <a:rPr lang="en-IN" sz="2000" dirty="0">
                <a:solidFill>
                  <a:schemeClr val="bg1"/>
                </a:solidFill>
              </a:rPr>
              <a:t>2.4 To generate the service code in node </a:t>
            </a:r>
            <a:r>
              <a:rPr lang="en-IN" sz="2000" dirty="0" err="1">
                <a:solidFill>
                  <a:schemeClr val="bg1"/>
                </a:solidFill>
              </a:rPr>
              <a:t>js</a:t>
            </a:r>
            <a:r>
              <a:rPr lang="en-IN" sz="2000" dirty="0">
                <a:solidFill>
                  <a:schemeClr val="bg1"/>
                </a:solidFill>
              </a:rPr>
              <a:t>, install cloud </a:t>
            </a:r>
            <a:r>
              <a:rPr lang="en-IN" sz="2000" dirty="0" err="1">
                <a:solidFill>
                  <a:schemeClr val="bg1"/>
                </a:solidFill>
              </a:rPr>
              <a:t>sdk</a:t>
            </a:r>
            <a:r>
              <a:rPr lang="en-IN" sz="2000" dirty="0">
                <a:solidFill>
                  <a:schemeClr val="bg1"/>
                </a:solidFill>
              </a:rPr>
              <a:t> generator module using @sap-cloud-sdk/generator</a:t>
            </a:r>
          </a:p>
          <a:p>
            <a:r>
              <a:rPr lang="en-IN" sz="2000" dirty="0">
                <a:solidFill>
                  <a:schemeClr val="bg1"/>
                </a:solidFill>
              </a:rPr>
              <a:t>3. Create a new folder service-spec, and </a:t>
            </a:r>
            <a:r>
              <a:rPr lang="en-IN" sz="2000" dirty="0" err="1">
                <a:solidFill>
                  <a:schemeClr val="bg1"/>
                </a:solidFill>
              </a:rPr>
              <a:t>cds</a:t>
            </a:r>
            <a:r>
              <a:rPr lang="en-IN" sz="2000" dirty="0">
                <a:solidFill>
                  <a:schemeClr val="bg1"/>
                </a:solidFill>
              </a:rPr>
              <a:t> watch, after that drag drop the </a:t>
            </a:r>
            <a:r>
              <a:rPr lang="en-IN" sz="2000" dirty="0" err="1">
                <a:solidFill>
                  <a:schemeClr val="bg1"/>
                </a:solidFill>
              </a:rPr>
              <a:t>edmx</a:t>
            </a:r>
            <a:r>
              <a:rPr lang="en-IN" sz="2000" dirty="0">
                <a:solidFill>
                  <a:schemeClr val="bg1"/>
                </a:solidFill>
              </a:rPr>
              <a:t> file of our service to the folder. It will create external folder</a:t>
            </a:r>
          </a:p>
          <a:p>
            <a:r>
              <a:rPr lang="en-IN" sz="2000" dirty="0">
                <a:solidFill>
                  <a:schemeClr val="bg1"/>
                </a:solidFill>
              </a:rPr>
              <a:t>4. Generate the JS code to automatically get all the calls which will call the service</a:t>
            </a:r>
          </a:p>
          <a:p>
            <a:r>
              <a:rPr lang="en-IN" sz="2000" b="1" dirty="0" err="1">
                <a:solidFill>
                  <a:schemeClr val="accent4">
                    <a:lumMod val="60000"/>
                    <a:lumOff val="40000"/>
                  </a:schemeClr>
                </a:solidFill>
              </a:rPr>
              <a:t>npx</a:t>
            </a:r>
            <a:r>
              <a:rPr lang="en-IN" sz="2000" b="1" dirty="0">
                <a:solidFill>
                  <a:schemeClr val="accent4">
                    <a:lumMod val="60000"/>
                    <a:lumOff val="40000"/>
                  </a:schemeClr>
                </a:solidFill>
              </a:rPr>
              <a:t> generate-</a:t>
            </a:r>
            <a:r>
              <a:rPr lang="en-IN" sz="2000" b="1" dirty="0" err="1">
                <a:solidFill>
                  <a:schemeClr val="accent4">
                    <a:lumMod val="60000"/>
                    <a:lumOff val="40000"/>
                  </a:schemeClr>
                </a:solidFill>
              </a:rPr>
              <a:t>odata</a:t>
            </a:r>
            <a:r>
              <a:rPr lang="en-IN" sz="2000" b="1" dirty="0">
                <a:solidFill>
                  <a:schemeClr val="accent4">
                    <a:lumMod val="60000"/>
                    <a:lumOff val="40000"/>
                  </a:schemeClr>
                </a:solidFill>
              </a:rPr>
              <a:t>-client --input ./service-spec --</a:t>
            </a:r>
            <a:r>
              <a:rPr lang="en-IN" sz="2000" b="1" dirty="0" err="1">
                <a:solidFill>
                  <a:schemeClr val="accent4">
                    <a:lumMod val="60000"/>
                    <a:lumOff val="40000"/>
                  </a:schemeClr>
                </a:solidFill>
              </a:rPr>
              <a:t>outputDir</a:t>
            </a:r>
            <a:r>
              <a:rPr lang="en-IN" sz="2000" b="1" dirty="0">
                <a:solidFill>
                  <a:schemeClr val="accent4">
                    <a:lumMod val="60000"/>
                    <a:lumOff val="40000"/>
                  </a:schemeClr>
                </a:solidFill>
              </a:rPr>
              <a:t> ./</a:t>
            </a:r>
            <a:r>
              <a:rPr lang="en-IN" sz="2000" b="1" dirty="0" err="1">
                <a:solidFill>
                  <a:schemeClr val="accent4">
                    <a:lumMod val="60000"/>
                    <a:lumOff val="40000"/>
                  </a:schemeClr>
                </a:solidFill>
              </a:rPr>
              <a:t>srv</a:t>
            </a:r>
            <a:r>
              <a:rPr lang="en-IN" sz="2000" b="1" dirty="0">
                <a:solidFill>
                  <a:schemeClr val="accent4">
                    <a:lumMod val="60000"/>
                    <a:lumOff val="40000"/>
                  </a:schemeClr>
                </a:solidFill>
              </a:rPr>
              <a:t>/sales-order-</a:t>
            </a:r>
            <a:r>
              <a:rPr lang="en-IN" sz="2000" b="1" dirty="0" err="1">
                <a:solidFill>
                  <a:schemeClr val="accent4">
                    <a:lumMod val="60000"/>
                    <a:lumOff val="40000"/>
                  </a:schemeClr>
                </a:solidFill>
              </a:rPr>
              <a:t>api</a:t>
            </a:r>
            <a:endParaRPr lang="en-IN" sz="2000" b="1" dirty="0">
              <a:solidFill>
                <a:schemeClr val="accent4">
                  <a:lumMod val="60000"/>
                  <a:lumOff val="40000"/>
                </a:schemeClr>
              </a:solidFill>
            </a:endParaRPr>
          </a:p>
          <a:p>
            <a:r>
              <a:rPr lang="en-IN" sz="2000" dirty="0">
                <a:solidFill>
                  <a:schemeClr val="bg1"/>
                </a:solidFill>
              </a:rPr>
              <a:t>Give the folder path, not the </a:t>
            </a:r>
            <a:r>
              <a:rPr lang="en-IN" sz="2000" dirty="0" err="1">
                <a:solidFill>
                  <a:schemeClr val="bg1"/>
                </a:solidFill>
              </a:rPr>
              <a:t>edmx</a:t>
            </a:r>
            <a:r>
              <a:rPr lang="en-IN" sz="2000" dirty="0">
                <a:solidFill>
                  <a:schemeClr val="bg1"/>
                </a:solidFill>
              </a:rPr>
              <a:t> file path</a:t>
            </a:r>
          </a:p>
          <a:p>
            <a:r>
              <a:rPr lang="en-IN" sz="2000" dirty="0">
                <a:solidFill>
                  <a:schemeClr val="bg1"/>
                </a:solidFill>
              </a:rPr>
              <a:t>5. Define the service definition in </a:t>
            </a:r>
            <a:r>
              <a:rPr lang="en-IN" sz="2000" dirty="0" err="1">
                <a:solidFill>
                  <a:schemeClr val="bg1"/>
                </a:solidFill>
              </a:rPr>
              <a:t>CatalogService.cds</a:t>
            </a:r>
            <a:r>
              <a:rPr lang="en-IN" sz="2000" dirty="0">
                <a:solidFill>
                  <a:schemeClr val="bg1"/>
                </a:solidFill>
              </a:rPr>
              <a:t> file by referencing from </a:t>
            </a:r>
            <a:r>
              <a:rPr lang="en-IN" sz="2000" dirty="0" err="1">
                <a:solidFill>
                  <a:schemeClr val="bg1"/>
                </a:solidFill>
              </a:rPr>
              <a:t>csn</a:t>
            </a:r>
            <a:r>
              <a:rPr lang="en-IN" sz="2000" dirty="0">
                <a:solidFill>
                  <a:schemeClr val="bg1"/>
                </a:solidFill>
              </a:rPr>
              <a:t> file generated based on SAP OData</a:t>
            </a:r>
          </a:p>
          <a:p>
            <a:r>
              <a:rPr lang="en-IN" sz="2000" dirty="0">
                <a:solidFill>
                  <a:schemeClr val="bg1"/>
                </a:solidFill>
              </a:rPr>
              <a:t>6. Define the service implementation CatalogService.js file and write the code to use the generated type script modules which will act like bridge to communicate to our SAP OData Business API.</a:t>
            </a:r>
          </a:p>
          <a:p>
            <a:r>
              <a:rPr lang="en-IN" sz="2000" dirty="0">
                <a:solidFill>
                  <a:schemeClr val="bg1"/>
                </a:solidFill>
              </a:rPr>
              <a:t>7. Generate a Fiori application using free style with local cap project. </a:t>
            </a:r>
          </a:p>
        </p:txBody>
      </p:sp>
    </p:spTree>
    <p:extLst>
      <p:ext uri="{BB962C8B-B14F-4D97-AF65-F5344CB8AC3E}">
        <p14:creationId xmlns:p14="http://schemas.microsoft.com/office/powerpoint/2010/main" val="3666580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Cloud Extension</a:t>
            </a:r>
          </a:p>
        </p:txBody>
      </p:sp>
      <p:sp>
        <p:nvSpPr>
          <p:cNvPr id="3" name="TextBox 2">
            <a:extLst>
              <a:ext uri="{FF2B5EF4-FFF2-40B4-BE49-F238E27FC236}">
                <a16:creationId xmlns:a16="http://schemas.microsoft.com/office/drawing/2014/main" id="{9B7C5E39-64FC-6595-A253-13AA437144EA}"/>
              </a:ext>
            </a:extLst>
          </p:cNvPr>
          <p:cNvSpPr txBox="1"/>
          <p:nvPr/>
        </p:nvSpPr>
        <p:spPr>
          <a:xfrm>
            <a:off x="189756" y="908720"/>
            <a:ext cx="11809312" cy="3785652"/>
          </a:xfrm>
          <a:prstGeom prst="rect">
            <a:avLst/>
          </a:prstGeom>
          <a:noFill/>
        </p:spPr>
        <p:txBody>
          <a:bodyPr wrap="square" rtlCol="0">
            <a:spAutoFit/>
          </a:bodyPr>
          <a:lstStyle/>
          <a:p>
            <a:r>
              <a:rPr lang="en-US" sz="2000" dirty="0">
                <a:solidFill>
                  <a:schemeClr val="bg1"/>
                </a:solidFill>
              </a:rPr>
              <a:t>8. Replace hardcoded credentials with destination</a:t>
            </a:r>
          </a:p>
          <a:p>
            <a:r>
              <a:rPr lang="en-US" sz="2000" dirty="0">
                <a:solidFill>
                  <a:schemeClr val="bg1"/>
                </a:solidFill>
              </a:rPr>
              <a:t>9. Create a destination service and maintain destination with name S4HANA because the same we used in our code.</a:t>
            </a:r>
          </a:p>
          <a:p>
            <a:r>
              <a:rPr lang="en-US" sz="2000" dirty="0">
                <a:solidFill>
                  <a:schemeClr val="bg1"/>
                </a:solidFill>
              </a:rPr>
              <a:t>10. Create </a:t>
            </a:r>
            <a:r>
              <a:rPr lang="en-US" sz="2000" dirty="0" err="1">
                <a:solidFill>
                  <a:schemeClr val="bg1"/>
                </a:solidFill>
              </a:rPr>
              <a:t>mta.yaml</a:t>
            </a:r>
            <a:r>
              <a:rPr lang="en-US" sz="2000" dirty="0">
                <a:solidFill>
                  <a:schemeClr val="bg1"/>
                </a:solidFill>
              </a:rPr>
              <a:t> file for deployment</a:t>
            </a:r>
          </a:p>
          <a:p>
            <a:r>
              <a:rPr lang="en-US" sz="2000" dirty="0">
                <a:solidFill>
                  <a:schemeClr val="bg1"/>
                </a:solidFill>
              </a:rPr>
              <a:t>11. Add the modules, both </a:t>
            </a:r>
            <a:r>
              <a:rPr lang="en-US" sz="2000" dirty="0" err="1">
                <a:solidFill>
                  <a:schemeClr val="bg1"/>
                </a:solidFill>
              </a:rPr>
              <a:t>srv</a:t>
            </a:r>
            <a:r>
              <a:rPr lang="en-US" sz="2000" dirty="0">
                <a:solidFill>
                  <a:schemeClr val="bg1"/>
                </a:solidFill>
              </a:rPr>
              <a:t> and </a:t>
            </a:r>
            <a:r>
              <a:rPr lang="en-US" sz="2000" dirty="0" err="1">
                <a:solidFill>
                  <a:schemeClr val="bg1"/>
                </a:solidFill>
              </a:rPr>
              <a:t>ui</a:t>
            </a:r>
            <a:r>
              <a:rPr lang="en-US" sz="2000" dirty="0">
                <a:solidFill>
                  <a:schemeClr val="bg1"/>
                </a:solidFill>
              </a:rPr>
              <a:t> module. </a:t>
            </a:r>
          </a:p>
          <a:p>
            <a:r>
              <a:rPr lang="en-US" sz="2000" dirty="0">
                <a:solidFill>
                  <a:schemeClr val="bg1"/>
                </a:solidFill>
              </a:rPr>
              <a:t>12. Add Resources as destination and </a:t>
            </a:r>
            <a:r>
              <a:rPr lang="en-US" sz="2000" dirty="0" err="1">
                <a:solidFill>
                  <a:schemeClr val="bg1"/>
                </a:solidFill>
              </a:rPr>
              <a:t>xsuaa</a:t>
            </a:r>
            <a:r>
              <a:rPr lang="en-US" sz="2000" dirty="0">
                <a:solidFill>
                  <a:schemeClr val="bg1"/>
                </a:solidFill>
              </a:rPr>
              <a:t>. Maintain the </a:t>
            </a:r>
            <a:r>
              <a:rPr lang="en-US" sz="2000" dirty="0" err="1">
                <a:solidFill>
                  <a:schemeClr val="bg1"/>
                </a:solidFill>
              </a:rPr>
              <a:t>xs-security.json</a:t>
            </a:r>
            <a:r>
              <a:rPr lang="en-US" sz="2000" dirty="0">
                <a:solidFill>
                  <a:schemeClr val="bg1"/>
                </a:solidFill>
              </a:rPr>
              <a:t> file</a:t>
            </a:r>
          </a:p>
          <a:p>
            <a:r>
              <a:rPr lang="en-US" sz="2000" dirty="0">
                <a:solidFill>
                  <a:schemeClr val="bg1"/>
                </a:solidFill>
              </a:rPr>
              <a:t>13. Get the package </a:t>
            </a:r>
            <a:r>
              <a:rPr lang="en-US" sz="2000" dirty="0" err="1">
                <a:solidFill>
                  <a:schemeClr val="bg1"/>
                </a:solidFill>
              </a:rPr>
              <a:t>json</a:t>
            </a:r>
            <a:r>
              <a:rPr lang="en-US" sz="2000" dirty="0">
                <a:solidFill>
                  <a:schemeClr val="bg1"/>
                </a:solidFill>
              </a:rPr>
              <a:t> in app folder from </a:t>
            </a:r>
            <a:r>
              <a:rPr lang="en-US" sz="2000" dirty="0" err="1">
                <a:solidFill>
                  <a:schemeClr val="bg1"/>
                </a:solidFill>
              </a:rPr>
              <a:t>ui</a:t>
            </a:r>
            <a:r>
              <a:rPr lang="en-US" sz="2000" dirty="0">
                <a:solidFill>
                  <a:schemeClr val="bg1"/>
                </a:solidFill>
              </a:rPr>
              <a:t> project, Add the app router module @sap/approuter and include start script.</a:t>
            </a:r>
          </a:p>
          <a:p>
            <a:r>
              <a:rPr lang="en-US" sz="2000" dirty="0">
                <a:solidFill>
                  <a:schemeClr val="bg1"/>
                </a:solidFill>
              </a:rPr>
              <a:t>14. </a:t>
            </a:r>
            <a:r>
              <a:rPr lang="en-US" sz="2000" dirty="0" err="1">
                <a:solidFill>
                  <a:schemeClr val="bg1"/>
                </a:solidFill>
              </a:rPr>
              <a:t>xs-app.json</a:t>
            </a:r>
            <a:r>
              <a:rPr lang="en-US" sz="2000" dirty="0">
                <a:solidFill>
                  <a:schemeClr val="bg1"/>
                </a:solidFill>
              </a:rPr>
              <a:t> file for routing paths</a:t>
            </a:r>
          </a:p>
          <a:p>
            <a:r>
              <a:rPr lang="en-US" sz="2000" dirty="0">
                <a:solidFill>
                  <a:schemeClr val="bg1"/>
                </a:solidFill>
              </a:rPr>
              <a:t>15. Push the code to the </a:t>
            </a:r>
            <a:r>
              <a:rPr lang="en-US" sz="2000" dirty="0" err="1">
                <a:solidFill>
                  <a:schemeClr val="bg1"/>
                </a:solidFill>
              </a:rPr>
              <a:t>github</a:t>
            </a:r>
            <a:endParaRPr lang="en-US" sz="2000" dirty="0">
              <a:solidFill>
                <a:schemeClr val="bg1"/>
              </a:solidFill>
            </a:endParaRPr>
          </a:p>
          <a:p>
            <a:r>
              <a:rPr lang="en-US" sz="2000" dirty="0">
                <a:solidFill>
                  <a:schemeClr val="bg1"/>
                </a:solidFill>
              </a:rPr>
              <a:t>16. You can pull the app in BAS tool, Right click on </a:t>
            </a:r>
            <a:r>
              <a:rPr lang="en-US" sz="2000" dirty="0" err="1">
                <a:solidFill>
                  <a:schemeClr val="bg1"/>
                </a:solidFill>
              </a:rPr>
              <a:t>mta.yaml</a:t>
            </a:r>
            <a:r>
              <a:rPr lang="en-US" sz="2000" dirty="0">
                <a:solidFill>
                  <a:schemeClr val="bg1"/>
                </a:solidFill>
              </a:rPr>
              <a:t> and build MTA </a:t>
            </a:r>
            <a:r>
              <a:rPr lang="en-US" sz="2000" dirty="0" err="1">
                <a:solidFill>
                  <a:schemeClr val="bg1"/>
                </a:solidFill>
              </a:rPr>
              <a:t>Archieve</a:t>
            </a:r>
            <a:endParaRPr lang="en-US" sz="2000" dirty="0">
              <a:solidFill>
                <a:schemeClr val="bg1"/>
              </a:solidFill>
            </a:endParaRPr>
          </a:p>
          <a:p>
            <a:r>
              <a:rPr lang="en-US" sz="2000" dirty="0">
                <a:solidFill>
                  <a:schemeClr val="bg1"/>
                </a:solidFill>
              </a:rPr>
              <a:t>17. Once done, right click and deploy </a:t>
            </a:r>
            <a:r>
              <a:rPr lang="en-US" sz="2000" dirty="0" err="1">
                <a:solidFill>
                  <a:schemeClr val="bg1"/>
                </a:solidFill>
              </a:rPr>
              <a:t>MTA_Archieve</a:t>
            </a:r>
            <a:r>
              <a:rPr lang="en-US" sz="2000" dirty="0">
                <a:solidFill>
                  <a:schemeClr val="bg1"/>
                </a:solidFill>
              </a:rPr>
              <a:t> to SAP BTP</a:t>
            </a:r>
            <a:endParaRPr lang="en-IN" sz="2000" dirty="0">
              <a:solidFill>
                <a:schemeClr val="bg1"/>
              </a:solidFill>
            </a:endParaRPr>
          </a:p>
        </p:txBody>
      </p:sp>
    </p:spTree>
    <p:extLst>
      <p:ext uri="{BB962C8B-B14F-4D97-AF65-F5344CB8AC3E}">
        <p14:creationId xmlns:p14="http://schemas.microsoft.com/office/powerpoint/2010/main" val="2961972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F5AE5-C23B-092A-2E6C-32EA3DD6D013}"/>
            </a:ext>
          </a:extLst>
        </p:cNvPr>
        <p:cNvGrpSpPr/>
        <p:nvPr/>
      </p:nvGrpSpPr>
      <p:grpSpPr>
        <a:xfrm>
          <a:off x="0" y="0"/>
          <a:ext cx="0" cy="0"/>
          <a:chOff x="0" y="0"/>
          <a:chExt cx="0" cy="0"/>
        </a:xfrm>
      </p:grpSpPr>
      <p:pic>
        <p:nvPicPr>
          <p:cNvPr id="2050" name="Picture 2" descr="A diagram of a company's company's company's company's company's company's company's company's company's company's company's company'&#10;&#10;Description automatically generated">
            <a:extLst>
              <a:ext uri="{FF2B5EF4-FFF2-40B4-BE49-F238E27FC236}">
                <a16:creationId xmlns:a16="http://schemas.microsoft.com/office/drawing/2014/main" id="{1C7BA0E0-A7F9-3748-1806-D7C61AE628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1734" r="49074"/>
          <a:stretch/>
        </p:blipFill>
        <p:spPr bwMode="auto">
          <a:xfrm>
            <a:off x="609441" y="1295956"/>
            <a:ext cx="5586545" cy="4829506"/>
          </a:xfrm>
          <a:prstGeom prst="rect">
            <a:avLst/>
          </a:prstGeom>
          <a:solidFill>
            <a:srgbClr val="FFFFFF"/>
          </a:solidFill>
        </p:spPr>
      </p:pic>
      <p:sp>
        <p:nvSpPr>
          <p:cNvPr id="3" name="Footer Placeholder 2">
            <a:extLst>
              <a:ext uri="{FF2B5EF4-FFF2-40B4-BE49-F238E27FC236}">
                <a16:creationId xmlns:a16="http://schemas.microsoft.com/office/drawing/2014/main" id="{FD97A5B3-F9B4-8C7B-9264-A48D8CB18EAE}"/>
              </a:ext>
            </a:extLst>
          </p:cNvPr>
          <p:cNvSpPr>
            <a:spLocks noGrp="1"/>
          </p:cNvSpPr>
          <p:nvPr>
            <p:ph type="ftr" sz="quarter" idx="11"/>
          </p:nvPr>
        </p:nvSpPr>
        <p:spPr>
          <a:xfrm>
            <a:off x="4164515" y="6355588"/>
            <a:ext cx="3859795" cy="365030"/>
          </a:xfrm>
        </p:spPr>
        <p:txBody>
          <a:bodyPr anchor="ctr">
            <a:normAutofit/>
          </a:bodyPr>
          <a:lstStyle/>
          <a:p>
            <a:pPr defTabSz="1218895">
              <a:lnSpc>
                <a:spcPct val="90000"/>
              </a:lnSpc>
              <a:spcAft>
                <a:spcPts val="800"/>
              </a:spcAft>
            </a:pPr>
            <a:r>
              <a:rPr lang="en-US">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B41D26CC-B899-0457-9164-2692EBC81C4A}"/>
              </a:ext>
            </a:extLst>
          </p:cNvPr>
          <p:cNvSpPr>
            <a:spLocks noGrp="1"/>
          </p:cNvSpPr>
          <p:nvPr>
            <p:ph type="sldNum" sz="quarter" idx="12"/>
          </p:nvPr>
        </p:nvSpPr>
        <p:spPr>
          <a:xfrm>
            <a:off x="609441" y="6355588"/>
            <a:ext cx="2844059" cy="365030"/>
          </a:xfrm>
        </p:spPr>
        <p:txBody>
          <a:bodyPr anchor="ctr">
            <a:normAutofit/>
          </a:bodyPr>
          <a:lstStyle/>
          <a:p>
            <a:pPr defTabSz="1218895">
              <a:lnSpc>
                <a:spcPct val="90000"/>
              </a:lnSpc>
              <a:spcAft>
                <a:spcPts val="800"/>
              </a:spcAft>
            </a:pPr>
            <a:fld id="{B6F15528-21DE-4FAA-801E-634DDDAF4B2B}" type="slidenum">
              <a:rPr lang="en-US">
                <a:solidFill>
                  <a:prstClr val="black">
                    <a:tint val="75000"/>
                  </a:prstClr>
                </a:solidFill>
                <a:latin typeface="Calibri"/>
              </a:rPr>
              <a:pPr defTabSz="1218895">
                <a:lnSpc>
                  <a:spcPct val="90000"/>
                </a:lnSpc>
                <a:spcAft>
                  <a:spcPts val="800"/>
                </a:spcAft>
              </a:pPr>
              <a:t>9</a:t>
            </a:fld>
            <a:endParaRPr lang="en-US">
              <a:solidFill>
                <a:prstClr val="black">
                  <a:tint val="75000"/>
                </a:prstClr>
              </a:solidFill>
              <a:latin typeface="Calibri"/>
            </a:endParaRPr>
          </a:p>
        </p:txBody>
      </p:sp>
      <p:sp>
        <p:nvSpPr>
          <p:cNvPr id="2057" name="Title 4">
            <a:extLst>
              <a:ext uri="{FF2B5EF4-FFF2-40B4-BE49-F238E27FC236}">
                <a16:creationId xmlns:a16="http://schemas.microsoft.com/office/drawing/2014/main" id="{AACA3318-ABA3-C55F-FC09-CEE86E9838D2}"/>
              </a:ext>
            </a:extLst>
          </p:cNvPr>
          <p:cNvSpPr>
            <a:spLocks noGrp="1"/>
          </p:cNvSpPr>
          <p:nvPr>
            <p:ph type="title"/>
          </p:nvPr>
        </p:nvSpPr>
        <p:spPr>
          <a:xfrm>
            <a:off x="609441" y="584942"/>
            <a:ext cx="10969943" cy="711016"/>
          </a:xfrm>
        </p:spPr>
        <p:txBody>
          <a:bodyPr/>
          <a:lstStyle/>
          <a:p>
            <a:r>
              <a:rPr lang="en-US" dirty="0">
                <a:latin typeface="Cooper Black" panose="0208090404030B020404" pitchFamily="18" charset="0"/>
              </a:rPr>
              <a:t>What is fusion Team?</a:t>
            </a:r>
          </a:p>
        </p:txBody>
      </p:sp>
      <p:pic>
        <p:nvPicPr>
          <p:cNvPr id="2" name="Picture 2" descr="A diagram of a company's company's company's company's company's company's company's company's company's company's company's company'&#10;&#10;Description automatically generated">
            <a:extLst>
              <a:ext uri="{FF2B5EF4-FFF2-40B4-BE49-F238E27FC236}">
                <a16:creationId xmlns:a16="http://schemas.microsoft.com/office/drawing/2014/main" id="{C77AC5DC-B5C3-7973-DE5B-EDDA3B490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0926" t="21734"/>
          <a:stretch/>
        </p:blipFill>
        <p:spPr bwMode="auto">
          <a:xfrm>
            <a:off x="6399132" y="1295955"/>
            <a:ext cx="5383398" cy="4829506"/>
          </a:xfrm>
          <a:prstGeom prst="rect">
            <a:avLst/>
          </a:prstGeom>
          <a:solidFill>
            <a:srgbClr val="FFFFFF"/>
          </a:solidFill>
        </p:spPr>
      </p:pic>
    </p:spTree>
    <p:extLst>
      <p:ext uri="{BB962C8B-B14F-4D97-AF65-F5344CB8AC3E}">
        <p14:creationId xmlns:p14="http://schemas.microsoft.com/office/powerpoint/2010/main" val="271656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anim calcmode="lin" valueType="num">
                                      <p:cBhvr>
                                        <p:cTn id="8" dur="1000" fill="hold"/>
                                        <p:tgtEl>
                                          <p:spTgt spid="2050"/>
                                        </p:tgtEl>
                                        <p:attrNameLst>
                                          <p:attrName>ppt_x</p:attrName>
                                        </p:attrNameLst>
                                      </p:cBhvr>
                                      <p:tavLst>
                                        <p:tav tm="0">
                                          <p:val>
                                            <p:strVal val="#ppt_x"/>
                                          </p:val>
                                        </p:tav>
                                        <p:tav tm="100000">
                                          <p:val>
                                            <p:strVal val="#ppt_x"/>
                                          </p:val>
                                        </p:tav>
                                      </p:tavLst>
                                    </p:anim>
                                    <p:anim calcmode="lin" valueType="num">
                                      <p:cBhvr>
                                        <p:cTn id="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6E8A3-9F74-A7C0-0087-DDBF9527FEC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26A3DC-05DA-339D-BDEF-843C03B86D3B}"/>
              </a:ext>
            </a:extLst>
          </p:cNvPr>
          <p:cNvSpPr>
            <a:spLocks noGrp="1"/>
          </p:cNvSpPr>
          <p:nvPr>
            <p:ph type="ftr" sz="quarter" idx="11"/>
          </p:nvPr>
        </p:nvSpPr>
        <p:spPr>
          <a:xfrm>
            <a:off x="4164515" y="6355588"/>
            <a:ext cx="3859795" cy="365030"/>
          </a:xfrm>
        </p:spPr>
        <p:txBody>
          <a:bodyPr anchor="ctr">
            <a:normAutofit/>
          </a:bodyPr>
          <a:lstStyle/>
          <a:p>
            <a:pPr defTabSz="1218895">
              <a:lnSpc>
                <a:spcPct val="90000"/>
              </a:lnSpc>
              <a:spcAft>
                <a:spcPts val="800"/>
              </a:spcAft>
            </a:pPr>
            <a:r>
              <a:rPr lang="en-US" dirty="0">
                <a:solidFill>
                  <a:prstClr val="black">
                    <a:tint val="75000"/>
                  </a:prstClr>
                </a:solidFill>
                <a:latin typeface="Calibri"/>
              </a:rPr>
              <a:t>www.anubhavtrainings.com</a:t>
            </a:r>
            <a:endParaRPr lang="en-US">
              <a:solidFill>
                <a:prstClr val="black">
                  <a:tint val="75000"/>
                </a:prstClr>
              </a:solidFill>
              <a:latin typeface="Calibri"/>
            </a:endParaRPr>
          </a:p>
        </p:txBody>
      </p:sp>
      <p:sp>
        <p:nvSpPr>
          <p:cNvPr id="4" name="Slide Number Placeholder 3">
            <a:extLst>
              <a:ext uri="{FF2B5EF4-FFF2-40B4-BE49-F238E27FC236}">
                <a16:creationId xmlns:a16="http://schemas.microsoft.com/office/drawing/2014/main" id="{4FAA0FF4-F89E-EA49-B96B-17FE1C3100BC}"/>
              </a:ext>
            </a:extLst>
          </p:cNvPr>
          <p:cNvSpPr>
            <a:spLocks noGrp="1"/>
          </p:cNvSpPr>
          <p:nvPr>
            <p:ph type="sldNum" sz="quarter" idx="12"/>
          </p:nvPr>
        </p:nvSpPr>
        <p:spPr>
          <a:xfrm>
            <a:off x="609441" y="6355588"/>
            <a:ext cx="2844059" cy="365030"/>
          </a:xfrm>
        </p:spPr>
        <p:txBody>
          <a:bodyPr anchor="ctr">
            <a:normAutofit/>
          </a:bodyPr>
          <a:lstStyle/>
          <a:p>
            <a:pPr defTabSz="1218895">
              <a:lnSpc>
                <a:spcPct val="90000"/>
              </a:lnSpc>
              <a:spcAft>
                <a:spcPts val="800"/>
              </a:spcAft>
            </a:pPr>
            <a:fld id="{B6F15528-21DE-4FAA-801E-634DDDAF4B2B}" type="slidenum">
              <a:rPr lang="en-US">
                <a:solidFill>
                  <a:prstClr val="black">
                    <a:tint val="75000"/>
                  </a:prstClr>
                </a:solidFill>
                <a:latin typeface="Calibri"/>
              </a:rPr>
              <a:pPr defTabSz="1218895">
                <a:lnSpc>
                  <a:spcPct val="90000"/>
                </a:lnSpc>
                <a:spcAft>
                  <a:spcPts val="800"/>
                </a:spcAft>
              </a:pPr>
              <a:t>10</a:t>
            </a:fld>
            <a:endParaRPr lang="en-US">
              <a:solidFill>
                <a:prstClr val="black">
                  <a:tint val="75000"/>
                </a:prstClr>
              </a:solidFill>
              <a:latin typeface="Calibri"/>
            </a:endParaRPr>
          </a:p>
        </p:txBody>
      </p:sp>
      <p:sp>
        <p:nvSpPr>
          <p:cNvPr id="3079" name="Title 4">
            <a:extLst>
              <a:ext uri="{FF2B5EF4-FFF2-40B4-BE49-F238E27FC236}">
                <a16:creationId xmlns:a16="http://schemas.microsoft.com/office/drawing/2014/main" id="{0531F886-6E8F-3157-6960-F972DB255F43}"/>
              </a:ext>
            </a:extLst>
          </p:cNvPr>
          <p:cNvSpPr>
            <a:spLocks noGrp="1"/>
          </p:cNvSpPr>
          <p:nvPr>
            <p:ph type="title"/>
          </p:nvPr>
        </p:nvSpPr>
        <p:spPr>
          <a:xfrm>
            <a:off x="609441" y="584942"/>
            <a:ext cx="10969943" cy="711016"/>
          </a:xfrm>
        </p:spPr>
        <p:txBody>
          <a:bodyPr/>
          <a:lstStyle/>
          <a:p>
            <a:r>
              <a:rPr lang="en-US" dirty="0">
                <a:latin typeface="Cooper Black" panose="0208090404030B020404" pitchFamily="18" charset="0"/>
              </a:rPr>
              <a:t>Key role of professional developers?</a:t>
            </a:r>
          </a:p>
        </p:txBody>
      </p:sp>
      <p:pic>
        <p:nvPicPr>
          <p:cNvPr id="3076" name="Picture 4">
            <a:extLst>
              <a:ext uri="{FF2B5EF4-FFF2-40B4-BE49-F238E27FC236}">
                <a16:creationId xmlns:a16="http://schemas.microsoft.com/office/drawing/2014/main" id="{2D72A61C-CB71-687B-82E2-BE785A0BD7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203" r="53017"/>
          <a:stretch/>
        </p:blipFill>
        <p:spPr bwMode="auto">
          <a:xfrm>
            <a:off x="603902" y="1429273"/>
            <a:ext cx="5084217" cy="49711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C5FABE37-2258-C38A-D8F1-21AA0AE265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983" t="14203"/>
          <a:stretch/>
        </p:blipFill>
        <p:spPr bwMode="auto">
          <a:xfrm>
            <a:off x="5992839" y="1429273"/>
            <a:ext cx="5737224" cy="497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9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fade">
                                      <p:cBhvr>
                                        <p:cTn id="7" dur="1000"/>
                                        <p:tgtEl>
                                          <p:spTgt spid="3076"/>
                                        </p:tgtEl>
                                      </p:cBhvr>
                                    </p:animEffect>
                                    <p:anim calcmode="lin" valueType="num">
                                      <p:cBhvr>
                                        <p:cTn id="8" dur="1000" fill="hold"/>
                                        <p:tgtEl>
                                          <p:spTgt spid="3076"/>
                                        </p:tgtEl>
                                        <p:attrNameLst>
                                          <p:attrName>ppt_x</p:attrName>
                                        </p:attrNameLst>
                                      </p:cBhvr>
                                      <p:tavLst>
                                        <p:tav tm="0">
                                          <p:val>
                                            <p:strVal val="#ppt_x"/>
                                          </p:val>
                                        </p:tav>
                                        <p:tav tm="100000">
                                          <p:val>
                                            <p:strVal val="#ppt_x"/>
                                          </p:val>
                                        </p:tav>
                                      </p:tavLst>
                                    </p:anim>
                                    <p:anim calcmode="lin" valueType="num">
                                      <p:cBhvr>
                                        <p:cTn id="9" dur="1000" fill="hold"/>
                                        <p:tgtEl>
                                          <p:spTgt spid="307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BAB68-5FC2-14DE-8E6C-1434727C21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ABA5B4-EF5E-86D2-A2E3-3D235EE17AB2}"/>
              </a:ext>
            </a:extLst>
          </p:cNvPr>
          <p:cNvSpPr>
            <a:spLocks noGrp="1"/>
          </p:cNvSpPr>
          <p:nvPr>
            <p:ph type="title"/>
          </p:nvPr>
        </p:nvSpPr>
        <p:spPr>
          <a:xfrm>
            <a:off x="609443" y="1092809"/>
            <a:ext cx="4010039" cy="1161748"/>
          </a:xfrm>
        </p:spPr>
        <p:txBody>
          <a:bodyPr anchor="b">
            <a:normAutofit/>
          </a:bodyPr>
          <a:lstStyle/>
          <a:p>
            <a:r>
              <a:rPr lang="en-US" b="1" kern="1200" dirty="0">
                <a:latin typeface="Arial" pitchFamily="34" charset="0"/>
                <a:ea typeface="+mj-ea"/>
                <a:cs typeface="Arial" pitchFamily="34" charset="0"/>
                <a:hlinkClick r:id="rId2"/>
              </a:rPr>
              <a:t>What is SAP Build?</a:t>
            </a:r>
            <a:endParaRPr lang="en-US" b="1" kern="1200" dirty="0">
              <a:latin typeface="Arial" pitchFamily="34" charset="0"/>
              <a:ea typeface="+mj-ea"/>
              <a:cs typeface="Arial" pitchFamily="34" charset="0"/>
            </a:endParaRPr>
          </a:p>
        </p:txBody>
      </p:sp>
      <p:pic>
        <p:nvPicPr>
          <p:cNvPr id="1026" name="Picture 2">
            <a:extLst>
              <a:ext uri="{FF2B5EF4-FFF2-40B4-BE49-F238E27FC236}">
                <a16:creationId xmlns:a16="http://schemas.microsoft.com/office/drawing/2014/main" id="{36FF75DD-F839-5B12-4F71-F93242EFE24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65491" y="1692729"/>
            <a:ext cx="6813892" cy="3832814"/>
          </a:xfrm>
          <a:prstGeom prst="rect">
            <a:avLst/>
          </a:prstGeom>
          <a:solidFill>
            <a:srgbClr val="FFFFFF"/>
          </a:solidFill>
        </p:spPr>
      </p:pic>
      <p:sp>
        <p:nvSpPr>
          <p:cNvPr id="6" name="TextBox 5">
            <a:extLst>
              <a:ext uri="{FF2B5EF4-FFF2-40B4-BE49-F238E27FC236}">
                <a16:creationId xmlns:a16="http://schemas.microsoft.com/office/drawing/2014/main" id="{1F3165B0-26D5-F09C-1C44-B710C15C84DE}"/>
              </a:ext>
            </a:extLst>
          </p:cNvPr>
          <p:cNvSpPr txBox="1"/>
          <p:nvPr/>
        </p:nvSpPr>
        <p:spPr>
          <a:xfrm>
            <a:off x="609443" y="2311691"/>
            <a:ext cx="4010039" cy="3813771"/>
          </a:xfrm>
          <a:prstGeom prst="rect">
            <a:avLst/>
          </a:prstGeom>
        </p:spPr>
        <p:txBody>
          <a:bodyPr vert="horz" lIns="121888" tIns="60944" rIns="121888" bIns="60944" rtlCol="0">
            <a:normAutofit/>
          </a:bodyPr>
          <a:lstStyle/>
          <a:p>
            <a:pPr defTabSz="1218895">
              <a:spcBef>
                <a:spcPct val="20000"/>
              </a:spcBef>
            </a:pPr>
            <a:r>
              <a:rPr lang="en-US" sz="1866" dirty="0">
                <a:solidFill>
                  <a:prstClr val="black"/>
                </a:solidFill>
                <a:latin typeface="Calibri"/>
              </a:rPr>
              <a:t>SAP Build is a user-friendly low-code/no-code platform within the SAP Business Technology Platform (SAP BTP), designed to empower users to create, customize, and enhance applications, automate workflows, and build business sites without the need for advanced coding skills. It includes three primary components:</a:t>
            </a:r>
          </a:p>
        </p:txBody>
      </p:sp>
      <p:sp>
        <p:nvSpPr>
          <p:cNvPr id="3" name="Footer Placeholder 2">
            <a:extLst>
              <a:ext uri="{FF2B5EF4-FFF2-40B4-BE49-F238E27FC236}">
                <a16:creationId xmlns:a16="http://schemas.microsoft.com/office/drawing/2014/main" id="{6578A131-FA27-9248-F207-3AAD054D9FBA}"/>
              </a:ext>
            </a:extLst>
          </p:cNvPr>
          <p:cNvSpPr>
            <a:spLocks noGrp="1"/>
          </p:cNvSpPr>
          <p:nvPr>
            <p:ph type="ftr" sz="quarter" idx="11"/>
          </p:nvPr>
        </p:nvSpPr>
        <p:spPr>
          <a:xfrm>
            <a:off x="4164515" y="6355588"/>
            <a:ext cx="3859795" cy="365030"/>
          </a:xfrm>
        </p:spPr>
        <p:txBody>
          <a:bodyPr vert="horz" lIns="121888" tIns="60944" rIns="121888" bIns="60944" rtlCol="0" anchor="ctr">
            <a:normAutofit/>
          </a:bodyPr>
          <a:lstStyle/>
          <a:p>
            <a:pPr defTabSz="1218895">
              <a:lnSpc>
                <a:spcPct val="90000"/>
              </a:lnSpc>
              <a:spcAft>
                <a:spcPts val="800"/>
              </a:spcAft>
            </a:pPr>
            <a:r>
              <a:rPr lang="en-US">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5B505CC5-8DCC-CA30-9D2C-E6689D7FA228}"/>
              </a:ext>
            </a:extLst>
          </p:cNvPr>
          <p:cNvSpPr>
            <a:spLocks noGrp="1"/>
          </p:cNvSpPr>
          <p:nvPr>
            <p:ph type="sldNum" sz="quarter" idx="12"/>
          </p:nvPr>
        </p:nvSpPr>
        <p:spPr>
          <a:xfrm>
            <a:off x="8735324" y="6355588"/>
            <a:ext cx="2844059" cy="365030"/>
          </a:xfrm>
        </p:spPr>
        <p:txBody>
          <a:bodyPr vert="horz" lIns="121888" tIns="60944" rIns="121888" bIns="60944" rtlCol="0" anchor="ctr">
            <a:normAutofit/>
          </a:bodyPr>
          <a:lstStyle/>
          <a:p>
            <a:pPr defTabSz="1218895">
              <a:lnSpc>
                <a:spcPct val="90000"/>
              </a:lnSpc>
              <a:spcAft>
                <a:spcPts val="800"/>
              </a:spcAft>
            </a:pPr>
            <a:fld id="{B6F15528-21DE-4FAA-801E-634DDDAF4B2B}" type="slidenum">
              <a:rPr lang="en-US">
                <a:solidFill>
                  <a:prstClr val="black">
                    <a:tint val="75000"/>
                  </a:prstClr>
                </a:solidFill>
                <a:latin typeface="Calibri"/>
              </a:rPr>
              <a:pPr defTabSz="1218895">
                <a:lnSpc>
                  <a:spcPct val="90000"/>
                </a:lnSpc>
                <a:spcAft>
                  <a:spcPts val="800"/>
                </a:spcAft>
              </a:pPr>
              <a:t>11</a:t>
            </a:fld>
            <a:endParaRPr lang="en-US">
              <a:solidFill>
                <a:prstClr val="black">
                  <a:tint val="75000"/>
                </a:prstClr>
              </a:solidFill>
              <a:latin typeface="Calibri"/>
            </a:endParaRPr>
          </a:p>
        </p:txBody>
      </p:sp>
    </p:spTree>
    <p:extLst>
      <p:ext uri="{BB962C8B-B14F-4D97-AF65-F5344CB8AC3E}">
        <p14:creationId xmlns:p14="http://schemas.microsoft.com/office/powerpoint/2010/main" val="163759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1000"/>
                                        <p:tgtEl>
                                          <p:spTgt spid="1026"/>
                                        </p:tgtEl>
                                      </p:cBhvr>
                                    </p:animEffect>
                                    <p:anim calcmode="lin" valueType="num">
                                      <p:cBhvr>
                                        <p:cTn id="20" dur="1000" fill="hold"/>
                                        <p:tgtEl>
                                          <p:spTgt spid="1026"/>
                                        </p:tgtEl>
                                        <p:attrNameLst>
                                          <p:attrName>ppt_x</p:attrName>
                                        </p:attrNameLst>
                                      </p:cBhvr>
                                      <p:tavLst>
                                        <p:tav tm="0">
                                          <p:val>
                                            <p:strVal val="#ppt_x"/>
                                          </p:val>
                                        </p:tav>
                                        <p:tav tm="100000">
                                          <p:val>
                                            <p:strVal val="#ppt_x"/>
                                          </p:val>
                                        </p:tav>
                                      </p:tavLst>
                                    </p:anim>
                                    <p:anim calcmode="lin" valueType="num">
                                      <p:cBhvr>
                                        <p:cTn id="21"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2F5D4-BB09-A682-378C-98AC7EDEF2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8BB3335-BF05-D02B-DC9C-E64C4DB55D03}"/>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44B3C5AC-BE0B-1738-31D6-CE1994652733}"/>
              </a:ext>
            </a:extLst>
          </p:cNvPr>
          <p:cNvSpPr>
            <a:spLocks noGrp="1"/>
          </p:cNvSpPr>
          <p:nvPr>
            <p:ph type="sldNum" sz="quarter" idx="12"/>
          </p:nvPr>
        </p:nvSpPr>
        <p:spPr>
          <a:xfrm>
            <a:off x="203147" y="6374633"/>
            <a:ext cx="609441" cy="365030"/>
          </a:xfrm>
        </p:spPr>
        <p:txBody>
          <a:bodyPr/>
          <a:lstStyle/>
          <a:p>
            <a:pPr defTabSz="1218895"/>
            <a:fld id="{B6F15528-21DE-4FAA-801E-634DDDAF4B2B}" type="slidenum">
              <a:rPr lang="en-US">
                <a:solidFill>
                  <a:prstClr val="black">
                    <a:tint val="75000"/>
                  </a:prstClr>
                </a:solidFill>
                <a:latin typeface="Calibri"/>
              </a:rPr>
              <a:pPr defTabSz="1218895"/>
              <a:t>12</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1C904701-5D28-CDDE-8638-2ECBBCBE0A7D}"/>
              </a:ext>
            </a:extLst>
          </p:cNvPr>
          <p:cNvSpPr>
            <a:spLocks noGrp="1"/>
          </p:cNvSpPr>
          <p:nvPr>
            <p:ph type="title"/>
          </p:nvPr>
        </p:nvSpPr>
        <p:spPr>
          <a:xfrm>
            <a:off x="101573" y="178647"/>
            <a:ext cx="10969943" cy="711016"/>
          </a:xfrm>
        </p:spPr>
        <p:txBody>
          <a:bodyPr/>
          <a:lstStyle/>
          <a:p>
            <a:r>
              <a:rPr lang="en-IN" sz="3333" dirty="0"/>
              <a:t>SAP Build Offerings?</a:t>
            </a:r>
          </a:p>
        </p:txBody>
      </p:sp>
      <p:sp>
        <p:nvSpPr>
          <p:cNvPr id="7" name="Rectangle 6">
            <a:extLst>
              <a:ext uri="{FF2B5EF4-FFF2-40B4-BE49-F238E27FC236}">
                <a16:creationId xmlns:a16="http://schemas.microsoft.com/office/drawing/2014/main" id="{2D4645BB-3A2A-F65C-F16C-5940DC1FF1FE}"/>
              </a:ext>
            </a:extLst>
          </p:cNvPr>
          <p:cNvSpPr/>
          <p:nvPr/>
        </p:nvSpPr>
        <p:spPr>
          <a:xfrm>
            <a:off x="101573" y="1092809"/>
            <a:ext cx="3501205" cy="5484971"/>
          </a:xfrm>
          <a:prstGeom prst="rect">
            <a:avLst/>
          </a:prstGeom>
          <a:gradFill flip="none" rotWithShape="1">
            <a:gsLst>
              <a:gs pos="12000">
                <a:schemeClr val="accent1"/>
              </a:gs>
              <a:gs pos="100000">
                <a:schemeClr val="accent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8" name="Rectangle 7">
            <a:extLst>
              <a:ext uri="{FF2B5EF4-FFF2-40B4-BE49-F238E27FC236}">
                <a16:creationId xmlns:a16="http://schemas.microsoft.com/office/drawing/2014/main" id="{E148CD1E-E062-8D8D-4F27-3A1302208063}"/>
              </a:ext>
            </a:extLst>
          </p:cNvPr>
          <p:cNvSpPr/>
          <p:nvPr/>
        </p:nvSpPr>
        <p:spPr>
          <a:xfrm>
            <a:off x="4319957" y="1092809"/>
            <a:ext cx="3501205" cy="5484971"/>
          </a:xfrm>
          <a:prstGeom prst="rect">
            <a:avLst/>
          </a:prstGeom>
          <a:gradFill flip="none" rotWithShape="1">
            <a:gsLst>
              <a:gs pos="12000">
                <a:schemeClr val="accent3"/>
              </a:gs>
              <a:gs pos="100000">
                <a:schemeClr val="accent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9" name="Rectangle 8">
            <a:extLst>
              <a:ext uri="{FF2B5EF4-FFF2-40B4-BE49-F238E27FC236}">
                <a16:creationId xmlns:a16="http://schemas.microsoft.com/office/drawing/2014/main" id="{12B9D0C5-DC7A-6F07-2053-4020B337752C}"/>
              </a:ext>
            </a:extLst>
          </p:cNvPr>
          <p:cNvSpPr/>
          <p:nvPr/>
        </p:nvSpPr>
        <p:spPr>
          <a:xfrm>
            <a:off x="8538342" y="1092809"/>
            <a:ext cx="3501205" cy="5484971"/>
          </a:xfrm>
          <a:prstGeom prst="rect">
            <a:avLst/>
          </a:prstGeom>
          <a:gradFill flip="none" rotWithShape="1">
            <a:gsLst>
              <a:gs pos="12000">
                <a:schemeClr val="accent5"/>
              </a:gs>
              <a:gs pos="71000">
                <a:schemeClr val="accent6"/>
              </a:gs>
              <a:gs pos="100000">
                <a:schemeClr val="accent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grpSp>
        <p:nvGrpSpPr>
          <p:cNvPr id="10" name="Group 9">
            <a:extLst>
              <a:ext uri="{FF2B5EF4-FFF2-40B4-BE49-F238E27FC236}">
                <a16:creationId xmlns:a16="http://schemas.microsoft.com/office/drawing/2014/main" id="{C737550D-FF4D-9586-2DA4-4BAF4E2094D9}"/>
              </a:ext>
            </a:extLst>
          </p:cNvPr>
          <p:cNvGrpSpPr/>
          <p:nvPr/>
        </p:nvGrpSpPr>
        <p:grpSpPr>
          <a:xfrm>
            <a:off x="1466294" y="1092809"/>
            <a:ext cx="1188225" cy="1388010"/>
            <a:chOff x="7264401" y="465138"/>
            <a:chExt cx="781050" cy="1000125"/>
          </a:xfrm>
          <a:solidFill>
            <a:schemeClr val="bg1"/>
          </a:solidFill>
        </p:grpSpPr>
        <p:sp>
          <p:nvSpPr>
            <p:cNvPr id="11" name="Freeform 7">
              <a:extLst>
                <a:ext uri="{FF2B5EF4-FFF2-40B4-BE49-F238E27FC236}">
                  <a16:creationId xmlns:a16="http://schemas.microsoft.com/office/drawing/2014/main" id="{143E7C46-73F4-B4E0-2F4D-459A11BFCE33}"/>
                </a:ext>
              </a:extLst>
            </p:cNvPr>
            <p:cNvSpPr>
              <a:spLocks noEditPoints="1"/>
            </p:cNvSpPr>
            <p:nvPr/>
          </p:nvSpPr>
          <p:spPr bwMode="auto">
            <a:xfrm>
              <a:off x="7264401" y="465138"/>
              <a:ext cx="781050" cy="1000125"/>
            </a:xfrm>
            <a:custGeom>
              <a:avLst/>
              <a:gdLst>
                <a:gd name="T0" fmla="*/ 443 w 459"/>
                <a:gd name="T1" fmla="*/ 35 h 587"/>
                <a:gd name="T2" fmla="*/ 358 w 459"/>
                <a:gd name="T3" fmla="*/ 121 h 587"/>
                <a:gd name="T4" fmla="*/ 353 w 459"/>
                <a:gd name="T5" fmla="*/ 154 h 587"/>
                <a:gd name="T6" fmla="*/ 327 w 459"/>
                <a:gd name="T7" fmla="*/ 192 h 587"/>
                <a:gd name="T8" fmla="*/ 323 w 459"/>
                <a:gd name="T9" fmla="*/ 211 h 587"/>
                <a:gd name="T10" fmla="*/ 231 w 459"/>
                <a:gd name="T11" fmla="*/ 349 h 587"/>
                <a:gd name="T12" fmla="*/ 227 w 459"/>
                <a:gd name="T13" fmla="*/ 340 h 587"/>
                <a:gd name="T14" fmla="*/ 249 w 459"/>
                <a:gd name="T15" fmla="*/ 291 h 587"/>
                <a:gd name="T16" fmla="*/ 250 w 459"/>
                <a:gd name="T17" fmla="*/ 291 h 587"/>
                <a:gd name="T18" fmla="*/ 280 w 459"/>
                <a:gd name="T19" fmla="*/ 247 h 587"/>
                <a:gd name="T20" fmla="*/ 239 w 459"/>
                <a:gd name="T21" fmla="*/ 191 h 587"/>
                <a:gd name="T22" fmla="*/ 2 w 459"/>
                <a:gd name="T23" fmla="*/ 371 h 587"/>
                <a:gd name="T24" fmla="*/ 350 w 459"/>
                <a:gd name="T25" fmla="*/ 284 h 587"/>
                <a:gd name="T26" fmla="*/ 334 w 459"/>
                <a:gd name="T27" fmla="*/ 248 h 587"/>
                <a:gd name="T28" fmla="*/ 348 w 459"/>
                <a:gd name="T29" fmla="*/ 229 h 587"/>
                <a:gd name="T30" fmla="*/ 365 w 459"/>
                <a:gd name="T31" fmla="*/ 219 h 587"/>
                <a:gd name="T32" fmla="*/ 392 w 459"/>
                <a:gd name="T33" fmla="*/ 181 h 587"/>
                <a:gd name="T34" fmla="*/ 421 w 459"/>
                <a:gd name="T35" fmla="*/ 165 h 587"/>
                <a:gd name="T36" fmla="*/ 443 w 459"/>
                <a:gd name="T37" fmla="*/ 35 h 587"/>
                <a:gd name="T38" fmla="*/ 81 w 459"/>
                <a:gd name="T39" fmla="*/ 404 h 587"/>
                <a:gd name="T40" fmla="*/ 52 w 459"/>
                <a:gd name="T41" fmla="*/ 392 h 587"/>
                <a:gd name="T42" fmla="*/ 63 w 459"/>
                <a:gd name="T43" fmla="*/ 363 h 587"/>
                <a:gd name="T44" fmla="*/ 93 w 459"/>
                <a:gd name="T45" fmla="*/ 374 h 587"/>
                <a:gd name="T46" fmla="*/ 81 w 459"/>
                <a:gd name="T47" fmla="*/ 404 h 587"/>
                <a:gd name="T48" fmla="*/ 103 w 459"/>
                <a:gd name="T49" fmla="*/ 313 h 587"/>
                <a:gd name="T50" fmla="*/ 68 w 459"/>
                <a:gd name="T51" fmla="*/ 300 h 587"/>
                <a:gd name="T52" fmla="*/ 82 w 459"/>
                <a:gd name="T53" fmla="*/ 265 h 587"/>
                <a:gd name="T54" fmla="*/ 116 w 459"/>
                <a:gd name="T55" fmla="*/ 278 h 587"/>
                <a:gd name="T56" fmla="*/ 103 w 459"/>
                <a:gd name="T57" fmla="*/ 313 h 587"/>
                <a:gd name="T58" fmla="*/ 168 w 459"/>
                <a:gd name="T59" fmla="*/ 237 h 587"/>
                <a:gd name="T60" fmla="*/ 127 w 459"/>
                <a:gd name="T61" fmla="*/ 222 h 587"/>
                <a:gd name="T62" fmla="*/ 142 w 459"/>
                <a:gd name="T63" fmla="*/ 181 h 587"/>
                <a:gd name="T64" fmla="*/ 183 w 459"/>
                <a:gd name="T65" fmla="*/ 196 h 587"/>
                <a:gd name="T66" fmla="*/ 168 w 459"/>
                <a:gd name="T67" fmla="*/ 237 h 587"/>
                <a:gd name="T68" fmla="*/ 276 w 459"/>
                <a:gd name="T69" fmla="*/ 363 h 587"/>
                <a:gd name="T70" fmla="*/ 250 w 459"/>
                <a:gd name="T71" fmla="*/ 363 h 587"/>
                <a:gd name="T72" fmla="*/ 293 w 459"/>
                <a:gd name="T73" fmla="*/ 304 h 587"/>
                <a:gd name="T74" fmla="*/ 298 w 459"/>
                <a:gd name="T75" fmla="*/ 313 h 587"/>
                <a:gd name="T76" fmla="*/ 276 w 459"/>
                <a:gd name="T77" fmla="*/ 363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59" h="587">
                  <a:moveTo>
                    <a:pt x="443" y="35"/>
                  </a:moveTo>
                  <a:cubicBezTo>
                    <a:pt x="424" y="77"/>
                    <a:pt x="371" y="103"/>
                    <a:pt x="358" y="121"/>
                  </a:cubicBezTo>
                  <a:cubicBezTo>
                    <a:pt x="351" y="131"/>
                    <a:pt x="350" y="143"/>
                    <a:pt x="353" y="154"/>
                  </a:cubicBezTo>
                  <a:cubicBezTo>
                    <a:pt x="327" y="192"/>
                    <a:pt x="327" y="192"/>
                    <a:pt x="327" y="192"/>
                  </a:cubicBezTo>
                  <a:cubicBezTo>
                    <a:pt x="323" y="198"/>
                    <a:pt x="322" y="205"/>
                    <a:pt x="323" y="211"/>
                  </a:cubicBezTo>
                  <a:cubicBezTo>
                    <a:pt x="231" y="349"/>
                    <a:pt x="231" y="349"/>
                    <a:pt x="231" y="349"/>
                  </a:cubicBezTo>
                  <a:cubicBezTo>
                    <a:pt x="230" y="346"/>
                    <a:pt x="228" y="343"/>
                    <a:pt x="227" y="340"/>
                  </a:cubicBezTo>
                  <a:cubicBezTo>
                    <a:pt x="220" y="321"/>
                    <a:pt x="229" y="299"/>
                    <a:pt x="249" y="291"/>
                  </a:cubicBezTo>
                  <a:cubicBezTo>
                    <a:pt x="250" y="291"/>
                    <a:pt x="250" y="291"/>
                    <a:pt x="250" y="291"/>
                  </a:cubicBezTo>
                  <a:cubicBezTo>
                    <a:pt x="280" y="247"/>
                    <a:pt x="280" y="247"/>
                    <a:pt x="280" y="247"/>
                  </a:cubicBezTo>
                  <a:cubicBezTo>
                    <a:pt x="252" y="251"/>
                    <a:pt x="229" y="249"/>
                    <a:pt x="239" y="191"/>
                  </a:cubicBezTo>
                  <a:cubicBezTo>
                    <a:pt x="274" y="0"/>
                    <a:pt x="0" y="160"/>
                    <a:pt x="2" y="371"/>
                  </a:cubicBezTo>
                  <a:cubicBezTo>
                    <a:pt x="5" y="587"/>
                    <a:pt x="357" y="439"/>
                    <a:pt x="350" y="284"/>
                  </a:cubicBezTo>
                  <a:cubicBezTo>
                    <a:pt x="349" y="264"/>
                    <a:pt x="343" y="253"/>
                    <a:pt x="334" y="248"/>
                  </a:cubicBezTo>
                  <a:cubicBezTo>
                    <a:pt x="348" y="229"/>
                    <a:pt x="348" y="229"/>
                    <a:pt x="348" y="229"/>
                  </a:cubicBezTo>
                  <a:cubicBezTo>
                    <a:pt x="355" y="228"/>
                    <a:pt x="361" y="225"/>
                    <a:pt x="365" y="219"/>
                  </a:cubicBezTo>
                  <a:cubicBezTo>
                    <a:pt x="392" y="181"/>
                    <a:pt x="392" y="181"/>
                    <a:pt x="392" y="181"/>
                  </a:cubicBezTo>
                  <a:cubicBezTo>
                    <a:pt x="403" y="181"/>
                    <a:pt x="414" y="175"/>
                    <a:pt x="421" y="165"/>
                  </a:cubicBezTo>
                  <a:cubicBezTo>
                    <a:pt x="453" y="120"/>
                    <a:pt x="459" y="64"/>
                    <a:pt x="443" y="35"/>
                  </a:cubicBezTo>
                  <a:close/>
                  <a:moveTo>
                    <a:pt x="81" y="404"/>
                  </a:moveTo>
                  <a:cubicBezTo>
                    <a:pt x="70" y="409"/>
                    <a:pt x="57" y="404"/>
                    <a:pt x="52" y="392"/>
                  </a:cubicBezTo>
                  <a:cubicBezTo>
                    <a:pt x="47" y="381"/>
                    <a:pt x="52" y="368"/>
                    <a:pt x="63" y="363"/>
                  </a:cubicBezTo>
                  <a:cubicBezTo>
                    <a:pt x="74" y="358"/>
                    <a:pt x="87" y="363"/>
                    <a:pt x="93" y="374"/>
                  </a:cubicBezTo>
                  <a:cubicBezTo>
                    <a:pt x="98" y="385"/>
                    <a:pt x="93" y="398"/>
                    <a:pt x="81" y="404"/>
                  </a:cubicBezTo>
                  <a:close/>
                  <a:moveTo>
                    <a:pt x="103" y="313"/>
                  </a:moveTo>
                  <a:cubicBezTo>
                    <a:pt x="90" y="319"/>
                    <a:pt x="74" y="313"/>
                    <a:pt x="68" y="300"/>
                  </a:cubicBezTo>
                  <a:cubicBezTo>
                    <a:pt x="62" y="287"/>
                    <a:pt x="68" y="271"/>
                    <a:pt x="82" y="265"/>
                  </a:cubicBezTo>
                  <a:cubicBezTo>
                    <a:pt x="95" y="259"/>
                    <a:pt x="110" y="265"/>
                    <a:pt x="116" y="278"/>
                  </a:cubicBezTo>
                  <a:cubicBezTo>
                    <a:pt x="122" y="292"/>
                    <a:pt x="117" y="307"/>
                    <a:pt x="103" y="313"/>
                  </a:cubicBezTo>
                  <a:close/>
                  <a:moveTo>
                    <a:pt x="168" y="237"/>
                  </a:moveTo>
                  <a:cubicBezTo>
                    <a:pt x="152" y="244"/>
                    <a:pt x="134" y="237"/>
                    <a:pt x="127" y="222"/>
                  </a:cubicBezTo>
                  <a:cubicBezTo>
                    <a:pt x="120" y="206"/>
                    <a:pt x="127" y="188"/>
                    <a:pt x="142" y="181"/>
                  </a:cubicBezTo>
                  <a:cubicBezTo>
                    <a:pt x="158" y="173"/>
                    <a:pt x="176" y="180"/>
                    <a:pt x="183" y="196"/>
                  </a:cubicBezTo>
                  <a:cubicBezTo>
                    <a:pt x="191" y="212"/>
                    <a:pt x="184" y="230"/>
                    <a:pt x="168" y="237"/>
                  </a:cubicBezTo>
                  <a:close/>
                  <a:moveTo>
                    <a:pt x="276" y="363"/>
                  </a:moveTo>
                  <a:cubicBezTo>
                    <a:pt x="267" y="366"/>
                    <a:pt x="258" y="366"/>
                    <a:pt x="250" y="363"/>
                  </a:cubicBezTo>
                  <a:cubicBezTo>
                    <a:pt x="293" y="304"/>
                    <a:pt x="293" y="304"/>
                    <a:pt x="293" y="304"/>
                  </a:cubicBezTo>
                  <a:cubicBezTo>
                    <a:pt x="295" y="307"/>
                    <a:pt x="297" y="310"/>
                    <a:pt x="298" y="313"/>
                  </a:cubicBezTo>
                  <a:cubicBezTo>
                    <a:pt x="306" y="333"/>
                    <a:pt x="296" y="355"/>
                    <a:pt x="276" y="363"/>
                  </a:cubicBezTo>
                  <a:close/>
                </a:path>
              </a:pathLst>
            </a:custGeom>
            <a:grp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sp>
          <p:nvSpPr>
            <p:cNvPr id="12" name="Freeform 8">
              <a:extLst>
                <a:ext uri="{FF2B5EF4-FFF2-40B4-BE49-F238E27FC236}">
                  <a16:creationId xmlns:a16="http://schemas.microsoft.com/office/drawing/2014/main" id="{EABD1C5C-4B3F-3B25-B4CA-CD20ED06A4E1}"/>
                </a:ext>
              </a:extLst>
            </p:cNvPr>
            <p:cNvSpPr>
              <a:spLocks/>
            </p:cNvSpPr>
            <p:nvPr/>
          </p:nvSpPr>
          <p:spPr bwMode="auto">
            <a:xfrm>
              <a:off x="7453313" y="1290638"/>
              <a:ext cx="82550" cy="90488"/>
            </a:xfrm>
            <a:custGeom>
              <a:avLst/>
              <a:gdLst>
                <a:gd name="T0" fmla="*/ 2 w 49"/>
                <a:gd name="T1" fmla="*/ 41 h 53"/>
                <a:gd name="T2" fmla="*/ 4 w 49"/>
                <a:gd name="T3" fmla="*/ 51 h 53"/>
                <a:gd name="T4" fmla="*/ 14 w 49"/>
                <a:gd name="T5" fmla="*/ 49 h 53"/>
                <a:gd name="T6" fmla="*/ 49 w 49"/>
                <a:gd name="T7" fmla="*/ 0 h 53"/>
                <a:gd name="T8" fmla="*/ 26 w 49"/>
                <a:gd name="T9" fmla="*/ 5 h 53"/>
                <a:gd name="T10" fmla="*/ 2 w 49"/>
                <a:gd name="T11" fmla="*/ 41 h 53"/>
              </a:gdLst>
              <a:ahLst/>
              <a:cxnLst>
                <a:cxn ang="0">
                  <a:pos x="T0" y="T1"/>
                </a:cxn>
                <a:cxn ang="0">
                  <a:pos x="T2" y="T3"/>
                </a:cxn>
                <a:cxn ang="0">
                  <a:pos x="T4" y="T5"/>
                </a:cxn>
                <a:cxn ang="0">
                  <a:pos x="T6" y="T7"/>
                </a:cxn>
                <a:cxn ang="0">
                  <a:pos x="T8" y="T9"/>
                </a:cxn>
                <a:cxn ang="0">
                  <a:pos x="T10" y="T11"/>
                </a:cxn>
              </a:cxnLst>
              <a:rect l="0" t="0" r="r" b="b"/>
              <a:pathLst>
                <a:path w="49" h="53">
                  <a:moveTo>
                    <a:pt x="2" y="41"/>
                  </a:moveTo>
                  <a:cubicBezTo>
                    <a:pt x="0" y="44"/>
                    <a:pt x="0" y="48"/>
                    <a:pt x="4" y="51"/>
                  </a:cubicBezTo>
                  <a:cubicBezTo>
                    <a:pt x="7" y="53"/>
                    <a:pt x="11" y="52"/>
                    <a:pt x="14" y="49"/>
                  </a:cubicBezTo>
                  <a:cubicBezTo>
                    <a:pt x="49" y="0"/>
                    <a:pt x="49" y="0"/>
                    <a:pt x="49" y="0"/>
                  </a:cubicBezTo>
                  <a:cubicBezTo>
                    <a:pt x="41" y="2"/>
                    <a:pt x="34" y="4"/>
                    <a:pt x="26" y="5"/>
                  </a:cubicBezTo>
                  <a:lnTo>
                    <a:pt x="2" y="41"/>
                  </a:lnTo>
                  <a:close/>
                </a:path>
              </a:pathLst>
            </a:custGeom>
            <a:grp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grpSp>
      <p:sp>
        <p:nvSpPr>
          <p:cNvPr id="13" name="Freeform 28">
            <a:extLst>
              <a:ext uri="{FF2B5EF4-FFF2-40B4-BE49-F238E27FC236}">
                <a16:creationId xmlns:a16="http://schemas.microsoft.com/office/drawing/2014/main" id="{9AEAAEE0-90FC-6E33-9D60-CDB34D776D2F}"/>
              </a:ext>
            </a:extLst>
          </p:cNvPr>
          <p:cNvSpPr>
            <a:spLocks noEditPoints="1"/>
          </p:cNvSpPr>
          <p:nvPr/>
        </p:nvSpPr>
        <p:spPr bwMode="auto">
          <a:xfrm>
            <a:off x="5489432" y="1092809"/>
            <a:ext cx="1209961" cy="1059736"/>
          </a:xfrm>
          <a:custGeom>
            <a:avLst/>
            <a:gdLst>
              <a:gd name="T0" fmla="*/ 458 w 467"/>
              <a:gd name="T1" fmla="*/ 449 h 449"/>
              <a:gd name="T2" fmla="*/ 298 w 467"/>
              <a:gd name="T3" fmla="*/ 381 h 449"/>
              <a:gd name="T4" fmla="*/ 286 w 467"/>
              <a:gd name="T5" fmla="*/ 343 h 449"/>
              <a:gd name="T6" fmla="*/ 245 w 467"/>
              <a:gd name="T7" fmla="*/ 302 h 449"/>
              <a:gd name="T8" fmla="*/ 289 w 467"/>
              <a:gd name="T9" fmla="*/ 259 h 449"/>
              <a:gd name="T10" fmla="*/ 330 w 467"/>
              <a:gd name="T11" fmla="*/ 300 h 449"/>
              <a:gd name="T12" fmla="*/ 367 w 467"/>
              <a:gd name="T13" fmla="*/ 311 h 449"/>
              <a:gd name="T14" fmla="*/ 458 w 467"/>
              <a:gd name="T15" fmla="*/ 449 h 449"/>
              <a:gd name="T16" fmla="*/ 430 w 467"/>
              <a:gd name="T17" fmla="*/ 98 h 449"/>
              <a:gd name="T18" fmla="*/ 116 w 467"/>
              <a:gd name="T19" fmla="*/ 411 h 449"/>
              <a:gd name="T20" fmla="*/ 52 w 467"/>
              <a:gd name="T21" fmla="*/ 435 h 449"/>
              <a:gd name="T22" fmla="*/ 32 w 467"/>
              <a:gd name="T23" fmla="*/ 415 h 449"/>
              <a:gd name="T24" fmla="*/ 56 w 467"/>
              <a:gd name="T25" fmla="*/ 351 h 449"/>
              <a:gd name="T26" fmla="*/ 176 w 467"/>
              <a:gd name="T27" fmla="*/ 231 h 449"/>
              <a:gd name="T28" fmla="*/ 15 w 467"/>
              <a:gd name="T29" fmla="*/ 28 h 449"/>
              <a:gd name="T30" fmla="*/ 218 w 467"/>
              <a:gd name="T31" fmla="*/ 189 h 449"/>
              <a:gd name="T32" fmla="*/ 323 w 467"/>
              <a:gd name="T33" fmla="*/ 84 h 449"/>
              <a:gd name="T34" fmla="*/ 324 w 467"/>
              <a:gd name="T35" fmla="*/ 84 h 449"/>
              <a:gd name="T36" fmla="*/ 359 w 467"/>
              <a:gd name="T37" fmla="*/ 109 h 449"/>
              <a:gd name="T38" fmla="*/ 384 w 467"/>
              <a:gd name="T39" fmla="*/ 83 h 449"/>
              <a:gd name="T40" fmla="*/ 350 w 467"/>
              <a:gd name="T41" fmla="*/ 57 h 449"/>
              <a:gd name="T42" fmla="*/ 369 w 467"/>
              <a:gd name="T43" fmla="*/ 37 h 449"/>
              <a:gd name="T44" fmla="*/ 430 w 467"/>
              <a:gd name="T45" fmla="*/ 98 h 449"/>
              <a:gd name="T46" fmla="*/ 92 w 467"/>
              <a:gd name="T47" fmla="*/ 375 h 449"/>
              <a:gd name="T48" fmla="*/ 64 w 467"/>
              <a:gd name="T49" fmla="*/ 358 h 449"/>
              <a:gd name="T50" fmla="*/ 46 w 467"/>
              <a:gd name="T51" fmla="*/ 406 h 449"/>
              <a:gd name="T52" fmla="*/ 55 w 467"/>
              <a:gd name="T53" fmla="*/ 412 h 449"/>
              <a:gd name="T54" fmla="*/ 92 w 467"/>
              <a:gd name="T55" fmla="*/ 375 h 449"/>
              <a:gd name="T56" fmla="*/ 320 w 467"/>
              <a:gd name="T57" fmla="*/ 123 h 449"/>
              <a:gd name="T58" fmla="*/ 306 w 467"/>
              <a:gd name="T59" fmla="*/ 123 h 449"/>
              <a:gd name="T60" fmla="*/ 277 w 467"/>
              <a:gd name="T61" fmla="*/ 153 h 449"/>
              <a:gd name="T62" fmla="*/ 277 w 467"/>
              <a:gd name="T63" fmla="*/ 166 h 449"/>
              <a:gd name="T64" fmla="*/ 284 w 467"/>
              <a:gd name="T65" fmla="*/ 168 h 449"/>
              <a:gd name="T66" fmla="*/ 290 w 467"/>
              <a:gd name="T67" fmla="*/ 166 h 449"/>
              <a:gd name="T68" fmla="*/ 320 w 467"/>
              <a:gd name="T69" fmla="*/ 136 h 449"/>
              <a:gd name="T70" fmla="*/ 320 w 467"/>
              <a:gd name="T71" fmla="*/ 123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7" h="449">
                <a:moveTo>
                  <a:pt x="458" y="449"/>
                </a:moveTo>
                <a:cubicBezTo>
                  <a:pt x="363" y="437"/>
                  <a:pt x="317" y="400"/>
                  <a:pt x="298" y="381"/>
                </a:cubicBezTo>
                <a:cubicBezTo>
                  <a:pt x="288" y="370"/>
                  <a:pt x="284" y="356"/>
                  <a:pt x="286" y="343"/>
                </a:cubicBezTo>
                <a:cubicBezTo>
                  <a:pt x="272" y="329"/>
                  <a:pt x="259" y="316"/>
                  <a:pt x="245" y="302"/>
                </a:cubicBezTo>
                <a:cubicBezTo>
                  <a:pt x="289" y="259"/>
                  <a:pt x="289" y="259"/>
                  <a:pt x="289" y="259"/>
                </a:cubicBezTo>
                <a:cubicBezTo>
                  <a:pt x="302" y="272"/>
                  <a:pt x="316" y="286"/>
                  <a:pt x="330" y="300"/>
                </a:cubicBezTo>
                <a:cubicBezTo>
                  <a:pt x="343" y="298"/>
                  <a:pt x="357" y="301"/>
                  <a:pt x="367" y="311"/>
                </a:cubicBezTo>
                <a:cubicBezTo>
                  <a:pt x="386" y="330"/>
                  <a:pt x="419" y="409"/>
                  <a:pt x="458" y="449"/>
                </a:cubicBezTo>
                <a:close/>
                <a:moveTo>
                  <a:pt x="430" y="98"/>
                </a:moveTo>
                <a:cubicBezTo>
                  <a:pt x="116" y="411"/>
                  <a:pt x="116" y="411"/>
                  <a:pt x="116" y="411"/>
                </a:cubicBezTo>
                <a:cubicBezTo>
                  <a:pt x="52" y="435"/>
                  <a:pt x="52" y="435"/>
                  <a:pt x="52" y="435"/>
                </a:cubicBezTo>
                <a:cubicBezTo>
                  <a:pt x="31" y="442"/>
                  <a:pt x="25" y="436"/>
                  <a:pt x="32" y="415"/>
                </a:cubicBezTo>
                <a:cubicBezTo>
                  <a:pt x="56" y="351"/>
                  <a:pt x="56" y="351"/>
                  <a:pt x="56" y="351"/>
                </a:cubicBezTo>
                <a:cubicBezTo>
                  <a:pt x="176" y="231"/>
                  <a:pt x="176" y="231"/>
                  <a:pt x="176" y="231"/>
                </a:cubicBezTo>
                <a:cubicBezTo>
                  <a:pt x="75" y="127"/>
                  <a:pt x="0" y="43"/>
                  <a:pt x="15" y="28"/>
                </a:cubicBezTo>
                <a:cubicBezTo>
                  <a:pt x="30" y="13"/>
                  <a:pt x="114" y="88"/>
                  <a:pt x="218" y="189"/>
                </a:cubicBezTo>
                <a:cubicBezTo>
                  <a:pt x="323" y="84"/>
                  <a:pt x="323" y="84"/>
                  <a:pt x="323" y="84"/>
                </a:cubicBezTo>
                <a:cubicBezTo>
                  <a:pt x="323" y="84"/>
                  <a:pt x="323" y="84"/>
                  <a:pt x="324" y="84"/>
                </a:cubicBezTo>
                <a:cubicBezTo>
                  <a:pt x="331" y="85"/>
                  <a:pt x="345" y="96"/>
                  <a:pt x="359" y="109"/>
                </a:cubicBezTo>
                <a:cubicBezTo>
                  <a:pt x="384" y="83"/>
                  <a:pt x="384" y="83"/>
                  <a:pt x="384" y="83"/>
                </a:cubicBezTo>
                <a:cubicBezTo>
                  <a:pt x="373" y="73"/>
                  <a:pt x="361" y="63"/>
                  <a:pt x="350" y="57"/>
                </a:cubicBezTo>
                <a:cubicBezTo>
                  <a:pt x="369" y="37"/>
                  <a:pt x="369" y="37"/>
                  <a:pt x="369" y="37"/>
                </a:cubicBezTo>
                <a:cubicBezTo>
                  <a:pt x="407" y="0"/>
                  <a:pt x="467" y="60"/>
                  <a:pt x="430" y="98"/>
                </a:cubicBezTo>
                <a:close/>
                <a:moveTo>
                  <a:pt x="92" y="375"/>
                </a:moveTo>
                <a:cubicBezTo>
                  <a:pt x="80" y="362"/>
                  <a:pt x="64" y="358"/>
                  <a:pt x="64" y="358"/>
                </a:cubicBezTo>
                <a:cubicBezTo>
                  <a:pt x="46" y="406"/>
                  <a:pt x="46" y="406"/>
                  <a:pt x="46" y="406"/>
                </a:cubicBezTo>
                <a:cubicBezTo>
                  <a:pt x="50" y="407"/>
                  <a:pt x="53" y="409"/>
                  <a:pt x="55" y="412"/>
                </a:cubicBezTo>
                <a:lnTo>
                  <a:pt x="92" y="375"/>
                </a:lnTo>
                <a:close/>
                <a:moveTo>
                  <a:pt x="320" y="123"/>
                </a:moveTo>
                <a:cubicBezTo>
                  <a:pt x="316" y="119"/>
                  <a:pt x="310" y="119"/>
                  <a:pt x="306" y="123"/>
                </a:cubicBezTo>
                <a:cubicBezTo>
                  <a:pt x="277" y="153"/>
                  <a:pt x="277" y="153"/>
                  <a:pt x="277" y="153"/>
                </a:cubicBezTo>
                <a:cubicBezTo>
                  <a:pt x="273" y="156"/>
                  <a:pt x="273" y="162"/>
                  <a:pt x="277" y="166"/>
                </a:cubicBezTo>
                <a:cubicBezTo>
                  <a:pt x="279" y="167"/>
                  <a:pt x="281" y="168"/>
                  <a:pt x="284" y="168"/>
                </a:cubicBezTo>
                <a:cubicBezTo>
                  <a:pt x="286" y="168"/>
                  <a:pt x="288" y="167"/>
                  <a:pt x="290" y="166"/>
                </a:cubicBezTo>
                <a:cubicBezTo>
                  <a:pt x="320" y="136"/>
                  <a:pt x="320" y="136"/>
                  <a:pt x="320" y="136"/>
                </a:cubicBezTo>
                <a:cubicBezTo>
                  <a:pt x="323" y="133"/>
                  <a:pt x="323" y="127"/>
                  <a:pt x="320" y="123"/>
                </a:cubicBezTo>
                <a:close/>
              </a:path>
            </a:pathLst>
          </a:custGeom>
          <a:solidFill>
            <a:schemeClr val="bg1"/>
          </a:solid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grpSp>
        <p:nvGrpSpPr>
          <p:cNvPr id="14" name="Group 13">
            <a:extLst>
              <a:ext uri="{FF2B5EF4-FFF2-40B4-BE49-F238E27FC236}">
                <a16:creationId xmlns:a16="http://schemas.microsoft.com/office/drawing/2014/main" id="{5C1616E8-F884-C628-D96F-431BF7E320E3}"/>
              </a:ext>
            </a:extLst>
          </p:cNvPr>
          <p:cNvGrpSpPr/>
          <p:nvPr/>
        </p:nvGrpSpPr>
        <p:grpSpPr>
          <a:xfrm>
            <a:off x="9712366" y="1257338"/>
            <a:ext cx="1118689" cy="730675"/>
            <a:chOff x="3210927" y="3806552"/>
            <a:chExt cx="665197" cy="476261"/>
          </a:xfrm>
          <a:solidFill>
            <a:schemeClr val="bg1"/>
          </a:solidFill>
        </p:grpSpPr>
        <p:sp>
          <p:nvSpPr>
            <p:cNvPr id="15" name="Freeform 98">
              <a:extLst>
                <a:ext uri="{FF2B5EF4-FFF2-40B4-BE49-F238E27FC236}">
                  <a16:creationId xmlns:a16="http://schemas.microsoft.com/office/drawing/2014/main" id="{4C107B8D-772F-DD86-7BEE-D8D318DD1950}"/>
                </a:ext>
              </a:extLst>
            </p:cNvPr>
            <p:cNvSpPr/>
            <p:nvPr/>
          </p:nvSpPr>
          <p:spPr>
            <a:xfrm rot="16200000">
              <a:off x="3210927" y="3806552"/>
              <a:ext cx="476261" cy="476261"/>
            </a:xfrm>
            <a:custGeom>
              <a:avLst/>
              <a:gdLst>
                <a:gd name="connsiteX0" fmla="*/ 1174858 w 1550100"/>
                <a:gd name="connsiteY0" fmla="*/ 1208506 h 1550100"/>
                <a:gd name="connsiteX1" fmla="*/ 1174857 w 1550100"/>
                <a:gd name="connsiteY1" fmla="*/ 1372601 h 1550100"/>
                <a:gd name="connsiteX2" fmla="*/ 1126951 w 1550100"/>
                <a:gd name="connsiteY2" fmla="*/ 1420507 h 1550100"/>
                <a:gd name="connsiteX3" fmla="*/ 1126952 w 1550100"/>
                <a:gd name="connsiteY3" fmla="*/ 1420506 h 1550100"/>
                <a:gd name="connsiteX4" fmla="*/ 1079046 w 1550100"/>
                <a:gd name="connsiteY4" fmla="*/ 1372600 h 1550100"/>
                <a:gd name="connsiteX5" fmla="*/ 1079046 w 1550100"/>
                <a:gd name="connsiteY5" fmla="*/ 1208506 h 1550100"/>
                <a:gd name="connsiteX6" fmla="*/ 1126952 w 1550100"/>
                <a:gd name="connsiteY6" fmla="*/ 1160600 h 1550100"/>
                <a:gd name="connsiteX7" fmla="*/ 1174858 w 1550100"/>
                <a:gd name="connsiteY7" fmla="*/ 1208506 h 1550100"/>
                <a:gd name="connsiteX8" fmla="*/ 1174858 w 1550100"/>
                <a:gd name="connsiteY8" fmla="*/ 864839 h 1550100"/>
                <a:gd name="connsiteX9" fmla="*/ 1174857 w 1550100"/>
                <a:gd name="connsiteY9" fmla="*/ 1028934 h 1550100"/>
                <a:gd name="connsiteX10" fmla="*/ 1126951 w 1550100"/>
                <a:gd name="connsiteY10" fmla="*/ 1076840 h 1550100"/>
                <a:gd name="connsiteX11" fmla="*/ 1126952 w 1550100"/>
                <a:gd name="connsiteY11" fmla="*/ 1076839 h 1550100"/>
                <a:gd name="connsiteX12" fmla="*/ 1079046 w 1550100"/>
                <a:gd name="connsiteY12" fmla="*/ 1028933 h 1550100"/>
                <a:gd name="connsiteX13" fmla="*/ 1079046 w 1550100"/>
                <a:gd name="connsiteY13" fmla="*/ 864839 h 1550100"/>
                <a:gd name="connsiteX14" fmla="*/ 1126952 w 1550100"/>
                <a:gd name="connsiteY14" fmla="*/ 816933 h 1550100"/>
                <a:gd name="connsiteX15" fmla="*/ 1174858 w 1550100"/>
                <a:gd name="connsiteY15" fmla="*/ 864839 h 1550100"/>
                <a:gd name="connsiteX16" fmla="*/ 1174858 w 1550100"/>
                <a:gd name="connsiteY16" fmla="*/ 521171 h 1550100"/>
                <a:gd name="connsiteX17" fmla="*/ 1174857 w 1550100"/>
                <a:gd name="connsiteY17" fmla="*/ 685266 h 1550100"/>
                <a:gd name="connsiteX18" fmla="*/ 1126951 w 1550100"/>
                <a:gd name="connsiteY18" fmla="*/ 733172 h 1550100"/>
                <a:gd name="connsiteX19" fmla="*/ 1126952 w 1550100"/>
                <a:gd name="connsiteY19" fmla="*/ 733171 h 1550100"/>
                <a:gd name="connsiteX20" fmla="*/ 1079046 w 1550100"/>
                <a:gd name="connsiteY20" fmla="*/ 685265 h 1550100"/>
                <a:gd name="connsiteX21" fmla="*/ 1079046 w 1550100"/>
                <a:gd name="connsiteY21" fmla="*/ 521171 h 1550100"/>
                <a:gd name="connsiteX22" fmla="*/ 1126952 w 1550100"/>
                <a:gd name="connsiteY22" fmla="*/ 473265 h 1550100"/>
                <a:gd name="connsiteX23" fmla="*/ 1174858 w 1550100"/>
                <a:gd name="connsiteY23" fmla="*/ 521171 h 1550100"/>
                <a:gd name="connsiteX24" fmla="*/ 1174858 w 1550100"/>
                <a:gd name="connsiteY24" fmla="*/ 177502 h 1550100"/>
                <a:gd name="connsiteX25" fmla="*/ 1174857 w 1550100"/>
                <a:gd name="connsiteY25" fmla="*/ 341597 h 1550100"/>
                <a:gd name="connsiteX26" fmla="*/ 1126951 w 1550100"/>
                <a:gd name="connsiteY26" fmla="*/ 389503 h 1550100"/>
                <a:gd name="connsiteX27" fmla="*/ 1126952 w 1550100"/>
                <a:gd name="connsiteY27" fmla="*/ 389502 h 1550100"/>
                <a:gd name="connsiteX28" fmla="*/ 1079046 w 1550100"/>
                <a:gd name="connsiteY28" fmla="*/ 341596 h 1550100"/>
                <a:gd name="connsiteX29" fmla="*/ 1079046 w 1550100"/>
                <a:gd name="connsiteY29" fmla="*/ 177502 h 1550100"/>
                <a:gd name="connsiteX30" fmla="*/ 1126952 w 1550100"/>
                <a:gd name="connsiteY30" fmla="*/ 129596 h 1550100"/>
                <a:gd name="connsiteX31" fmla="*/ 1174858 w 1550100"/>
                <a:gd name="connsiteY31" fmla="*/ 177502 h 1550100"/>
                <a:gd name="connsiteX32" fmla="*/ 1260406 w 1550100"/>
                <a:gd name="connsiteY32" fmla="*/ 61323 h 1550100"/>
                <a:gd name="connsiteX33" fmla="*/ 61322 w 1550100"/>
                <a:gd name="connsiteY33" fmla="*/ 61323 h 1550100"/>
                <a:gd name="connsiteX34" fmla="*/ 61322 w 1550100"/>
                <a:gd name="connsiteY34" fmla="*/ 1488778 h 1550100"/>
                <a:gd name="connsiteX35" fmla="*/ 1260406 w 1550100"/>
                <a:gd name="connsiteY35" fmla="*/ 1488778 h 1550100"/>
                <a:gd name="connsiteX36" fmla="*/ 1440400 w 1550100"/>
                <a:gd name="connsiteY36" fmla="*/ 109229 h 1550100"/>
                <a:gd name="connsiteX37" fmla="*/ 1392494 w 1550100"/>
                <a:gd name="connsiteY37" fmla="*/ 61323 h 1550100"/>
                <a:gd name="connsiteX38" fmla="*/ 1344588 w 1550100"/>
                <a:gd name="connsiteY38" fmla="*/ 109229 h 1550100"/>
                <a:gd name="connsiteX39" fmla="*/ 1344588 w 1550100"/>
                <a:gd name="connsiteY39" fmla="*/ 472029 h 1550100"/>
                <a:gd name="connsiteX40" fmla="*/ 1392494 w 1550100"/>
                <a:gd name="connsiteY40" fmla="*/ 519935 h 1550100"/>
                <a:gd name="connsiteX41" fmla="*/ 1392493 w 1550100"/>
                <a:gd name="connsiteY41" fmla="*/ 519936 h 1550100"/>
                <a:gd name="connsiteX42" fmla="*/ 1440399 w 1550100"/>
                <a:gd name="connsiteY42" fmla="*/ 472030 h 1550100"/>
                <a:gd name="connsiteX43" fmla="*/ 1440400 w 1550100"/>
                <a:gd name="connsiteY43" fmla="*/ 109229 h 1550100"/>
                <a:gd name="connsiteX44" fmla="*/ 1550100 w 1550100"/>
                <a:gd name="connsiteY44" fmla="*/ 88805 h 1550100"/>
                <a:gd name="connsiteX45" fmla="*/ 1550100 w 1550100"/>
                <a:gd name="connsiteY45" fmla="*/ 1461295 h 1550100"/>
                <a:gd name="connsiteX46" fmla="*/ 1461295 w 1550100"/>
                <a:gd name="connsiteY46" fmla="*/ 1550100 h 1550100"/>
                <a:gd name="connsiteX47" fmla="*/ 1260406 w 1550100"/>
                <a:gd name="connsiteY47" fmla="*/ 1550100 h 1550100"/>
                <a:gd name="connsiteX48" fmla="*/ 88805 w 1550100"/>
                <a:gd name="connsiteY48" fmla="*/ 1550100 h 1550100"/>
                <a:gd name="connsiteX49" fmla="*/ 0 w 1550100"/>
                <a:gd name="connsiteY49" fmla="*/ 1461295 h 1550100"/>
                <a:gd name="connsiteX50" fmla="*/ 0 w 1550100"/>
                <a:gd name="connsiteY50" fmla="*/ 88805 h 1550100"/>
                <a:gd name="connsiteX51" fmla="*/ 88805 w 1550100"/>
                <a:gd name="connsiteY51" fmla="*/ 0 h 1550100"/>
                <a:gd name="connsiteX52" fmla="*/ 1260406 w 1550100"/>
                <a:gd name="connsiteY52" fmla="*/ 0 h 1550100"/>
                <a:gd name="connsiteX53" fmla="*/ 1461295 w 1550100"/>
                <a:gd name="connsiteY53" fmla="*/ 0 h 1550100"/>
                <a:gd name="connsiteX54" fmla="*/ 1550100 w 1550100"/>
                <a:gd name="connsiteY54" fmla="*/ 88805 h 155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550100" h="1550100">
                  <a:moveTo>
                    <a:pt x="1174858" y="1208506"/>
                  </a:moveTo>
                  <a:cubicBezTo>
                    <a:pt x="1174858" y="1263204"/>
                    <a:pt x="1174857" y="1317903"/>
                    <a:pt x="1174857" y="1372601"/>
                  </a:cubicBezTo>
                  <a:cubicBezTo>
                    <a:pt x="1174857" y="1399059"/>
                    <a:pt x="1153409" y="1420507"/>
                    <a:pt x="1126951" y="1420507"/>
                  </a:cubicBezTo>
                  <a:lnTo>
                    <a:pt x="1126952" y="1420506"/>
                  </a:lnTo>
                  <a:cubicBezTo>
                    <a:pt x="1100494" y="1420506"/>
                    <a:pt x="1079046" y="1399058"/>
                    <a:pt x="1079046" y="1372600"/>
                  </a:cubicBezTo>
                  <a:lnTo>
                    <a:pt x="1079046" y="1208506"/>
                  </a:lnTo>
                  <a:cubicBezTo>
                    <a:pt x="1079046" y="1182048"/>
                    <a:pt x="1100494" y="1160600"/>
                    <a:pt x="1126952" y="1160600"/>
                  </a:cubicBezTo>
                  <a:cubicBezTo>
                    <a:pt x="1153410" y="1160600"/>
                    <a:pt x="1174858" y="1182048"/>
                    <a:pt x="1174858" y="1208506"/>
                  </a:cubicBezTo>
                  <a:close/>
                  <a:moveTo>
                    <a:pt x="1174858" y="864839"/>
                  </a:moveTo>
                  <a:cubicBezTo>
                    <a:pt x="1174858" y="919537"/>
                    <a:pt x="1174857" y="974236"/>
                    <a:pt x="1174857" y="1028934"/>
                  </a:cubicBezTo>
                  <a:cubicBezTo>
                    <a:pt x="1174857" y="1055392"/>
                    <a:pt x="1153409" y="1076840"/>
                    <a:pt x="1126951" y="1076840"/>
                  </a:cubicBezTo>
                  <a:lnTo>
                    <a:pt x="1126952" y="1076839"/>
                  </a:lnTo>
                  <a:cubicBezTo>
                    <a:pt x="1100494" y="1076839"/>
                    <a:pt x="1079046" y="1055391"/>
                    <a:pt x="1079046" y="1028933"/>
                  </a:cubicBezTo>
                  <a:lnTo>
                    <a:pt x="1079046" y="864839"/>
                  </a:lnTo>
                  <a:cubicBezTo>
                    <a:pt x="1079046" y="838381"/>
                    <a:pt x="1100494" y="816933"/>
                    <a:pt x="1126952" y="816933"/>
                  </a:cubicBezTo>
                  <a:cubicBezTo>
                    <a:pt x="1153410" y="816933"/>
                    <a:pt x="1174858" y="838381"/>
                    <a:pt x="1174858" y="864839"/>
                  </a:cubicBezTo>
                  <a:close/>
                  <a:moveTo>
                    <a:pt x="1174858" y="521171"/>
                  </a:moveTo>
                  <a:cubicBezTo>
                    <a:pt x="1174858" y="575869"/>
                    <a:pt x="1174857" y="630568"/>
                    <a:pt x="1174857" y="685266"/>
                  </a:cubicBezTo>
                  <a:cubicBezTo>
                    <a:pt x="1174857" y="711724"/>
                    <a:pt x="1153409" y="733172"/>
                    <a:pt x="1126951" y="733172"/>
                  </a:cubicBezTo>
                  <a:lnTo>
                    <a:pt x="1126952" y="733171"/>
                  </a:lnTo>
                  <a:cubicBezTo>
                    <a:pt x="1100494" y="733171"/>
                    <a:pt x="1079046" y="711723"/>
                    <a:pt x="1079046" y="685265"/>
                  </a:cubicBezTo>
                  <a:lnTo>
                    <a:pt x="1079046" y="521171"/>
                  </a:lnTo>
                  <a:cubicBezTo>
                    <a:pt x="1079046" y="494713"/>
                    <a:pt x="1100494" y="473265"/>
                    <a:pt x="1126952" y="473265"/>
                  </a:cubicBezTo>
                  <a:cubicBezTo>
                    <a:pt x="1153410" y="473265"/>
                    <a:pt x="1174858" y="494713"/>
                    <a:pt x="1174858" y="521171"/>
                  </a:cubicBezTo>
                  <a:close/>
                  <a:moveTo>
                    <a:pt x="1174858" y="177502"/>
                  </a:moveTo>
                  <a:cubicBezTo>
                    <a:pt x="1174858" y="232200"/>
                    <a:pt x="1174857" y="286899"/>
                    <a:pt x="1174857" y="341597"/>
                  </a:cubicBezTo>
                  <a:cubicBezTo>
                    <a:pt x="1174857" y="368055"/>
                    <a:pt x="1153409" y="389503"/>
                    <a:pt x="1126951" y="389503"/>
                  </a:cubicBezTo>
                  <a:lnTo>
                    <a:pt x="1126952" y="389502"/>
                  </a:lnTo>
                  <a:cubicBezTo>
                    <a:pt x="1100494" y="389502"/>
                    <a:pt x="1079046" y="368054"/>
                    <a:pt x="1079046" y="341596"/>
                  </a:cubicBezTo>
                  <a:lnTo>
                    <a:pt x="1079046" y="177502"/>
                  </a:lnTo>
                  <a:cubicBezTo>
                    <a:pt x="1079046" y="151044"/>
                    <a:pt x="1100494" y="129596"/>
                    <a:pt x="1126952" y="129596"/>
                  </a:cubicBezTo>
                  <a:cubicBezTo>
                    <a:pt x="1153410" y="129596"/>
                    <a:pt x="1174858" y="151044"/>
                    <a:pt x="1174858" y="177502"/>
                  </a:cubicBezTo>
                  <a:close/>
                  <a:moveTo>
                    <a:pt x="1260406" y="61323"/>
                  </a:moveTo>
                  <a:lnTo>
                    <a:pt x="61322" y="61323"/>
                  </a:lnTo>
                  <a:lnTo>
                    <a:pt x="61322" y="1488778"/>
                  </a:lnTo>
                  <a:lnTo>
                    <a:pt x="1260406" y="1488778"/>
                  </a:lnTo>
                  <a:close/>
                  <a:moveTo>
                    <a:pt x="1440400" y="109229"/>
                  </a:moveTo>
                  <a:cubicBezTo>
                    <a:pt x="1440400" y="82771"/>
                    <a:pt x="1418952" y="61323"/>
                    <a:pt x="1392494" y="61323"/>
                  </a:cubicBezTo>
                  <a:cubicBezTo>
                    <a:pt x="1366036" y="61323"/>
                    <a:pt x="1344588" y="82771"/>
                    <a:pt x="1344588" y="109229"/>
                  </a:cubicBezTo>
                  <a:lnTo>
                    <a:pt x="1344588" y="472029"/>
                  </a:lnTo>
                  <a:cubicBezTo>
                    <a:pt x="1344588" y="498487"/>
                    <a:pt x="1366036" y="519935"/>
                    <a:pt x="1392494" y="519935"/>
                  </a:cubicBezTo>
                  <a:lnTo>
                    <a:pt x="1392493" y="519936"/>
                  </a:lnTo>
                  <a:cubicBezTo>
                    <a:pt x="1418951" y="519936"/>
                    <a:pt x="1440399" y="498488"/>
                    <a:pt x="1440399" y="472030"/>
                  </a:cubicBezTo>
                  <a:cubicBezTo>
                    <a:pt x="1440399" y="351097"/>
                    <a:pt x="1440400" y="230163"/>
                    <a:pt x="1440400" y="109229"/>
                  </a:cubicBezTo>
                  <a:close/>
                  <a:moveTo>
                    <a:pt x="1550100" y="88805"/>
                  </a:moveTo>
                  <a:lnTo>
                    <a:pt x="1550100" y="1461295"/>
                  </a:lnTo>
                  <a:cubicBezTo>
                    <a:pt x="1550100" y="1510341"/>
                    <a:pt x="1510341" y="1550100"/>
                    <a:pt x="1461295" y="1550100"/>
                  </a:cubicBezTo>
                  <a:lnTo>
                    <a:pt x="1260406" y="1550100"/>
                  </a:lnTo>
                  <a:lnTo>
                    <a:pt x="88805" y="1550100"/>
                  </a:lnTo>
                  <a:cubicBezTo>
                    <a:pt x="39759" y="1550100"/>
                    <a:pt x="0" y="1510341"/>
                    <a:pt x="0" y="1461295"/>
                  </a:cubicBezTo>
                  <a:lnTo>
                    <a:pt x="0" y="88805"/>
                  </a:lnTo>
                  <a:cubicBezTo>
                    <a:pt x="0" y="39759"/>
                    <a:pt x="39759" y="0"/>
                    <a:pt x="88805" y="0"/>
                  </a:cubicBezTo>
                  <a:lnTo>
                    <a:pt x="1260406" y="0"/>
                  </a:lnTo>
                  <a:lnTo>
                    <a:pt x="1461295" y="0"/>
                  </a:lnTo>
                  <a:cubicBezTo>
                    <a:pt x="1510341" y="0"/>
                    <a:pt x="1550100" y="39759"/>
                    <a:pt x="1550100" y="88805"/>
                  </a:cubicBezTo>
                  <a:close/>
                </a:path>
              </a:pathLst>
            </a:cu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de-DE" sz="2449" kern="0" dirty="0" err="1">
                <a:solidFill>
                  <a:srgbClr val="000000"/>
                </a:solidFill>
                <a:latin typeface="TKTypeMedium"/>
                <a:ea typeface="ＭＳ Ｐゴシック"/>
              </a:endParaRPr>
            </a:p>
          </p:txBody>
        </p:sp>
        <p:sp>
          <p:nvSpPr>
            <p:cNvPr id="16" name="Cube 15">
              <a:extLst>
                <a:ext uri="{FF2B5EF4-FFF2-40B4-BE49-F238E27FC236}">
                  <a16:creationId xmlns:a16="http://schemas.microsoft.com/office/drawing/2014/main" id="{74E5513F-23D0-6C36-AD61-EC34A43A57EF}"/>
                </a:ext>
              </a:extLst>
            </p:cNvPr>
            <p:cNvSpPr/>
            <p:nvPr/>
          </p:nvSpPr>
          <p:spPr>
            <a:xfrm>
              <a:off x="3329302" y="3997811"/>
              <a:ext cx="211087" cy="211086"/>
            </a:xfrm>
            <a:prstGeom prst="cube">
              <a:avLst/>
            </a:pr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de-DE" sz="2449" kern="0" dirty="0" err="1">
                <a:solidFill>
                  <a:srgbClr val="000000"/>
                </a:solidFill>
                <a:latin typeface="TKTypeMedium"/>
                <a:ea typeface="ＭＳ Ｐゴシック"/>
              </a:endParaRPr>
            </a:p>
          </p:txBody>
        </p:sp>
        <p:sp>
          <p:nvSpPr>
            <p:cNvPr id="17" name="Rectangle 200">
              <a:extLst>
                <a:ext uri="{FF2B5EF4-FFF2-40B4-BE49-F238E27FC236}">
                  <a16:creationId xmlns:a16="http://schemas.microsoft.com/office/drawing/2014/main" id="{EFC281CC-7302-B261-2E87-03EBD0381588}"/>
                </a:ext>
              </a:extLst>
            </p:cNvPr>
            <p:cNvSpPr>
              <a:spLocks/>
            </p:cNvSpPr>
            <p:nvPr/>
          </p:nvSpPr>
          <p:spPr>
            <a:xfrm>
              <a:off x="3759946" y="3820278"/>
              <a:ext cx="116178" cy="460803"/>
            </a:xfrm>
            <a:custGeom>
              <a:avLst/>
              <a:gdLst/>
              <a:ahLst/>
              <a:cxnLst/>
              <a:rect l="l" t="t" r="r" b="b"/>
              <a:pathLst>
                <a:path w="188362" h="747111">
                  <a:moveTo>
                    <a:pt x="35260" y="134552"/>
                  </a:moveTo>
                  <a:lnTo>
                    <a:pt x="35260" y="563238"/>
                  </a:lnTo>
                  <a:lnTo>
                    <a:pt x="0" y="563238"/>
                  </a:lnTo>
                  <a:lnTo>
                    <a:pt x="0" y="134552"/>
                  </a:lnTo>
                  <a:close/>
                  <a:moveTo>
                    <a:pt x="111811" y="134552"/>
                  </a:moveTo>
                  <a:lnTo>
                    <a:pt x="111811" y="563238"/>
                  </a:lnTo>
                  <a:lnTo>
                    <a:pt x="76551" y="563238"/>
                  </a:lnTo>
                  <a:lnTo>
                    <a:pt x="76551" y="134552"/>
                  </a:lnTo>
                  <a:close/>
                  <a:moveTo>
                    <a:pt x="136437" y="677561"/>
                  </a:moveTo>
                  <a:lnTo>
                    <a:pt x="94180" y="747111"/>
                  </a:lnTo>
                  <a:lnTo>
                    <a:pt x="51923" y="677561"/>
                  </a:lnTo>
                  <a:close/>
                  <a:moveTo>
                    <a:pt x="188362" y="592102"/>
                  </a:moveTo>
                  <a:lnTo>
                    <a:pt x="148755" y="657290"/>
                  </a:lnTo>
                  <a:lnTo>
                    <a:pt x="39608" y="657290"/>
                  </a:lnTo>
                  <a:lnTo>
                    <a:pt x="0" y="592102"/>
                  </a:lnTo>
                  <a:close/>
                  <a:moveTo>
                    <a:pt x="188362" y="134552"/>
                  </a:moveTo>
                  <a:lnTo>
                    <a:pt x="188362" y="563238"/>
                  </a:lnTo>
                  <a:lnTo>
                    <a:pt x="153102" y="563238"/>
                  </a:lnTo>
                  <a:lnTo>
                    <a:pt x="153102" y="134552"/>
                  </a:lnTo>
                  <a:close/>
                  <a:moveTo>
                    <a:pt x="188362" y="12693"/>
                  </a:moveTo>
                  <a:lnTo>
                    <a:pt x="188362" y="32140"/>
                  </a:lnTo>
                  <a:lnTo>
                    <a:pt x="188362" y="63463"/>
                  </a:lnTo>
                  <a:lnTo>
                    <a:pt x="188362" y="108296"/>
                  </a:lnTo>
                  <a:lnTo>
                    <a:pt x="0" y="108296"/>
                  </a:lnTo>
                  <a:lnTo>
                    <a:pt x="0" y="63463"/>
                  </a:lnTo>
                  <a:lnTo>
                    <a:pt x="0" y="32140"/>
                  </a:lnTo>
                  <a:lnTo>
                    <a:pt x="0" y="12693"/>
                  </a:lnTo>
                  <a:cubicBezTo>
                    <a:pt x="0" y="5683"/>
                    <a:pt x="5683" y="0"/>
                    <a:pt x="12693" y="0"/>
                  </a:cubicBezTo>
                  <a:lnTo>
                    <a:pt x="175669" y="0"/>
                  </a:lnTo>
                  <a:cubicBezTo>
                    <a:pt x="182679" y="0"/>
                    <a:pt x="188362" y="5683"/>
                    <a:pt x="188362" y="12693"/>
                  </a:cubicBezTo>
                  <a:close/>
                </a:path>
              </a:pathLst>
            </a:cu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en-US" sz="2449" kern="0" dirty="0" err="1">
                <a:solidFill>
                  <a:srgbClr val="000000"/>
                </a:solidFill>
                <a:latin typeface="TKTypeMedium"/>
                <a:ea typeface="ＭＳ Ｐゴシック"/>
              </a:endParaRPr>
            </a:p>
          </p:txBody>
        </p:sp>
      </p:grpSp>
      <p:sp>
        <p:nvSpPr>
          <p:cNvPr id="18" name="TextBox 17">
            <a:extLst>
              <a:ext uri="{FF2B5EF4-FFF2-40B4-BE49-F238E27FC236}">
                <a16:creationId xmlns:a16="http://schemas.microsoft.com/office/drawing/2014/main" id="{36272E63-4F5C-6611-4684-B11DA021B7D0}"/>
              </a:ext>
            </a:extLst>
          </p:cNvPr>
          <p:cNvSpPr txBox="1"/>
          <p:nvPr/>
        </p:nvSpPr>
        <p:spPr>
          <a:xfrm>
            <a:off x="304869" y="2923246"/>
            <a:ext cx="3199759" cy="3600986"/>
          </a:xfrm>
          <a:prstGeom prst="rect">
            <a:avLst/>
          </a:prstGeom>
          <a:noFill/>
        </p:spPr>
        <p:txBody>
          <a:bodyPr wrap="square" rtlCol="0">
            <a:spAutoFit/>
          </a:bodyPr>
          <a:lstStyle/>
          <a:p>
            <a:pPr defTabSz="1218895"/>
            <a:r>
              <a:rPr lang="en-US" sz="1200" kern="0" dirty="0">
                <a:solidFill>
                  <a:prstClr val="white"/>
                </a:solidFill>
                <a:latin typeface="Arial" pitchFamily="34" charset="0"/>
                <a:cs typeface="Arial" pitchFamily="34" charset="0"/>
              </a:rPr>
              <a:t>Purpose: Simplify the development of enterprise applications through an intuitive interface.</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Key Features:</a:t>
            </a:r>
          </a:p>
          <a:p>
            <a:pPr defTabSz="1218895"/>
            <a:r>
              <a:rPr lang="en-US" sz="1200" kern="0" dirty="0">
                <a:solidFill>
                  <a:prstClr val="white"/>
                </a:solidFill>
                <a:latin typeface="Arial" pitchFamily="34" charset="0"/>
                <a:cs typeface="Arial" pitchFamily="34" charset="0"/>
              </a:rPr>
              <a:t>Visual Development: Create UI, workflows, and logic using a drag-and-drop approach.</a:t>
            </a:r>
          </a:p>
          <a:p>
            <a:pPr defTabSz="1218895"/>
            <a:r>
              <a:rPr lang="en-US" sz="1200" kern="0" dirty="0">
                <a:solidFill>
                  <a:prstClr val="white"/>
                </a:solidFill>
                <a:latin typeface="Arial" pitchFamily="34" charset="0"/>
                <a:cs typeface="Arial" pitchFamily="34" charset="0"/>
              </a:rPr>
              <a:t>Prebuilt Templates: Leverage templates for common business scenarios.</a:t>
            </a:r>
          </a:p>
          <a:p>
            <a:pPr defTabSz="1218895"/>
            <a:r>
              <a:rPr lang="en-US" sz="1200" kern="0" dirty="0">
                <a:solidFill>
                  <a:prstClr val="white"/>
                </a:solidFill>
                <a:latin typeface="Arial" pitchFamily="34" charset="0"/>
                <a:cs typeface="Arial" pitchFamily="34" charset="0"/>
              </a:rPr>
              <a:t>Data Integration: Connect seamlessly with SAP and external systems through APIs.</a:t>
            </a:r>
          </a:p>
          <a:p>
            <a:pPr defTabSz="1218895"/>
            <a:r>
              <a:rPr lang="en-US" sz="1200" kern="0" dirty="0">
                <a:solidFill>
                  <a:prstClr val="white"/>
                </a:solidFill>
                <a:latin typeface="Arial" pitchFamily="34" charset="0"/>
                <a:cs typeface="Arial" pitchFamily="34" charset="0"/>
              </a:rPr>
              <a:t>Multi-Channel Deployment: Develop apps for both web and mobile platforms.</a:t>
            </a:r>
          </a:p>
          <a:p>
            <a:pPr defTabSz="1218895"/>
            <a:r>
              <a:rPr lang="en-US" sz="1200" kern="0" dirty="0">
                <a:solidFill>
                  <a:prstClr val="white"/>
                </a:solidFill>
                <a:latin typeface="Arial" pitchFamily="34" charset="0"/>
                <a:cs typeface="Arial" pitchFamily="34" charset="0"/>
              </a:rPr>
              <a:t>Collaboration Tools: Facilitate teamwork during the app-building process.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Use Cases:</a:t>
            </a:r>
          </a:p>
          <a:p>
            <a:pPr defTabSz="1218895"/>
            <a:r>
              <a:rPr lang="en-US" sz="1200" kern="0" dirty="0">
                <a:solidFill>
                  <a:prstClr val="white"/>
                </a:solidFill>
                <a:latin typeface="Arial" pitchFamily="34" charset="0"/>
                <a:cs typeface="Arial" pitchFamily="34" charset="0"/>
              </a:rPr>
              <a:t>Developing HR onboarding solutions.</a:t>
            </a:r>
          </a:p>
          <a:p>
            <a:pPr defTabSz="1218895"/>
            <a:r>
              <a:rPr lang="en-US" sz="1200" kern="0" dirty="0">
                <a:solidFill>
                  <a:prstClr val="white"/>
                </a:solidFill>
                <a:latin typeface="Arial" pitchFamily="34" charset="0"/>
                <a:cs typeface="Arial" pitchFamily="34" charset="0"/>
              </a:rPr>
              <a:t>Building custom KPI tracking dashboards.</a:t>
            </a:r>
          </a:p>
          <a:p>
            <a:pPr defTabSz="1218895"/>
            <a:r>
              <a:rPr lang="en-US" sz="1200" kern="0" dirty="0">
                <a:solidFill>
                  <a:prstClr val="white"/>
                </a:solidFill>
                <a:latin typeface="Arial" pitchFamily="34" charset="0"/>
                <a:cs typeface="Arial" pitchFamily="34" charset="0"/>
              </a:rPr>
              <a:t>Creating customer-facing applications for feedback collection.</a:t>
            </a:r>
          </a:p>
        </p:txBody>
      </p:sp>
      <p:sp>
        <p:nvSpPr>
          <p:cNvPr id="19" name="TextBox 18">
            <a:extLst>
              <a:ext uri="{FF2B5EF4-FFF2-40B4-BE49-F238E27FC236}">
                <a16:creationId xmlns:a16="http://schemas.microsoft.com/office/drawing/2014/main" id="{E563FCB9-2EAD-DBC3-CFDF-9B89260E9233}"/>
              </a:ext>
            </a:extLst>
          </p:cNvPr>
          <p:cNvSpPr txBox="1"/>
          <p:nvPr/>
        </p:nvSpPr>
        <p:spPr>
          <a:xfrm>
            <a:off x="440442" y="2415793"/>
            <a:ext cx="3103232" cy="461537"/>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Apps</a:t>
            </a:r>
          </a:p>
        </p:txBody>
      </p:sp>
      <p:sp>
        <p:nvSpPr>
          <p:cNvPr id="21" name="TextBox 20">
            <a:extLst>
              <a:ext uri="{FF2B5EF4-FFF2-40B4-BE49-F238E27FC236}">
                <a16:creationId xmlns:a16="http://schemas.microsoft.com/office/drawing/2014/main" id="{5EE892DB-60AA-5D1B-E985-1C841220A824}"/>
              </a:ext>
            </a:extLst>
          </p:cNvPr>
          <p:cNvSpPr txBox="1"/>
          <p:nvPr/>
        </p:nvSpPr>
        <p:spPr>
          <a:xfrm>
            <a:off x="4664092" y="2036076"/>
            <a:ext cx="3103232" cy="830740"/>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Process Automation</a:t>
            </a:r>
          </a:p>
        </p:txBody>
      </p:sp>
      <p:sp>
        <p:nvSpPr>
          <p:cNvPr id="23" name="TextBox 22">
            <a:extLst>
              <a:ext uri="{FF2B5EF4-FFF2-40B4-BE49-F238E27FC236}">
                <a16:creationId xmlns:a16="http://schemas.microsoft.com/office/drawing/2014/main" id="{79ECA516-3AC4-B591-B962-7C6C16EEBF08}"/>
              </a:ext>
            </a:extLst>
          </p:cNvPr>
          <p:cNvSpPr txBox="1"/>
          <p:nvPr/>
        </p:nvSpPr>
        <p:spPr>
          <a:xfrm>
            <a:off x="8862360" y="1939789"/>
            <a:ext cx="3103232" cy="830740"/>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WorkZone</a:t>
            </a:r>
          </a:p>
        </p:txBody>
      </p:sp>
      <p:sp>
        <p:nvSpPr>
          <p:cNvPr id="24" name="Oval 23">
            <a:extLst>
              <a:ext uri="{FF2B5EF4-FFF2-40B4-BE49-F238E27FC236}">
                <a16:creationId xmlns:a16="http://schemas.microsoft.com/office/drawing/2014/main" id="{EB0CDBAC-0DF4-7E0C-C5EA-FD5B992BD3B8}"/>
              </a:ext>
            </a:extLst>
          </p:cNvPr>
          <p:cNvSpPr/>
          <p:nvPr/>
        </p:nvSpPr>
        <p:spPr>
          <a:xfrm>
            <a:off x="1609480" y="6644336"/>
            <a:ext cx="126163" cy="115094"/>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5" name="Oval 24">
            <a:extLst>
              <a:ext uri="{FF2B5EF4-FFF2-40B4-BE49-F238E27FC236}">
                <a16:creationId xmlns:a16="http://schemas.microsoft.com/office/drawing/2014/main" id="{F6D49E10-698A-01BF-ADBA-39BD16F08C43}"/>
              </a:ext>
            </a:extLst>
          </p:cNvPr>
          <p:cNvSpPr/>
          <p:nvPr/>
        </p:nvSpPr>
        <p:spPr>
          <a:xfrm>
            <a:off x="1771861"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6" name="Oval 25">
            <a:extLst>
              <a:ext uri="{FF2B5EF4-FFF2-40B4-BE49-F238E27FC236}">
                <a16:creationId xmlns:a16="http://schemas.microsoft.com/office/drawing/2014/main" id="{39B3212C-A401-7E2D-288F-15B555B6964B}"/>
              </a:ext>
            </a:extLst>
          </p:cNvPr>
          <p:cNvSpPr/>
          <p:nvPr/>
        </p:nvSpPr>
        <p:spPr>
          <a:xfrm>
            <a:off x="1934244"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7" name="Oval 26">
            <a:extLst>
              <a:ext uri="{FF2B5EF4-FFF2-40B4-BE49-F238E27FC236}">
                <a16:creationId xmlns:a16="http://schemas.microsoft.com/office/drawing/2014/main" id="{09A94C15-9E5C-A774-C0EE-733E5F0CB6A4}"/>
              </a:ext>
            </a:extLst>
          </p:cNvPr>
          <p:cNvSpPr/>
          <p:nvPr/>
        </p:nvSpPr>
        <p:spPr>
          <a:xfrm>
            <a:off x="5827864"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8" name="Oval 27">
            <a:extLst>
              <a:ext uri="{FF2B5EF4-FFF2-40B4-BE49-F238E27FC236}">
                <a16:creationId xmlns:a16="http://schemas.microsoft.com/office/drawing/2014/main" id="{578DEF51-000A-F08A-3F66-0681C78C5B37}"/>
              </a:ext>
            </a:extLst>
          </p:cNvPr>
          <p:cNvSpPr/>
          <p:nvPr/>
        </p:nvSpPr>
        <p:spPr>
          <a:xfrm>
            <a:off x="5990245" y="6644336"/>
            <a:ext cx="126163" cy="115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9" name="Oval 28">
            <a:extLst>
              <a:ext uri="{FF2B5EF4-FFF2-40B4-BE49-F238E27FC236}">
                <a16:creationId xmlns:a16="http://schemas.microsoft.com/office/drawing/2014/main" id="{2ABCBD90-93A3-C3DA-5069-2DE1AC49DA27}"/>
              </a:ext>
            </a:extLst>
          </p:cNvPr>
          <p:cNvSpPr/>
          <p:nvPr/>
        </p:nvSpPr>
        <p:spPr>
          <a:xfrm>
            <a:off x="6152628"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0" name="Oval 29">
            <a:extLst>
              <a:ext uri="{FF2B5EF4-FFF2-40B4-BE49-F238E27FC236}">
                <a16:creationId xmlns:a16="http://schemas.microsoft.com/office/drawing/2014/main" id="{EBBDB39D-3C17-380B-099B-A00A008A4881}"/>
              </a:ext>
            </a:extLst>
          </p:cNvPr>
          <p:cNvSpPr/>
          <p:nvPr/>
        </p:nvSpPr>
        <p:spPr>
          <a:xfrm>
            <a:off x="10046249"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1" name="Oval 30">
            <a:extLst>
              <a:ext uri="{FF2B5EF4-FFF2-40B4-BE49-F238E27FC236}">
                <a16:creationId xmlns:a16="http://schemas.microsoft.com/office/drawing/2014/main" id="{2B5D1F2E-A667-A273-61C8-1C952AB3BF30}"/>
              </a:ext>
            </a:extLst>
          </p:cNvPr>
          <p:cNvSpPr/>
          <p:nvPr/>
        </p:nvSpPr>
        <p:spPr>
          <a:xfrm>
            <a:off x="10208630"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2" name="Oval 31">
            <a:extLst>
              <a:ext uri="{FF2B5EF4-FFF2-40B4-BE49-F238E27FC236}">
                <a16:creationId xmlns:a16="http://schemas.microsoft.com/office/drawing/2014/main" id="{1096F089-C2F7-BC44-2570-841630F2594E}"/>
              </a:ext>
            </a:extLst>
          </p:cNvPr>
          <p:cNvSpPr/>
          <p:nvPr/>
        </p:nvSpPr>
        <p:spPr>
          <a:xfrm>
            <a:off x="10371013" y="6644336"/>
            <a:ext cx="126163" cy="115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4" name="TextBox 33">
            <a:extLst>
              <a:ext uri="{FF2B5EF4-FFF2-40B4-BE49-F238E27FC236}">
                <a16:creationId xmlns:a16="http://schemas.microsoft.com/office/drawing/2014/main" id="{9B914C4C-628F-AED6-267C-276B4A876617}"/>
              </a:ext>
            </a:extLst>
          </p:cNvPr>
          <p:cNvSpPr txBox="1"/>
          <p:nvPr/>
        </p:nvSpPr>
        <p:spPr>
          <a:xfrm>
            <a:off x="4494531" y="2804256"/>
            <a:ext cx="3199759" cy="3044680"/>
          </a:xfrm>
          <a:prstGeom prst="rect">
            <a:avLst/>
          </a:prstGeom>
          <a:noFill/>
        </p:spPr>
        <p:txBody>
          <a:bodyPr wrap="square" rtlCol="0">
            <a:spAutoFit/>
          </a:bodyPr>
          <a:lstStyle/>
          <a:p>
            <a:pPr defTabSz="1218895"/>
            <a:r>
              <a:rPr lang="en-US" sz="1066" kern="0" dirty="0">
                <a:solidFill>
                  <a:prstClr val="white"/>
                </a:solidFill>
                <a:latin typeface="Arial" pitchFamily="34" charset="0"/>
                <a:cs typeface="Arial" pitchFamily="34" charset="0"/>
              </a:rPr>
              <a:t>Purpose: Streamline business processes using workflows and robotic process automation (RPA).</a:t>
            </a:r>
            <a:br>
              <a:rPr lang="en-US" sz="1066" kern="0" dirty="0">
                <a:solidFill>
                  <a:prstClr val="white"/>
                </a:solidFill>
                <a:latin typeface="Arial" pitchFamily="34" charset="0"/>
                <a:cs typeface="Arial" pitchFamily="34" charset="0"/>
              </a:rPr>
            </a:br>
            <a:r>
              <a:rPr lang="en-US" sz="1066" b="1" kern="0" dirty="0">
                <a:solidFill>
                  <a:srgbClr val="FFFF00"/>
                </a:solidFill>
                <a:latin typeface="Arial" pitchFamily="34" charset="0"/>
                <a:cs typeface="Arial" pitchFamily="34" charset="0"/>
              </a:rPr>
              <a:t>Key Features:</a:t>
            </a:r>
          </a:p>
          <a:p>
            <a:pPr defTabSz="1218895"/>
            <a:r>
              <a:rPr lang="en-US" sz="1066" kern="0" dirty="0">
                <a:solidFill>
                  <a:prstClr val="white"/>
                </a:solidFill>
                <a:latin typeface="Arial" pitchFamily="34" charset="0"/>
                <a:cs typeface="Arial" pitchFamily="34" charset="0"/>
              </a:rPr>
              <a:t>Workflow Automation: Manage approvals, notifications, and document routing automatically.</a:t>
            </a:r>
          </a:p>
          <a:p>
            <a:pPr defTabSz="1218895"/>
            <a:r>
              <a:rPr lang="en-US" sz="1066" kern="0" dirty="0">
                <a:solidFill>
                  <a:prstClr val="white"/>
                </a:solidFill>
                <a:latin typeface="Arial" pitchFamily="34" charset="0"/>
                <a:cs typeface="Arial" pitchFamily="34" charset="0"/>
              </a:rPr>
              <a:t>Prebuilt Bots: Access a library of bots to handle repetitive tasks like data entry.</a:t>
            </a:r>
          </a:p>
          <a:p>
            <a:pPr defTabSz="1218895"/>
            <a:r>
              <a:rPr lang="en-US" sz="1066" kern="0" dirty="0">
                <a:solidFill>
                  <a:prstClr val="white"/>
                </a:solidFill>
                <a:latin typeface="Arial" pitchFamily="34" charset="0"/>
                <a:cs typeface="Arial" pitchFamily="34" charset="0"/>
              </a:rPr>
              <a:t>Business Rules Management: Easily define and update business logic.</a:t>
            </a:r>
          </a:p>
          <a:p>
            <a:pPr defTabSz="1218895"/>
            <a:r>
              <a:rPr lang="en-US" sz="1066" kern="0" dirty="0">
                <a:solidFill>
                  <a:prstClr val="white"/>
                </a:solidFill>
                <a:latin typeface="Arial" pitchFamily="34" charset="0"/>
                <a:cs typeface="Arial" pitchFamily="34" charset="0"/>
              </a:rPr>
              <a:t>Process Visibility: Track and optimize workflows in real-time.</a:t>
            </a:r>
          </a:p>
          <a:p>
            <a:pPr defTabSz="1218895"/>
            <a:r>
              <a:rPr lang="en-US" sz="1066" kern="0" dirty="0">
                <a:solidFill>
                  <a:prstClr val="white"/>
                </a:solidFill>
                <a:latin typeface="Arial" pitchFamily="34" charset="0"/>
                <a:cs typeface="Arial" pitchFamily="34" charset="0"/>
              </a:rPr>
              <a:t>AI Integration: Utilize AI capabilities such as document recognition for enhanced automation.</a:t>
            </a:r>
            <a:br>
              <a:rPr lang="en-US" sz="1066" kern="0" dirty="0">
                <a:solidFill>
                  <a:prstClr val="white"/>
                </a:solidFill>
                <a:latin typeface="Arial" pitchFamily="34" charset="0"/>
                <a:cs typeface="Arial" pitchFamily="34" charset="0"/>
              </a:rPr>
            </a:br>
            <a:r>
              <a:rPr lang="en-US" sz="1066" b="1" kern="0" dirty="0">
                <a:solidFill>
                  <a:srgbClr val="FFFF00"/>
                </a:solidFill>
                <a:latin typeface="Arial" pitchFamily="34" charset="0"/>
                <a:cs typeface="Arial" pitchFamily="34" charset="0"/>
              </a:rPr>
              <a:t>Use Cases:</a:t>
            </a:r>
          </a:p>
          <a:p>
            <a:pPr defTabSz="1218895"/>
            <a:r>
              <a:rPr lang="en-US" sz="1066" kern="0" dirty="0">
                <a:solidFill>
                  <a:prstClr val="white"/>
                </a:solidFill>
                <a:latin typeface="Arial" pitchFamily="34" charset="0"/>
                <a:cs typeface="Arial" pitchFamily="34" charset="0"/>
              </a:rPr>
              <a:t>Automating invoice approval workflows.</a:t>
            </a:r>
          </a:p>
          <a:p>
            <a:pPr defTabSz="1218895"/>
            <a:r>
              <a:rPr lang="en-US" sz="1066" kern="0" dirty="0">
                <a:solidFill>
                  <a:prstClr val="white"/>
                </a:solidFill>
                <a:latin typeface="Arial" pitchFamily="34" charset="0"/>
                <a:cs typeface="Arial" pitchFamily="34" charset="0"/>
              </a:rPr>
              <a:t>Managing employee leave requests.</a:t>
            </a:r>
          </a:p>
          <a:p>
            <a:pPr defTabSz="1218895"/>
            <a:r>
              <a:rPr lang="en-US" sz="1066" kern="0" dirty="0">
                <a:solidFill>
                  <a:prstClr val="white"/>
                </a:solidFill>
                <a:latin typeface="Arial" pitchFamily="34" charset="0"/>
                <a:cs typeface="Arial" pitchFamily="34" charset="0"/>
              </a:rPr>
              <a:t>Connecting and streamlining repetitive processes across systems.</a:t>
            </a:r>
          </a:p>
        </p:txBody>
      </p:sp>
      <p:sp>
        <p:nvSpPr>
          <p:cNvPr id="35" name="TextBox 34">
            <a:extLst>
              <a:ext uri="{FF2B5EF4-FFF2-40B4-BE49-F238E27FC236}">
                <a16:creationId xmlns:a16="http://schemas.microsoft.com/office/drawing/2014/main" id="{46C2CD0C-2F45-8FC6-6AE0-1C9B298C11D3}"/>
              </a:ext>
            </a:extLst>
          </p:cNvPr>
          <p:cNvSpPr txBox="1"/>
          <p:nvPr/>
        </p:nvSpPr>
        <p:spPr>
          <a:xfrm>
            <a:off x="8839789" y="2804257"/>
            <a:ext cx="3199759" cy="3600986"/>
          </a:xfrm>
          <a:prstGeom prst="rect">
            <a:avLst/>
          </a:prstGeom>
          <a:noFill/>
        </p:spPr>
        <p:txBody>
          <a:bodyPr wrap="square" rtlCol="0">
            <a:spAutoFit/>
          </a:bodyPr>
          <a:lstStyle/>
          <a:p>
            <a:pPr defTabSz="1218895"/>
            <a:r>
              <a:rPr lang="en-US" sz="1200" kern="0" dirty="0">
                <a:solidFill>
                  <a:prstClr val="white"/>
                </a:solidFill>
                <a:latin typeface="Arial" pitchFamily="34" charset="0"/>
                <a:cs typeface="Arial" pitchFamily="34" charset="0"/>
              </a:rPr>
              <a:t>Purpose: Design tailored business sites and portals for employees, customers, or partners.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Key Features:</a:t>
            </a:r>
          </a:p>
          <a:p>
            <a:pPr defTabSz="1218895"/>
            <a:r>
              <a:rPr lang="en-US" sz="1200" kern="0" dirty="0">
                <a:solidFill>
                  <a:prstClr val="white"/>
                </a:solidFill>
                <a:latin typeface="Arial" pitchFamily="34" charset="0"/>
                <a:cs typeface="Arial" pitchFamily="34" charset="0"/>
              </a:rPr>
              <a:t>Prebuilt Templates: Quickly create branded portals.</a:t>
            </a:r>
          </a:p>
          <a:p>
            <a:pPr defTabSz="1218895"/>
            <a:r>
              <a:rPr lang="en-US" sz="1200" kern="0" dirty="0">
                <a:solidFill>
                  <a:prstClr val="white"/>
                </a:solidFill>
                <a:latin typeface="Arial" pitchFamily="34" charset="0"/>
                <a:cs typeface="Arial" pitchFamily="34" charset="0"/>
              </a:rPr>
              <a:t>Content Integration: Combine apps, dashboards, and workflows in a unified portal.</a:t>
            </a:r>
          </a:p>
          <a:p>
            <a:pPr defTabSz="1218895"/>
            <a:r>
              <a:rPr lang="en-US" sz="1200" kern="0" dirty="0">
                <a:solidFill>
                  <a:prstClr val="white"/>
                </a:solidFill>
                <a:latin typeface="Arial" pitchFamily="34" charset="0"/>
                <a:cs typeface="Arial" pitchFamily="34" charset="0"/>
              </a:rPr>
              <a:t>Role-Based Access: Customize content and permissions according to user roles.</a:t>
            </a:r>
          </a:p>
          <a:p>
            <a:pPr defTabSz="1218895"/>
            <a:r>
              <a:rPr lang="en-US" sz="1200" kern="0" dirty="0">
                <a:solidFill>
                  <a:prstClr val="white"/>
                </a:solidFill>
                <a:latin typeface="Arial" pitchFamily="34" charset="0"/>
                <a:cs typeface="Arial" pitchFamily="34" charset="0"/>
              </a:rPr>
              <a:t>Collaboration Features: Incorporate chat, forums, and knowledge-sharing tools.</a:t>
            </a:r>
          </a:p>
          <a:p>
            <a:pPr defTabSz="1218895"/>
            <a:r>
              <a:rPr lang="en-US" sz="1200" kern="0" dirty="0">
                <a:solidFill>
                  <a:prstClr val="white"/>
                </a:solidFill>
                <a:latin typeface="Arial" pitchFamily="34" charset="0"/>
                <a:cs typeface="Arial" pitchFamily="34" charset="0"/>
              </a:rPr>
              <a:t>Mobile-Friendly Design: Ensure accessibility across all devices.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Use Cases:</a:t>
            </a:r>
          </a:p>
          <a:p>
            <a:pPr defTabSz="1218895"/>
            <a:r>
              <a:rPr lang="en-US" sz="1200" kern="0" dirty="0">
                <a:solidFill>
                  <a:prstClr val="white"/>
                </a:solidFill>
                <a:latin typeface="Arial" pitchFamily="34" charset="0"/>
                <a:cs typeface="Arial" pitchFamily="34" charset="0"/>
              </a:rPr>
              <a:t>Developing employee self-service platforms.</a:t>
            </a:r>
          </a:p>
          <a:p>
            <a:pPr defTabSz="1218895"/>
            <a:r>
              <a:rPr lang="en-US" sz="1200" kern="0" dirty="0">
                <a:solidFill>
                  <a:prstClr val="white"/>
                </a:solidFill>
                <a:latin typeface="Arial" pitchFamily="34" charset="0"/>
                <a:cs typeface="Arial" pitchFamily="34" charset="0"/>
              </a:rPr>
              <a:t>Creating customer support portals.</a:t>
            </a:r>
          </a:p>
          <a:p>
            <a:pPr defTabSz="1218895"/>
            <a:r>
              <a:rPr lang="en-US" sz="1200" kern="0" dirty="0">
                <a:solidFill>
                  <a:prstClr val="white"/>
                </a:solidFill>
                <a:latin typeface="Arial" pitchFamily="34" charset="0"/>
                <a:cs typeface="Arial" pitchFamily="34" charset="0"/>
              </a:rPr>
              <a:t>Building collaboration hubs for partners.</a:t>
            </a:r>
          </a:p>
        </p:txBody>
      </p:sp>
    </p:spTree>
    <p:extLst>
      <p:ext uri="{BB962C8B-B14F-4D97-AF65-F5344CB8AC3E}">
        <p14:creationId xmlns:p14="http://schemas.microsoft.com/office/powerpoint/2010/main" val="3277403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0EE7F-E514-30CF-A0FE-13000C06691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0B8AEB6-816B-6421-51F8-0FB021CEEEEB}"/>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92DE6FD0-70C0-6E3B-36CB-4BAE00AE86DD}"/>
              </a:ext>
            </a:extLst>
          </p:cNvPr>
          <p:cNvSpPr>
            <a:spLocks noGrp="1"/>
          </p:cNvSpPr>
          <p:nvPr>
            <p:ph type="sldNum" sz="quarter" idx="12"/>
          </p:nvPr>
        </p:nvSpPr>
        <p:spPr>
          <a:xfrm>
            <a:off x="203147" y="6374633"/>
            <a:ext cx="609441" cy="365030"/>
          </a:xfrm>
        </p:spPr>
        <p:txBody>
          <a:bodyPr/>
          <a:lstStyle/>
          <a:p>
            <a:pPr defTabSz="1218895"/>
            <a:fld id="{B6F15528-21DE-4FAA-801E-634DDDAF4B2B}" type="slidenum">
              <a:rPr lang="en-US">
                <a:solidFill>
                  <a:prstClr val="black">
                    <a:tint val="75000"/>
                  </a:prstClr>
                </a:solidFill>
                <a:latin typeface="Calibri"/>
              </a:rPr>
              <a:pPr defTabSz="1218895"/>
              <a:t>13</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320B83AE-DAEF-3FF0-D2D0-D736F0001817}"/>
              </a:ext>
            </a:extLst>
          </p:cNvPr>
          <p:cNvSpPr>
            <a:spLocks noGrp="1"/>
          </p:cNvSpPr>
          <p:nvPr>
            <p:ph type="title"/>
          </p:nvPr>
        </p:nvSpPr>
        <p:spPr>
          <a:xfrm>
            <a:off x="101573" y="178647"/>
            <a:ext cx="10969943" cy="711016"/>
          </a:xfrm>
        </p:spPr>
        <p:txBody>
          <a:bodyPr/>
          <a:lstStyle/>
          <a:p>
            <a:r>
              <a:rPr lang="en-IN" sz="3333" dirty="0"/>
              <a:t>What is Build Apps?</a:t>
            </a:r>
          </a:p>
        </p:txBody>
      </p:sp>
      <p:sp>
        <p:nvSpPr>
          <p:cNvPr id="2" name="TextBox 1">
            <a:extLst>
              <a:ext uri="{FF2B5EF4-FFF2-40B4-BE49-F238E27FC236}">
                <a16:creationId xmlns:a16="http://schemas.microsoft.com/office/drawing/2014/main" id="{9A7C0E8A-37FF-B256-11B5-96411186DD48}"/>
              </a:ext>
            </a:extLst>
          </p:cNvPr>
          <p:cNvSpPr txBox="1"/>
          <p:nvPr/>
        </p:nvSpPr>
        <p:spPr>
          <a:xfrm>
            <a:off x="252942" y="1457027"/>
            <a:ext cx="11732736" cy="748795"/>
          </a:xfrm>
          <a:prstGeom prst="rect">
            <a:avLst/>
          </a:prstGeom>
          <a:noFill/>
        </p:spPr>
        <p:txBody>
          <a:bodyPr wrap="square" rtlCol="0">
            <a:spAutoFit/>
          </a:bodyPr>
          <a:lstStyle/>
          <a:p>
            <a:pPr defTabSz="1218895"/>
            <a:r>
              <a:rPr lang="en-US" sz="2133" dirty="0">
                <a:solidFill>
                  <a:srgbClr val="223548"/>
                </a:solidFill>
                <a:latin typeface="72 Brand Variable"/>
              </a:rPr>
              <a:t>SAP Build Apps is an AI-infused professional application development solution designed for anyone to quickly create apps without code regardless of role or skill level.</a:t>
            </a:r>
            <a:endParaRPr lang="en-IN" sz="2133" dirty="0">
              <a:solidFill>
                <a:prstClr val="black"/>
              </a:solidFill>
              <a:latin typeface="Calibri"/>
            </a:endParaRPr>
          </a:p>
        </p:txBody>
      </p:sp>
      <p:pic>
        <p:nvPicPr>
          <p:cNvPr id="7" name="Picture 6">
            <a:extLst>
              <a:ext uri="{FF2B5EF4-FFF2-40B4-BE49-F238E27FC236}">
                <a16:creationId xmlns:a16="http://schemas.microsoft.com/office/drawing/2014/main" id="{76BE1B0A-95B0-EF9F-7684-EA4FA264E171}"/>
              </a:ext>
            </a:extLst>
          </p:cNvPr>
          <p:cNvPicPr>
            <a:picLocks noChangeAspect="1"/>
          </p:cNvPicPr>
          <p:nvPr/>
        </p:nvPicPr>
        <p:blipFill>
          <a:blip r:embed="rId2"/>
          <a:stretch>
            <a:fillRect/>
          </a:stretch>
        </p:blipFill>
        <p:spPr>
          <a:xfrm>
            <a:off x="-1" y="2297044"/>
            <a:ext cx="12188825" cy="3079623"/>
          </a:xfrm>
          <a:prstGeom prst="rect">
            <a:avLst/>
          </a:prstGeom>
        </p:spPr>
      </p:pic>
    </p:spTree>
    <p:extLst>
      <p:ext uri="{BB962C8B-B14F-4D97-AF65-F5344CB8AC3E}">
        <p14:creationId xmlns:p14="http://schemas.microsoft.com/office/powerpoint/2010/main" val="280988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DBB92-0448-10F1-FA6A-1DB07C3435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2F512E-4323-5FFE-F414-58920DD3EAE6}"/>
              </a:ext>
            </a:extLst>
          </p:cNvPr>
          <p:cNvSpPr>
            <a:spLocks noGrp="1"/>
          </p:cNvSpPr>
          <p:nvPr>
            <p:ph type="title"/>
          </p:nvPr>
        </p:nvSpPr>
        <p:spPr>
          <a:xfrm>
            <a:off x="609441" y="211021"/>
            <a:ext cx="6500707" cy="881788"/>
          </a:xfrm>
        </p:spPr>
        <p:txBody>
          <a:bodyPr anchor="b">
            <a:noAutofit/>
          </a:bodyPr>
          <a:lstStyle/>
          <a:p>
            <a:r>
              <a:rPr lang="en-US" sz="3199" dirty="0">
                <a:latin typeface="Cooper Black" panose="0208090404030B020404" pitchFamily="18" charset="0"/>
              </a:rPr>
              <a:t>Core Capabilities?</a:t>
            </a:r>
          </a:p>
        </p:txBody>
      </p:sp>
      <p:sp>
        <p:nvSpPr>
          <p:cNvPr id="6" name="TextBox 5">
            <a:extLst>
              <a:ext uri="{FF2B5EF4-FFF2-40B4-BE49-F238E27FC236}">
                <a16:creationId xmlns:a16="http://schemas.microsoft.com/office/drawing/2014/main" id="{5A3F413B-EFF8-C4B5-F722-AE70853A02F1}"/>
              </a:ext>
            </a:extLst>
          </p:cNvPr>
          <p:cNvSpPr txBox="1"/>
          <p:nvPr/>
        </p:nvSpPr>
        <p:spPr>
          <a:xfrm>
            <a:off x="570332" y="1404409"/>
            <a:ext cx="5116155" cy="5347850"/>
          </a:xfrm>
          <a:prstGeom prst="rect">
            <a:avLst/>
          </a:prstGeom>
        </p:spPr>
        <p:txBody>
          <a:bodyPr vert="horz" lIns="121888" tIns="60944" rIns="121888" bIns="60944" rtlCol="0">
            <a:noAutofit/>
          </a:bodyPr>
          <a:lstStyle/>
          <a:p>
            <a:pPr algn="just" defTabSz="1218895" fontAlgn="base"/>
            <a:r>
              <a:rPr lang="en-US" sz="1466" b="1" dirty="0">
                <a:solidFill>
                  <a:prstClr val="black"/>
                </a:solidFill>
                <a:latin typeface="Calibri"/>
              </a:rPr>
              <a:t>Build Visually – </a:t>
            </a:r>
            <a:r>
              <a:rPr lang="en-US" sz="1466" dirty="0">
                <a:solidFill>
                  <a:prstClr val="black"/>
                </a:solidFill>
                <a:latin typeface="Calibri"/>
              </a:rPr>
              <a:t>SAP Build Capabilities enable customers to build visually, using drag-and-drop tools and intuitive interfaces. This allows users to quickly and easily design, configure, and deploy applications with no coding. By leveraging the SAP Build capabilities, customers can quickly create rich, interactive applications that streamline business processes, drive greater efficiency, and reduce operational costs. The tools are designed to be easy to use and are backed by a comprehensive library of pre-configured components, integration APIs, and data connectors.</a:t>
            </a:r>
          </a:p>
          <a:p>
            <a:pPr algn="just" defTabSz="1218895" fontAlgn="base"/>
            <a:endParaRPr lang="en-US" sz="1466" dirty="0">
              <a:solidFill>
                <a:prstClr val="black"/>
              </a:solidFill>
              <a:latin typeface="Calibri"/>
            </a:endParaRPr>
          </a:p>
          <a:p>
            <a:pPr algn="just" defTabSz="1218895" fontAlgn="base"/>
            <a:r>
              <a:rPr lang="en-US" sz="1466" b="1" dirty="0">
                <a:solidFill>
                  <a:prstClr val="black"/>
                </a:solidFill>
                <a:latin typeface="Calibri"/>
              </a:rPr>
              <a:t>Integrate Seamlessly – </a:t>
            </a:r>
            <a:r>
              <a:rPr lang="en-US" sz="1466" dirty="0">
                <a:solidFill>
                  <a:prstClr val="black"/>
                </a:solidFill>
                <a:latin typeface="Calibri"/>
              </a:rPr>
              <a:t>SAP Build capabilities help customers integrate their SAP solutions, applications, and systems with each other and with other systems and applications.</a:t>
            </a:r>
          </a:p>
          <a:p>
            <a:pPr algn="just" defTabSz="1218895" fontAlgn="base"/>
            <a:endParaRPr lang="en-US" sz="1466" dirty="0">
              <a:solidFill>
                <a:prstClr val="black"/>
              </a:solidFill>
              <a:latin typeface="Calibri"/>
            </a:endParaRPr>
          </a:p>
          <a:p>
            <a:pPr algn="just" defTabSz="1218895" fontAlgn="base"/>
            <a:r>
              <a:rPr lang="en-US" sz="1466" b="1" dirty="0">
                <a:solidFill>
                  <a:prstClr val="black"/>
                </a:solidFill>
                <a:latin typeface="Calibri"/>
              </a:rPr>
              <a:t>Collaborate Effectively –  </a:t>
            </a:r>
            <a:r>
              <a:rPr lang="en-US" sz="1466" dirty="0">
                <a:solidFill>
                  <a:prstClr val="black"/>
                </a:solidFill>
                <a:latin typeface="Calibri"/>
              </a:rPr>
              <a:t>With its feature of seamless integration, SAP Build helps businesses leverage technologies like cloud-based tools with development teams to establish communication protocols like lifecycle management and built-in governance.</a:t>
            </a:r>
          </a:p>
        </p:txBody>
      </p:sp>
      <p:sp>
        <p:nvSpPr>
          <p:cNvPr id="3" name="Footer Placeholder 2">
            <a:extLst>
              <a:ext uri="{FF2B5EF4-FFF2-40B4-BE49-F238E27FC236}">
                <a16:creationId xmlns:a16="http://schemas.microsoft.com/office/drawing/2014/main" id="{1323F023-5153-4873-8349-333A1B64F85A}"/>
              </a:ext>
            </a:extLst>
          </p:cNvPr>
          <p:cNvSpPr>
            <a:spLocks noGrp="1"/>
          </p:cNvSpPr>
          <p:nvPr>
            <p:ph type="ftr" sz="quarter" idx="11"/>
          </p:nvPr>
        </p:nvSpPr>
        <p:spPr>
          <a:xfrm>
            <a:off x="4164515" y="6355588"/>
            <a:ext cx="3859795" cy="365030"/>
          </a:xfrm>
        </p:spPr>
        <p:txBody>
          <a:bodyPr vert="horz" lIns="121888" tIns="60944" rIns="121888" bIns="60944" rtlCol="0" anchor="ctr">
            <a:normAutofit/>
          </a:bodyPr>
          <a:lstStyle/>
          <a:p>
            <a:pPr defTabSz="1218895">
              <a:lnSpc>
                <a:spcPct val="90000"/>
              </a:lnSpc>
              <a:spcAft>
                <a:spcPts val="800"/>
              </a:spcAft>
            </a:pPr>
            <a:r>
              <a:rPr lang="en-US">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FAA42F60-A368-C0CC-8092-292F67DD5626}"/>
              </a:ext>
            </a:extLst>
          </p:cNvPr>
          <p:cNvSpPr>
            <a:spLocks noGrp="1"/>
          </p:cNvSpPr>
          <p:nvPr>
            <p:ph type="sldNum" sz="quarter" idx="12"/>
          </p:nvPr>
        </p:nvSpPr>
        <p:spPr>
          <a:xfrm>
            <a:off x="8735324" y="6355588"/>
            <a:ext cx="2844059" cy="365030"/>
          </a:xfrm>
        </p:spPr>
        <p:txBody>
          <a:bodyPr vert="horz" lIns="121888" tIns="60944" rIns="121888" bIns="60944" rtlCol="0" anchor="ctr">
            <a:normAutofit/>
          </a:bodyPr>
          <a:lstStyle/>
          <a:p>
            <a:pPr defTabSz="1218895">
              <a:lnSpc>
                <a:spcPct val="90000"/>
              </a:lnSpc>
              <a:spcAft>
                <a:spcPts val="800"/>
              </a:spcAft>
            </a:pPr>
            <a:fld id="{B6F15528-21DE-4FAA-801E-634DDDAF4B2B}" type="slidenum">
              <a:rPr lang="en-US">
                <a:solidFill>
                  <a:prstClr val="black">
                    <a:tint val="75000"/>
                  </a:prstClr>
                </a:solidFill>
                <a:latin typeface="Calibri"/>
              </a:rPr>
              <a:pPr defTabSz="1218895">
                <a:lnSpc>
                  <a:spcPct val="90000"/>
                </a:lnSpc>
                <a:spcAft>
                  <a:spcPts val="800"/>
                </a:spcAft>
              </a:pPr>
              <a:t>14</a:t>
            </a:fld>
            <a:endParaRPr lang="en-US">
              <a:solidFill>
                <a:prstClr val="black">
                  <a:tint val="75000"/>
                </a:prstClr>
              </a:solidFill>
              <a:latin typeface="Calibri"/>
            </a:endParaRPr>
          </a:p>
        </p:txBody>
      </p:sp>
      <p:pic>
        <p:nvPicPr>
          <p:cNvPr id="2050" name="Picture 2">
            <a:extLst>
              <a:ext uri="{FF2B5EF4-FFF2-40B4-BE49-F238E27FC236}">
                <a16:creationId xmlns:a16="http://schemas.microsoft.com/office/drawing/2014/main" id="{E6C5C3CF-D3AF-842C-ADD4-D11C6DD1B8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8486" y="2121693"/>
            <a:ext cx="6380339" cy="306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447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66E87-7996-22E7-C8F4-3BB04C7C1E9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2E6596-39B5-ACC3-D2CB-773BEA319ADF}"/>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40E2F47D-F0A7-25E8-7A57-232EF1ACC0F2}"/>
              </a:ext>
            </a:extLst>
          </p:cNvPr>
          <p:cNvSpPr>
            <a:spLocks noGrp="1"/>
          </p:cNvSpPr>
          <p:nvPr>
            <p:ph type="sldNum" sz="quarter" idx="12"/>
          </p:nvPr>
        </p:nvSpPr>
        <p:spPr>
          <a:xfrm>
            <a:off x="203147" y="6374633"/>
            <a:ext cx="609441" cy="365030"/>
          </a:xfrm>
        </p:spPr>
        <p:txBody>
          <a:bodyPr/>
          <a:lstStyle/>
          <a:p>
            <a:pPr defTabSz="1218895"/>
            <a:fld id="{B6F15528-21DE-4FAA-801E-634DDDAF4B2B}" type="slidenum">
              <a:rPr lang="en-US">
                <a:solidFill>
                  <a:prstClr val="black">
                    <a:tint val="75000"/>
                  </a:prstClr>
                </a:solidFill>
                <a:latin typeface="Calibri"/>
              </a:rPr>
              <a:pPr defTabSz="1218895"/>
              <a:t>15</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24F6E4FF-D8B1-F30D-AE81-FE5B4F6A5272}"/>
              </a:ext>
            </a:extLst>
          </p:cNvPr>
          <p:cNvSpPr>
            <a:spLocks noGrp="1"/>
          </p:cNvSpPr>
          <p:nvPr>
            <p:ph type="title"/>
          </p:nvPr>
        </p:nvSpPr>
        <p:spPr>
          <a:xfrm>
            <a:off x="101573" y="178647"/>
            <a:ext cx="10969943" cy="711016"/>
          </a:xfrm>
        </p:spPr>
        <p:txBody>
          <a:bodyPr/>
          <a:lstStyle/>
          <a:p>
            <a:r>
              <a:rPr lang="en-IN" sz="3333" dirty="0"/>
              <a:t>SAP BTP Build Process Automation</a:t>
            </a:r>
          </a:p>
        </p:txBody>
      </p:sp>
      <p:sp>
        <p:nvSpPr>
          <p:cNvPr id="8" name="TextBox 7">
            <a:extLst>
              <a:ext uri="{FF2B5EF4-FFF2-40B4-BE49-F238E27FC236}">
                <a16:creationId xmlns:a16="http://schemas.microsoft.com/office/drawing/2014/main" id="{3E6F95A9-2EF3-6962-61B8-739B7A4F6D5F}"/>
              </a:ext>
            </a:extLst>
          </p:cNvPr>
          <p:cNvSpPr txBox="1"/>
          <p:nvPr/>
        </p:nvSpPr>
        <p:spPr>
          <a:xfrm>
            <a:off x="203146" y="1302293"/>
            <a:ext cx="11376237" cy="5016758"/>
          </a:xfrm>
          <a:prstGeom prst="rect">
            <a:avLst/>
          </a:prstGeom>
          <a:noFill/>
        </p:spPr>
        <p:txBody>
          <a:bodyPr wrap="square" rtlCol="0">
            <a:spAutoFit/>
          </a:bodyPr>
          <a:lstStyle/>
          <a:p>
            <a:pPr defTabSz="1218895"/>
            <a:r>
              <a:rPr lang="en-US" sz="1600" dirty="0">
                <a:solidFill>
                  <a:srgbClr val="333333"/>
                </a:solidFill>
                <a:latin typeface="72" panose="020B0503030000000003" pitchFamily="34" charset="0"/>
              </a:rPr>
              <a:t>SAP Build Process Automation is a citizen developer solution to adapt, improve, and innovate business processes with no-code workflow management and robotic process automation capabilities.</a:t>
            </a:r>
          </a:p>
          <a:p>
            <a:pPr defTabSz="1218895"/>
            <a:endParaRPr lang="en-US" sz="1600" dirty="0">
              <a:solidFill>
                <a:srgbClr val="333333"/>
              </a:solidFill>
              <a:latin typeface="72" panose="020B0503030000000003" pitchFamily="34" charset="0"/>
            </a:endParaRPr>
          </a:p>
          <a:p>
            <a:pPr defTabSz="1218895"/>
            <a:r>
              <a:rPr lang="en-US" sz="1600" dirty="0">
                <a:solidFill>
                  <a:srgbClr val="333333"/>
                </a:solidFill>
                <a:latin typeface="72" panose="020B0503030000000003" pitchFamily="34" charset="0"/>
              </a:rPr>
              <a:t>SAP Build Process Automation enables business users and technologists to become citizen developers. With powerful yet intuitive low-code and no-code capabilities, the solution supports you in driving automation by tapping into the expertise of citizen developers.</a:t>
            </a:r>
          </a:p>
          <a:p>
            <a:pPr defTabSz="1218895"/>
            <a:endParaRPr lang="en-US" sz="1600" dirty="0">
              <a:solidFill>
                <a:srgbClr val="333333"/>
              </a:solidFill>
              <a:latin typeface="72" panose="020B0503030000000003" pitchFamily="34" charset="0"/>
            </a:endParaRPr>
          </a:p>
          <a:p>
            <a:pPr defTabSz="1218895"/>
            <a:r>
              <a:rPr lang="en-US" sz="1600" b="1" dirty="0">
                <a:solidFill>
                  <a:srgbClr val="333333"/>
                </a:solidFill>
                <a:latin typeface="72" panose="020B0503030000000003" pitchFamily="34" charset="0"/>
              </a:rPr>
              <a:t>Features</a:t>
            </a:r>
          </a:p>
          <a:p>
            <a:pPr defTabSz="1218895">
              <a:buFont typeface="Arial" panose="020B0604020202020204" pitchFamily="34" charset="0"/>
              <a:buChar char="•"/>
            </a:pPr>
            <a:r>
              <a:rPr lang="en-US" sz="1600" dirty="0">
                <a:solidFill>
                  <a:srgbClr val="333333"/>
                </a:solidFill>
                <a:latin typeface="72" panose="020B0503030000000003" pitchFamily="34" charset="0"/>
              </a:rPr>
              <a:t> Build or adapt processes with an intuitive graphical interface.</a:t>
            </a:r>
          </a:p>
          <a:p>
            <a:pPr defTabSz="1218895">
              <a:buFont typeface="Arial" panose="020B0604020202020204" pitchFamily="34" charset="0"/>
              <a:buChar char="•"/>
            </a:pPr>
            <a:r>
              <a:rPr lang="en-US" sz="1600" dirty="0">
                <a:solidFill>
                  <a:srgbClr val="333333"/>
                </a:solidFill>
                <a:latin typeface="72" panose="020B0503030000000003" pitchFamily="34" charset="0"/>
              </a:rPr>
              <a:t> Create forms-based workflows using drag-and-drop functionality.</a:t>
            </a:r>
          </a:p>
          <a:p>
            <a:pPr defTabSz="1218895">
              <a:buFont typeface="Arial" panose="020B0604020202020204" pitchFamily="34" charset="0"/>
              <a:buChar char="•"/>
            </a:pPr>
            <a:r>
              <a:rPr lang="en-US" sz="1600" dirty="0">
                <a:solidFill>
                  <a:srgbClr val="333333"/>
                </a:solidFill>
                <a:latin typeface="72" panose="020B0503030000000003" pitchFamily="34" charset="0"/>
              </a:rPr>
              <a:t> Develop and manage decision logic in tabular, spreadsheet-like decision tables.</a:t>
            </a:r>
          </a:p>
          <a:p>
            <a:pPr defTabSz="1218895">
              <a:buFont typeface="Arial" panose="020B0604020202020204" pitchFamily="34" charset="0"/>
              <a:buChar char="•"/>
            </a:pPr>
            <a:r>
              <a:rPr lang="en-US" sz="1600" dirty="0">
                <a:solidFill>
                  <a:srgbClr val="333333"/>
                </a:solidFill>
                <a:latin typeface="72" panose="020B0503030000000003" pitchFamily="34" charset="0"/>
              </a:rPr>
              <a:t> Automate repetitive tasks within existing process flows using robotic process automation.</a:t>
            </a:r>
          </a:p>
          <a:p>
            <a:pPr defTabSz="1218895">
              <a:buFont typeface="Arial" panose="020B0604020202020204" pitchFamily="34" charset="0"/>
              <a:buChar char="•"/>
            </a:pPr>
            <a:r>
              <a:rPr lang="en-US" sz="1600" dirty="0">
                <a:solidFill>
                  <a:srgbClr val="333333"/>
                </a:solidFill>
                <a:latin typeface="72" panose="020B0503030000000003" pitchFamily="34" charset="0"/>
              </a:rPr>
              <a:t> Create intelligent actions and recommendations using machine learning capabilities.</a:t>
            </a:r>
          </a:p>
          <a:p>
            <a:pPr defTabSz="1218895">
              <a:buFont typeface="Arial" panose="020B0604020202020204" pitchFamily="34" charset="0"/>
              <a:buChar char="•"/>
            </a:pPr>
            <a:r>
              <a:rPr lang="en-US" sz="1600" dirty="0">
                <a:solidFill>
                  <a:srgbClr val="333333"/>
                </a:solidFill>
                <a:latin typeface="72" panose="020B0503030000000003" pitchFamily="34" charset="0"/>
              </a:rPr>
              <a:t> Work efficiently from a unified launchpad and task center.</a:t>
            </a:r>
          </a:p>
          <a:p>
            <a:pPr defTabSz="1218895">
              <a:buFont typeface="Arial" panose="020B0604020202020204" pitchFamily="34" charset="0"/>
              <a:buChar char="•"/>
            </a:pPr>
            <a:r>
              <a:rPr lang="en-US" sz="1600" dirty="0">
                <a:solidFill>
                  <a:srgbClr val="333333"/>
                </a:solidFill>
                <a:latin typeface="72" panose="020B0503030000000003" pitchFamily="34" charset="0"/>
              </a:rPr>
              <a:t> Hand over projects to professional developers, who can embed actions and advanced workflows into projects initiated by citizen developers.</a:t>
            </a:r>
          </a:p>
          <a:p>
            <a:pPr defTabSz="1218895">
              <a:buFont typeface="Arial" panose="020B0604020202020204" pitchFamily="34" charset="0"/>
              <a:buChar char="•"/>
            </a:pPr>
            <a:r>
              <a:rPr lang="en-US" sz="1600" dirty="0">
                <a:solidFill>
                  <a:srgbClr val="333333"/>
                </a:solidFill>
                <a:latin typeface="72" panose="020B0503030000000003" pitchFamily="34" charset="0"/>
              </a:rPr>
              <a:t> Support real-time, event-driven transparency into comprehensive processes and process instances with process visibility dashboards.</a:t>
            </a:r>
          </a:p>
          <a:p>
            <a:pPr defTabSz="1218895"/>
            <a:r>
              <a:rPr lang="en-US" sz="1600" dirty="0">
                <a:solidFill>
                  <a:srgbClr val="333333"/>
                </a:solidFill>
                <a:latin typeface="72" panose="020B0503030000000003" pitchFamily="34" charset="0"/>
              </a:rPr>
              <a:t>In addition, SAP Build Process Automation offers prebuilt content and features – such as bots, process steps, business rules, and workflow components.</a:t>
            </a:r>
          </a:p>
        </p:txBody>
      </p:sp>
    </p:spTree>
    <p:extLst>
      <p:ext uri="{BB962C8B-B14F-4D97-AF65-F5344CB8AC3E}">
        <p14:creationId xmlns:p14="http://schemas.microsoft.com/office/powerpoint/2010/main" val="278502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Effect transition="in" filter="randombar(horizontal)">
                                      <p:cBhvr>
                                        <p:cTn id="25" dur="500"/>
                                        <p:tgtEl>
                                          <p:spTgt spid="8">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8">
                                            <p:txEl>
                                              <p:pRg st="6" end="6"/>
                                            </p:txEl>
                                          </p:spTgt>
                                        </p:tgtEl>
                                        <p:attrNameLst>
                                          <p:attrName>style.visibility</p:attrName>
                                        </p:attrNameLst>
                                      </p:cBhvr>
                                      <p:to>
                                        <p:strVal val="visible"/>
                                      </p:to>
                                    </p:set>
                                    <p:animEffect transition="in" filter="randombar(horizontal)">
                                      <p:cBhvr>
                                        <p:cTn id="30" dur="500"/>
                                        <p:tgtEl>
                                          <p:spTgt spid="8">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animEffect transition="in" filter="randombar(horizontal)">
                                      <p:cBhvr>
                                        <p:cTn id="35" dur="500"/>
                                        <p:tgtEl>
                                          <p:spTgt spid="8">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8">
                                            <p:txEl>
                                              <p:pRg st="8" end="8"/>
                                            </p:txEl>
                                          </p:spTgt>
                                        </p:tgtEl>
                                        <p:attrNameLst>
                                          <p:attrName>style.visibility</p:attrName>
                                        </p:attrNameLst>
                                      </p:cBhvr>
                                      <p:to>
                                        <p:strVal val="visible"/>
                                      </p:to>
                                    </p:set>
                                    <p:animEffect transition="in" filter="randombar(horizontal)">
                                      <p:cBhvr>
                                        <p:cTn id="40" dur="500"/>
                                        <p:tgtEl>
                                          <p:spTgt spid="8">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8">
                                            <p:txEl>
                                              <p:pRg st="9" end="9"/>
                                            </p:txEl>
                                          </p:spTgt>
                                        </p:tgtEl>
                                        <p:attrNameLst>
                                          <p:attrName>style.visibility</p:attrName>
                                        </p:attrNameLst>
                                      </p:cBhvr>
                                      <p:to>
                                        <p:strVal val="visible"/>
                                      </p:to>
                                    </p:set>
                                    <p:animEffect transition="in" filter="randombar(horizontal)">
                                      <p:cBhvr>
                                        <p:cTn id="45" dur="500"/>
                                        <p:tgtEl>
                                          <p:spTgt spid="8">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8">
                                            <p:txEl>
                                              <p:pRg st="10" end="10"/>
                                            </p:txEl>
                                          </p:spTgt>
                                        </p:tgtEl>
                                        <p:attrNameLst>
                                          <p:attrName>style.visibility</p:attrName>
                                        </p:attrNameLst>
                                      </p:cBhvr>
                                      <p:to>
                                        <p:strVal val="visible"/>
                                      </p:to>
                                    </p:set>
                                    <p:animEffect transition="in" filter="randombar(horizontal)">
                                      <p:cBhvr>
                                        <p:cTn id="50" dur="500"/>
                                        <p:tgtEl>
                                          <p:spTgt spid="8">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8">
                                            <p:txEl>
                                              <p:pRg st="11" end="11"/>
                                            </p:txEl>
                                          </p:spTgt>
                                        </p:tgtEl>
                                        <p:attrNameLst>
                                          <p:attrName>style.visibility</p:attrName>
                                        </p:attrNameLst>
                                      </p:cBhvr>
                                      <p:to>
                                        <p:strVal val="visible"/>
                                      </p:to>
                                    </p:set>
                                    <p:animEffect transition="in" filter="randombar(horizontal)">
                                      <p:cBhvr>
                                        <p:cTn id="55" dur="500"/>
                                        <p:tgtEl>
                                          <p:spTgt spid="8">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nodeType="clickEffect">
                                  <p:stCondLst>
                                    <p:cond delay="0"/>
                                  </p:stCondLst>
                                  <p:childTnLst>
                                    <p:set>
                                      <p:cBhvr>
                                        <p:cTn id="59" dur="1" fill="hold">
                                          <p:stCondLst>
                                            <p:cond delay="0"/>
                                          </p:stCondLst>
                                        </p:cTn>
                                        <p:tgtEl>
                                          <p:spTgt spid="8">
                                            <p:txEl>
                                              <p:pRg st="12" end="12"/>
                                            </p:txEl>
                                          </p:spTgt>
                                        </p:tgtEl>
                                        <p:attrNameLst>
                                          <p:attrName>style.visibility</p:attrName>
                                        </p:attrNameLst>
                                      </p:cBhvr>
                                      <p:to>
                                        <p:strVal val="visible"/>
                                      </p:to>
                                    </p:set>
                                    <p:animEffect transition="in" filter="randombar(horizontal)">
                                      <p:cBhvr>
                                        <p:cTn id="60" dur="500"/>
                                        <p:tgtEl>
                                          <p:spTgt spid="8">
                                            <p:txEl>
                                              <p:pRg st="12" end="1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nodeType="clickEffect">
                                  <p:stCondLst>
                                    <p:cond delay="0"/>
                                  </p:stCondLst>
                                  <p:childTnLst>
                                    <p:set>
                                      <p:cBhvr>
                                        <p:cTn id="64" dur="1" fill="hold">
                                          <p:stCondLst>
                                            <p:cond delay="0"/>
                                          </p:stCondLst>
                                        </p:cTn>
                                        <p:tgtEl>
                                          <p:spTgt spid="8">
                                            <p:txEl>
                                              <p:pRg st="13" end="13"/>
                                            </p:txEl>
                                          </p:spTgt>
                                        </p:tgtEl>
                                        <p:attrNameLst>
                                          <p:attrName>style.visibility</p:attrName>
                                        </p:attrNameLst>
                                      </p:cBhvr>
                                      <p:to>
                                        <p:strVal val="visible"/>
                                      </p:to>
                                    </p:set>
                                    <p:animEffect transition="in" filter="randombar(horizontal)">
                                      <p:cBhvr>
                                        <p:cTn id="65"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5B9C-880A-6C9C-5B1C-1CFAC6B5D7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0930A1-BFDC-7423-6F75-FDEB9B2A5A81}"/>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014C0387-3DF0-F601-F19F-1AFDE247F093}"/>
              </a:ext>
            </a:extLst>
          </p:cNvPr>
          <p:cNvSpPr>
            <a:spLocks noGrp="1"/>
          </p:cNvSpPr>
          <p:nvPr>
            <p:ph type="sldNum" sz="quarter" idx="12"/>
          </p:nvPr>
        </p:nvSpPr>
        <p:spPr>
          <a:xfrm>
            <a:off x="203147" y="6374633"/>
            <a:ext cx="609441" cy="365030"/>
          </a:xfrm>
        </p:spPr>
        <p:txBody>
          <a:bodyPr/>
          <a:lstStyle/>
          <a:p>
            <a:pPr defTabSz="1218895"/>
            <a:fld id="{B6F15528-21DE-4FAA-801E-634DDDAF4B2B}" type="slidenum">
              <a:rPr lang="en-US">
                <a:solidFill>
                  <a:prstClr val="black">
                    <a:tint val="75000"/>
                  </a:prstClr>
                </a:solidFill>
                <a:latin typeface="Calibri"/>
              </a:rPr>
              <a:pPr defTabSz="1218895"/>
              <a:t>16</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8016B7C2-D5F2-E63F-F090-68573DC21F4D}"/>
              </a:ext>
            </a:extLst>
          </p:cNvPr>
          <p:cNvSpPr>
            <a:spLocks noGrp="1"/>
          </p:cNvSpPr>
          <p:nvPr>
            <p:ph type="title"/>
          </p:nvPr>
        </p:nvSpPr>
        <p:spPr>
          <a:xfrm>
            <a:off x="203146" y="362595"/>
            <a:ext cx="10969943" cy="711016"/>
          </a:xfrm>
        </p:spPr>
        <p:txBody>
          <a:bodyPr/>
          <a:lstStyle/>
          <a:p>
            <a:r>
              <a:rPr lang="en-IN" sz="3333" dirty="0"/>
              <a:t>Product Overview</a:t>
            </a:r>
          </a:p>
        </p:txBody>
      </p:sp>
      <p:pic>
        <p:nvPicPr>
          <p:cNvPr id="13314" name="Picture 2" descr="The figure illustrates the three components of SAP Build Process Automation">
            <a:extLst>
              <a:ext uri="{FF2B5EF4-FFF2-40B4-BE49-F238E27FC236}">
                <a16:creationId xmlns:a16="http://schemas.microsoft.com/office/drawing/2014/main" id="{8C1EE60A-53F8-997F-32A7-69F6EDE059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9095" y="1795610"/>
            <a:ext cx="5811477" cy="24557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E9A8FC7-8B78-937F-3D7A-E4D1B6E419C6}"/>
              </a:ext>
            </a:extLst>
          </p:cNvPr>
          <p:cNvSpPr txBox="1"/>
          <p:nvPr/>
        </p:nvSpPr>
        <p:spPr>
          <a:xfrm>
            <a:off x="228540" y="1702250"/>
            <a:ext cx="6094413" cy="2800767"/>
          </a:xfrm>
          <a:prstGeom prst="rect">
            <a:avLst/>
          </a:prstGeom>
          <a:noFill/>
        </p:spPr>
        <p:txBody>
          <a:bodyPr wrap="square">
            <a:spAutoFit/>
          </a:bodyPr>
          <a:lstStyle/>
          <a:p>
            <a:pPr defTabSz="1218895"/>
            <a:r>
              <a:rPr lang="en-US" sz="1600" dirty="0">
                <a:solidFill>
                  <a:srgbClr val="223548"/>
                </a:solidFill>
                <a:latin typeface="72 Brand Variable"/>
              </a:rPr>
              <a:t>SAP Build Process Automation is a solution that evolved out of the former stand-alone SAP products - SAP Workflow Management and SAP Intelligent Robotic Process Automation. It provides a new citizen developer experience that didn't exist in either of the two former products.</a:t>
            </a:r>
          </a:p>
          <a:p>
            <a:pPr defTabSz="1218895"/>
            <a:endParaRPr lang="en-US" sz="1600" dirty="0">
              <a:solidFill>
                <a:srgbClr val="223548"/>
              </a:solidFill>
              <a:latin typeface="72 Brand Variable"/>
            </a:endParaRPr>
          </a:p>
          <a:p>
            <a:pPr defTabSz="1218895"/>
            <a:r>
              <a:rPr lang="en-US" sz="1600" dirty="0">
                <a:solidFill>
                  <a:srgbClr val="223548"/>
                </a:solidFill>
                <a:latin typeface="72 Brand Variable"/>
              </a:rPr>
              <a:t>As you or your company might have used SAP Workflow Management or SAP Intelligent Robotic Process Automation in the past, you are looking for a path into the joined solution. Fortunately, SAP Build Process Automation is fully compatible with all workflow and automation artifacts that you have created.</a:t>
            </a:r>
            <a:endParaRPr lang="en-IN" sz="1600" dirty="0">
              <a:solidFill>
                <a:prstClr val="black"/>
              </a:solidFill>
              <a:latin typeface="Calibri"/>
            </a:endParaRPr>
          </a:p>
        </p:txBody>
      </p:sp>
    </p:spTree>
    <p:extLst>
      <p:ext uri="{BB962C8B-B14F-4D97-AF65-F5344CB8AC3E}">
        <p14:creationId xmlns:p14="http://schemas.microsoft.com/office/powerpoint/2010/main" val="5170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314"/>
                                        </p:tgtEl>
                                        <p:attrNameLst>
                                          <p:attrName>style.visibility</p:attrName>
                                        </p:attrNameLst>
                                      </p:cBhvr>
                                      <p:to>
                                        <p:strVal val="visible"/>
                                      </p:to>
                                    </p:set>
                                    <p:anim calcmode="lin" valueType="num">
                                      <p:cBhvr additive="base">
                                        <p:cTn id="11" dur="500" fill="hold"/>
                                        <p:tgtEl>
                                          <p:spTgt spid="13314"/>
                                        </p:tgtEl>
                                        <p:attrNameLst>
                                          <p:attrName>ppt_x</p:attrName>
                                        </p:attrNameLst>
                                      </p:cBhvr>
                                      <p:tavLst>
                                        <p:tav tm="0">
                                          <p:val>
                                            <p:strVal val="#ppt_x"/>
                                          </p:val>
                                        </p:tav>
                                        <p:tav tm="100000">
                                          <p:val>
                                            <p:strVal val="#ppt_x"/>
                                          </p:val>
                                        </p:tav>
                                      </p:tavLst>
                                    </p:anim>
                                    <p:anim calcmode="lin" valueType="num">
                                      <p:cBhvr additive="base">
                                        <p:cTn id="12"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20</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8255</TotalTime>
  <Words>1706</Words>
  <Application>Microsoft Office PowerPoint</Application>
  <PresentationFormat>Custom</PresentationFormat>
  <Paragraphs>166</Paragraphs>
  <Slides>19</Slides>
  <Notes>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19</vt:i4>
      </vt:variant>
    </vt:vector>
  </HeadingPairs>
  <TitlesOfParts>
    <vt:vector size="32" baseType="lpstr">
      <vt:lpstr>72</vt:lpstr>
      <vt:lpstr>72 Brand Variable</vt:lpstr>
      <vt:lpstr>Amasis MT Pro Black</vt:lpstr>
      <vt:lpstr>Arial</vt:lpstr>
      <vt:lpstr>Arial Black</vt:lpstr>
      <vt:lpstr>BentonSansRegular</vt:lpstr>
      <vt:lpstr>Calibri</vt:lpstr>
      <vt:lpstr>Cooper Black</vt:lpstr>
      <vt:lpstr>Segoe UI</vt:lpstr>
      <vt:lpstr>Segoe UI Light</vt:lpstr>
      <vt:lpstr>TKTypeMedium</vt:lpstr>
      <vt:lpstr>Office Theme</vt:lpstr>
      <vt:lpstr>1_Office Theme</vt:lpstr>
      <vt:lpstr>SAP BTP Extension Suite Training</vt:lpstr>
      <vt:lpstr>PowerPoint Presentation</vt:lpstr>
      <vt:lpstr>Agenda – Day 20</vt:lpstr>
      <vt:lpstr>Hands on: Create Display like App for Sales Order</vt:lpstr>
      <vt:lpstr>Scenario 2: </vt:lpstr>
      <vt:lpstr>Hands on: Initialize CAPM Extension</vt:lpstr>
      <vt:lpstr>Hands on: Initialize CAPM Extension</vt:lpstr>
      <vt:lpstr>Hands on Cloud Extension</vt:lpstr>
      <vt:lpstr>What is fusion Team?</vt:lpstr>
      <vt:lpstr>Key role of professional developers?</vt:lpstr>
      <vt:lpstr>What is SAP Build?</vt:lpstr>
      <vt:lpstr>SAP Build Offerings?</vt:lpstr>
      <vt:lpstr>What is Build Apps?</vt:lpstr>
      <vt:lpstr>Core Capabilities?</vt:lpstr>
      <vt:lpstr>SAP BTP Build Process Automation</vt:lpstr>
      <vt:lpstr>Product Overview</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321</cp:revision>
  <dcterms:created xsi:type="dcterms:W3CDTF">2013-09-12T13:05:01Z</dcterms:created>
  <dcterms:modified xsi:type="dcterms:W3CDTF">2025-05-20T05:25:23Z</dcterms:modified>
</cp:coreProperties>
</file>