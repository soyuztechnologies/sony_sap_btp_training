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23"/>
  </p:notesMasterIdLst>
  <p:sldIdLst>
    <p:sldId id="256" r:id="rId4"/>
    <p:sldId id="402" r:id="rId5"/>
    <p:sldId id="276" r:id="rId6"/>
    <p:sldId id="295" r:id="rId7"/>
    <p:sldId id="296" r:id="rId8"/>
    <p:sldId id="297" r:id="rId9"/>
    <p:sldId id="298" r:id="rId10"/>
    <p:sldId id="299" r:id="rId11"/>
    <p:sldId id="300" r:id="rId12"/>
    <p:sldId id="301" r:id="rId13"/>
    <p:sldId id="303" r:id="rId14"/>
    <p:sldId id="423" r:id="rId15"/>
    <p:sldId id="306" r:id="rId16"/>
    <p:sldId id="307" r:id="rId17"/>
    <p:sldId id="424" r:id="rId18"/>
    <p:sldId id="425" r:id="rId19"/>
    <p:sldId id="426" r:id="rId20"/>
    <p:sldId id="419" r:id="rId21"/>
    <p:sldId id="409" r:id="rId22"/>
  </p:sldIdLst>
  <p:sldSz cx="12188825" cy="6858000"/>
  <p:notesSz cx="6858000" cy="9144000"/>
  <p:embeddedFontLst>
    <p:embeddedFont>
      <p:font typeface="Arial Black" panose="020B0A04020102020204" pitchFamily="34" charset="0"/>
      <p:regular r:id="rId24"/>
      <p:bold r:id="rId25"/>
    </p:embeddedFont>
    <p:embeddedFont>
      <p:font typeface="Cambria" panose="02040503050406030204" pitchFamily="18" charset="0"/>
      <p:regular r:id="rId26"/>
      <p:bold r:id="rId27"/>
      <p:italic r:id="rId28"/>
      <p:boldItalic r:id="rId29"/>
    </p:embeddedFont>
    <p:embeddedFont>
      <p:font typeface="Cooper Black" panose="0208090404030B020404" pitchFamily="18" charset="0"/>
      <p:regular r:id="rId30"/>
    </p:embeddedFont>
    <p:embeddedFont>
      <p:font typeface="Corben" panose="020B0604020202020204" charset="0"/>
      <p:bold r:id="rId31"/>
    </p:embeddedFont>
    <p:embeddedFont>
      <p:font typeface="Open Sans" panose="020B0606030504020204" pitchFamily="34" charset="0"/>
      <p:regular r:id="rId32"/>
      <p:bold r:id="rId33"/>
      <p:italic r:id="rId34"/>
      <p:boldItalic r:id="rId35"/>
    </p:embeddedFont>
    <p:embeddedFont>
      <p:font typeface="Quattrocento Sans" panose="020B0502050000020003" pitchFamily="34" charset="0"/>
      <p:regular r:id="rId36"/>
      <p:bold r:id="rId37"/>
      <p:italic r:id="rId38"/>
      <p:boldItalic r:id="rId39"/>
    </p:embeddedFont>
    <p:embeddedFont>
      <p:font typeface="Segoe UI" panose="020B0502040204020203" pitchFamily="34" charset="0"/>
      <p:regular r:id="rId40"/>
      <p:bold r:id="rId41"/>
      <p:italic r:id="rId42"/>
      <p:boldItalic r:id="rId43"/>
    </p:embeddedFont>
    <p:embeddedFont>
      <p:font typeface="Segoe UI Light" panose="020B0502040204020203" pitchFamily="34" charset="0"/>
      <p:regular r:id="rId44"/>
      <p: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8.xml"/><Relationship Id="rId34" Type="http://schemas.openxmlformats.org/officeDocument/2006/relationships/font" Target="fonts/font11.fntdata"/><Relationship Id="rId42" Type="http://schemas.openxmlformats.org/officeDocument/2006/relationships/font" Target="fonts/font19.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6.fntdata"/><Relationship Id="rId11" Type="http://schemas.openxmlformats.org/officeDocument/2006/relationships/slide" Target="slides/slide8.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7.xml"/><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1" name="Google Shape;1091;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6" name="Google Shape;1126;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4" name="Google Shape;113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2" name="Google Shape;1142;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8"/>
        <p:cNvGrpSpPr/>
        <p:nvPr/>
      </p:nvGrpSpPr>
      <p:grpSpPr>
        <a:xfrm>
          <a:off x="0" y="0"/>
          <a:ext cx="0" cy="0"/>
          <a:chOff x="0" y="0"/>
          <a:chExt cx="0" cy="0"/>
        </a:xfrm>
      </p:grpSpPr>
      <p:sp>
        <p:nvSpPr>
          <p:cNvPr id="1149" name="Google Shape;1149;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0" name="Google Shape;1150;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9" name="Google Shape;1159;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6" name="Google Shape;117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2" name="Google Shape;119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4" name="Google Shape;1204;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3" name="Google Shape;1223;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1" name="Google Shape;1231;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2"/>
        <p:cNvGrpSpPr/>
        <p:nvPr/>
      </p:nvGrpSpPr>
      <p:grpSpPr>
        <a:xfrm>
          <a:off x="0" y="0"/>
          <a:ext cx="0" cy="0"/>
          <a:chOff x="0" y="0"/>
          <a:chExt cx="0" cy="0"/>
        </a:xfrm>
      </p:grpSpPr>
      <p:sp>
        <p:nvSpPr>
          <p:cNvPr id="1243" name="Google Shape;1243;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4" name="Google Shape;1244;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1"/>
        <p:cNvGrpSpPr/>
        <p:nvPr/>
      </p:nvGrpSpPr>
      <p:grpSpPr>
        <a:xfrm>
          <a:off x="0" y="0"/>
          <a:ext cx="0" cy="0"/>
          <a:chOff x="0" y="0"/>
          <a:chExt cx="0" cy="0"/>
        </a:xfrm>
      </p:grpSpPr>
      <p:sp>
        <p:nvSpPr>
          <p:cNvPr id="1252" name="Google Shape;1252;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3" name="Google Shape;1253;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5"/>
        <p:cNvGrpSpPr/>
        <p:nvPr/>
      </p:nvGrpSpPr>
      <p:grpSpPr>
        <a:xfrm>
          <a:off x="0" y="0"/>
          <a:ext cx="0" cy="0"/>
          <a:chOff x="0" y="0"/>
          <a:chExt cx="0" cy="0"/>
        </a:xfrm>
      </p:grpSpPr>
      <p:sp>
        <p:nvSpPr>
          <p:cNvPr id="1266" name="Google Shape;1266;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7" name="Google Shape;1267;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3596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382"/>
        <p:cNvGrpSpPr/>
        <p:nvPr/>
      </p:nvGrpSpPr>
      <p:grpSpPr>
        <a:xfrm>
          <a:off x="0" y="0"/>
          <a:ext cx="0" cy="0"/>
          <a:chOff x="0" y="0"/>
          <a:chExt cx="0" cy="0"/>
        </a:xfrm>
      </p:grpSpPr>
      <p:sp>
        <p:nvSpPr>
          <p:cNvPr id="383" name="Google Shape;383;p161"/>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3599"/>
              <a:buFont typeface="Calibri"/>
              <a:buNone/>
              <a:defRPr sz="35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4" name="Google Shape;384;p16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85" name="Google Shape;385;p16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86" name="Google Shape;386;p16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87" name="Google Shape;387;p161"/>
          <p:cNvSpPr txBox="1">
            <a:spLocks noGrp="1"/>
          </p:cNvSpPr>
          <p:nvPr>
            <p:ph type="body" idx="1"/>
          </p:nvPr>
        </p:nvSpPr>
        <p:spPr>
          <a:xfrm>
            <a:off x="608013" y="932701"/>
            <a:ext cx="10972800" cy="484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199"/>
              <a:buFont typeface="Calibri"/>
              <a:buNone/>
              <a:defRPr sz="2199"/>
            </a:lvl1pPr>
            <a:lvl2pPr marL="914400" lvl="1" indent="-228600" algn="l">
              <a:lnSpc>
                <a:spcPct val="90000"/>
              </a:lnSpc>
              <a:spcBef>
                <a:spcPts val="500"/>
              </a:spcBef>
              <a:spcAft>
                <a:spcPts val="0"/>
              </a:spcAft>
              <a:buClr>
                <a:schemeClr val="dk1"/>
              </a:buClr>
              <a:buSzPts val="2000"/>
              <a:buFont typeface="Calibri"/>
              <a:buNone/>
              <a:defRPr sz="2000"/>
            </a:lvl2pPr>
            <a:lvl3pPr marL="1371600" lvl="2" indent="-228600" algn="l">
              <a:lnSpc>
                <a:spcPct val="90000"/>
              </a:lnSpc>
              <a:spcBef>
                <a:spcPts val="500"/>
              </a:spcBef>
              <a:spcAft>
                <a:spcPts val="0"/>
              </a:spcAft>
              <a:buClr>
                <a:schemeClr val="dk1"/>
              </a:buClr>
              <a:buSzPts val="1600"/>
              <a:buFont typeface="Calibri"/>
              <a:buNone/>
              <a:defRPr sz="1600"/>
            </a:lvl3pPr>
            <a:lvl4pPr marL="1828800" lvl="3" indent="-228600" algn="l">
              <a:lnSpc>
                <a:spcPct val="90000"/>
              </a:lnSpc>
              <a:spcBef>
                <a:spcPts val="500"/>
              </a:spcBef>
              <a:spcAft>
                <a:spcPts val="0"/>
              </a:spcAft>
              <a:buClr>
                <a:schemeClr val="dk1"/>
              </a:buClr>
              <a:buSzPts val="1400"/>
              <a:buFont typeface="Calibri"/>
              <a:buNone/>
              <a:defRPr sz="1400"/>
            </a:lvl4pPr>
            <a:lvl5pPr marL="2286000" lvl="4" indent="-228600" algn="l">
              <a:lnSpc>
                <a:spcPct val="90000"/>
              </a:lnSpc>
              <a:spcBef>
                <a:spcPts val="500"/>
              </a:spcBef>
              <a:spcAft>
                <a:spcPts val="0"/>
              </a:spcAft>
              <a:buClr>
                <a:schemeClr val="dk1"/>
              </a:buClr>
              <a:buSzPts val="1400"/>
              <a:buFont typeface="Calibri"/>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96938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375"/>
        <p:cNvGrpSpPr/>
        <p:nvPr/>
      </p:nvGrpSpPr>
      <p:grpSpPr>
        <a:xfrm>
          <a:off x="0" y="0"/>
          <a:ext cx="0" cy="0"/>
          <a:chOff x="0" y="0"/>
          <a:chExt cx="0" cy="0"/>
        </a:xfrm>
      </p:grpSpPr>
      <p:sp>
        <p:nvSpPr>
          <p:cNvPr id="376" name="Google Shape;376;p159"/>
          <p:cNvSpPr>
            <a:spLocks noGrp="1"/>
          </p:cNvSpPr>
          <p:nvPr>
            <p:ph type="pic" idx="2"/>
          </p:nvPr>
        </p:nvSpPr>
        <p:spPr>
          <a:xfrm>
            <a:off x="3977670" y="-174172"/>
            <a:ext cx="8410275" cy="7206343"/>
          </a:xfrm>
          <a:prstGeom prst="rect">
            <a:avLst/>
          </a:prstGeom>
          <a:solidFill>
            <a:srgbClr val="F2F2F2"/>
          </a:solidFill>
          <a:ln>
            <a:noFill/>
          </a:ln>
        </p:spPr>
      </p:sp>
    </p:spTree>
    <p:extLst>
      <p:ext uri="{BB962C8B-B14F-4D97-AF65-F5344CB8AC3E}">
        <p14:creationId xmlns:p14="http://schemas.microsoft.com/office/powerpoint/2010/main" val="280489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theme" Target="../theme/theme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image" Target="../media/image1.pn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 id="2147483746" r:id="rId9"/>
    <p:sldLayoutId id="214748374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2/14/2026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3.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tiff"/><Relationship Id="rId2" Type="http://schemas.openxmlformats.org/officeDocument/2006/relationships/notesSlide" Target="../notesSlides/notesSlide17.xml"/><Relationship Id="rId1" Type="http://schemas.openxmlformats.org/officeDocument/2006/relationships/slideLayout" Target="../slideLayouts/slideLayout40.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23.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DAY-20</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937725"/>
            <a:ext cx="2597506" cy="646331"/>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Challenges in ABAP Development</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Evolution of ABAP</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RAP introduction</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848171"/>
            <a:ext cx="2597506" cy="646331"/>
          </a:xfrm>
          <a:prstGeom prst="rect">
            <a:avLst/>
          </a:prstGeom>
        </p:spPr>
        <p:txBody>
          <a:bodyPr wrap="square" lIns="0" rIns="0" anchor="ctr">
            <a:spAutoFit/>
          </a:bodyPr>
          <a:lstStyle/>
          <a:p>
            <a:r>
              <a:rPr lang="en-IN" sz="1800" b="1">
                <a:solidFill>
                  <a:schemeClr val="accent4"/>
                </a:solidFill>
                <a:latin typeface="Open Sans" panose="020B0606030504020204" pitchFamily="34" charset="0"/>
                <a:ea typeface="Open Sans" panose="020B0606030504020204" pitchFamily="34" charset="0"/>
                <a:cs typeface="Open Sans" panose="020B0606030504020204" pitchFamily="34" charset="0"/>
              </a:rPr>
              <a:t>Business Object and Data Model</a:t>
            </a:r>
            <a:endPar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40"/>
          <p:cNvSpPr/>
          <p:nvPr/>
        </p:nvSpPr>
        <p:spPr>
          <a:xfrm flipH="1">
            <a:off x="1588" y="286458"/>
            <a:ext cx="560127" cy="27021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1094" name="Google Shape;1094;p40"/>
          <p:cNvPicPr preferRelativeResize="0"/>
          <p:nvPr/>
        </p:nvPicPr>
        <p:blipFill rotWithShape="1">
          <a:blip r:embed="rId3">
            <a:alphaModFix/>
          </a:blip>
          <a:srcRect/>
          <a:stretch/>
        </p:blipFill>
        <p:spPr>
          <a:xfrm>
            <a:off x="10856018" y="421565"/>
            <a:ext cx="892034" cy="790981"/>
          </a:xfrm>
          <a:prstGeom prst="rect">
            <a:avLst/>
          </a:prstGeom>
          <a:noFill/>
          <a:ln>
            <a:noFill/>
          </a:ln>
        </p:spPr>
      </p:pic>
      <p:sp>
        <p:nvSpPr>
          <p:cNvPr id="1097" name="Google Shape;1097;p40"/>
          <p:cNvSpPr txBox="1"/>
          <p:nvPr/>
        </p:nvSpPr>
        <p:spPr>
          <a:xfrm>
            <a:off x="606056" y="146659"/>
            <a:ext cx="10510125" cy="64038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3599"/>
              <a:buFont typeface="Corben"/>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Challenges in ABAP development</a:t>
            </a:r>
            <a:endParaRPr kumimoji="0" sz="3598"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098" name="Google Shape;1098;p40" descr="Programmer Avatar High Res Stock Images | Shutterstock"/>
          <p:cNvPicPr preferRelativeResize="0"/>
          <p:nvPr/>
        </p:nvPicPr>
        <p:blipFill rotWithShape="1">
          <a:blip r:embed="rId4">
            <a:alphaModFix/>
          </a:blip>
          <a:srcRect b="9913"/>
          <a:stretch/>
        </p:blipFill>
        <p:spPr>
          <a:xfrm>
            <a:off x="351809" y="1272919"/>
            <a:ext cx="1959204" cy="1900748"/>
          </a:xfrm>
          <a:prstGeom prst="rect">
            <a:avLst/>
          </a:prstGeom>
          <a:noFill/>
          <a:ln>
            <a:noFill/>
          </a:ln>
        </p:spPr>
      </p:pic>
      <p:sp>
        <p:nvSpPr>
          <p:cNvPr id="1099" name="Google Shape;1099;p40"/>
          <p:cNvSpPr txBox="1"/>
          <p:nvPr/>
        </p:nvSpPr>
        <p:spPr>
          <a:xfrm>
            <a:off x="351809" y="3066664"/>
            <a:ext cx="2686959" cy="6456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000000"/>
                </a:solidFill>
                <a:effectLst/>
                <a:uLnTx/>
                <a:uFillTx/>
                <a:latin typeface="Calibri"/>
                <a:ea typeface="Calibri"/>
                <a:cs typeface="Calibri"/>
                <a:sym typeface="Calibri"/>
              </a:rPr>
              <a:t>Alex, ABAP Developer,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1" i="0" u="none" strike="noStrike" kern="0" cap="none" spc="0" normalizeH="0" baseline="0" noProof="0">
                <a:ln>
                  <a:noFill/>
                </a:ln>
                <a:solidFill>
                  <a:srgbClr val="000000"/>
                </a:solidFill>
                <a:effectLst/>
                <a:uLnTx/>
                <a:uFillTx/>
                <a:latin typeface="Calibri"/>
                <a:ea typeface="Calibri"/>
                <a:cs typeface="Calibri"/>
                <a:sym typeface="Calibri"/>
              </a:rPr>
              <a:t>SAP FICO</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100" name="Google Shape;1100;p40" descr="Woman Avatar Programmer Vector Images (over 300)"/>
          <p:cNvPicPr preferRelativeResize="0"/>
          <p:nvPr/>
        </p:nvPicPr>
        <p:blipFill rotWithShape="1">
          <a:blip r:embed="rId5">
            <a:alphaModFix/>
          </a:blip>
          <a:srcRect/>
          <a:stretch/>
        </p:blipFill>
        <p:spPr>
          <a:xfrm>
            <a:off x="351809" y="3932032"/>
            <a:ext cx="1971357" cy="2070753"/>
          </a:xfrm>
          <a:prstGeom prst="rect">
            <a:avLst/>
          </a:prstGeom>
          <a:noFill/>
          <a:ln>
            <a:noFill/>
          </a:ln>
        </p:spPr>
      </p:pic>
      <p:sp>
        <p:nvSpPr>
          <p:cNvPr id="1101" name="Google Shape;1101;p40"/>
          <p:cNvSpPr txBox="1"/>
          <p:nvPr/>
        </p:nvSpPr>
        <p:spPr>
          <a:xfrm>
            <a:off x="283239" y="6002787"/>
            <a:ext cx="2686959" cy="6456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000000"/>
                </a:solidFill>
                <a:effectLst/>
                <a:uLnTx/>
                <a:uFillTx/>
                <a:latin typeface="Calibri"/>
                <a:ea typeface="Calibri"/>
                <a:cs typeface="Calibri"/>
                <a:sym typeface="Calibri"/>
              </a:rPr>
              <a:t>Stella, ABAP Developer,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1" i="0" u="none" strike="noStrike" kern="0" cap="none" spc="0" normalizeH="0" baseline="0" noProof="0">
                <a:ln>
                  <a:noFill/>
                </a:ln>
                <a:solidFill>
                  <a:srgbClr val="000000"/>
                </a:solidFill>
                <a:effectLst/>
                <a:uLnTx/>
                <a:uFillTx/>
                <a:latin typeface="Calibri"/>
                <a:ea typeface="Calibri"/>
                <a:cs typeface="Calibri"/>
                <a:sym typeface="Calibri"/>
              </a:rPr>
              <a:t>SAP SD</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2" name="Google Shape;1102;p40"/>
          <p:cNvSpPr/>
          <p:nvPr/>
        </p:nvSpPr>
        <p:spPr>
          <a:xfrm>
            <a:off x="3232632" y="1349593"/>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Create A/c documents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3" name="Google Shape;1103;p40"/>
          <p:cNvSpPr/>
          <p:nvPr/>
        </p:nvSpPr>
        <p:spPr>
          <a:xfrm>
            <a:off x="3232632" y="1834251"/>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Manage Documents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4" name="Google Shape;1104;p40"/>
          <p:cNvSpPr/>
          <p:nvPr/>
        </p:nvSpPr>
        <p:spPr>
          <a:xfrm>
            <a:off x="3232632" y="2323522"/>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Search Documents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5" name="Google Shape;1105;p40"/>
          <p:cNvSpPr/>
          <p:nvPr/>
        </p:nvSpPr>
        <p:spPr>
          <a:xfrm>
            <a:off x="3232632" y="2813636"/>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Validate before save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6" name="Google Shape;1106;p40"/>
          <p:cNvSpPr/>
          <p:nvPr/>
        </p:nvSpPr>
        <p:spPr>
          <a:xfrm>
            <a:off x="3232632" y="4044366"/>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Create Sales Orders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7" name="Google Shape;1107;p40"/>
          <p:cNvSpPr/>
          <p:nvPr/>
        </p:nvSpPr>
        <p:spPr>
          <a:xfrm>
            <a:off x="3232632" y="4529021"/>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Manage Sales Orders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8" name="Google Shape;1108;p40"/>
          <p:cNvSpPr/>
          <p:nvPr/>
        </p:nvSpPr>
        <p:spPr>
          <a:xfrm>
            <a:off x="3232632" y="5018293"/>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Search/Filter Sales Order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9" name="Google Shape;1109;p40"/>
          <p:cNvSpPr/>
          <p:nvPr/>
        </p:nvSpPr>
        <p:spPr>
          <a:xfrm>
            <a:off x="3232632" y="5508408"/>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Compute Sales total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0" name="Google Shape;1110;p40"/>
          <p:cNvSpPr/>
          <p:nvPr/>
        </p:nvSpPr>
        <p:spPr>
          <a:xfrm>
            <a:off x="6858615" y="868030"/>
            <a:ext cx="2054546" cy="64038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UI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1" name="Google Shape;1111;p40"/>
          <p:cNvSpPr/>
          <p:nvPr/>
        </p:nvSpPr>
        <p:spPr>
          <a:xfrm>
            <a:off x="6760194" y="1771226"/>
            <a:ext cx="2251391" cy="939546"/>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Application Code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I, U, D, S, V</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2" name="Google Shape;1112;p40"/>
          <p:cNvSpPr/>
          <p:nvPr/>
        </p:nvSpPr>
        <p:spPr>
          <a:xfrm>
            <a:off x="7447389" y="3018454"/>
            <a:ext cx="876998" cy="615365"/>
          </a:xfrm>
          <a:prstGeom prst="flowChartMagneticDisk">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113" name="Google Shape;1113;p40"/>
          <p:cNvCxnSpPr>
            <a:stCxn id="1110" idx="2"/>
            <a:endCxn id="1111" idx="0"/>
          </p:cNvCxnSpPr>
          <p:nvPr/>
        </p:nvCxnSpPr>
        <p:spPr>
          <a:xfrm>
            <a:off x="7885888" y="1508410"/>
            <a:ext cx="0" cy="262800"/>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1114" name="Google Shape;1114;p40"/>
          <p:cNvCxnSpPr>
            <a:stCxn id="1111" idx="2"/>
            <a:endCxn id="1112" idx="1"/>
          </p:cNvCxnSpPr>
          <p:nvPr/>
        </p:nvCxnSpPr>
        <p:spPr>
          <a:xfrm>
            <a:off x="7885890" y="2710772"/>
            <a:ext cx="0" cy="307800"/>
          </a:xfrm>
          <a:prstGeom prst="straightConnector1">
            <a:avLst/>
          </a:prstGeom>
          <a:noFill/>
          <a:ln w="9525" cap="flat" cmpd="sng">
            <a:solidFill>
              <a:schemeClr val="accent1"/>
            </a:solidFill>
            <a:prstDash val="solid"/>
            <a:miter lim="800000"/>
            <a:headEnd type="triangle" w="med" len="med"/>
            <a:tailEnd type="triangle" w="med" len="med"/>
          </a:ln>
        </p:spPr>
      </p:cxnSp>
      <p:pic>
        <p:nvPicPr>
          <p:cNvPr id="1115" name="Google Shape;1115;p40" descr="Gear icon - Free download on Iconfinder"/>
          <p:cNvPicPr preferRelativeResize="0"/>
          <p:nvPr/>
        </p:nvPicPr>
        <p:blipFill rotWithShape="1">
          <a:blip r:embed="rId6">
            <a:alphaModFix/>
          </a:blip>
          <a:srcRect/>
          <a:stretch/>
        </p:blipFill>
        <p:spPr>
          <a:xfrm>
            <a:off x="8382994" y="2156769"/>
            <a:ext cx="847838" cy="847838"/>
          </a:xfrm>
          <a:prstGeom prst="rect">
            <a:avLst/>
          </a:prstGeom>
          <a:noFill/>
          <a:ln>
            <a:noFill/>
          </a:ln>
        </p:spPr>
      </p:pic>
      <p:sp>
        <p:nvSpPr>
          <p:cNvPr id="1116" name="Google Shape;1116;p40"/>
          <p:cNvSpPr/>
          <p:nvPr/>
        </p:nvSpPr>
        <p:spPr>
          <a:xfrm>
            <a:off x="6858615" y="3882992"/>
            <a:ext cx="2054546" cy="64038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UI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7" name="Google Shape;1117;p40"/>
          <p:cNvSpPr/>
          <p:nvPr/>
        </p:nvSpPr>
        <p:spPr>
          <a:xfrm>
            <a:off x="6760194" y="4786188"/>
            <a:ext cx="2251391" cy="939546"/>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Application Code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I, U, D, S, V</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8" name="Google Shape;1118;p40"/>
          <p:cNvSpPr/>
          <p:nvPr/>
        </p:nvSpPr>
        <p:spPr>
          <a:xfrm>
            <a:off x="7447389" y="6033416"/>
            <a:ext cx="876998" cy="615365"/>
          </a:xfrm>
          <a:prstGeom prst="flowChartMagneticDisk">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119" name="Google Shape;1119;p40"/>
          <p:cNvCxnSpPr>
            <a:stCxn id="1116" idx="2"/>
            <a:endCxn id="1117" idx="0"/>
          </p:cNvCxnSpPr>
          <p:nvPr/>
        </p:nvCxnSpPr>
        <p:spPr>
          <a:xfrm>
            <a:off x="7885888" y="4523372"/>
            <a:ext cx="0" cy="262800"/>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1120" name="Google Shape;1120;p40"/>
          <p:cNvCxnSpPr>
            <a:stCxn id="1117" idx="2"/>
            <a:endCxn id="1118" idx="1"/>
          </p:cNvCxnSpPr>
          <p:nvPr/>
        </p:nvCxnSpPr>
        <p:spPr>
          <a:xfrm>
            <a:off x="7885890" y="5725734"/>
            <a:ext cx="0" cy="307800"/>
          </a:xfrm>
          <a:prstGeom prst="straightConnector1">
            <a:avLst/>
          </a:prstGeom>
          <a:noFill/>
          <a:ln w="9525" cap="flat" cmpd="sng">
            <a:solidFill>
              <a:schemeClr val="accent1"/>
            </a:solidFill>
            <a:prstDash val="solid"/>
            <a:miter lim="800000"/>
            <a:headEnd type="triangle" w="med" len="med"/>
            <a:tailEnd type="triangle" w="med" len="med"/>
          </a:ln>
        </p:spPr>
      </p:cxnSp>
      <p:pic>
        <p:nvPicPr>
          <p:cNvPr id="1121" name="Google Shape;1121;p40" descr="Gear icon - Free download on Iconfinder"/>
          <p:cNvPicPr preferRelativeResize="0"/>
          <p:nvPr/>
        </p:nvPicPr>
        <p:blipFill rotWithShape="1">
          <a:blip r:embed="rId6">
            <a:alphaModFix/>
          </a:blip>
          <a:srcRect/>
          <a:stretch/>
        </p:blipFill>
        <p:spPr>
          <a:xfrm>
            <a:off x="8382994" y="5171730"/>
            <a:ext cx="847838" cy="847838"/>
          </a:xfrm>
          <a:prstGeom prst="rect">
            <a:avLst/>
          </a:prstGeom>
          <a:noFill/>
          <a:ln>
            <a:noFill/>
          </a:ln>
        </p:spPr>
      </p:pic>
      <p:sp>
        <p:nvSpPr>
          <p:cNvPr id="1122" name="Google Shape;1122;p40"/>
          <p:cNvSpPr txBox="1"/>
          <p:nvPr/>
        </p:nvSpPr>
        <p:spPr>
          <a:xfrm>
            <a:off x="9351659" y="1210442"/>
            <a:ext cx="2620195" cy="212301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1" i="0" u="none" strike="noStrike" kern="0" cap="none" spc="0" normalizeH="0" baseline="0" noProof="0">
                <a:ln>
                  <a:noFill/>
                </a:ln>
                <a:solidFill>
                  <a:srgbClr val="000000"/>
                </a:solidFill>
                <a:effectLst/>
                <a:uLnTx/>
                <a:uFillTx/>
                <a:latin typeface="Calibri"/>
                <a:ea typeface="Calibri"/>
                <a:cs typeface="Calibri"/>
                <a:sym typeface="Calibri"/>
              </a:rPr>
              <a:t>Common needs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000000"/>
              </a:solidFill>
              <a:effectLst/>
              <a:uLnTx/>
              <a:uFillTx/>
              <a:latin typeface="Calibri"/>
              <a:ea typeface="Calibri"/>
              <a:cs typeface="Calibri"/>
              <a:sym typeface="Calibri"/>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Create application logic</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Insert, update, delete, validate, select data</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Perform validations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Check customizing</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Handle locks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3" name="Google Shape;1123;p40"/>
          <p:cNvSpPr/>
          <p:nvPr/>
        </p:nvSpPr>
        <p:spPr>
          <a:xfrm>
            <a:off x="9351660" y="3762966"/>
            <a:ext cx="2740999" cy="212301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1" i="0" u="none" strike="noStrike" kern="0" cap="none" spc="0" normalizeH="0" baseline="0" noProof="0">
                <a:ln>
                  <a:noFill/>
                </a:ln>
                <a:solidFill>
                  <a:srgbClr val="000000"/>
                </a:solidFill>
                <a:effectLst/>
                <a:uLnTx/>
                <a:uFillTx/>
                <a:latin typeface="Calibri"/>
                <a:ea typeface="Calibri"/>
                <a:cs typeface="Calibri"/>
                <a:sym typeface="Calibri"/>
              </a:rPr>
              <a:t>Challenges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000000"/>
              </a:solidFill>
              <a:effectLst/>
              <a:uLnTx/>
              <a:uFillTx/>
              <a:latin typeface="Calibri"/>
              <a:ea typeface="Calibri"/>
              <a:cs typeface="Calibri"/>
              <a:sym typeface="Calibri"/>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Thinks differently</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Adapt application code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High maintenance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No standardization</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Different coding practices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Lack of standard</a:t>
            </a:r>
            <a:endParaRPr kumimoji="0" sz="1798"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3"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34"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8"/>
                                        </p:tgtEl>
                                        <p:attrNameLst>
                                          <p:attrName>style.visibility</p:attrName>
                                        </p:attrNameLst>
                                      </p:cBhvr>
                                      <p:to>
                                        <p:strVal val="visible"/>
                                      </p:to>
                                    </p:set>
                                    <p:anim calcmode="lin" valueType="num">
                                      <p:cBhvr additive="base">
                                        <p:cTn id="7" dur="500"/>
                                        <p:tgtEl>
                                          <p:spTgt spid="109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099"/>
                                        </p:tgtEl>
                                        <p:attrNameLst>
                                          <p:attrName>style.visibility</p:attrName>
                                        </p:attrNameLst>
                                      </p:cBhvr>
                                      <p:to>
                                        <p:strVal val="visible"/>
                                      </p:to>
                                    </p:set>
                                    <p:anim calcmode="lin" valueType="num">
                                      <p:cBhvr additive="base">
                                        <p:cTn id="10" dur="500"/>
                                        <p:tgtEl>
                                          <p:spTgt spid="1099"/>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100"/>
                                        </p:tgtEl>
                                        <p:attrNameLst>
                                          <p:attrName>style.visibility</p:attrName>
                                        </p:attrNameLst>
                                      </p:cBhvr>
                                      <p:to>
                                        <p:strVal val="visible"/>
                                      </p:to>
                                    </p:set>
                                    <p:anim calcmode="lin" valueType="num">
                                      <p:cBhvr additive="base">
                                        <p:cTn id="15" dur="500"/>
                                        <p:tgtEl>
                                          <p:spTgt spid="1100"/>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101"/>
                                        </p:tgtEl>
                                        <p:attrNameLst>
                                          <p:attrName>style.visibility</p:attrName>
                                        </p:attrNameLst>
                                      </p:cBhvr>
                                      <p:to>
                                        <p:strVal val="visible"/>
                                      </p:to>
                                    </p:set>
                                    <p:anim calcmode="lin" valueType="num">
                                      <p:cBhvr additive="base">
                                        <p:cTn id="18" dur="500"/>
                                        <p:tgtEl>
                                          <p:spTgt spid="1101"/>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0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0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0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0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0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0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0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1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1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11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1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1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1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11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11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1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11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12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1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nodeType="clickEffect">
                                  <p:stCondLst>
                                    <p:cond delay="0"/>
                                  </p:stCondLst>
                                  <p:childTnLst>
                                    <p:set>
                                      <p:cBhvr>
                                        <p:cTn id="82" dur="1" fill="hold">
                                          <p:stCondLst>
                                            <p:cond delay="0"/>
                                          </p:stCondLst>
                                        </p:cTn>
                                        <p:tgtEl>
                                          <p:spTgt spid="1122"/>
                                        </p:tgtEl>
                                        <p:attrNameLst>
                                          <p:attrName>style.visibility</p:attrName>
                                        </p:attrNameLst>
                                      </p:cBhvr>
                                      <p:to>
                                        <p:strVal val="visible"/>
                                      </p:to>
                                    </p:set>
                                    <p:anim calcmode="lin" valueType="num">
                                      <p:cBhvr additive="base">
                                        <p:cTn id="83" dur="500"/>
                                        <p:tgtEl>
                                          <p:spTgt spid="1122"/>
                                        </p:tgtEl>
                                        <p:attrNameLst>
                                          <p:attrName>ppt_w</p:attrName>
                                        </p:attrNameLst>
                                      </p:cBhvr>
                                      <p:tavLst>
                                        <p:tav tm="0">
                                          <p:val>
                                            <p:strVal val="0"/>
                                          </p:val>
                                        </p:tav>
                                        <p:tav tm="100000">
                                          <p:val>
                                            <p:strVal val="#ppt_w"/>
                                          </p:val>
                                        </p:tav>
                                      </p:tavLst>
                                    </p:anim>
                                    <p:anim calcmode="lin" valueType="num">
                                      <p:cBhvr additive="base">
                                        <p:cTn id="84" dur="500"/>
                                        <p:tgtEl>
                                          <p:spTgt spid="1122"/>
                                        </p:tgtEl>
                                        <p:attrNameLst>
                                          <p:attrName>ppt_h</p:attrName>
                                        </p:attrNameLst>
                                      </p:cBhvr>
                                      <p:tavLst>
                                        <p:tav tm="0">
                                          <p:val>
                                            <p:str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nodeType="clickEffect">
                                  <p:stCondLst>
                                    <p:cond delay="0"/>
                                  </p:stCondLst>
                                  <p:childTnLst>
                                    <p:set>
                                      <p:cBhvr>
                                        <p:cTn id="88" dur="1" fill="hold">
                                          <p:stCondLst>
                                            <p:cond delay="0"/>
                                          </p:stCondLst>
                                        </p:cTn>
                                        <p:tgtEl>
                                          <p:spTgt spid="1123"/>
                                        </p:tgtEl>
                                        <p:attrNameLst>
                                          <p:attrName>style.visibility</p:attrName>
                                        </p:attrNameLst>
                                      </p:cBhvr>
                                      <p:to>
                                        <p:strVal val="visible"/>
                                      </p:to>
                                    </p:set>
                                    <p:anim calcmode="lin" valueType="num">
                                      <p:cBhvr additive="base">
                                        <p:cTn id="89" dur="500"/>
                                        <p:tgtEl>
                                          <p:spTgt spid="1123"/>
                                        </p:tgtEl>
                                        <p:attrNameLst>
                                          <p:attrName>ppt_w</p:attrName>
                                        </p:attrNameLst>
                                      </p:cBhvr>
                                      <p:tavLst>
                                        <p:tav tm="0">
                                          <p:val>
                                            <p:strVal val="0"/>
                                          </p:val>
                                        </p:tav>
                                        <p:tav tm="100000">
                                          <p:val>
                                            <p:strVal val="#ppt_w"/>
                                          </p:val>
                                        </p:tav>
                                      </p:tavLst>
                                    </p:anim>
                                    <p:anim calcmode="lin" valueType="num">
                                      <p:cBhvr additive="base">
                                        <p:cTn id="90" dur="500"/>
                                        <p:tgtEl>
                                          <p:spTgt spid="112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pic>
        <p:nvPicPr>
          <p:cNvPr id="1128" name="Google Shape;1128;p41" descr="Evolution of the ABAP Programming Model | SAP Blogs"/>
          <p:cNvPicPr preferRelativeResize="0"/>
          <p:nvPr/>
        </p:nvPicPr>
        <p:blipFill rotWithShape="1">
          <a:blip r:embed="rId3">
            <a:alphaModFix/>
          </a:blip>
          <a:srcRect t="10345" b="4325"/>
          <a:stretch/>
        </p:blipFill>
        <p:spPr>
          <a:xfrm>
            <a:off x="618692" y="1269322"/>
            <a:ext cx="10874914" cy="5111237"/>
          </a:xfrm>
          <a:prstGeom prst="rect">
            <a:avLst/>
          </a:prstGeom>
          <a:noFill/>
          <a:ln>
            <a:noFill/>
          </a:ln>
        </p:spPr>
      </p:pic>
      <p:sp>
        <p:nvSpPr>
          <p:cNvPr id="1129" name="Google Shape;1129;p41"/>
          <p:cNvSpPr txBox="1">
            <a:spLocks noGrp="1"/>
          </p:cNvSpPr>
          <p:nvPr>
            <p:ph type="title"/>
          </p:nvPr>
        </p:nvSpPr>
        <p:spPr>
          <a:xfrm>
            <a:off x="191296" y="261474"/>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300"/>
              <a:buFont typeface="Corben"/>
              <a:buNone/>
            </a:pPr>
            <a:r>
              <a:rPr lang="en-US" sz="3600" dirty="0">
                <a:solidFill>
                  <a:srgbClr val="FFC000"/>
                </a:solidFill>
                <a:latin typeface="Cooper Black" panose="0208090404030B020404" pitchFamily="18" charset="0"/>
                <a:ea typeface="Corben"/>
                <a:cs typeface="Corben"/>
                <a:sym typeface="Corben"/>
              </a:rPr>
              <a:t>Evolution of ABAP Programming Model</a:t>
            </a:r>
            <a:endParaRPr sz="3600" dirty="0">
              <a:solidFill>
                <a:srgbClr val="FFC000"/>
              </a:solidFill>
              <a:latin typeface="Cooper Black" panose="0208090404030B020404" pitchFamily="18" charset="0"/>
            </a:endParaRPr>
          </a:p>
        </p:txBody>
      </p:sp>
      <p:sp>
        <p:nvSpPr>
          <p:cNvPr id="6"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28"/>
                                        </p:tgtEl>
                                        <p:attrNameLst>
                                          <p:attrName>style.visibility</p:attrName>
                                        </p:attrNameLst>
                                      </p:cBhvr>
                                      <p:to>
                                        <p:strVal val="visible"/>
                                      </p:to>
                                    </p:set>
                                    <p:animEffect transition="in" filter="barn(inVertical)">
                                      <p:cBhvr>
                                        <p:cTn id="7" dur="500"/>
                                        <p:tgtEl>
                                          <p:spTgt spid="1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42"/>
          <p:cNvSpPr txBox="1">
            <a:spLocks noGrp="1"/>
          </p:cNvSpPr>
          <p:nvPr>
            <p:ph type="title"/>
          </p:nvPr>
        </p:nvSpPr>
        <p:spPr>
          <a:xfrm>
            <a:off x="16385" y="894"/>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Restful ABAP Programming</a:t>
            </a:r>
            <a:endParaRPr dirty="0">
              <a:solidFill>
                <a:srgbClr val="FFC000"/>
              </a:solidFill>
              <a:latin typeface="Cooper Black" panose="0208090404030B020404" pitchFamily="18" charset="0"/>
            </a:endParaRPr>
          </a:p>
        </p:txBody>
      </p:sp>
      <p:pic>
        <p:nvPicPr>
          <p:cNvPr id="1139" name="Google Shape;1139;p42" descr="C:\Users\Anubhav\AppData\Local\Temp\SNAGHTMLb41d92c.PNG"/>
          <p:cNvPicPr preferRelativeResize="0"/>
          <p:nvPr/>
        </p:nvPicPr>
        <p:blipFill rotWithShape="1">
          <a:blip r:embed="rId3">
            <a:alphaModFix/>
          </a:blip>
          <a:srcRect/>
          <a:stretch/>
        </p:blipFill>
        <p:spPr>
          <a:xfrm>
            <a:off x="263283" y="699897"/>
            <a:ext cx="10657639" cy="5882661"/>
          </a:xfrm>
          <a:prstGeom prst="rect">
            <a:avLst/>
          </a:prstGeom>
          <a:noFill/>
          <a:ln>
            <a:noFill/>
          </a:ln>
        </p:spPr>
      </p:pic>
      <p:sp>
        <p:nvSpPr>
          <p:cNvPr id="6"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39"/>
                                        </p:tgtEl>
                                        <p:attrNameLst>
                                          <p:attrName>style.visibility</p:attrName>
                                        </p:attrNameLst>
                                      </p:cBhvr>
                                      <p:to>
                                        <p:strVal val="visible"/>
                                      </p:to>
                                    </p:set>
                                    <p:animEffect transition="in" filter="barn(inVertical)">
                                      <p:cBhvr>
                                        <p:cTn id="7" dur="500"/>
                                        <p:tgtEl>
                                          <p:spTgt spid="1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43"/>
          <p:cNvSpPr txBox="1">
            <a:spLocks noGrp="1"/>
          </p:cNvSpPr>
          <p:nvPr>
            <p:ph type="title"/>
          </p:nvPr>
        </p:nvSpPr>
        <p:spPr>
          <a:xfrm>
            <a:off x="191296" y="166653"/>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Restful Application Programming</a:t>
            </a:r>
            <a:endParaRPr dirty="0">
              <a:solidFill>
                <a:srgbClr val="FFC000"/>
              </a:solidFill>
              <a:latin typeface="Cooper Black" panose="0208090404030B020404" pitchFamily="18" charset="0"/>
            </a:endParaRPr>
          </a:p>
        </p:txBody>
      </p:sp>
      <p:sp>
        <p:nvSpPr>
          <p:cNvPr id="1147" name="Google Shape;1147;p43"/>
          <p:cNvSpPr/>
          <p:nvPr/>
        </p:nvSpPr>
        <p:spPr>
          <a:xfrm>
            <a:off x="265715" y="963321"/>
            <a:ext cx="11661345" cy="1754326"/>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The ABAP RAP (Restful Application Programming) Model defines the architecture for efficient application development for HANA optimized ABAP applications. It supports development of</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Greenfield applications – A completely new application from scratch</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Brownfield applications – A new/extension of application using OLD code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It is based on proven technologies and frameworks such as CDS entities to define semantically rich data model and service model infrastructure for creating and binding OData services for different use cases e.g. Fiori App,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WebAPI</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InA</a:t>
            </a: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6"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7"/>
                                        </p:tgtEl>
                                        <p:attrNameLst>
                                          <p:attrName>style.visibility</p:attrName>
                                        </p:attrNameLst>
                                      </p:cBhvr>
                                      <p:to>
                                        <p:strVal val="visible"/>
                                      </p:to>
                                    </p:set>
                                    <p:animEffect transition="in" filter="barn(inVertical)">
                                      <p:cBhvr>
                                        <p:cTn id="7" dur="500"/>
                                        <p:tgtEl>
                                          <p:spTgt spid="1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sp>
        <p:nvSpPr>
          <p:cNvPr id="1153" name="Google Shape;1153;p44"/>
          <p:cNvSpPr txBox="1"/>
          <p:nvPr/>
        </p:nvSpPr>
        <p:spPr>
          <a:xfrm>
            <a:off x="191293" y="728002"/>
            <a:ext cx="11806237" cy="230832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CDS entities – To develop our RAP BO (Business Object)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Business Object here is a TREE data structure which is composed of multiple nodes (parent, child), The tree starts from a </a:t>
            </a:r>
            <a:r>
              <a:rPr lang="en-US" sz="1800" b="1" dirty="0">
                <a:solidFill>
                  <a:schemeClr val="dk1"/>
                </a:solidFill>
                <a:latin typeface="Calibri"/>
                <a:ea typeface="Calibri"/>
                <a:cs typeface="Calibri"/>
                <a:sym typeface="Calibri"/>
              </a:rPr>
              <a:t>root node. </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Once the business object is ready, we define the behavior of the business object like can this object be created, updated, deleted. Business object is a static structure (like a class) and the records of actual data is the instance of BO (object of a class).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Finally we can create service definition and service binding</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UI layer to consume the service to build application.</a:t>
            </a:r>
            <a:endParaRPr sz="1800" dirty="0">
              <a:solidFill>
                <a:schemeClr val="dk1"/>
              </a:solidFill>
              <a:latin typeface="Calibri"/>
              <a:ea typeface="Calibri"/>
              <a:cs typeface="Calibri"/>
              <a:sym typeface="Calibri"/>
            </a:endParaRPr>
          </a:p>
        </p:txBody>
      </p:sp>
      <p:sp>
        <p:nvSpPr>
          <p:cNvPr id="1154" name="Google Shape;1154;p44"/>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Components in RAP app – Technical Level</a:t>
            </a:r>
            <a:endParaRPr sz="3599" dirty="0">
              <a:solidFill>
                <a:srgbClr val="FFC000"/>
              </a:solidFill>
              <a:latin typeface="Cooper Black" panose="0208090404030B020404" pitchFamily="18" charset="0"/>
              <a:ea typeface="Corben"/>
              <a:cs typeface="Corben"/>
              <a:sym typeface="Corben"/>
            </a:endParaRPr>
          </a:p>
        </p:txBody>
      </p:sp>
      <p:sp>
        <p:nvSpPr>
          <p:cNvPr id="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2" name="Google Shape;1162;p4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Approach</a:t>
            </a:r>
            <a:endParaRPr sz="3599" dirty="0">
              <a:solidFill>
                <a:srgbClr val="FFC000"/>
              </a:solidFill>
              <a:latin typeface="Cooper Black" panose="0208090404030B020404" pitchFamily="18" charset="0"/>
              <a:ea typeface="Corben"/>
              <a:cs typeface="Corben"/>
              <a:sym typeface="Corben"/>
            </a:endParaRPr>
          </a:p>
        </p:txBody>
      </p:sp>
      <p:sp>
        <p:nvSpPr>
          <p:cNvPr id="1165" name="Google Shape;1165;p45"/>
          <p:cNvSpPr/>
          <p:nvPr/>
        </p:nvSpPr>
        <p:spPr>
          <a:xfrm>
            <a:off x="837828" y="5805264"/>
            <a:ext cx="10863274" cy="6857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SE11 – Data Dictionary – Tables, Views, Data Elements, Domains, LO, MC…</a:t>
            </a:r>
            <a:endParaRPr/>
          </a:p>
        </p:txBody>
      </p:sp>
      <p:sp>
        <p:nvSpPr>
          <p:cNvPr id="1166" name="Google Shape;1166;p45"/>
          <p:cNvSpPr/>
          <p:nvPr/>
        </p:nvSpPr>
        <p:spPr>
          <a:xfrm>
            <a:off x="824939" y="4846890"/>
            <a:ext cx="10863274" cy="85403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Database Layer – (function modules and classes to interact with database)</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LUW, Update FM, BAPIs – SELECT INSERT MODIFY UPDATE DELETE, EQ, DQ</a:t>
            </a:r>
            <a:endParaRPr/>
          </a:p>
        </p:txBody>
      </p:sp>
      <p:sp>
        <p:nvSpPr>
          <p:cNvPr id="1167" name="Google Shape;1167;p45"/>
          <p:cNvSpPr/>
          <p:nvPr/>
        </p:nvSpPr>
        <p:spPr>
          <a:xfrm>
            <a:off x="837828" y="4143457"/>
            <a:ext cx="10863274" cy="577117"/>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Customizing layer (SPRO, SM30)</a:t>
            </a:r>
            <a:endParaRPr/>
          </a:p>
        </p:txBody>
      </p:sp>
      <p:sp>
        <p:nvSpPr>
          <p:cNvPr id="1168" name="Google Shape;1168;p45"/>
          <p:cNvSpPr/>
          <p:nvPr/>
        </p:nvSpPr>
        <p:spPr>
          <a:xfrm>
            <a:off x="837828" y="2735330"/>
            <a:ext cx="10863274" cy="128181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API Layer</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Business logic, Data validations, Lock Unlock, Sync. Points, Branches, Manipulation logic, data flow logic, processing logic - RICEF</a:t>
            </a:r>
            <a:endParaRPr/>
          </a:p>
        </p:txBody>
      </p:sp>
      <p:sp>
        <p:nvSpPr>
          <p:cNvPr id="1169" name="Google Shape;1169;p45"/>
          <p:cNvSpPr/>
          <p:nvPr/>
        </p:nvSpPr>
        <p:spPr>
          <a:xfrm>
            <a:off x="837828" y="1799226"/>
            <a:ext cx="10863274" cy="8317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Service layer (expose data over HTTP/HTTPS protocol) – OData Services (V2, V4)</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SEGW, SADL, @OData, Serv. Definition and Binding</a:t>
            </a:r>
            <a:endParaRPr/>
          </a:p>
        </p:txBody>
      </p:sp>
      <p:sp>
        <p:nvSpPr>
          <p:cNvPr id="1170" name="Google Shape;1170;p45"/>
          <p:cNvSpPr/>
          <p:nvPr/>
        </p:nvSpPr>
        <p:spPr>
          <a:xfrm>
            <a:off x="837828" y="714536"/>
            <a:ext cx="4968552" cy="98034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Application UI (Fiori Apps)</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Transactional | Analytical | Factsheet</a:t>
            </a:r>
            <a:endParaRPr/>
          </a:p>
        </p:txBody>
      </p:sp>
      <p:sp>
        <p:nvSpPr>
          <p:cNvPr id="1171" name="Google Shape;1171;p45"/>
          <p:cNvSpPr/>
          <p:nvPr/>
        </p:nvSpPr>
        <p:spPr>
          <a:xfrm>
            <a:off x="5878388" y="710866"/>
            <a:ext cx="3312368" cy="98034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Analytical Tools</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Excel | SAC | Other..</a:t>
            </a:r>
            <a:endParaRPr/>
          </a:p>
        </p:txBody>
      </p:sp>
      <p:sp>
        <p:nvSpPr>
          <p:cNvPr id="1172" name="Google Shape;1172;p45"/>
          <p:cNvSpPr/>
          <p:nvPr/>
        </p:nvSpPr>
        <p:spPr>
          <a:xfrm>
            <a:off x="9335699" y="700015"/>
            <a:ext cx="2387066" cy="98034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Third Party</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Your own ABAP code</a:t>
            </a:r>
            <a:endParaRPr/>
          </a:p>
        </p:txBody>
      </p:sp>
      <p:sp>
        <p:nvSpPr>
          <p:cNvPr id="1173" name="Google Shape;1173;p45"/>
          <p:cNvSpPr/>
          <p:nvPr/>
        </p:nvSpPr>
        <p:spPr>
          <a:xfrm>
            <a:off x="45740" y="1157078"/>
            <a:ext cx="792088" cy="5229624"/>
          </a:xfrm>
          <a:prstGeom prst="up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13"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p46"/>
          <p:cNvSpPr txBox="1">
            <a:spLocks noGrp="1"/>
          </p:cNvSpPr>
          <p:nvPr>
            <p:ph type="title"/>
          </p:nvPr>
        </p:nvSpPr>
        <p:spPr>
          <a:xfrm>
            <a:off x="191296" y="189485"/>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RAP – The Big picture</a:t>
            </a:r>
            <a:endParaRPr dirty="0">
              <a:solidFill>
                <a:srgbClr val="FFC000"/>
              </a:solidFill>
              <a:latin typeface="Cooper Black" panose="0208090404030B020404" pitchFamily="18" charset="0"/>
            </a:endParaRPr>
          </a:p>
        </p:txBody>
      </p:sp>
      <p:pic>
        <p:nvPicPr>
          <p:cNvPr id="1179" name="Google Shape;1179;p46"/>
          <p:cNvPicPr preferRelativeResize="0"/>
          <p:nvPr/>
        </p:nvPicPr>
        <p:blipFill rotWithShape="1">
          <a:blip r:embed="rId3">
            <a:alphaModFix/>
          </a:blip>
          <a:srcRect/>
          <a:stretch/>
        </p:blipFill>
        <p:spPr>
          <a:xfrm>
            <a:off x="11379302" y="57696"/>
            <a:ext cx="716512" cy="707702"/>
          </a:xfrm>
          <a:prstGeom prst="rect">
            <a:avLst/>
          </a:prstGeom>
          <a:noFill/>
          <a:ln>
            <a:noFill/>
          </a:ln>
        </p:spPr>
      </p:pic>
      <p:pic>
        <p:nvPicPr>
          <p:cNvPr id="1181" name="Google Shape;1181;p46"/>
          <p:cNvPicPr preferRelativeResize="0"/>
          <p:nvPr/>
        </p:nvPicPr>
        <p:blipFill rotWithShape="1">
          <a:blip r:embed="rId4">
            <a:alphaModFix/>
          </a:blip>
          <a:srcRect/>
          <a:stretch/>
        </p:blipFill>
        <p:spPr>
          <a:xfrm>
            <a:off x="633319" y="1020497"/>
            <a:ext cx="10644834" cy="5419663"/>
          </a:xfrm>
          <a:prstGeom prst="rect">
            <a:avLst/>
          </a:prstGeom>
          <a:noFill/>
          <a:ln>
            <a:noFill/>
          </a:ln>
        </p:spPr>
      </p:pic>
      <p:sp>
        <p:nvSpPr>
          <p:cNvPr id="1182" name="Google Shape;1182;p46"/>
          <p:cNvSpPr/>
          <p:nvPr/>
        </p:nvSpPr>
        <p:spPr>
          <a:xfrm rot="-5400000">
            <a:off x="1350009" y="2774212"/>
            <a:ext cx="480062" cy="637813"/>
          </a:xfrm>
          <a:prstGeom prst="chevron">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1183" name="Google Shape;1183;p46"/>
          <p:cNvSpPr/>
          <p:nvPr/>
        </p:nvSpPr>
        <p:spPr>
          <a:xfrm rot="-5400000">
            <a:off x="1350008" y="5005878"/>
            <a:ext cx="480062" cy="637813"/>
          </a:xfrm>
          <a:prstGeom prst="chevron">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pic>
        <p:nvPicPr>
          <p:cNvPr id="1184" name="Google Shape;1184;p46" descr="Want Clipart Consumer Market - Consumer Vs Industrial Marketing, HD Png  Download , Transparent Png Image - PNGitem"/>
          <p:cNvPicPr preferRelativeResize="0"/>
          <p:nvPr/>
        </p:nvPicPr>
        <p:blipFill rotWithShape="1">
          <a:blip r:embed="rId5">
            <a:alphaModFix/>
          </a:blip>
          <a:srcRect/>
          <a:stretch/>
        </p:blipFill>
        <p:spPr>
          <a:xfrm>
            <a:off x="6814305" y="76799"/>
            <a:ext cx="2735591" cy="943697"/>
          </a:xfrm>
          <a:prstGeom prst="rect">
            <a:avLst/>
          </a:prstGeom>
          <a:noFill/>
          <a:ln>
            <a:noFill/>
          </a:ln>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48"/>
          <p:cNvSpPr txBox="1">
            <a:spLocks noGrp="1"/>
          </p:cNvSpPr>
          <p:nvPr>
            <p:ph type="title"/>
          </p:nvPr>
        </p:nvSpPr>
        <p:spPr>
          <a:xfrm>
            <a:off x="191296" y="189485"/>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What is a Business Object</a:t>
            </a:r>
            <a:endParaRPr dirty="0">
              <a:solidFill>
                <a:srgbClr val="FFC000"/>
              </a:solidFill>
              <a:latin typeface="Cooper Black" panose="0208090404030B020404" pitchFamily="18" charset="0"/>
            </a:endParaRPr>
          </a:p>
        </p:txBody>
      </p:sp>
      <p:pic>
        <p:nvPicPr>
          <p:cNvPr id="1195" name="Google Shape;1195;p48"/>
          <p:cNvPicPr preferRelativeResize="0"/>
          <p:nvPr/>
        </p:nvPicPr>
        <p:blipFill rotWithShape="1">
          <a:blip r:embed="rId3">
            <a:alphaModFix/>
          </a:blip>
          <a:srcRect/>
          <a:stretch/>
        </p:blipFill>
        <p:spPr>
          <a:xfrm>
            <a:off x="11379302" y="57696"/>
            <a:ext cx="716512" cy="707702"/>
          </a:xfrm>
          <a:prstGeom prst="rect">
            <a:avLst/>
          </a:prstGeom>
          <a:noFill/>
          <a:ln>
            <a:noFill/>
          </a:ln>
        </p:spPr>
      </p:pic>
      <p:pic>
        <p:nvPicPr>
          <p:cNvPr id="1197" name="Google Shape;1197;p48"/>
          <p:cNvPicPr preferRelativeResize="0"/>
          <p:nvPr/>
        </p:nvPicPr>
        <p:blipFill rotWithShape="1">
          <a:blip r:embed="rId4">
            <a:alphaModFix/>
          </a:blip>
          <a:srcRect/>
          <a:stretch/>
        </p:blipFill>
        <p:spPr>
          <a:xfrm>
            <a:off x="983176" y="1077355"/>
            <a:ext cx="9622388" cy="5394023"/>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50"/>
          <p:cNvSpPr txBox="1">
            <a:spLocks noGrp="1"/>
          </p:cNvSpPr>
          <p:nvPr>
            <p:ph type="title"/>
          </p:nvPr>
        </p:nvSpPr>
        <p:spPr>
          <a:xfrm>
            <a:off x="263285" y="188368"/>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Types of Implementation (Scenario) </a:t>
            </a:r>
            <a:endParaRPr dirty="0">
              <a:solidFill>
                <a:srgbClr val="FFC000"/>
              </a:solidFill>
              <a:latin typeface="Cooper Black" panose="0208090404030B020404" pitchFamily="18" charset="0"/>
            </a:endParaRPr>
          </a:p>
        </p:txBody>
      </p:sp>
      <p:pic>
        <p:nvPicPr>
          <p:cNvPr id="1207" name="Google Shape;1207;p50"/>
          <p:cNvPicPr preferRelativeResize="0"/>
          <p:nvPr/>
        </p:nvPicPr>
        <p:blipFill rotWithShape="1">
          <a:blip r:embed="rId3">
            <a:alphaModFix/>
          </a:blip>
          <a:srcRect/>
          <a:stretch/>
        </p:blipFill>
        <p:spPr>
          <a:xfrm>
            <a:off x="11379302" y="57696"/>
            <a:ext cx="716512" cy="707702"/>
          </a:xfrm>
          <a:prstGeom prst="rect">
            <a:avLst/>
          </a:prstGeom>
          <a:noFill/>
          <a:ln>
            <a:noFill/>
          </a:ln>
        </p:spPr>
      </p:pic>
      <p:sp>
        <p:nvSpPr>
          <p:cNvPr id="1209" name="Google Shape;1209;p50"/>
          <p:cNvSpPr/>
          <p:nvPr/>
        </p:nvSpPr>
        <p:spPr>
          <a:xfrm>
            <a:off x="5530898" y="1499784"/>
            <a:ext cx="4474962" cy="2348755"/>
          </a:xfrm>
          <a:custGeom>
            <a:avLst/>
            <a:gdLst/>
            <a:ahLst/>
            <a:cxnLst/>
            <a:rect l="l" t="t" r="r" b="b"/>
            <a:pathLst>
              <a:path w="2614" h="1372" extrusionOk="0">
                <a:moveTo>
                  <a:pt x="2446" y="906"/>
                </a:moveTo>
                <a:lnTo>
                  <a:pt x="2446" y="0"/>
                </a:lnTo>
                <a:lnTo>
                  <a:pt x="0" y="0"/>
                </a:lnTo>
                <a:lnTo>
                  <a:pt x="0" y="1203"/>
                </a:lnTo>
                <a:lnTo>
                  <a:pt x="601" y="1203"/>
                </a:lnTo>
                <a:lnTo>
                  <a:pt x="601" y="600"/>
                </a:lnTo>
                <a:lnTo>
                  <a:pt x="1845" y="600"/>
                </a:lnTo>
                <a:lnTo>
                  <a:pt x="1845" y="906"/>
                </a:lnTo>
                <a:lnTo>
                  <a:pt x="1681" y="906"/>
                </a:lnTo>
                <a:lnTo>
                  <a:pt x="2148" y="1372"/>
                </a:lnTo>
                <a:lnTo>
                  <a:pt x="2614" y="906"/>
                </a:lnTo>
                <a:lnTo>
                  <a:pt x="2446" y="906"/>
                </a:lnTo>
                <a:close/>
              </a:path>
            </a:pathLst>
          </a:custGeom>
          <a:gradFill>
            <a:gsLst>
              <a:gs pos="0">
                <a:schemeClr val="accent5"/>
              </a:gs>
              <a:gs pos="100000">
                <a:schemeClr val="accent6"/>
              </a:gs>
            </a:gsLst>
            <a:lin ang="10800000" scaled="0"/>
          </a:gradFill>
          <a:ln>
            <a:noFill/>
          </a:ln>
          <a:effectLst>
            <a:outerShdw blurRad="177800" dist="215900" dir="5400000" algn="t" rotWithShape="0">
              <a:srgbClr val="000000">
                <a:alpha val="14901"/>
              </a:srgbClr>
            </a:outerShdw>
          </a:effectLst>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sp>
        <p:nvSpPr>
          <p:cNvPr id="1210" name="Google Shape;1210;p50"/>
          <p:cNvSpPr txBox="1"/>
          <p:nvPr/>
        </p:nvSpPr>
        <p:spPr>
          <a:xfrm>
            <a:off x="656737" y="1124429"/>
            <a:ext cx="2946688" cy="400110"/>
          </a:xfrm>
          <a:prstGeom prst="rect">
            <a:avLst/>
          </a:prstGeom>
          <a:noFill/>
          <a:ln>
            <a:noFill/>
          </a:ln>
        </p:spPr>
        <p:txBody>
          <a:bodyPr spcFirstLastPara="1" wrap="square" lIns="0" tIns="45700" rIns="0" bIns="45700" anchor="ctr" anchorCtr="0">
            <a:spAutoFit/>
          </a:bodyPr>
          <a:lstStyle/>
          <a:p>
            <a:pPr marL="0" marR="0" lvl="0" indent="0" algn="just" rtl="0">
              <a:spcBef>
                <a:spcPts val="0"/>
              </a:spcBef>
              <a:spcAft>
                <a:spcPts val="0"/>
              </a:spcAft>
              <a:buNone/>
            </a:pPr>
            <a:r>
              <a:rPr lang="en-US" sz="2000" b="1">
                <a:solidFill>
                  <a:schemeClr val="dk1"/>
                </a:solidFill>
                <a:latin typeface="Calibri"/>
                <a:ea typeface="Calibri"/>
                <a:cs typeface="Calibri"/>
                <a:sym typeface="Calibri"/>
              </a:rPr>
              <a:t>Brownfield Implementation</a:t>
            </a:r>
            <a:endParaRPr/>
          </a:p>
        </p:txBody>
      </p:sp>
      <p:sp>
        <p:nvSpPr>
          <p:cNvPr id="1211" name="Google Shape;1211;p50"/>
          <p:cNvSpPr/>
          <p:nvPr/>
        </p:nvSpPr>
        <p:spPr>
          <a:xfrm>
            <a:off x="656737" y="1535836"/>
            <a:ext cx="4265446" cy="2062103"/>
          </a:xfrm>
          <a:prstGeom prst="rect">
            <a:avLst/>
          </a:prstGeom>
          <a:noFill/>
          <a:ln>
            <a:noFill/>
          </a:ln>
        </p:spPr>
        <p:txBody>
          <a:bodyPr spcFirstLastPara="1" wrap="square" lIns="0" tIns="45700" rIns="0" bIns="45700" anchor="t" anchorCtr="0">
            <a:spAutoFit/>
          </a:bodyPr>
          <a:lstStyle/>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Is used when we want to create a transactional application which can insert, update, delete data from the system by writing your own logic</a:t>
            </a:r>
            <a:endParaRPr/>
          </a:p>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You already have Business logic with you and you want to use that business logic to perform transactional capability</a:t>
            </a:r>
            <a:endParaRPr/>
          </a:p>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You are own your own to manage your implementation.</a:t>
            </a:r>
            <a:endParaRPr sz="1600">
              <a:solidFill>
                <a:schemeClr val="dk1"/>
              </a:solidFill>
              <a:latin typeface="Calibri"/>
              <a:ea typeface="Calibri"/>
              <a:cs typeface="Calibri"/>
              <a:sym typeface="Calibri"/>
            </a:endParaRPr>
          </a:p>
        </p:txBody>
      </p:sp>
      <p:sp>
        <p:nvSpPr>
          <p:cNvPr id="1212" name="Google Shape;1212;p50"/>
          <p:cNvSpPr txBox="1"/>
          <p:nvPr/>
        </p:nvSpPr>
        <p:spPr>
          <a:xfrm>
            <a:off x="7575407" y="3848916"/>
            <a:ext cx="2910350" cy="400110"/>
          </a:xfrm>
          <a:prstGeom prst="rect">
            <a:avLst/>
          </a:prstGeom>
          <a:noFill/>
          <a:ln>
            <a:noFill/>
          </a:ln>
        </p:spPr>
        <p:txBody>
          <a:bodyPr spcFirstLastPara="1" wrap="square" lIns="0" tIns="45700" rIns="0" bIns="45700" anchor="ctr" anchorCtr="0">
            <a:spAutoFit/>
          </a:bodyPr>
          <a:lstStyle/>
          <a:p>
            <a:pPr marL="0" marR="0" lvl="0" indent="0" algn="l" rtl="0">
              <a:spcBef>
                <a:spcPts val="0"/>
              </a:spcBef>
              <a:spcAft>
                <a:spcPts val="0"/>
              </a:spcAft>
              <a:buNone/>
            </a:pPr>
            <a:r>
              <a:rPr lang="en-US" sz="2000" b="1">
                <a:solidFill>
                  <a:schemeClr val="dk1"/>
                </a:solidFill>
                <a:latin typeface="Calibri"/>
                <a:ea typeface="Calibri"/>
                <a:cs typeface="Calibri"/>
                <a:sym typeface="Calibri"/>
              </a:rPr>
              <a:t>Greenfield Implementation</a:t>
            </a:r>
            <a:endParaRPr/>
          </a:p>
        </p:txBody>
      </p:sp>
      <p:sp>
        <p:nvSpPr>
          <p:cNvPr id="1213" name="Google Shape;1213;p50"/>
          <p:cNvSpPr/>
          <p:nvPr/>
        </p:nvSpPr>
        <p:spPr>
          <a:xfrm>
            <a:off x="7516430" y="4255777"/>
            <a:ext cx="4234682" cy="1815882"/>
          </a:xfrm>
          <a:prstGeom prst="rect">
            <a:avLst/>
          </a:prstGeom>
          <a:noFill/>
          <a:ln>
            <a:noFill/>
          </a:ln>
        </p:spPr>
        <p:txBody>
          <a:bodyPr spcFirstLastPara="1" wrap="square" lIns="0" tIns="45700" rIns="0" bIns="45700" anchor="t" anchorCtr="0">
            <a:spAutoFit/>
          </a:bodyPr>
          <a:lstStyle/>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Is used when we want to create a transactional application which can insert, update, delete data from the system by using the framework provided implementation</a:t>
            </a:r>
            <a:endParaRPr/>
          </a:p>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You do not have Business logic with you and you want system to create business logic for you automatically.</a:t>
            </a:r>
            <a:endParaRPr sz="1600">
              <a:solidFill>
                <a:schemeClr val="dk1"/>
              </a:solidFill>
              <a:latin typeface="Calibri"/>
              <a:ea typeface="Calibri"/>
              <a:cs typeface="Calibri"/>
              <a:sym typeface="Calibri"/>
            </a:endParaRPr>
          </a:p>
        </p:txBody>
      </p:sp>
      <p:sp>
        <p:nvSpPr>
          <p:cNvPr id="1214" name="Google Shape;1214;p50"/>
          <p:cNvSpPr txBox="1"/>
          <p:nvPr/>
        </p:nvSpPr>
        <p:spPr>
          <a:xfrm>
            <a:off x="5856521" y="1775322"/>
            <a:ext cx="3484087" cy="461537"/>
          </a:xfrm>
          <a:prstGeom prst="rect">
            <a:avLst/>
          </a:prstGeom>
          <a:noFill/>
          <a:ln>
            <a:noFill/>
          </a:ln>
        </p:spPr>
        <p:txBody>
          <a:bodyPr spcFirstLastPara="1" wrap="square" lIns="0" tIns="45700" rIns="0" bIns="45700" anchor="ctr" anchorCtr="0">
            <a:spAutoFit/>
          </a:bodyPr>
          <a:lstStyle/>
          <a:p>
            <a:pPr marL="0" marR="0" lvl="0" indent="0" algn="ctr" rtl="0">
              <a:spcBef>
                <a:spcPts val="0"/>
              </a:spcBef>
              <a:spcAft>
                <a:spcPts val="0"/>
              </a:spcAft>
              <a:buNone/>
            </a:pPr>
            <a:r>
              <a:rPr lang="en-US" sz="2399" b="1">
                <a:solidFill>
                  <a:schemeClr val="lt1"/>
                </a:solidFill>
                <a:latin typeface="Open Sans"/>
                <a:ea typeface="Open Sans"/>
                <a:cs typeface="Open Sans"/>
                <a:sym typeface="Open Sans"/>
              </a:rPr>
              <a:t>02. Managed Scenario</a:t>
            </a:r>
            <a:endParaRPr/>
          </a:p>
        </p:txBody>
      </p:sp>
      <p:sp>
        <p:nvSpPr>
          <p:cNvPr id="1215" name="Google Shape;1215;p50"/>
          <p:cNvSpPr/>
          <p:nvPr/>
        </p:nvSpPr>
        <p:spPr>
          <a:xfrm>
            <a:off x="8986379" y="2883579"/>
            <a:ext cx="410768" cy="360134"/>
          </a:xfrm>
          <a:custGeom>
            <a:avLst/>
            <a:gdLst/>
            <a:ahLst/>
            <a:cxnLst/>
            <a:rect l="l" t="t" r="r" b="b"/>
            <a:pathLst>
              <a:path w="1536" h="1350" extrusionOk="0">
                <a:moveTo>
                  <a:pt x="1491" y="180"/>
                </a:moveTo>
                <a:cubicBezTo>
                  <a:pt x="1491" y="180"/>
                  <a:pt x="1491" y="180"/>
                  <a:pt x="1491" y="180"/>
                </a:cubicBezTo>
                <a:cubicBezTo>
                  <a:pt x="1083" y="180"/>
                  <a:pt x="1083" y="180"/>
                  <a:pt x="1083" y="180"/>
                </a:cubicBezTo>
                <a:cubicBezTo>
                  <a:pt x="1083" y="135"/>
                  <a:pt x="1083" y="135"/>
                  <a:pt x="1083" y="135"/>
                </a:cubicBezTo>
                <a:cubicBezTo>
                  <a:pt x="1083" y="61"/>
                  <a:pt x="1022" y="0"/>
                  <a:pt x="948" y="0"/>
                </a:cubicBezTo>
                <a:cubicBezTo>
                  <a:pt x="588" y="0"/>
                  <a:pt x="588" y="0"/>
                  <a:pt x="588" y="0"/>
                </a:cubicBezTo>
                <a:cubicBezTo>
                  <a:pt x="514" y="0"/>
                  <a:pt x="453" y="61"/>
                  <a:pt x="453" y="135"/>
                </a:cubicBezTo>
                <a:cubicBezTo>
                  <a:pt x="453" y="180"/>
                  <a:pt x="453" y="180"/>
                  <a:pt x="453" y="180"/>
                </a:cubicBezTo>
                <a:cubicBezTo>
                  <a:pt x="45" y="180"/>
                  <a:pt x="45" y="180"/>
                  <a:pt x="45" y="180"/>
                </a:cubicBezTo>
                <a:cubicBezTo>
                  <a:pt x="20" y="180"/>
                  <a:pt x="0" y="201"/>
                  <a:pt x="0" y="225"/>
                </a:cubicBezTo>
                <a:cubicBezTo>
                  <a:pt x="0" y="1215"/>
                  <a:pt x="0" y="1215"/>
                  <a:pt x="0" y="1215"/>
                </a:cubicBezTo>
                <a:cubicBezTo>
                  <a:pt x="0" y="1289"/>
                  <a:pt x="61" y="1350"/>
                  <a:pt x="135" y="1350"/>
                </a:cubicBezTo>
                <a:cubicBezTo>
                  <a:pt x="1401" y="1350"/>
                  <a:pt x="1401" y="1350"/>
                  <a:pt x="1401" y="1350"/>
                </a:cubicBezTo>
                <a:cubicBezTo>
                  <a:pt x="1475" y="1350"/>
                  <a:pt x="1536" y="1289"/>
                  <a:pt x="1536" y="1215"/>
                </a:cubicBezTo>
                <a:cubicBezTo>
                  <a:pt x="1536" y="226"/>
                  <a:pt x="1536" y="226"/>
                  <a:pt x="1536" y="226"/>
                </a:cubicBezTo>
                <a:cubicBezTo>
                  <a:pt x="1536" y="226"/>
                  <a:pt x="1536" y="226"/>
                  <a:pt x="1536" y="226"/>
                </a:cubicBezTo>
                <a:cubicBezTo>
                  <a:pt x="1534" y="196"/>
                  <a:pt x="1516" y="180"/>
                  <a:pt x="1491" y="180"/>
                </a:cubicBezTo>
                <a:close/>
                <a:moveTo>
                  <a:pt x="543" y="135"/>
                </a:moveTo>
                <a:cubicBezTo>
                  <a:pt x="543" y="110"/>
                  <a:pt x="563" y="90"/>
                  <a:pt x="588" y="90"/>
                </a:cubicBezTo>
                <a:cubicBezTo>
                  <a:pt x="948" y="90"/>
                  <a:pt x="948" y="90"/>
                  <a:pt x="948" y="90"/>
                </a:cubicBezTo>
                <a:cubicBezTo>
                  <a:pt x="973" y="90"/>
                  <a:pt x="993" y="110"/>
                  <a:pt x="993" y="135"/>
                </a:cubicBezTo>
                <a:cubicBezTo>
                  <a:pt x="993" y="180"/>
                  <a:pt x="993" y="180"/>
                  <a:pt x="993" y="180"/>
                </a:cubicBezTo>
                <a:cubicBezTo>
                  <a:pt x="543" y="180"/>
                  <a:pt x="543" y="180"/>
                  <a:pt x="543" y="180"/>
                </a:cubicBezTo>
                <a:lnTo>
                  <a:pt x="543" y="135"/>
                </a:lnTo>
                <a:close/>
                <a:moveTo>
                  <a:pt x="1429" y="270"/>
                </a:moveTo>
                <a:cubicBezTo>
                  <a:pt x="1289" y="689"/>
                  <a:pt x="1289" y="689"/>
                  <a:pt x="1289" y="689"/>
                </a:cubicBezTo>
                <a:cubicBezTo>
                  <a:pt x="1283" y="708"/>
                  <a:pt x="1266" y="720"/>
                  <a:pt x="1246" y="720"/>
                </a:cubicBezTo>
                <a:cubicBezTo>
                  <a:pt x="993" y="720"/>
                  <a:pt x="993" y="720"/>
                  <a:pt x="993" y="720"/>
                </a:cubicBezTo>
                <a:cubicBezTo>
                  <a:pt x="993" y="675"/>
                  <a:pt x="993" y="675"/>
                  <a:pt x="993" y="675"/>
                </a:cubicBezTo>
                <a:cubicBezTo>
                  <a:pt x="993" y="650"/>
                  <a:pt x="973" y="630"/>
                  <a:pt x="948" y="630"/>
                </a:cubicBezTo>
                <a:cubicBezTo>
                  <a:pt x="588" y="630"/>
                  <a:pt x="588" y="630"/>
                  <a:pt x="588" y="630"/>
                </a:cubicBezTo>
                <a:cubicBezTo>
                  <a:pt x="563" y="630"/>
                  <a:pt x="543" y="650"/>
                  <a:pt x="543" y="675"/>
                </a:cubicBezTo>
                <a:cubicBezTo>
                  <a:pt x="543" y="720"/>
                  <a:pt x="543" y="720"/>
                  <a:pt x="543" y="720"/>
                </a:cubicBezTo>
                <a:cubicBezTo>
                  <a:pt x="290" y="720"/>
                  <a:pt x="290" y="720"/>
                  <a:pt x="290" y="720"/>
                </a:cubicBezTo>
                <a:cubicBezTo>
                  <a:pt x="270" y="720"/>
                  <a:pt x="253" y="708"/>
                  <a:pt x="247" y="689"/>
                </a:cubicBezTo>
                <a:cubicBezTo>
                  <a:pt x="107" y="270"/>
                  <a:pt x="107" y="270"/>
                  <a:pt x="107" y="270"/>
                </a:cubicBezTo>
                <a:lnTo>
                  <a:pt x="1429" y="270"/>
                </a:lnTo>
                <a:close/>
                <a:moveTo>
                  <a:pt x="903" y="720"/>
                </a:moveTo>
                <a:cubicBezTo>
                  <a:pt x="903" y="810"/>
                  <a:pt x="903" y="810"/>
                  <a:pt x="903" y="810"/>
                </a:cubicBezTo>
                <a:cubicBezTo>
                  <a:pt x="633" y="810"/>
                  <a:pt x="633" y="810"/>
                  <a:pt x="633" y="810"/>
                </a:cubicBezTo>
                <a:cubicBezTo>
                  <a:pt x="633" y="720"/>
                  <a:pt x="633" y="720"/>
                  <a:pt x="633" y="720"/>
                </a:cubicBezTo>
                <a:lnTo>
                  <a:pt x="903" y="720"/>
                </a:lnTo>
                <a:close/>
                <a:moveTo>
                  <a:pt x="1446" y="1215"/>
                </a:moveTo>
                <a:cubicBezTo>
                  <a:pt x="1446" y="1240"/>
                  <a:pt x="1426" y="1260"/>
                  <a:pt x="1401" y="1260"/>
                </a:cubicBezTo>
                <a:cubicBezTo>
                  <a:pt x="135" y="1260"/>
                  <a:pt x="135" y="1260"/>
                  <a:pt x="135" y="1260"/>
                </a:cubicBezTo>
                <a:cubicBezTo>
                  <a:pt x="110" y="1260"/>
                  <a:pt x="90" y="1240"/>
                  <a:pt x="90" y="1215"/>
                </a:cubicBezTo>
                <a:cubicBezTo>
                  <a:pt x="90" y="502"/>
                  <a:pt x="90" y="502"/>
                  <a:pt x="90" y="502"/>
                </a:cubicBezTo>
                <a:cubicBezTo>
                  <a:pt x="162" y="718"/>
                  <a:pt x="162" y="718"/>
                  <a:pt x="162" y="718"/>
                </a:cubicBezTo>
                <a:cubicBezTo>
                  <a:pt x="180" y="773"/>
                  <a:pt x="232" y="810"/>
                  <a:pt x="290" y="810"/>
                </a:cubicBezTo>
                <a:cubicBezTo>
                  <a:pt x="543" y="810"/>
                  <a:pt x="543" y="810"/>
                  <a:pt x="543" y="810"/>
                </a:cubicBezTo>
                <a:cubicBezTo>
                  <a:pt x="543" y="855"/>
                  <a:pt x="543" y="855"/>
                  <a:pt x="543" y="855"/>
                </a:cubicBezTo>
                <a:cubicBezTo>
                  <a:pt x="543" y="880"/>
                  <a:pt x="563" y="900"/>
                  <a:pt x="588" y="900"/>
                </a:cubicBezTo>
                <a:cubicBezTo>
                  <a:pt x="948" y="900"/>
                  <a:pt x="948" y="900"/>
                  <a:pt x="948" y="900"/>
                </a:cubicBezTo>
                <a:cubicBezTo>
                  <a:pt x="973" y="900"/>
                  <a:pt x="993" y="880"/>
                  <a:pt x="993" y="855"/>
                </a:cubicBezTo>
                <a:cubicBezTo>
                  <a:pt x="993" y="810"/>
                  <a:pt x="993" y="810"/>
                  <a:pt x="993" y="810"/>
                </a:cubicBezTo>
                <a:cubicBezTo>
                  <a:pt x="1246" y="810"/>
                  <a:pt x="1246" y="810"/>
                  <a:pt x="1246" y="810"/>
                </a:cubicBezTo>
                <a:cubicBezTo>
                  <a:pt x="1304" y="810"/>
                  <a:pt x="1356" y="773"/>
                  <a:pt x="1374" y="718"/>
                </a:cubicBezTo>
                <a:cubicBezTo>
                  <a:pt x="1446" y="502"/>
                  <a:pt x="1446" y="502"/>
                  <a:pt x="1446" y="502"/>
                </a:cubicBezTo>
                <a:lnTo>
                  <a:pt x="1446" y="1215"/>
                </a:lnTo>
                <a:close/>
                <a:moveTo>
                  <a:pt x="1446" y="1215"/>
                </a:moveTo>
                <a:cubicBezTo>
                  <a:pt x="1446" y="1215"/>
                  <a:pt x="1446" y="1215"/>
                  <a:pt x="1446" y="1215"/>
                </a:cubicBezTo>
              </a:path>
            </a:pathLst>
          </a:custGeom>
          <a:solidFill>
            <a:schemeClr val="lt1"/>
          </a:solidFill>
          <a:ln>
            <a:noFill/>
          </a:ln>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sp>
        <p:nvSpPr>
          <p:cNvPr id="1216" name="Google Shape;1216;p50"/>
          <p:cNvSpPr/>
          <p:nvPr/>
        </p:nvSpPr>
        <p:spPr>
          <a:xfrm>
            <a:off x="2076240" y="3293876"/>
            <a:ext cx="4483523" cy="2384707"/>
          </a:xfrm>
          <a:custGeom>
            <a:avLst/>
            <a:gdLst/>
            <a:ahLst/>
            <a:cxnLst/>
            <a:rect l="l" t="t" r="r" b="b"/>
            <a:pathLst>
              <a:path w="2619" h="1393" extrusionOk="0">
                <a:moveTo>
                  <a:pt x="2018" y="191"/>
                </a:moveTo>
                <a:lnTo>
                  <a:pt x="2018" y="794"/>
                </a:lnTo>
                <a:lnTo>
                  <a:pt x="773" y="794"/>
                </a:lnTo>
                <a:lnTo>
                  <a:pt x="773" y="467"/>
                </a:lnTo>
                <a:lnTo>
                  <a:pt x="933" y="467"/>
                </a:lnTo>
                <a:lnTo>
                  <a:pt x="467" y="0"/>
                </a:lnTo>
                <a:lnTo>
                  <a:pt x="0" y="467"/>
                </a:lnTo>
                <a:lnTo>
                  <a:pt x="172" y="467"/>
                </a:lnTo>
                <a:lnTo>
                  <a:pt x="172" y="1393"/>
                </a:lnTo>
                <a:lnTo>
                  <a:pt x="2619" y="1393"/>
                </a:lnTo>
                <a:lnTo>
                  <a:pt x="2619" y="191"/>
                </a:lnTo>
                <a:lnTo>
                  <a:pt x="2018" y="191"/>
                </a:lnTo>
                <a:close/>
              </a:path>
            </a:pathLst>
          </a:custGeom>
          <a:gradFill>
            <a:gsLst>
              <a:gs pos="0">
                <a:schemeClr val="accent3"/>
              </a:gs>
              <a:gs pos="76000">
                <a:schemeClr val="accent4"/>
              </a:gs>
              <a:gs pos="100000">
                <a:schemeClr val="accent4"/>
              </a:gs>
            </a:gsLst>
            <a:lin ang="0" scaled="0"/>
          </a:gradFill>
          <a:ln>
            <a:noFill/>
          </a:ln>
          <a:effectLst>
            <a:outerShdw blurRad="177800" dist="215900" dir="5400000" algn="t" rotWithShape="0">
              <a:srgbClr val="000000">
                <a:alpha val="14901"/>
              </a:srgbClr>
            </a:outerShdw>
          </a:effectLst>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sp>
        <p:nvSpPr>
          <p:cNvPr id="1217" name="Google Shape;1217;p50"/>
          <p:cNvSpPr txBox="1"/>
          <p:nvPr/>
        </p:nvSpPr>
        <p:spPr>
          <a:xfrm>
            <a:off x="2744933" y="4724221"/>
            <a:ext cx="3484087" cy="830740"/>
          </a:xfrm>
          <a:prstGeom prst="rect">
            <a:avLst/>
          </a:prstGeom>
          <a:noFill/>
          <a:ln>
            <a:noFill/>
          </a:ln>
        </p:spPr>
        <p:txBody>
          <a:bodyPr spcFirstLastPara="1" wrap="square" lIns="0" tIns="45700" rIns="0" bIns="45700" anchor="ctr" anchorCtr="0">
            <a:spAutoFit/>
          </a:bodyPr>
          <a:lstStyle/>
          <a:p>
            <a:pPr marL="0" marR="0" lvl="0" indent="0" algn="ctr" rtl="0">
              <a:spcBef>
                <a:spcPts val="0"/>
              </a:spcBef>
              <a:spcAft>
                <a:spcPts val="0"/>
              </a:spcAft>
              <a:buNone/>
            </a:pPr>
            <a:r>
              <a:rPr lang="en-US" sz="2399" b="1">
                <a:solidFill>
                  <a:schemeClr val="lt1"/>
                </a:solidFill>
                <a:latin typeface="Open Sans"/>
                <a:ea typeface="Open Sans"/>
                <a:cs typeface="Open Sans"/>
                <a:sym typeface="Open Sans"/>
              </a:rPr>
              <a:t>01. Un-Managed Scenario</a:t>
            </a:r>
            <a:endParaRPr/>
          </a:p>
        </p:txBody>
      </p:sp>
      <p:grpSp>
        <p:nvGrpSpPr>
          <p:cNvPr id="1218" name="Google Shape;1218;p50"/>
          <p:cNvGrpSpPr/>
          <p:nvPr/>
        </p:nvGrpSpPr>
        <p:grpSpPr>
          <a:xfrm>
            <a:off x="2640029" y="3909061"/>
            <a:ext cx="470524" cy="527087"/>
            <a:chOff x="120651" y="2266950"/>
            <a:chExt cx="2944813" cy="3298825"/>
          </a:xfrm>
        </p:grpSpPr>
        <p:sp>
          <p:nvSpPr>
            <p:cNvPr id="1219" name="Google Shape;1219;p50"/>
            <p:cNvSpPr/>
            <p:nvPr/>
          </p:nvSpPr>
          <p:spPr>
            <a:xfrm>
              <a:off x="1219201" y="3508375"/>
              <a:ext cx="747713" cy="1436688"/>
            </a:xfrm>
            <a:custGeom>
              <a:avLst/>
              <a:gdLst/>
              <a:ahLst/>
              <a:cxnLst/>
              <a:rect l="l" t="t" r="r" b="b"/>
              <a:pathLst>
                <a:path w="347" h="669" extrusionOk="0">
                  <a:moveTo>
                    <a:pt x="206" y="290"/>
                  </a:moveTo>
                  <a:cubicBezTo>
                    <a:pt x="141" y="290"/>
                    <a:pt x="141" y="290"/>
                    <a:pt x="141" y="290"/>
                  </a:cubicBezTo>
                  <a:cubicBezTo>
                    <a:pt x="113" y="290"/>
                    <a:pt x="90" y="267"/>
                    <a:pt x="90" y="238"/>
                  </a:cubicBezTo>
                  <a:cubicBezTo>
                    <a:pt x="90" y="210"/>
                    <a:pt x="113" y="187"/>
                    <a:pt x="141" y="187"/>
                  </a:cubicBezTo>
                  <a:cubicBezTo>
                    <a:pt x="270" y="187"/>
                    <a:pt x="270" y="187"/>
                    <a:pt x="270" y="187"/>
                  </a:cubicBezTo>
                  <a:cubicBezTo>
                    <a:pt x="295" y="187"/>
                    <a:pt x="315" y="167"/>
                    <a:pt x="315" y="142"/>
                  </a:cubicBezTo>
                  <a:cubicBezTo>
                    <a:pt x="315" y="117"/>
                    <a:pt x="295" y="97"/>
                    <a:pt x="270" y="97"/>
                  </a:cubicBezTo>
                  <a:cubicBezTo>
                    <a:pt x="219" y="97"/>
                    <a:pt x="219" y="97"/>
                    <a:pt x="219" y="97"/>
                  </a:cubicBezTo>
                  <a:cubicBezTo>
                    <a:pt x="219" y="45"/>
                    <a:pt x="219" y="45"/>
                    <a:pt x="219" y="45"/>
                  </a:cubicBezTo>
                  <a:cubicBezTo>
                    <a:pt x="219" y="21"/>
                    <a:pt x="198" y="0"/>
                    <a:pt x="174" y="0"/>
                  </a:cubicBezTo>
                  <a:cubicBezTo>
                    <a:pt x="149" y="0"/>
                    <a:pt x="129" y="21"/>
                    <a:pt x="129" y="45"/>
                  </a:cubicBezTo>
                  <a:cubicBezTo>
                    <a:pt x="129" y="97"/>
                    <a:pt x="129" y="97"/>
                    <a:pt x="129" y="97"/>
                  </a:cubicBezTo>
                  <a:cubicBezTo>
                    <a:pt x="57" y="104"/>
                    <a:pt x="0" y="165"/>
                    <a:pt x="0" y="238"/>
                  </a:cubicBezTo>
                  <a:cubicBezTo>
                    <a:pt x="0" y="316"/>
                    <a:pt x="63" y="380"/>
                    <a:pt x="141" y="380"/>
                  </a:cubicBezTo>
                  <a:cubicBezTo>
                    <a:pt x="206" y="380"/>
                    <a:pt x="206" y="380"/>
                    <a:pt x="206" y="380"/>
                  </a:cubicBezTo>
                  <a:cubicBezTo>
                    <a:pt x="234" y="380"/>
                    <a:pt x="257" y="403"/>
                    <a:pt x="257" y="431"/>
                  </a:cubicBezTo>
                  <a:cubicBezTo>
                    <a:pt x="257" y="459"/>
                    <a:pt x="234" y="482"/>
                    <a:pt x="206" y="482"/>
                  </a:cubicBezTo>
                  <a:cubicBezTo>
                    <a:pt x="77" y="482"/>
                    <a:pt x="77" y="482"/>
                    <a:pt x="77" y="482"/>
                  </a:cubicBezTo>
                  <a:cubicBezTo>
                    <a:pt x="52" y="482"/>
                    <a:pt x="32" y="503"/>
                    <a:pt x="32" y="527"/>
                  </a:cubicBezTo>
                  <a:cubicBezTo>
                    <a:pt x="32" y="552"/>
                    <a:pt x="52" y="572"/>
                    <a:pt x="77" y="572"/>
                  </a:cubicBezTo>
                  <a:cubicBezTo>
                    <a:pt x="129" y="572"/>
                    <a:pt x="129" y="572"/>
                    <a:pt x="129" y="572"/>
                  </a:cubicBezTo>
                  <a:cubicBezTo>
                    <a:pt x="129" y="624"/>
                    <a:pt x="129" y="624"/>
                    <a:pt x="129" y="624"/>
                  </a:cubicBezTo>
                  <a:cubicBezTo>
                    <a:pt x="129" y="649"/>
                    <a:pt x="149" y="669"/>
                    <a:pt x="174" y="669"/>
                  </a:cubicBezTo>
                  <a:cubicBezTo>
                    <a:pt x="198" y="669"/>
                    <a:pt x="219" y="649"/>
                    <a:pt x="219" y="624"/>
                  </a:cubicBezTo>
                  <a:cubicBezTo>
                    <a:pt x="219" y="572"/>
                    <a:pt x="219" y="572"/>
                    <a:pt x="219" y="572"/>
                  </a:cubicBezTo>
                  <a:cubicBezTo>
                    <a:pt x="291" y="565"/>
                    <a:pt x="347" y="505"/>
                    <a:pt x="347" y="431"/>
                  </a:cubicBezTo>
                  <a:cubicBezTo>
                    <a:pt x="347" y="353"/>
                    <a:pt x="284" y="290"/>
                    <a:pt x="206" y="290"/>
                  </a:cubicBezTo>
                  <a:close/>
                  <a:moveTo>
                    <a:pt x="206" y="290"/>
                  </a:moveTo>
                  <a:cubicBezTo>
                    <a:pt x="206" y="290"/>
                    <a:pt x="206" y="290"/>
                    <a:pt x="206" y="290"/>
                  </a:cubicBezTo>
                </a:path>
              </a:pathLst>
            </a:custGeom>
            <a:solidFill>
              <a:schemeClr val="lt1"/>
            </a:solidFill>
            <a:ln>
              <a:noFill/>
            </a:ln>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sp>
          <p:nvSpPr>
            <p:cNvPr id="1220" name="Google Shape;1220;p50"/>
            <p:cNvSpPr/>
            <p:nvPr/>
          </p:nvSpPr>
          <p:spPr>
            <a:xfrm>
              <a:off x="120651" y="2266950"/>
              <a:ext cx="2944813" cy="3298825"/>
            </a:xfrm>
            <a:custGeom>
              <a:avLst/>
              <a:gdLst/>
              <a:ahLst/>
              <a:cxnLst/>
              <a:rect l="l" t="t" r="r" b="b"/>
              <a:pathLst>
                <a:path w="1367" h="1536" extrusionOk="0">
                  <a:moveTo>
                    <a:pt x="1125" y="472"/>
                  </a:moveTo>
                  <a:cubicBezTo>
                    <a:pt x="1125" y="472"/>
                    <a:pt x="1125" y="472"/>
                    <a:pt x="1124" y="472"/>
                  </a:cubicBezTo>
                  <a:cubicBezTo>
                    <a:pt x="1032" y="379"/>
                    <a:pt x="1032" y="379"/>
                    <a:pt x="1032" y="379"/>
                  </a:cubicBezTo>
                  <a:cubicBezTo>
                    <a:pt x="1212" y="379"/>
                    <a:pt x="1212" y="379"/>
                    <a:pt x="1212" y="379"/>
                  </a:cubicBezTo>
                  <a:cubicBezTo>
                    <a:pt x="1237" y="379"/>
                    <a:pt x="1257" y="359"/>
                    <a:pt x="1257" y="334"/>
                  </a:cubicBezTo>
                  <a:cubicBezTo>
                    <a:pt x="1257" y="309"/>
                    <a:pt x="1237" y="289"/>
                    <a:pt x="1212" y="289"/>
                  </a:cubicBezTo>
                  <a:cubicBezTo>
                    <a:pt x="996" y="289"/>
                    <a:pt x="996" y="289"/>
                    <a:pt x="996" y="289"/>
                  </a:cubicBezTo>
                  <a:cubicBezTo>
                    <a:pt x="1108" y="65"/>
                    <a:pt x="1108" y="65"/>
                    <a:pt x="1108" y="65"/>
                  </a:cubicBezTo>
                  <a:cubicBezTo>
                    <a:pt x="1115" y="51"/>
                    <a:pt x="1114" y="35"/>
                    <a:pt x="1106" y="21"/>
                  </a:cubicBezTo>
                  <a:cubicBezTo>
                    <a:pt x="1098" y="8"/>
                    <a:pt x="1083" y="0"/>
                    <a:pt x="1068" y="0"/>
                  </a:cubicBezTo>
                  <a:cubicBezTo>
                    <a:pt x="299" y="0"/>
                    <a:pt x="299" y="0"/>
                    <a:pt x="299" y="0"/>
                  </a:cubicBezTo>
                  <a:cubicBezTo>
                    <a:pt x="284" y="0"/>
                    <a:pt x="269" y="8"/>
                    <a:pt x="261" y="21"/>
                  </a:cubicBezTo>
                  <a:cubicBezTo>
                    <a:pt x="253" y="35"/>
                    <a:pt x="252" y="51"/>
                    <a:pt x="259" y="65"/>
                  </a:cubicBezTo>
                  <a:cubicBezTo>
                    <a:pt x="389" y="325"/>
                    <a:pt x="389" y="325"/>
                    <a:pt x="389" y="325"/>
                  </a:cubicBezTo>
                  <a:cubicBezTo>
                    <a:pt x="243" y="472"/>
                    <a:pt x="243" y="472"/>
                    <a:pt x="243" y="472"/>
                  </a:cubicBezTo>
                  <a:cubicBezTo>
                    <a:pt x="243" y="472"/>
                    <a:pt x="242" y="472"/>
                    <a:pt x="242" y="472"/>
                  </a:cubicBezTo>
                  <a:cubicBezTo>
                    <a:pt x="0" y="715"/>
                    <a:pt x="0" y="1110"/>
                    <a:pt x="243" y="1353"/>
                  </a:cubicBezTo>
                  <a:cubicBezTo>
                    <a:pt x="360" y="1471"/>
                    <a:pt x="517" y="1536"/>
                    <a:pt x="684" y="1536"/>
                  </a:cubicBezTo>
                  <a:cubicBezTo>
                    <a:pt x="850" y="1536"/>
                    <a:pt x="1007" y="1471"/>
                    <a:pt x="1124" y="1353"/>
                  </a:cubicBezTo>
                  <a:cubicBezTo>
                    <a:pt x="1367" y="1110"/>
                    <a:pt x="1367" y="715"/>
                    <a:pt x="1125" y="472"/>
                  </a:cubicBezTo>
                  <a:close/>
                  <a:moveTo>
                    <a:pt x="372" y="90"/>
                  </a:moveTo>
                  <a:cubicBezTo>
                    <a:pt x="995" y="90"/>
                    <a:pt x="995" y="90"/>
                    <a:pt x="995" y="90"/>
                  </a:cubicBezTo>
                  <a:cubicBezTo>
                    <a:pt x="895" y="289"/>
                    <a:pt x="895" y="289"/>
                    <a:pt x="895" y="289"/>
                  </a:cubicBezTo>
                  <a:cubicBezTo>
                    <a:pt x="472" y="289"/>
                    <a:pt x="472" y="289"/>
                    <a:pt x="472" y="289"/>
                  </a:cubicBezTo>
                  <a:lnTo>
                    <a:pt x="372" y="90"/>
                  </a:lnTo>
                  <a:close/>
                  <a:moveTo>
                    <a:pt x="1061" y="1290"/>
                  </a:moveTo>
                  <a:cubicBezTo>
                    <a:pt x="960" y="1391"/>
                    <a:pt x="826" y="1446"/>
                    <a:pt x="684" y="1446"/>
                  </a:cubicBezTo>
                  <a:cubicBezTo>
                    <a:pt x="541" y="1446"/>
                    <a:pt x="407" y="1391"/>
                    <a:pt x="306" y="1290"/>
                  </a:cubicBezTo>
                  <a:cubicBezTo>
                    <a:pt x="98" y="1082"/>
                    <a:pt x="98" y="743"/>
                    <a:pt x="306" y="535"/>
                  </a:cubicBezTo>
                  <a:cubicBezTo>
                    <a:pt x="307" y="535"/>
                    <a:pt x="307" y="535"/>
                    <a:pt x="307" y="535"/>
                  </a:cubicBezTo>
                  <a:cubicBezTo>
                    <a:pt x="463" y="379"/>
                    <a:pt x="463" y="379"/>
                    <a:pt x="463" y="379"/>
                  </a:cubicBezTo>
                  <a:cubicBezTo>
                    <a:pt x="905" y="379"/>
                    <a:pt x="905" y="379"/>
                    <a:pt x="905" y="379"/>
                  </a:cubicBezTo>
                  <a:cubicBezTo>
                    <a:pt x="1060" y="535"/>
                    <a:pt x="1060" y="535"/>
                    <a:pt x="1060" y="535"/>
                  </a:cubicBezTo>
                  <a:cubicBezTo>
                    <a:pt x="1060" y="535"/>
                    <a:pt x="1061" y="535"/>
                    <a:pt x="1061" y="535"/>
                  </a:cubicBezTo>
                  <a:cubicBezTo>
                    <a:pt x="1269" y="743"/>
                    <a:pt x="1269" y="1082"/>
                    <a:pt x="1061" y="1290"/>
                  </a:cubicBezTo>
                  <a:close/>
                  <a:moveTo>
                    <a:pt x="1061" y="1290"/>
                  </a:moveTo>
                  <a:cubicBezTo>
                    <a:pt x="1061" y="1290"/>
                    <a:pt x="1061" y="1290"/>
                    <a:pt x="1061" y="1290"/>
                  </a:cubicBezTo>
                </a:path>
              </a:pathLst>
            </a:custGeom>
            <a:solidFill>
              <a:schemeClr val="lt1"/>
            </a:solidFill>
            <a:ln>
              <a:noFill/>
            </a:ln>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grpSp>
      <p:sp>
        <p:nvSpPr>
          <p:cNvPr id="1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51"/>
          <p:cNvSpPr txBox="1">
            <a:spLocks noGrp="1"/>
          </p:cNvSpPr>
          <p:nvPr>
            <p:ph type="title"/>
          </p:nvPr>
        </p:nvSpPr>
        <p:spPr>
          <a:xfrm>
            <a:off x="391076" y="162752"/>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BO Runtime Implementation Types</a:t>
            </a:r>
            <a:endParaRPr dirty="0">
              <a:solidFill>
                <a:srgbClr val="FFC000"/>
              </a:solidFill>
              <a:latin typeface="Cooper Black" panose="0208090404030B020404" pitchFamily="18" charset="0"/>
            </a:endParaRPr>
          </a:p>
        </p:txBody>
      </p:sp>
      <p:pic>
        <p:nvPicPr>
          <p:cNvPr id="1226" name="Google Shape;1226;p51"/>
          <p:cNvPicPr preferRelativeResize="0"/>
          <p:nvPr/>
        </p:nvPicPr>
        <p:blipFill rotWithShape="1">
          <a:blip r:embed="rId3">
            <a:alphaModFix/>
          </a:blip>
          <a:srcRect/>
          <a:stretch/>
        </p:blipFill>
        <p:spPr>
          <a:xfrm>
            <a:off x="11379302" y="57696"/>
            <a:ext cx="716512" cy="707702"/>
          </a:xfrm>
          <a:prstGeom prst="rect">
            <a:avLst/>
          </a:prstGeom>
          <a:noFill/>
          <a:ln>
            <a:noFill/>
          </a:ln>
        </p:spPr>
      </p:pic>
      <p:pic>
        <p:nvPicPr>
          <p:cNvPr id="1228" name="Google Shape;1228;p51"/>
          <p:cNvPicPr preferRelativeResize="0"/>
          <p:nvPr/>
        </p:nvPicPr>
        <p:blipFill rotWithShape="1">
          <a:blip r:embed="rId4">
            <a:alphaModFix/>
          </a:blip>
          <a:srcRect/>
          <a:stretch/>
        </p:blipFill>
        <p:spPr>
          <a:xfrm>
            <a:off x="616585" y="1325166"/>
            <a:ext cx="10955657" cy="4586444"/>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pic>
        <p:nvPicPr>
          <p:cNvPr id="1233" name="Google Shape;1233;p52" descr="File:Solid white.svg - Wikimedia Commons"/>
          <p:cNvPicPr preferRelativeResize="0"/>
          <p:nvPr/>
        </p:nvPicPr>
        <p:blipFill rotWithShape="1">
          <a:blip r:embed="rId3">
            <a:alphaModFix/>
          </a:blip>
          <a:srcRect/>
          <a:stretch/>
        </p:blipFill>
        <p:spPr>
          <a:xfrm rot="5400000">
            <a:off x="2652617" y="-2677513"/>
            <a:ext cx="6883591" cy="12185650"/>
          </a:xfrm>
          <a:prstGeom prst="rect">
            <a:avLst/>
          </a:prstGeom>
          <a:noFill/>
          <a:ln>
            <a:noFill/>
          </a:ln>
        </p:spPr>
      </p:pic>
      <p:sp>
        <p:nvSpPr>
          <p:cNvPr id="1234" name="Google Shape;1234;p52"/>
          <p:cNvSpPr txBox="1">
            <a:spLocks noGrp="1"/>
          </p:cNvSpPr>
          <p:nvPr>
            <p:ph type="title"/>
          </p:nvPr>
        </p:nvSpPr>
        <p:spPr>
          <a:xfrm>
            <a:off x="610870" y="202880"/>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Explanation of Flight Data Model</a:t>
            </a:r>
            <a:endParaRPr dirty="0">
              <a:solidFill>
                <a:srgbClr val="FFC000"/>
              </a:solidFill>
              <a:latin typeface="Cooper Black" panose="0208090404030B020404" pitchFamily="18" charset="0"/>
            </a:endParaRPr>
          </a:p>
        </p:txBody>
      </p:sp>
      <p:pic>
        <p:nvPicPr>
          <p:cNvPr id="1235" name="Google Shape;1235;p52"/>
          <p:cNvPicPr preferRelativeResize="0"/>
          <p:nvPr/>
        </p:nvPicPr>
        <p:blipFill rotWithShape="1">
          <a:blip r:embed="rId4">
            <a:alphaModFix/>
          </a:blip>
          <a:srcRect/>
          <a:stretch/>
        </p:blipFill>
        <p:spPr>
          <a:xfrm>
            <a:off x="11379302" y="57696"/>
            <a:ext cx="716512" cy="707702"/>
          </a:xfrm>
          <a:prstGeom prst="rect">
            <a:avLst/>
          </a:prstGeom>
          <a:noFill/>
          <a:ln>
            <a:noFill/>
          </a:ln>
        </p:spPr>
      </p:pic>
      <p:pic>
        <p:nvPicPr>
          <p:cNvPr id="1237" name="Google Shape;1237;p52"/>
          <p:cNvPicPr preferRelativeResize="0"/>
          <p:nvPr/>
        </p:nvPicPr>
        <p:blipFill rotWithShape="1">
          <a:blip r:embed="rId5">
            <a:alphaModFix/>
          </a:blip>
          <a:srcRect/>
          <a:stretch/>
        </p:blipFill>
        <p:spPr>
          <a:xfrm>
            <a:off x="619151" y="1053355"/>
            <a:ext cx="11162414" cy="4384558"/>
          </a:xfrm>
          <a:prstGeom prst="rect">
            <a:avLst/>
          </a:prstGeom>
          <a:noFill/>
          <a:ln>
            <a:noFill/>
          </a:ln>
        </p:spPr>
      </p:pic>
      <p:sp>
        <p:nvSpPr>
          <p:cNvPr id="1238" name="Google Shape;1238;p52"/>
          <p:cNvSpPr/>
          <p:nvPr/>
        </p:nvSpPr>
        <p:spPr>
          <a:xfrm>
            <a:off x="610870" y="5466179"/>
            <a:ext cx="1076843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Data is not found in these Table’s please execute Data Generator Class “/dmo/cl_flight_data_generator”</a:t>
            </a:r>
            <a:endParaRPr/>
          </a:p>
        </p:txBody>
      </p:sp>
      <p:sp>
        <p:nvSpPr>
          <p:cNvPr id="1239" name="Google Shape;1239;p52"/>
          <p:cNvSpPr txBox="1"/>
          <p:nvPr/>
        </p:nvSpPr>
        <p:spPr>
          <a:xfrm>
            <a:off x="2205980" y="3114829"/>
            <a:ext cx="42401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lt1"/>
                </a:solidFill>
                <a:latin typeface="Calibri"/>
                <a:ea typeface="Calibri"/>
                <a:cs typeface="Calibri"/>
                <a:sym typeface="Calibri"/>
              </a:rPr>
              <a:t>_M</a:t>
            </a:r>
            <a:endParaRPr/>
          </a:p>
        </p:txBody>
      </p:sp>
      <p:sp>
        <p:nvSpPr>
          <p:cNvPr id="1240" name="Google Shape;1240;p52"/>
          <p:cNvSpPr txBox="1"/>
          <p:nvPr/>
        </p:nvSpPr>
        <p:spPr>
          <a:xfrm>
            <a:off x="5571074" y="1772816"/>
            <a:ext cx="42401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lt1"/>
                </a:solidFill>
                <a:latin typeface="Calibri"/>
                <a:ea typeface="Calibri"/>
                <a:cs typeface="Calibri"/>
                <a:sym typeface="Calibri"/>
              </a:rPr>
              <a:t>_M</a:t>
            </a:r>
            <a:endParaRPr/>
          </a:p>
        </p:txBody>
      </p:sp>
      <p:sp>
        <p:nvSpPr>
          <p:cNvPr id="1241" name="Google Shape;1241;p52"/>
          <p:cNvSpPr txBox="1"/>
          <p:nvPr/>
        </p:nvSpPr>
        <p:spPr>
          <a:xfrm>
            <a:off x="5518348" y="3114829"/>
            <a:ext cx="42401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lt1"/>
                </a:solidFill>
                <a:latin typeface="Calibri"/>
                <a:ea typeface="Calibri"/>
                <a:cs typeface="Calibri"/>
                <a:sym typeface="Calibri"/>
              </a:rPr>
              <a:t>_M</a:t>
            </a:r>
            <a:endParaRPr/>
          </a:p>
        </p:txBody>
      </p:sp>
      <p:sp>
        <p:nvSpPr>
          <p:cNvPr id="11"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5"/>
        <p:cNvGrpSpPr/>
        <p:nvPr/>
      </p:nvGrpSpPr>
      <p:grpSpPr>
        <a:xfrm>
          <a:off x="0" y="0"/>
          <a:ext cx="0" cy="0"/>
          <a:chOff x="0" y="0"/>
          <a:chExt cx="0" cy="0"/>
        </a:xfrm>
      </p:grpSpPr>
      <p:sp>
        <p:nvSpPr>
          <p:cNvPr id="1247" name="Google Shape;1247;p53"/>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managed RAP implementation addresses use cases where all the essential parts of the applications are to be developed from scratch. However, these new applications can highly benefit from out-of-box support for transactional processing. Standard operations like create, update, delete must only be specified in the behavior definition to obtain a ready-to-run business object. The provisioning of transaction buffer is also done automatically for us by the framework. The interaction phase and save sequence are also implemented generically. The application developer can focus on business part of app like adding custom validation, actions, determinations. The RAP transaction engine manages the life cycle of our Business object and covers all the aspects of our app development.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managed implementation type is aimed for building new applications from scratch without having any prior coding exist.  The standard functionality that given in managed business objects is easily retrieved. The business logic implemented using predefined implementation methods that are integrated during the runtime in the interaction phase and save sequence. </a:t>
            </a:r>
            <a:endParaRPr sz="1800">
              <a:solidFill>
                <a:schemeClr val="dk1"/>
              </a:solidFill>
              <a:latin typeface="Calibri"/>
              <a:ea typeface="Calibri"/>
              <a:cs typeface="Calibri"/>
              <a:sym typeface="Calibri"/>
            </a:endParaRPr>
          </a:p>
        </p:txBody>
      </p:sp>
      <p:sp>
        <p:nvSpPr>
          <p:cNvPr id="1248" name="Google Shape;1248;p5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Managed RAP implementation</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4"/>
        <p:cNvGrpSpPr/>
        <p:nvPr/>
      </p:nvGrpSpPr>
      <p:grpSpPr>
        <a:xfrm>
          <a:off x="0" y="0"/>
          <a:ext cx="0" cy="0"/>
          <a:chOff x="0" y="0"/>
          <a:chExt cx="0" cy="0"/>
        </a:xfrm>
      </p:grpSpPr>
      <p:sp>
        <p:nvSpPr>
          <p:cNvPr id="1256" name="Google Shape;1256;p54"/>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We will implementing 2 different applications on travel data model. These applications will target different user groups. We will manage the travel requests and booking through our applications which are booked by agency for customer.</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Processor – a processor is an employee of our company who will request a new travel plan through the application. He/she will be allowed to create, update, delete, copy travel requests including bookings and supplements. They have full control to manage their travel.</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Approver – an approver is a manager who will only be able to view the travel requests created by employees, and can only change the booking fees and approval status of the request (approve/reject).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sp>
        <p:nvSpPr>
          <p:cNvPr id="1257" name="Google Shape;1257;p5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Business use case</a:t>
            </a:r>
            <a:endParaRPr sz="3599" dirty="0">
              <a:solidFill>
                <a:srgbClr val="FFC000"/>
              </a:solidFill>
              <a:latin typeface="Cooper Black" panose="0208090404030B020404" pitchFamily="18" charset="0"/>
              <a:ea typeface="Corben"/>
              <a:cs typeface="Corben"/>
              <a:sym typeface="Corben"/>
            </a:endParaRPr>
          </a:p>
        </p:txBody>
      </p:sp>
      <p:pic>
        <p:nvPicPr>
          <p:cNvPr id="1260" name="Google Shape;1260;p54" descr="Travel Around The World Png Clipart (#265026) is a creative clipart.  Download the transparent clipart and use it for f… | Travel clipart, Clip  art, Clip art library"/>
          <p:cNvPicPr preferRelativeResize="0"/>
          <p:nvPr/>
        </p:nvPicPr>
        <p:blipFill rotWithShape="1">
          <a:blip r:embed="rId3">
            <a:alphaModFix/>
          </a:blip>
          <a:srcRect/>
          <a:stretch/>
        </p:blipFill>
        <p:spPr>
          <a:xfrm>
            <a:off x="549796" y="4189727"/>
            <a:ext cx="2088232" cy="2301317"/>
          </a:xfrm>
          <a:prstGeom prst="rect">
            <a:avLst/>
          </a:prstGeom>
          <a:noFill/>
          <a:ln>
            <a:noFill/>
          </a:ln>
        </p:spPr>
      </p:pic>
      <p:sp>
        <p:nvSpPr>
          <p:cNvPr id="1261" name="Google Shape;1261;p54"/>
          <p:cNvSpPr/>
          <p:nvPr/>
        </p:nvSpPr>
        <p:spPr>
          <a:xfrm>
            <a:off x="2782044" y="4093871"/>
            <a:ext cx="4032448" cy="158998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MakeMyTrip.com- processor app</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Processor needs to create, update, delete a travel request through agency including all bookings and supplements</a:t>
            </a:r>
            <a:endParaRPr/>
          </a:p>
        </p:txBody>
      </p:sp>
      <p:pic>
        <p:nvPicPr>
          <p:cNvPr id="1262" name="Google Shape;1262;p54" descr="Managing Users In ETapestry And Blackbaud.com - Blackbaud Community"/>
          <p:cNvPicPr preferRelativeResize="0"/>
          <p:nvPr/>
        </p:nvPicPr>
        <p:blipFill rotWithShape="1">
          <a:blip r:embed="rId4">
            <a:alphaModFix/>
          </a:blip>
          <a:srcRect/>
          <a:stretch/>
        </p:blipFill>
        <p:spPr>
          <a:xfrm>
            <a:off x="4433242" y="5877272"/>
            <a:ext cx="1661170" cy="797362"/>
          </a:xfrm>
          <a:prstGeom prst="rect">
            <a:avLst/>
          </a:prstGeom>
          <a:noFill/>
          <a:ln>
            <a:noFill/>
          </a:ln>
        </p:spPr>
      </p:pic>
      <p:sp>
        <p:nvSpPr>
          <p:cNvPr id="1263" name="Google Shape;1263;p54"/>
          <p:cNvSpPr/>
          <p:nvPr/>
        </p:nvSpPr>
        <p:spPr>
          <a:xfrm>
            <a:off x="6958508" y="4077734"/>
            <a:ext cx="3950506" cy="158998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Approval App</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The manager would review the travel requests created by processor, can only change the booking fees and approve or reject the travel request</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64" name="Google Shape;1264;p54" descr="A Guide to Automated Approval Processes | Cflow"/>
          <p:cNvPicPr preferRelativeResize="0"/>
          <p:nvPr/>
        </p:nvPicPr>
        <p:blipFill rotWithShape="1">
          <a:blip r:embed="rId5">
            <a:alphaModFix/>
          </a:blip>
          <a:srcRect/>
          <a:stretch/>
        </p:blipFill>
        <p:spPr>
          <a:xfrm>
            <a:off x="7633415" y="5752109"/>
            <a:ext cx="1661170" cy="934164"/>
          </a:xfrm>
          <a:prstGeom prst="rect">
            <a:avLst/>
          </a:prstGeom>
          <a:noFill/>
          <a:ln>
            <a:noFill/>
          </a:ln>
        </p:spPr>
      </p:pic>
      <p:sp>
        <p:nvSpPr>
          <p:cNvPr id="1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13"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68"/>
        <p:cNvGrpSpPr/>
        <p:nvPr/>
      </p:nvGrpSpPr>
      <p:grpSpPr>
        <a:xfrm>
          <a:off x="0" y="0"/>
          <a:ext cx="0" cy="0"/>
          <a:chOff x="0" y="0"/>
          <a:chExt cx="0" cy="0"/>
        </a:xfrm>
      </p:grpSpPr>
      <p:sp>
        <p:nvSpPr>
          <p:cNvPr id="1270" name="Google Shape;1270;p55"/>
          <p:cNvSpPr txBox="1"/>
          <p:nvPr/>
        </p:nvSpPr>
        <p:spPr>
          <a:xfrm>
            <a:off x="224979" y="788088"/>
            <a:ext cx="1180623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we ever get requirement in our company to develop a use case where we want to reuse the data model (e.g. sales, purchase, accounting, finance) but develop many applications. We will go with RAP and projections. A projection takes part of the base functionality according the needs to user. This will reduce effort, increase reusability in our app.</a:t>
            </a:r>
            <a:endParaRPr sz="1800">
              <a:solidFill>
                <a:schemeClr val="dk1"/>
              </a:solidFill>
              <a:latin typeface="Calibri"/>
              <a:ea typeface="Calibri"/>
              <a:cs typeface="Calibri"/>
              <a:sym typeface="Calibri"/>
            </a:endParaRPr>
          </a:p>
        </p:txBody>
      </p:sp>
      <p:sp>
        <p:nvSpPr>
          <p:cNvPr id="1271" name="Google Shape;1271;p5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Understanding projection</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dirty="0">
                <a:solidFill>
                  <a:srgbClr val="75C042"/>
                </a:solidFill>
                <a:latin typeface="Segoe UI" panose="020B0502040204020203" pitchFamily="34" charset="0"/>
                <a:ea typeface="Calibri Light" charset="0"/>
                <a:cs typeface="Segoe UI" panose="020B0502040204020203" pitchFamily="34" charset="0"/>
              </a:rPr>
              <a:t>8</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1581</TotalTime>
  <Words>1306</Words>
  <Application>Microsoft Office PowerPoint</Application>
  <PresentationFormat>Custom</PresentationFormat>
  <Paragraphs>148</Paragraphs>
  <Slides>19</Slides>
  <Notes>17</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19</vt:i4>
      </vt:variant>
    </vt:vector>
  </HeadingPairs>
  <TitlesOfParts>
    <vt:vector size="32" baseType="lpstr">
      <vt:lpstr>Cooper Black</vt:lpstr>
      <vt:lpstr>Calibri</vt:lpstr>
      <vt:lpstr>Arial Black</vt:lpstr>
      <vt:lpstr>Segoe UI Light</vt:lpstr>
      <vt:lpstr>Corben</vt:lpstr>
      <vt:lpstr>Quattrocento Sans</vt:lpstr>
      <vt:lpstr>Segoe UI</vt:lpstr>
      <vt:lpstr>Cambria</vt:lpstr>
      <vt:lpstr>Open Sans</vt:lpstr>
      <vt:lpstr>Arial</vt:lpstr>
      <vt:lpstr>Office Theme</vt:lpstr>
      <vt:lpstr>2_Office Theme</vt:lpstr>
      <vt:lpstr>3_Office Theme</vt:lpstr>
      <vt:lpstr>SAP BTP ABAP  on Cloud / RAP  Training</vt:lpstr>
      <vt:lpstr>PowerPoint Presentation</vt:lpstr>
      <vt:lpstr>PowerPoint Presentation</vt:lpstr>
      <vt:lpstr>PowerPoint Presentation</vt:lpstr>
      <vt:lpstr>Evolution of ABAP Programming Model</vt:lpstr>
      <vt:lpstr>Restful ABAP Programming</vt:lpstr>
      <vt:lpstr>Restful Application Programming</vt:lpstr>
      <vt:lpstr>PowerPoint Presentation</vt:lpstr>
      <vt:lpstr>PowerPoint Presentation</vt:lpstr>
      <vt:lpstr>RAP – The Big picture</vt:lpstr>
      <vt:lpstr>What is a Business Object</vt:lpstr>
      <vt:lpstr>Types of Implementation (Scenario) </vt:lpstr>
      <vt:lpstr>BO Runtime Implementation Types</vt:lpstr>
      <vt:lpstr>Explanation of Flight Data Model</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71</cp:revision>
  <dcterms:created xsi:type="dcterms:W3CDTF">2023-10-03T21:33:12Z</dcterms:created>
  <dcterms:modified xsi:type="dcterms:W3CDTF">2026-02-14T12:52:58Z</dcterms:modified>
</cp:coreProperties>
</file>