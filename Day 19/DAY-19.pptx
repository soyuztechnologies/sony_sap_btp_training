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Lst>
  <p:notesMasterIdLst>
    <p:notesMasterId r:id="rId18"/>
  </p:notesMasterIdLst>
  <p:sldIdLst>
    <p:sldId id="256" r:id="rId4"/>
    <p:sldId id="402" r:id="rId5"/>
    <p:sldId id="276" r:id="rId6"/>
    <p:sldId id="1035" r:id="rId7"/>
    <p:sldId id="1037" r:id="rId8"/>
    <p:sldId id="1038" r:id="rId9"/>
    <p:sldId id="1043" r:id="rId10"/>
    <p:sldId id="1044" r:id="rId11"/>
    <p:sldId id="1045" r:id="rId12"/>
    <p:sldId id="1046" r:id="rId13"/>
    <p:sldId id="1047" r:id="rId14"/>
    <p:sldId id="1048" r:id="rId15"/>
    <p:sldId id="419" r:id="rId16"/>
    <p:sldId id="409" r:id="rId17"/>
  </p:sldIdLst>
  <p:sldSz cx="12188825" cy="6858000"/>
  <p:notesSz cx="6858000" cy="9144000"/>
  <p:embeddedFontLst>
    <p:embeddedFont>
      <p:font typeface="72 Condensed" panose="020B0506030000000003" pitchFamily="34" charset="0"/>
      <p:regular r:id="rId19"/>
      <p:bold r:id="rId20"/>
    </p:embeddedFont>
    <p:embeddedFont>
      <p:font typeface="72 Monospace" panose="020B0509030603020204" pitchFamily="49" charset="0"/>
      <p:regular r:id="rId21"/>
      <p:bold r:id="rId22"/>
    </p:embeddedFont>
    <p:embeddedFont>
      <p:font typeface="Amasis MT Pro Black" panose="02040A04050005020304" pitchFamily="18" charset="0"/>
      <p:bold r:id="rId23"/>
      <p:boldItalic r:id="rId24"/>
    </p:embeddedFont>
    <p:embeddedFont>
      <p:font typeface="Arial Black" panose="020B0A04020102020204" pitchFamily="34" charset="0"/>
      <p:regular r:id="rId25"/>
      <p:bold r:id="rId26"/>
    </p:embeddedFont>
    <p:embeddedFont>
      <p:font typeface="Cambria" panose="02040503050406030204" pitchFamily="18" charset="0"/>
      <p:regular r:id="rId27"/>
      <p:bold r:id="rId28"/>
      <p:italic r:id="rId29"/>
      <p:boldItalic r:id="rId30"/>
    </p:embeddedFont>
    <p:embeddedFont>
      <p:font typeface="Cooper Black" panose="0208090404030B020404" pitchFamily="18" charset="0"/>
      <p:regular r:id="rId31"/>
    </p:embeddedFont>
    <p:embeddedFont>
      <p:font typeface="Corben" panose="020B0604020202020204" charset="0"/>
      <p:bold r:id="rId32"/>
    </p:embeddedFont>
    <p:embeddedFont>
      <p:font typeface="Open Sans" panose="020B0606030504020204" pitchFamily="34" charset="0"/>
      <p:regular r:id="rId33"/>
      <p:bold r:id="rId34"/>
      <p:italic r:id="rId35"/>
      <p:boldItalic r:id="rId36"/>
    </p:embeddedFont>
    <p:embeddedFont>
      <p:font typeface="Quattrocento Sans" panose="020B0502050000020003" pitchFamily="34" charset="0"/>
      <p:regular r:id="rId37"/>
      <p:bold r:id="rId38"/>
      <p:italic r:id="rId39"/>
      <p:boldItalic r:id="rId40"/>
    </p:embeddedFont>
    <p:embeddedFont>
      <p:font typeface="Segoe UI" panose="020B0502040204020203" pitchFamily="34" charset="0"/>
      <p:regular r:id="rId41"/>
      <p:bold r:id="rId42"/>
      <p:italic r:id="rId43"/>
      <p:boldItalic r:id="rId44"/>
    </p:embeddedFont>
    <p:embeddedFont>
      <p:font typeface="Segoe UI Light" panose="020B0502040204020203" pitchFamily="34" charset="0"/>
      <p:regular r:id="rId45"/>
      <p: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font" Target="fonts/font21.fntdata"/><Relationship Id="rId21" Type="http://schemas.openxmlformats.org/officeDocument/2006/relationships/font" Target="fonts/font3.fntdata"/><Relationship Id="rId34" Type="http://schemas.openxmlformats.org/officeDocument/2006/relationships/font" Target="fonts/font16.fntdata"/><Relationship Id="rId42" Type="http://schemas.openxmlformats.org/officeDocument/2006/relationships/font" Target="fonts/font24.fntdata"/><Relationship Id="rId7" Type="http://schemas.openxmlformats.org/officeDocument/2006/relationships/slide" Target="slides/slide4.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11.fntdata"/><Relationship Id="rId11" Type="http://schemas.openxmlformats.org/officeDocument/2006/relationships/slide" Target="slides/slide8.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font" Target="fonts/font22.fntdata"/><Relationship Id="rId45" Type="http://schemas.openxmlformats.org/officeDocument/2006/relationships/font" Target="fonts/font27.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203" Type="http://customschemas.google.com/relationships/presentationmetadata" Target="metadata"/><Relationship Id="rId10" Type="http://schemas.openxmlformats.org/officeDocument/2006/relationships/slide" Target="slides/slide7.xml"/><Relationship Id="rId19" Type="http://schemas.openxmlformats.org/officeDocument/2006/relationships/font" Target="fonts/font1.fntdata"/><Relationship Id="rId31" Type="http://schemas.openxmlformats.org/officeDocument/2006/relationships/font" Target="fonts/font13.fntdata"/><Relationship Id="rId44" Type="http://schemas.openxmlformats.org/officeDocument/2006/relationships/font" Target="fonts/font26.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43" Type="http://schemas.openxmlformats.org/officeDocument/2006/relationships/font" Target="fonts/font25.fntdata"/><Relationship Id="rId207" Type="http://schemas.openxmlformats.org/officeDocument/2006/relationships/tableStyles" Target="tableStyles.xml"/><Relationship Id="rId8" Type="http://schemas.openxmlformats.org/officeDocument/2006/relationships/slide" Target="slides/slide5.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46" Type="http://schemas.openxmlformats.org/officeDocument/2006/relationships/font" Target="fonts/font28.fntdata"/><Relationship Id="rId20" Type="http://schemas.openxmlformats.org/officeDocument/2006/relationships/font" Target="fonts/font2.fntdata"/><Relationship Id="rId41" Type="http://schemas.openxmlformats.org/officeDocument/2006/relationships/font" Target="fonts/font23.fntdata"/><Relationship Id="rId1" Type="http://schemas.openxmlformats.org/officeDocument/2006/relationships/slideMaster" Target="slideMasters/slideMaster1.xml"/><Relationship Id="rId6" Type="http://schemas.openxmlformats.org/officeDocument/2006/relationships/slide" Target="slides/slide3.xml"/><Relationship Id="rId20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5" name="Footer Placeholder 2">
            <a:extLst>
              <a:ext uri="{FF2B5EF4-FFF2-40B4-BE49-F238E27FC236}">
                <a16:creationId xmlns:a16="http://schemas.microsoft.com/office/drawing/2014/main" id="{BDD2387F-07C0-50A0-1236-172A215EC0A7}"/>
              </a:ext>
            </a:extLst>
          </p:cNvPr>
          <p:cNvSpPr>
            <a:spLocks noGrp="1"/>
          </p:cNvSpPr>
          <p:nvPr>
            <p:ph type="ftr" sz="quarter" idx="11"/>
          </p:nvPr>
        </p:nvSpPr>
        <p:spPr>
          <a:xfrm rot="16200000">
            <a:off x="9940012" y="4373097"/>
            <a:ext cx="3859795" cy="268498"/>
          </a:xfrm>
        </p:spPr>
        <p:txBody>
          <a:bodyPr/>
          <a:lstStyle>
            <a:lvl1pPr algn="l">
              <a:defRPr sz="1400">
                <a:solidFill>
                  <a:schemeClr val="accent4"/>
                </a:solidFill>
              </a:defRPr>
            </a:lvl1pPr>
          </a:lstStyle>
          <a:p>
            <a:endParaRPr lang="en-US"/>
          </a:p>
        </p:txBody>
      </p:sp>
      <p:sp>
        <p:nvSpPr>
          <p:cNvPr id="6" name="Slide Number Placeholder 3">
            <a:extLst>
              <a:ext uri="{FF2B5EF4-FFF2-40B4-BE49-F238E27FC236}">
                <a16:creationId xmlns:a16="http://schemas.microsoft.com/office/drawing/2014/main" id="{C3190560-6C59-E5EE-893F-1A3B6762F3C1}"/>
              </a:ext>
            </a:extLst>
          </p:cNvPr>
          <p:cNvSpPr>
            <a:spLocks noGrp="1"/>
          </p:cNvSpPr>
          <p:nvPr>
            <p:ph type="sldNum" sz="quarter" idx="12"/>
          </p:nvPr>
        </p:nvSpPr>
        <p:spPr>
          <a:xfrm>
            <a:off x="11641451" y="444773"/>
            <a:ext cx="467795" cy="365125"/>
          </a:xfrm>
        </p:spPr>
        <p:txBody>
          <a:bodyPr tIns="0" bIns="0"/>
          <a:lstStyle>
            <a:lvl1pPr algn="ctr">
              <a:defRPr sz="2800" b="1">
                <a:solidFill>
                  <a:schemeClr val="accent4"/>
                </a:solidFill>
              </a:defRPr>
            </a:lvl1pPr>
          </a:lstStyle>
          <a:p>
            <a:fld id="{96E69268-9C8B-4EBF-A9EE-DC5DC2D48DC3}" type="slidenum">
              <a:rPr lang="en-US" smtClean="0"/>
              <a:pPr/>
              <a:t>‹#›</a:t>
            </a:fld>
            <a:endParaRPr lang="en-US" dirty="0"/>
          </a:p>
        </p:txBody>
      </p:sp>
      <p:cxnSp>
        <p:nvCxnSpPr>
          <p:cNvPr id="7" name="Straight Connector 6">
            <a:extLst>
              <a:ext uri="{FF2B5EF4-FFF2-40B4-BE49-F238E27FC236}">
                <a16:creationId xmlns:a16="http://schemas.microsoft.com/office/drawing/2014/main" id="{D2453592-BC86-9EF6-F7BE-44C301E3B5AD}"/>
              </a:ext>
            </a:extLst>
          </p:cNvPr>
          <p:cNvCxnSpPr>
            <a:cxnSpLocks/>
          </p:cNvCxnSpPr>
          <p:nvPr userDrawn="1"/>
        </p:nvCxnSpPr>
        <p:spPr>
          <a:xfrm>
            <a:off x="11567020" y="420757"/>
            <a:ext cx="0" cy="60164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7962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2/12/2026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theme" Target="../theme/theme2.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image" Target="../media/image1.png"/><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60" r:id="rId4"/>
    <p:sldLayoutId id="2147483707" r:id="rId5"/>
    <p:sldLayoutId id="2147483744" r:id="rId6"/>
    <p:sldLayoutId id="2147483763"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2/12/2026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0.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jpeg"/><Relationship Id="rId7" Type="http://schemas.openxmlformats.org/officeDocument/2006/relationships/image" Target="../media/image11.tiff"/><Relationship Id="rId2" Type="http://schemas.openxmlformats.org/officeDocument/2006/relationships/notesSlide" Target="../notesSlides/notesSlide3.xml"/><Relationship Id="rId1" Type="http://schemas.openxmlformats.org/officeDocument/2006/relationships/slideLayout" Target="../slideLayouts/slideLayout37.xml"/><Relationship Id="rId6" Type="http://schemas.openxmlformats.org/officeDocument/2006/relationships/image" Target="../media/image10.tiff"/><Relationship Id="rId5" Type="http://schemas.openxmlformats.org/officeDocument/2006/relationships/image" Target="../media/image9.tiff"/><Relationship Id="rId4" Type="http://schemas.openxmlformats.org/officeDocument/2006/relationships/image" Target="../media/image8.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DAY-19 	</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1076224"/>
            <a:ext cx="2597506" cy="369332"/>
          </a:xfrm>
          <a:prstGeom prst="rect">
            <a:avLst/>
          </a:prstGeom>
        </p:spPr>
        <p:txBody>
          <a:bodyPr wrap="square" lIns="0" rIns="0" anchor="ctr">
            <a:spAutoFit/>
          </a:bodyPr>
          <a:lstStyle/>
          <a:p>
            <a:r>
              <a:rPr lang="en-IN" sz="18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CDS entities</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234511"/>
            <a:ext cx="2597506" cy="646331"/>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Why we need CDS Views </a:t>
            </a:r>
          </a:p>
        </p:txBody>
      </p:sp>
      <p:sp>
        <p:nvSpPr>
          <p:cNvPr id="52" name="Rectangle 51">
            <a:extLst>
              <a:ext uri="{FF2B5EF4-FFF2-40B4-BE49-F238E27FC236}">
                <a16:creationId xmlns:a16="http://schemas.microsoft.com/office/drawing/2014/main" id="{20C13AF4-68B6-4226-9401-EDB6ED0540C2}"/>
              </a:ext>
            </a:extLst>
          </p:cNvPr>
          <p:cNvSpPr/>
          <p:nvPr/>
        </p:nvSpPr>
        <p:spPr>
          <a:xfrm>
            <a:off x="8211739" y="3578356"/>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Virtual Data Model</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Analytic Use case</a:t>
            </a: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7299-B43C-54C9-FDB7-AEF7F474BBB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FC7E5CF-0C7F-4D32-DC57-041731ABDA84}"/>
              </a:ext>
            </a:extLst>
          </p:cNvPr>
          <p:cNvSpPr txBox="1">
            <a:spLocks/>
          </p:cNvSpPr>
          <p:nvPr/>
        </p:nvSpPr>
        <p:spPr>
          <a:xfrm>
            <a:off x="141079" y="141370"/>
            <a:ext cx="11137885" cy="513697"/>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99" dirty="0">
                <a:latin typeface="Cooper Black" panose="0208090404030B020404" pitchFamily="18" charset="0"/>
                <a:cs typeface="Times New Roman" panose="02020603050405020304" pitchFamily="18" charset="0"/>
              </a:rPr>
              <a:t>Why SAP generate Alias name for entity fields</a:t>
            </a:r>
            <a:endParaRPr lang="en-IN" sz="3199"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94C7866-CF15-2EFE-7A0F-2A702B795F6D}"/>
              </a:ext>
            </a:extLst>
          </p:cNvPr>
          <p:cNvSpPr txBox="1"/>
          <p:nvPr/>
        </p:nvSpPr>
        <p:spPr>
          <a:xfrm>
            <a:off x="177646" y="655067"/>
            <a:ext cx="11486844" cy="1477328"/>
          </a:xfrm>
          <a:prstGeom prst="rect">
            <a:avLst/>
          </a:prstGeom>
          <a:noFill/>
        </p:spPr>
        <p:txBody>
          <a:bodyPr wrap="square" rtlCol="0">
            <a:spAutoFit/>
          </a:bodyPr>
          <a:lstStyle/>
          <a:p>
            <a:pPr marL="285750" indent="-285750">
              <a:buFont typeface="Arial" panose="020B0604020202020204" pitchFamily="34" charset="0"/>
              <a:buChar char="•"/>
            </a:pPr>
            <a:r>
              <a:rPr lang="en-IN" sz="1800" dirty="0"/>
              <a:t>Alias name would give meaningful name to the column</a:t>
            </a:r>
          </a:p>
          <a:p>
            <a:pPr marL="285750" indent="-285750">
              <a:buFont typeface="Arial" panose="020B0604020202020204" pitchFamily="34" charset="0"/>
              <a:buChar char="•"/>
            </a:pPr>
            <a:r>
              <a:rPr lang="en-IN" sz="1800" dirty="0"/>
              <a:t>It increase the readability of the code</a:t>
            </a:r>
          </a:p>
          <a:p>
            <a:pPr marL="285750" indent="-285750">
              <a:buFont typeface="Arial" panose="020B0604020202020204" pitchFamily="34" charset="0"/>
              <a:buChar char="•"/>
            </a:pPr>
            <a:r>
              <a:rPr lang="en-IN" sz="1800" dirty="0"/>
              <a:t>It saves maintenance of views/entities</a:t>
            </a:r>
          </a:p>
          <a:p>
            <a:pPr marL="285750" indent="-285750">
              <a:buFont typeface="Arial" panose="020B0604020202020204" pitchFamily="34" charset="0"/>
              <a:buChar char="•"/>
            </a:pPr>
            <a:r>
              <a:rPr lang="en-IN" sz="1800" dirty="0"/>
              <a:t>Sometimes we do joins and two tables can have same column name, So for consumer to differentiate these fields we use the alias name</a:t>
            </a:r>
          </a:p>
        </p:txBody>
      </p:sp>
      <p:sp>
        <p:nvSpPr>
          <p:cNvPr id="4" name="TextBox 3">
            <a:extLst>
              <a:ext uri="{FF2B5EF4-FFF2-40B4-BE49-F238E27FC236}">
                <a16:creationId xmlns:a16="http://schemas.microsoft.com/office/drawing/2014/main" id="{FF4567B9-B415-E3EA-74A3-BDE25E664564}"/>
              </a:ext>
            </a:extLst>
          </p:cNvPr>
          <p:cNvSpPr txBox="1"/>
          <p:nvPr/>
        </p:nvSpPr>
        <p:spPr>
          <a:xfrm>
            <a:off x="9547913" y="6408935"/>
            <a:ext cx="2524210" cy="276999"/>
          </a:xfrm>
          <a:prstGeom prst="rect">
            <a:avLst/>
          </a:prstGeom>
          <a:noFill/>
        </p:spPr>
        <p:txBody>
          <a:bodyPr wrap="square">
            <a:spAutoFit/>
          </a:bodyPr>
          <a:lstStyle/>
          <a:p>
            <a:r>
              <a:rPr lang="en-US" sz="1200" dirty="0">
                <a:solidFill>
                  <a:srgbClr val="002060"/>
                </a:solidFill>
                <a:latin typeface="Cooper Black" panose="0208090404030B020404" pitchFamily="18" charset="0"/>
              </a:rPr>
              <a:t>www.anubhavtrainings.com</a:t>
            </a:r>
            <a:endParaRPr lang="en-IN" sz="1200" dirty="0">
              <a:solidFill>
                <a:srgbClr val="002060"/>
              </a:solidFill>
              <a:latin typeface="Cooper Black" panose="0208090404030B020404" pitchFamily="18" charset="0"/>
            </a:endParaRPr>
          </a:p>
        </p:txBody>
      </p:sp>
      <p:pic>
        <p:nvPicPr>
          <p:cNvPr id="5" name="Picture 4">
            <a:extLst>
              <a:ext uri="{FF2B5EF4-FFF2-40B4-BE49-F238E27FC236}">
                <a16:creationId xmlns:a16="http://schemas.microsoft.com/office/drawing/2014/main" id="{0568914C-D196-17EA-360B-38C77AAB22DC}"/>
              </a:ext>
            </a:extLst>
          </p:cNvPr>
          <p:cNvPicPr>
            <a:picLocks noChangeAspect="1"/>
          </p:cNvPicPr>
          <p:nvPr/>
        </p:nvPicPr>
        <p:blipFill>
          <a:blip r:embed="rId2"/>
          <a:stretch>
            <a:fillRect/>
          </a:stretch>
        </p:blipFill>
        <p:spPr>
          <a:xfrm>
            <a:off x="11691526" y="71244"/>
            <a:ext cx="456414" cy="450803"/>
          </a:xfrm>
          <a:prstGeom prst="rect">
            <a:avLst/>
          </a:prstGeom>
        </p:spPr>
      </p:pic>
    </p:spTree>
    <p:extLst>
      <p:ext uri="{BB962C8B-B14F-4D97-AF65-F5344CB8AC3E}">
        <p14:creationId xmlns:p14="http://schemas.microsoft.com/office/powerpoint/2010/main" val="1473984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7299-B43C-54C9-FDB7-AEF7F474BBB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FC7E5CF-0C7F-4D32-DC57-041731ABDA84}"/>
              </a:ext>
            </a:extLst>
          </p:cNvPr>
          <p:cNvSpPr txBox="1">
            <a:spLocks/>
          </p:cNvSpPr>
          <p:nvPr/>
        </p:nvSpPr>
        <p:spPr>
          <a:xfrm>
            <a:off x="141079" y="141370"/>
            <a:ext cx="11137885" cy="513697"/>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99" dirty="0">
                <a:latin typeface="Cooper Black" panose="0208090404030B020404" pitchFamily="18" charset="0"/>
                <a:cs typeface="Times New Roman" panose="02020603050405020304" pitchFamily="18" charset="0"/>
              </a:rPr>
              <a:t>View on View</a:t>
            </a:r>
            <a:endParaRPr lang="en-IN" sz="3199"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94C7866-CF15-2EFE-7A0F-2A702B795F6D}"/>
              </a:ext>
            </a:extLst>
          </p:cNvPr>
          <p:cNvSpPr txBox="1"/>
          <p:nvPr/>
        </p:nvSpPr>
        <p:spPr>
          <a:xfrm>
            <a:off x="177646" y="655067"/>
            <a:ext cx="11486844" cy="1754326"/>
          </a:xfrm>
          <a:prstGeom prst="rect">
            <a:avLst/>
          </a:prstGeom>
          <a:noFill/>
        </p:spPr>
        <p:txBody>
          <a:bodyPr wrap="square" rtlCol="0">
            <a:spAutoFit/>
          </a:bodyPr>
          <a:lstStyle/>
          <a:p>
            <a:pPr marL="285750" indent="-285750">
              <a:buFont typeface="Arial" panose="020B0604020202020204" pitchFamily="34" charset="0"/>
              <a:buChar char="•"/>
            </a:pPr>
            <a:r>
              <a:rPr lang="en-IN" sz="1800" dirty="0"/>
              <a:t>When we create a </a:t>
            </a:r>
            <a:r>
              <a:rPr lang="en-IN" sz="1800" dirty="0" err="1"/>
              <a:t>cds</a:t>
            </a:r>
            <a:r>
              <a:rPr lang="en-IN" sz="1800" dirty="0"/>
              <a:t> view/entity which usages another </a:t>
            </a:r>
            <a:r>
              <a:rPr lang="en-IN" sz="1800" dirty="0" err="1"/>
              <a:t>cds</a:t>
            </a:r>
            <a:r>
              <a:rPr lang="en-IN" sz="1800" dirty="0"/>
              <a:t> or entity as a source of data, its called </a:t>
            </a:r>
            <a:r>
              <a:rPr lang="en-IN" sz="1800" b="1" dirty="0"/>
              <a:t>view-on-view.</a:t>
            </a:r>
            <a:endParaRPr lang="en-IN" sz="1800" dirty="0"/>
          </a:p>
          <a:p>
            <a:pPr marL="285750" indent="-285750">
              <a:buFont typeface="Arial" panose="020B0604020202020204" pitchFamily="34" charset="0"/>
              <a:buChar char="•"/>
            </a:pPr>
            <a:r>
              <a:rPr lang="en-IN" sz="1800" dirty="0"/>
              <a:t>It increase reusability</a:t>
            </a:r>
          </a:p>
          <a:p>
            <a:pPr marL="285750" indent="-285750">
              <a:buFont typeface="Arial" panose="020B0604020202020204" pitchFamily="34" charset="0"/>
              <a:buChar char="•"/>
            </a:pPr>
            <a:r>
              <a:rPr lang="en-IN" sz="1800" dirty="0"/>
              <a:t>It also helps modularization of code</a:t>
            </a:r>
          </a:p>
          <a:p>
            <a:pPr marL="285750" indent="-285750">
              <a:buFont typeface="Arial" panose="020B0604020202020204" pitchFamily="34" charset="0"/>
              <a:buChar char="•"/>
            </a:pPr>
            <a:r>
              <a:rPr lang="en-IN" sz="1800" dirty="0"/>
              <a:t>Increase adaption by reducing the development efforts</a:t>
            </a:r>
          </a:p>
          <a:p>
            <a:pPr marL="285750" indent="-285750">
              <a:buFont typeface="Arial" panose="020B0604020202020204" pitchFamily="34" charset="0"/>
              <a:buChar char="•"/>
            </a:pPr>
            <a:endParaRPr lang="en-IN" sz="1800" dirty="0"/>
          </a:p>
        </p:txBody>
      </p:sp>
      <p:sp>
        <p:nvSpPr>
          <p:cNvPr id="4" name="TextBox 3">
            <a:extLst>
              <a:ext uri="{FF2B5EF4-FFF2-40B4-BE49-F238E27FC236}">
                <a16:creationId xmlns:a16="http://schemas.microsoft.com/office/drawing/2014/main" id="{FF4567B9-B415-E3EA-74A3-BDE25E664564}"/>
              </a:ext>
            </a:extLst>
          </p:cNvPr>
          <p:cNvSpPr txBox="1"/>
          <p:nvPr/>
        </p:nvSpPr>
        <p:spPr>
          <a:xfrm>
            <a:off x="9547913" y="6408935"/>
            <a:ext cx="2524210" cy="276999"/>
          </a:xfrm>
          <a:prstGeom prst="rect">
            <a:avLst/>
          </a:prstGeom>
          <a:noFill/>
        </p:spPr>
        <p:txBody>
          <a:bodyPr wrap="square">
            <a:spAutoFit/>
          </a:bodyPr>
          <a:lstStyle/>
          <a:p>
            <a:r>
              <a:rPr lang="en-US" sz="1200" dirty="0">
                <a:solidFill>
                  <a:srgbClr val="002060"/>
                </a:solidFill>
                <a:latin typeface="Cooper Black" panose="0208090404030B020404" pitchFamily="18" charset="0"/>
              </a:rPr>
              <a:t>www.anubhavtrainings.com</a:t>
            </a:r>
            <a:endParaRPr lang="en-IN" sz="1200" dirty="0">
              <a:solidFill>
                <a:srgbClr val="002060"/>
              </a:solidFill>
              <a:latin typeface="Cooper Black" panose="0208090404030B020404" pitchFamily="18" charset="0"/>
            </a:endParaRPr>
          </a:p>
        </p:txBody>
      </p:sp>
      <p:pic>
        <p:nvPicPr>
          <p:cNvPr id="5" name="Picture 4">
            <a:extLst>
              <a:ext uri="{FF2B5EF4-FFF2-40B4-BE49-F238E27FC236}">
                <a16:creationId xmlns:a16="http://schemas.microsoft.com/office/drawing/2014/main" id="{0568914C-D196-17EA-360B-38C77AAB22DC}"/>
              </a:ext>
            </a:extLst>
          </p:cNvPr>
          <p:cNvPicPr>
            <a:picLocks noChangeAspect="1"/>
          </p:cNvPicPr>
          <p:nvPr/>
        </p:nvPicPr>
        <p:blipFill>
          <a:blip r:embed="rId2"/>
          <a:stretch>
            <a:fillRect/>
          </a:stretch>
        </p:blipFill>
        <p:spPr>
          <a:xfrm>
            <a:off x="11691526" y="71244"/>
            <a:ext cx="456414" cy="450803"/>
          </a:xfrm>
          <a:prstGeom prst="rect">
            <a:avLst/>
          </a:prstGeom>
        </p:spPr>
      </p:pic>
      <p:sp>
        <p:nvSpPr>
          <p:cNvPr id="8" name="TextBox 7">
            <a:extLst>
              <a:ext uri="{FF2B5EF4-FFF2-40B4-BE49-F238E27FC236}">
                <a16:creationId xmlns:a16="http://schemas.microsoft.com/office/drawing/2014/main" id="{8C3C38ED-8899-31AF-6504-7A417F2A2576}"/>
              </a:ext>
            </a:extLst>
          </p:cNvPr>
          <p:cNvSpPr txBox="1"/>
          <p:nvPr/>
        </p:nvSpPr>
        <p:spPr>
          <a:xfrm>
            <a:off x="141079" y="2409091"/>
            <a:ext cx="6100090" cy="461665"/>
          </a:xfrm>
          <a:prstGeom prst="rect">
            <a:avLst/>
          </a:prstGeom>
          <a:noFill/>
        </p:spPr>
        <p:txBody>
          <a:bodyPr wrap="square">
            <a:spAutoFit/>
          </a:bodyPr>
          <a:lstStyle/>
          <a:p>
            <a:r>
              <a:rPr lang="en-US" sz="2400" dirty="0">
                <a:latin typeface="Cooper Black" panose="0208090404030B020404" pitchFamily="18" charset="0"/>
                <a:cs typeface="Times New Roman" panose="02020603050405020304" pitchFamily="18" charset="0"/>
              </a:rPr>
              <a:t>Extend View Concept</a:t>
            </a:r>
            <a:endParaRPr lang="en-IN" sz="2400" dirty="0">
              <a:latin typeface="Cooper Black" panose="0208090404030B0204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307FA5F4-D03E-B5FE-FFD2-9AAB3EE43028}"/>
              </a:ext>
            </a:extLst>
          </p:cNvPr>
          <p:cNvSpPr txBox="1"/>
          <p:nvPr/>
        </p:nvSpPr>
        <p:spPr>
          <a:xfrm>
            <a:off x="228540" y="2870756"/>
            <a:ext cx="11338480" cy="1077218"/>
          </a:xfrm>
          <a:prstGeom prst="rect">
            <a:avLst/>
          </a:prstGeom>
          <a:noFill/>
        </p:spPr>
        <p:txBody>
          <a:bodyPr wrap="square" rtlCol="0">
            <a:spAutoFit/>
          </a:bodyPr>
          <a:lstStyle/>
          <a:p>
            <a:r>
              <a:rPr lang="en-IN" sz="1600" dirty="0"/>
              <a:t>SAP delivers the standard views to us, we can extend these views by adding extra properties and also joins. This way we can expose the custom fields added to .APPEND include in standard tables. SAP also deliver over 9000+ standard views. Extension is always side-effect free; they never affect standard code also do not allow standard code to change.</a:t>
            </a:r>
          </a:p>
          <a:p>
            <a:r>
              <a:rPr lang="en-IN" sz="1600" dirty="0"/>
              <a:t>We cannot extend a view which has parameters.</a:t>
            </a:r>
          </a:p>
        </p:txBody>
      </p:sp>
    </p:spTree>
    <p:extLst>
      <p:ext uri="{BB962C8B-B14F-4D97-AF65-F5344CB8AC3E}">
        <p14:creationId xmlns:p14="http://schemas.microsoft.com/office/powerpoint/2010/main" val="4222688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7299-B43C-54C9-FDB7-AEF7F474BBB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FC7E5CF-0C7F-4D32-DC57-041731ABDA84}"/>
              </a:ext>
            </a:extLst>
          </p:cNvPr>
          <p:cNvSpPr txBox="1">
            <a:spLocks/>
          </p:cNvSpPr>
          <p:nvPr/>
        </p:nvSpPr>
        <p:spPr>
          <a:xfrm>
            <a:off x="141079" y="141370"/>
            <a:ext cx="11137885" cy="513697"/>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99" dirty="0">
                <a:latin typeface="Cooper Black" panose="0208090404030B020404" pitchFamily="18" charset="0"/>
                <a:cs typeface="Times New Roman" panose="02020603050405020304" pitchFamily="18" charset="0"/>
              </a:rPr>
              <a:t>Joins </a:t>
            </a:r>
            <a:r>
              <a:rPr lang="en-US" sz="3199" dirty="0" err="1">
                <a:latin typeface="Cooper Black" panose="0208090404030B020404" pitchFamily="18" charset="0"/>
                <a:cs typeface="Times New Roman" panose="02020603050405020304" pitchFamily="18" charset="0"/>
              </a:rPr>
              <a:t>v.s</a:t>
            </a:r>
            <a:r>
              <a:rPr lang="en-US" sz="3199" dirty="0">
                <a:latin typeface="Cooper Black" panose="0208090404030B020404" pitchFamily="18" charset="0"/>
                <a:cs typeface="Times New Roman" panose="02020603050405020304" pitchFamily="18" charset="0"/>
              </a:rPr>
              <a:t> Association</a:t>
            </a:r>
            <a:endParaRPr lang="en-IN" sz="3199"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94C7866-CF15-2EFE-7A0F-2A702B795F6D}"/>
              </a:ext>
            </a:extLst>
          </p:cNvPr>
          <p:cNvSpPr txBox="1"/>
          <p:nvPr/>
        </p:nvSpPr>
        <p:spPr>
          <a:xfrm>
            <a:off x="177646" y="655067"/>
            <a:ext cx="11486844" cy="2031325"/>
          </a:xfrm>
          <a:prstGeom prst="rect">
            <a:avLst/>
          </a:prstGeom>
          <a:noFill/>
        </p:spPr>
        <p:txBody>
          <a:bodyPr wrap="square" rtlCol="0">
            <a:spAutoFit/>
          </a:bodyPr>
          <a:lstStyle/>
          <a:p>
            <a:r>
              <a:rPr lang="en-IN" sz="1800" dirty="0"/>
              <a:t>A join works like a tight coupling between database objects, it always bound to happen. Which means when a join is executed, it force the read of data from multiple tables by comparing the column values. This comparison will take time inside database.</a:t>
            </a:r>
          </a:p>
          <a:p>
            <a:r>
              <a:rPr lang="en-IN" sz="1800" dirty="0"/>
              <a:t>Associations are relationship between entities, they are different from joins as they do lose coupling. When we read data from </a:t>
            </a:r>
            <a:r>
              <a:rPr lang="en-IN" sz="1800" dirty="0" err="1"/>
              <a:t>cds</a:t>
            </a:r>
            <a:r>
              <a:rPr lang="en-IN" sz="1800" dirty="0"/>
              <a:t> and if </a:t>
            </a:r>
            <a:r>
              <a:rPr lang="en-IN" sz="1800" dirty="0" err="1"/>
              <a:t>cds</a:t>
            </a:r>
            <a:r>
              <a:rPr lang="en-IN" sz="1800" dirty="0"/>
              <a:t> has association, it reads the data from first table and when needed, </a:t>
            </a:r>
            <a:r>
              <a:rPr lang="en-IN" sz="1800" b="1" dirty="0"/>
              <a:t>on-demand</a:t>
            </a:r>
            <a:r>
              <a:rPr lang="en-IN" sz="1800" dirty="0"/>
              <a:t> it reads the data from second table. Especially when make mobile apps (using Fiori) associations are good for performance.</a:t>
            </a:r>
          </a:p>
        </p:txBody>
      </p:sp>
      <p:sp>
        <p:nvSpPr>
          <p:cNvPr id="4" name="TextBox 3">
            <a:extLst>
              <a:ext uri="{FF2B5EF4-FFF2-40B4-BE49-F238E27FC236}">
                <a16:creationId xmlns:a16="http://schemas.microsoft.com/office/drawing/2014/main" id="{FF4567B9-B415-E3EA-74A3-BDE25E664564}"/>
              </a:ext>
            </a:extLst>
          </p:cNvPr>
          <p:cNvSpPr txBox="1"/>
          <p:nvPr/>
        </p:nvSpPr>
        <p:spPr>
          <a:xfrm>
            <a:off x="9547913" y="6408935"/>
            <a:ext cx="2524210" cy="276999"/>
          </a:xfrm>
          <a:prstGeom prst="rect">
            <a:avLst/>
          </a:prstGeom>
          <a:noFill/>
        </p:spPr>
        <p:txBody>
          <a:bodyPr wrap="square">
            <a:spAutoFit/>
          </a:bodyPr>
          <a:lstStyle/>
          <a:p>
            <a:r>
              <a:rPr lang="en-US" sz="1200" dirty="0">
                <a:solidFill>
                  <a:srgbClr val="002060"/>
                </a:solidFill>
                <a:latin typeface="Cooper Black" panose="0208090404030B020404" pitchFamily="18" charset="0"/>
              </a:rPr>
              <a:t>www.anubhavtrainings.com</a:t>
            </a:r>
            <a:endParaRPr lang="en-IN" sz="1200" dirty="0">
              <a:solidFill>
                <a:srgbClr val="002060"/>
              </a:solidFill>
              <a:latin typeface="Cooper Black" panose="0208090404030B020404" pitchFamily="18" charset="0"/>
            </a:endParaRPr>
          </a:p>
        </p:txBody>
      </p:sp>
      <p:pic>
        <p:nvPicPr>
          <p:cNvPr id="5" name="Picture 4">
            <a:extLst>
              <a:ext uri="{FF2B5EF4-FFF2-40B4-BE49-F238E27FC236}">
                <a16:creationId xmlns:a16="http://schemas.microsoft.com/office/drawing/2014/main" id="{0568914C-D196-17EA-360B-38C77AAB22DC}"/>
              </a:ext>
            </a:extLst>
          </p:cNvPr>
          <p:cNvPicPr>
            <a:picLocks noChangeAspect="1"/>
          </p:cNvPicPr>
          <p:nvPr/>
        </p:nvPicPr>
        <p:blipFill>
          <a:blip r:embed="rId2"/>
          <a:stretch>
            <a:fillRect/>
          </a:stretch>
        </p:blipFill>
        <p:spPr>
          <a:xfrm>
            <a:off x="11691526" y="71244"/>
            <a:ext cx="456414" cy="450803"/>
          </a:xfrm>
          <a:prstGeom prst="rect">
            <a:avLst/>
          </a:prstGeom>
        </p:spPr>
      </p:pic>
    </p:spTree>
    <p:extLst>
      <p:ext uri="{BB962C8B-B14F-4D97-AF65-F5344CB8AC3E}">
        <p14:creationId xmlns:p14="http://schemas.microsoft.com/office/powerpoint/2010/main" val="1192705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7299-B43C-54C9-FDB7-AEF7F474BBB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FC7E5CF-0C7F-4D32-DC57-041731ABDA84}"/>
              </a:ext>
            </a:extLst>
          </p:cNvPr>
          <p:cNvSpPr txBox="1">
            <a:spLocks/>
          </p:cNvSpPr>
          <p:nvPr/>
        </p:nvSpPr>
        <p:spPr>
          <a:xfrm>
            <a:off x="141079" y="141370"/>
            <a:ext cx="11137885" cy="513697"/>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99" dirty="0">
                <a:latin typeface="Cooper Black" panose="0208090404030B020404" pitchFamily="18" charset="0"/>
                <a:cs typeface="Times New Roman" panose="02020603050405020304" pitchFamily="18" charset="0"/>
              </a:rPr>
              <a:t>Se11 DDIC views v/s CDS views</a:t>
            </a:r>
            <a:endParaRPr lang="en-IN" sz="3199" dirty="0">
              <a:latin typeface="Cooper Black" panose="0208090404030B0204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F4567B9-B415-E3EA-74A3-BDE25E664564}"/>
              </a:ext>
            </a:extLst>
          </p:cNvPr>
          <p:cNvSpPr txBox="1"/>
          <p:nvPr/>
        </p:nvSpPr>
        <p:spPr>
          <a:xfrm>
            <a:off x="9547913" y="6408935"/>
            <a:ext cx="2524210" cy="276999"/>
          </a:xfrm>
          <a:prstGeom prst="rect">
            <a:avLst/>
          </a:prstGeom>
          <a:noFill/>
        </p:spPr>
        <p:txBody>
          <a:bodyPr wrap="square">
            <a:spAutoFit/>
          </a:bodyPr>
          <a:lstStyle/>
          <a:p>
            <a:r>
              <a:rPr lang="en-US" sz="1200" dirty="0">
                <a:solidFill>
                  <a:srgbClr val="002060"/>
                </a:solidFill>
                <a:latin typeface="Cooper Black" panose="0208090404030B020404" pitchFamily="18" charset="0"/>
              </a:rPr>
              <a:t>www.anubhavtrainings.com</a:t>
            </a:r>
            <a:endParaRPr lang="en-IN" sz="1200" dirty="0">
              <a:solidFill>
                <a:srgbClr val="002060"/>
              </a:solidFill>
              <a:latin typeface="Cooper Black" panose="0208090404030B020404" pitchFamily="18" charset="0"/>
            </a:endParaRPr>
          </a:p>
        </p:txBody>
      </p:sp>
      <p:pic>
        <p:nvPicPr>
          <p:cNvPr id="5" name="Picture 4">
            <a:extLst>
              <a:ext uri="{FF2B5EF4-FFF2-40B4-BE49-F238E27FC236}">
                <a16:creationId xmlns:a16="http://schemas.microsoft.com/office/drawing/2014/main" id="{0568914C-D196-17EA-360B-38C77AAB22DC}"/>
              </a:ext>
            </a:extLst>
          </p:cNvPr>
          <p:cNvPicPr>
            <a:picLocks noChangeAspect="1"/>
          </p:cNvPicPr>
          <p:nvPr/>
        </p:nvPicPr>
        <p:blipFill>
          <a:blip r:embed="rId2"/>
          <a:stretch>
            <a:fillRect/>
          </a:stretch>
        </p:blipFill>
        <p:spPr>
          <a:xfrm>
            <a:off x="11691526" y="71244"/>
            <a:ext cx="456414" cy="450803"/>
          </a:xfrm>
          <a:prstGeom prst="rect">
            <a:avLst/>
          </a:prstGeom>
        </p:spPr>
      </p:pic>
      <p:sp>
        <p:nvSpPr>
          <p:cNvPr id="6" name="TextBox 5">
            <a:extLst>
              <a:ext uri="{FF2B5EF4-FFF2-40B4-BE49-F238E27FC236}">
                <a16:creationId xmlns:a16="http://schemas.microsoft.com/office/drawing/2014/main" id="{B781EE5C-AE52-201C-5620-0408424ABFED}"/>
              </a:ext>
            </a:extLst>
          </p:cNvPr>
          <p:cNvSpPr txBox="1"/>
          <p:nvPr/>
        </p:nvSpPr>
        <p:spPr>
          <a:xfrm>
            <a:off x="116701" y="6559466"/>
            <a:ext cx="223678" cy="253916"/>
          </a:xfrm>
          <a:prstGeom prst="rect">
            <a:avLst/>
          </a:prstGeom>
          <a:noFill/>
        </p:spPr>
        <p:txBody>
          <a:bodyPr wrap="square" rtlCol="0">
            <a:spAutoFit/>
          </a:bodyPr>
          <a:lstStyle/>
          <a:p>
            <a:r>
              <a:rPr lang="en-US" sz="1050" dirty="0"/>
              <a:t>7</a:t>
            </a:r>
            <a:endParaRPr lang="en-IN" sz="1050" dirty="0"/>
          </a:p>
        </p:txBody>
      </p:sp>
      <p:graphicFrame>
        <p:nvGraphicFramePr>
          <p:cNvPr id="8" name="Table 7">
            <a:extLst>
              <a:ext uri="{FF2B5EF4-FFF2-40B4-BE49-F238E27FC236}">
                <a16:creationId xmlns:a16="http://schemas.microsoft.com/office/drawing/2014/main" id="{B35F96A6-D0BE-2B83-BFCE-F2F4533FEB53}"/>
              </a:ext>
            </a:extLst>
          </p:cNvPr>
          <p:cNvGraphicFramePr>
            <a:graphicFrameLocks noGrp="1"/>
          </p:cNvGraphicFramePr>
          <p:nvPr/>
        </p:nvGraphicFramePr>
        <p:xfrm>
          <a:off x="228540" y="655067"/>
          <a:ext cx="11266473" cy="5918200"/>
        </p:xfrm>
        <a:graphic>
          <a:graphicData uri="http://schemas.openxmlformats.org/drawingml/2006/table">
            <a:tbl>
              <a:tblPr firstRow="1" bandRow="1">
                <a:tableStyleId>{5C22544A-7EE6-4342-B048-85BDC9FD1C3A}</a:tableStyleId>
              </a:tblPr>
              <a:tblGrid>
                <a:gridCol w="5505832">
                  <a:extLst>
                    <a:ext uri="{9D8B030D-6E8A-4147-A177-3AD203B41FA5}">
                      <a16:colId xmlns:a16="http://schemas.microsoft.com/office/drawing/2014/main" val="4167639096"/>
                    </a:ext>
                  </a:extLst>
                </a:gridCol>
                <a:gridCol w="3168352">
                  <a:extLst>
                    <a:ext uri="{9D8B030D-6E8A-4147-A177-3AD203B41FA5}">
                      <a16:colId xmlns:a16="http://schemas.microsoft.com/office/drawing/2014/main" val="100212360"/>
                    </a:ext>
                  </a:extLst>
                </a:gridCol>
                <a:gridCol w="2592289">
                  <a:extLst>
                    <a:ext uri="{9D8B030D-6E8A-4147-A177-3AD203B41FA5}">
                      <a16:colId xmlns:a16="http://schemas.microsoft.com/office/drawing/2014/main" val="977337652"/>
                    </a:ext>
                  </a:extLst>
                </a:gridCol>
              </a:tblGrid>
              <a:tr h="370840">
                <a:tc>
                  <a:txBody>
                    <a:bodyPr/>
                    <a:lstStyle/>
                    <a:p>
                      <a:r>
                        <a:rPr lang="en-IN" dirty="0"/>
                        <a:t>Parameters</a:t>
                      </a:r>
                    </a:p>
                  </a:txBody>
                  <a:tcPr/>
                </a:tc>
                <a:tc>
                  <a:txBody>
                    <a:bodyPr/>
                    <a:lstStyle/>
                    <a:p>
                      <a:r>
                        <a:rPr lang="en-IN" dirty="0"/>
                        <a:t>CDS Views</a:t>
                      </a:r>
                    </a:p>
                  </a:txBody>
                  <a:tcPr/>
                </a:tc>
                <a:tc>
                  <a:txBody>
                    <a:bodyPr/>
                    <a:lstStyle/>
                    <a:p>
                      <a:r>
                        <a:rPr lang="en-IN" dirty="0"/>
                        <a:t>DDIC Views</a:t>
                      </a:r>
                    </a:p>
                  </a:txBody>
                  <a:tcPr/>
                </a:tc>
                <a:extLst>
                  <a:ext uri="{0D108BD9-81ED-4DB2-BD59-A6C34878D82A}">
                    <a16:rowId xmlns:a16="http://schemas.microsoft.com/office/drawing/2014/main" val="916390607"/>
                  </a:ext>
                </a:extLst>
              </a:tr>
              <a:tr h="370840">
                <a:tc>
                  <a:txBody>
                    <a:bodyPr/>
                    <a:lstStyle/>
                    <a:p>
                      <a:r>
                        <a:rPr lang="en-IN" sz="2000" dirty="0"/>
                        <a:t>Code-to-data paradigm</a:t>
                      </a:r>
                    </a:p>
                  </a:txBody>
                  <a:tcPr/>
                </a:tc>
                <a:tc>
                  <a:txBody>
                    <a:bodyPr/>
                    <a:lstStyle/>
                    <a:p>
                      <a:r>
                        <a:rPr lang="en-IN" sz="2000" dirty="0"/>
                        <a:t>Yes</a:t>
                      </a:r>
                    </a:p>
                  </a:txBody>
                  <a:tcPr/>
                </a:tc>
                <a:tc>
                  <a:txBody>
                    <a:bodyPr/>
                    <a:lstStyle/>
                    <a:p>
                      <a:r>
                        <a:rPr lang="en-IN" sz="2000" dirty="0"/>
                        <a:t>No</a:t>
                      </a:r>
                    </a:p>
                  </a:txBody>
                  <a:tcPr/>
                </a:tc>
                <a:extLst>
                  <a:ext uri="{0D108BD9-81ED-4DB2-BD59-A6C34878D82A}">
                    <a16:rowId xmlns:a16="http://schemas.microsoft.com/office/drawing/2014/main" val="3475079979"/>
                  </a:ext>
                </a:extLst>
              </a:tr>
              <a:tr h="370840">
                <a:tc>
                  <a:txBody>
                    <a:bodyPr/>
                    <a:lstStyle/>
                    <a:p>
                      <a:r>
                        <a:rPr lang="en-IN" sz="2000" dirty="0"/>
                        <a:t>Complexity</a:t>
                      </a:r>
                    </a:p>
                  </a:txBody>
                  <a:tcPr/>
                </a:tc>
                <a:tc>
                  <a:txBody>
                    <a:bodyPr/>
                    <a:lstStyle/>
                    <a:p>
                      <a:r>
                        <a:rPr lang="en-IN" sz="2000" dirty="0"/>
                        <a:t>Easy</a:t>
                      </a:r>
                    </a:p>
                  </a:txBody>
                  <a:tcPr/>
                </a:tc>
                <a:tc>
                  <a:txBody>
                    <a:bodyPr/>
                    <a:lstStyle/>
                    <a:p>
                      <a:r>
                        <a:rPr lang="en-IN" sz="2000" dirty="0"/>
                        <a:t>Not easy</a:t>
                      </a:r>
                    </a:p>
                  </a:txBody>
                  <a:tcPr/>
                </a:tc>
                <a:extLst>
                  <a:ext uri="{0D108BD9-81ED-4DB2-BD59-A6C34878D82A}">
                    <a16:rowId xmlns:a16="http://schemas.microsoft.com/office/drawing/2014/main" val="1509286302"/>
                  </a:ext>
                </a:extLst>
              </a:tr>
              <a:tr h="370840">
                <a:tc>
                  <a:txBody>
                    <a:bodyPr/>
                    <a:lstStyle/>
                    <a:p>
                      <a:r>
                        <a:rPr lang="en-IN" sz="2000" dirty="0"/>
                        <a:t>Flexibility</a:t>
                      </a:r>
                    </a:p>
                  </a:txBody>
                  <a:tcPr/>
                </a:tc>
                <a:tc>
                  <a:txBody>
                    <a:bodyPr/>
                    <a:lstStyle/>
                    <a:p>
                      <a:r>
                        <a:rPr lang="en-IN" sz="2000" dirty="0"/>
                        <a:t>More</a:t>
                      </a:r>
                    </a:p>
                  </a:txBody>
                  <a:tcPr/>
                </a:tc>
                <a:tc>
                  <a:txBody>
                    <a:bodyPr/>
                    <a:lstStyle/>
                    <a:p>
                      <a:r>
                        <a:rPr lang="en-IN" sz="2000" dirty="0"/>
                        <a:t>Less</a:t>
                      </a:r>
                    </a:p>
                  </a:txBody>
                  <a:tcPr/>
                </a:tc>
                <a:extLst>
                  <a:ext uri="{0D108BD9-81ED-4DB2-BD59-A6C34878D82A}">
                    <a16:rowId xmlns:a16="http://schemas.microsoft.com/office/drawing/2014/main" val="747302231"/>
                  </a:ext>
                </a:extLst>
              </a:tr>
              <a:tr h="370840">
                <a:tc>
                  <a:txBody>
                    <a:bodyPr/>
                    <a:lstStyle/>
                    <a:p>
                      <a:r>
                        <a:rPr lang="en-IN" sz="2000" dirty="0"/>
                        <a:t>Expression language</a:t>
                      </a:r>
                    </a:p>
                  </a:txBody>
                  <a:tcPr/>
                </a:tc>
                <a:tc>
                  <a:txBody>
                    <a:bodyPr/>
                    <a:lstStyle/>
                    <a:p>
                      <a:r>
                        <a:rPr lang="en-IN" sz="2000" dirty="0"/>
                        <a:t>Yes</a:t>
                      </a:r>
                    </a:p>
                  </a:txBody>
                  <a:tcPr/>
                </a:tc>
                <a:tc>
                  <a:txBody>
                    <a:bodyPr/>
                    <a:lstStyle/>
                    <a:p>
                      <a:r>
                        <a:rPr lang="en-IN" sz="2000" dirty="0"/>
                        <a:t>No</a:t>
                      </a:r>
                    </a:p>
                  </a:txBody>
                  <a:tcPr/>
                </a:tc>
                <a:extLst>
                  <a:ext uri="{0D108BD9-81ED-4DB2-BD59-A6C34878D82A}">
                    <a16:rowId xmlns:a16="http://schemas.microsoft.com/office/drawing/2014/main" val="1323515752"/>
                  </a:ext>
                </a:extLst>
              </a:tr>
              <a:tr h="370840">
                <a:tc>
                  <a:txBody>
                    <a:bodyPr/>
                    <a:lstStyle/>
                    <a:p>
                      <a:r>
                        <a:rPr lang="en-IN" sz="2000" dirty="0"/>
                        <a:t>Outer joins and unions</a:t>
                      </a:r>
                    </a:p>
                  </a:txBody>
                  <a:tcPr/>
                </a:tc>
                <a:tc>
                  <a:txBody>
                    <a:bodyPr/>
                    <a:lstStyle/>
                    <a:p>
                      <a:r>
                        <a:rPr lang="en-IN" sz="2000" dirty="0"/>
                        <a:t>Yes</a:t>
                      </a:r>
                    </a:p>
                  </a:txBody>
                  <a:tcPr/>
                </a:tc>
                <a:tc>
                  <a:txBody>
                    <a:bodyPr/>
                    <a:lstStyle/>
                    <a:p>
                      <a:r>
                        <a:rPr lang="en-IN" sz="2000" dirty="0"/>
                        <a:t>No</a:t>
                      </a:r>
                    </a:p>
                  </a:txBody>
                  <a:tcPr/>
                </a:tc>
                <a:extLst>
                  <a:ext uri="{0D108BD9-81ED-4DB2-BD59-A6C34878D82A}">
                    <a16:rowId xmlns:a16="http://schemas.microsoft.com/office/drawing/2014/main" val="3818693363"/>
                  </a:ext>
                </a:extLst>
              </a:tr>
              <a:tr h="370840">
                <a:tc>
                  <a:txBody>
                    <a:bodyPr/>
                    <a:lstStyle/>
                    <a:p>
                      <a:r>
                        <a:rPr lang="en-IN" sz="2000" dirty="0"/>
                        <a:t>Type declarations</a:t>
                      </a:r>
                    </a:p>
                  </a:txBody>
                  <a:tcPr/>
                </a:tc>
                <a:tc>
                  <a:txBody>
                    <a:bodyPr/>
                    <a:lstStyle/>
                    <a:p>
                      <a:r>
                        <a:rPr lang="en-IN" sz="2000" dirty="0"/>
                        <a:t>Yes</a:t>
                      </a:r>
                    </a:p>
                  </a:txBody>
                  <a:tcPr/>
                </a:tc>
                <a:tc>
                  <a:txBody>
                    <a:bodyPr/>
                    <a:lstStyle/>
                    <a:p>
                      <a:r>
                        <a:rPr lang="en-IN" sz="2000" dirty="0"/>
                        <a:t>No</a:t>
                      </a:r>
                    </a:p>
                  </a:txBody>
                  <a:tcPr/>
                </a:tc>
                <a:extLst>
                  <a:ext uri="{0D108BD9-81ED-4DB2-BD59-A6C34878D82A}">
                    <a16:rowId xmlns:a16="http://schemas.microsoft.com/office/drawing/2014/main" val="4121821201"/>
                  </a:ext>
                </a:extLst>
              </a:tr>
              <a:tr h="370840">
                <a:tc>
                  <a:txBody>
                    <a:bodyPr/>
                    <a:lstStyle/>
                    <a:p>
                      <a:r>
                        <a:rPr lang="en-IN" sz="2000" dirty="0"/>
                        <a:t>Analytical Adaption</a:t>
                      </a:r>
                    </a:p>
                  </a:txBody>
                  <a:tcPr/>
                </a:tc>
                <a:tc>
                  <a:txBody>
                    <a:bodyPr/>
                    <a:lstStyle/>
                    <a:p>
                      <a:r>
                        <a:rPr lang="en-IN" sz="2000" dirty="0"/>
                        <a:t>Yes</a:t>
                      </a:r>
                    </a:p>
                  </a:txBody>
                  <a:tcPr/>
                </a:tc>
                <a:tc>
                  <a:txBody>
                    <a:bodyPr/>
                    <a:lstStyle/>
                    <a:p>
                      <a:r>
                        <a:rPr lang="en-IN" sz="2000" dirty="0"/>
                        <a:t>No</a:t>
                      </a:r>
                    </a:p>
                  </a:txBody>
                  <a:tcPr/>
                </a:tc>
                <a:extLst>
                  <a:ext uri="{0D108BD9-81ED-4DB2-BD59-A6C34878D82A}">
                    <a16:rowId xmlns:a16="http://schemas.microsoft.com/office/drawing/2014/main" val="2748621432"/>
                  </a:ext>
                </a:extLst>
              </a:tr>
              <a:tr h="370840">
                <a:tc>
                  <a:txBody>
                    <a:bodyPr/>
                    <a:lstStyle/>
                    <a:p>
                      <a:r>
                        <a:rPr lang="en-IN" sz="2000" dirty="0"/>
                        <a:t>OData Service support</a:t>
                      </a:r>
                    </a:p>
                  </a:txBody>
                  <a:tcPr/>
                </a:tc>
                <a:tc>
                  <a:txBody>
                    <a:bodyPr/>
                    <a:lstStyle/>
                    <a:p>
                      <a:r>
                        <a:rPr lang="en-IN" sz="2000" dirty="0"/>
                        <a:t>Yes</a:t>
                      </a:r>
                    </a:p>
                  </a:txBody>
                  <a:tcPr/>
                </a:tc>
                <a:tc>
                  <a:txBody>
                    <a:bodyPr/>
                    <a:lstStyle/>
                    <a:p>
                      <a:r>
                        <a:rPr lang="en-IN" sz="2000" dirty="0"/>
                        <a:t>No</a:t>
                      </a:r>
                    </a:p>
                  </a:txBody>
                  <a:tcPr/>
                </a:tc>
                <a:extLst>
                  <a:ext uri="{0D108BD9-81ED-4DB2-BD59-A6C34878D82A}">
                    <a16:rowId xmlns:a16="http://schemas.microsoft.com/office/drawing/2014/main" val="477074349"/>
                  </a:ext>
                </a:extLst>
              </a:tr>
              <a:tr h="370840">
                <a:tc>
                  <a:txBody>
                    <a:bodyPr/>
                    <a:lstStyle/>
                    <a:p>
                      <a:r>
                        <a:rPr lang="en-IN" sz="2000" dirty="0"/>
                        <a:t>Metadata extensions – Fiori UI</a:t>
                      </a:r>
                    </a:p>
                  </a:txBody>
                  <a:tcPr/>
                </a:tc>
                <a:tc>
                  <a:txBody>
                    <a:bodyPr/>
                    <a:lstStyle/>
                    <a:p>
                      <a:r>
                        <a:rPr lang="en-IN" sz="2000" dirty="0"/>
                        <a:t>Yes</a:t>
                      </a:r>
                    </a:p>
                  </a:txBody>
                  <a:tcPr/>
                </a:tc>
                <a:tc>
                  <a:txBody>
                    <a:bodyPr/>
                    <a:lstStyle/>
                    <a:p>
                      <a:r>
                        <a:rPr lang="en-IN" sz="2000" dirty="0"/>
                        <a:t>No</a:t>
                      </a:r>
                    </a:p>
                  </a:txBody>
                  <a:tcPr/>
                </a:tc>
                <a:extLst>
                  <a:ext uri="{0D108BD9-81ED-4DB2-BD59-A6C34878D82A}">
                    <a16:rowId xmlns:a16="http://schemas.microsoft.com/office/drawing/2014/main" val="2384548384"/>
                  </a:ext>
                </a:extLst>
              </a:tr>
              <a:tr h="370840">
                <a:tc>
                  <a:txBody>
                    <a:bodyPr/>
                    <a:lstStyle/>
                    <a:p>
                      <a:r>
                        <a:rPr lang="en-IN" sz="2000" dirty="0"/>
                        <a:t>Built-in function</a:t>
                      </a:r>
                    </a:p>
                  </a:txBody>
                  <a:tcPr/>
                </a:tc>
                <a:tc>
                  <a:txBody>
                    <a:bodyPr/>
                    <a:lstStyle/>
                    <a:p>
                      <a:r>
                        <a:rPr lang="en-IN" sz="2000" dirty="0"/>
                        <a:t>Yes</a:t>
                      </a:r>
                    </a:p>
                  </a:txBody>
                  <a:tcPr/>
                </a:tc>
                <a:tc>
                  <a:txBody>
                    <a:bodyPr/>
                    <a:lstStyle/>
                    <a:p>
                      <a:r>
                        <a:rPr lang="en-IN" sz="2000" dirty="0"/>
                        <a:t>No</a:t>
                      </a:r>
                    </a:p>
                  </a:txBody>
                  <a:tcPr/>
                </a:tc>
                <a:extLst>
                  <a:ext uri="{0D108BD9-81ED-4DB2-BD59-A6C34878D82A}">
                    <a16:rowId xmlns:a16="http://schemas.microsoft.com/office/drawing/2014/main" val="1705128739"/>
                  </a:ext>
                </a:extLst>
              </a:tr>
              <a:tr h="370840">
                <a:tc>
                  <a:txBody>
                    <a:bodyPr/>
                    <a:lstStyle/>
                    <a:p>
                      <a:r>
                        <a:rPr lang="en-IN" sz="2000" dirty="0"/>
                        <a:t>Parameter support</a:t>
                      </a:r>
                    </a:p>
                  </a:txBody>
                  <a:tcPr/>
                </a:tc>
                <a:tc>
                  <a:txBody>
                    <a:bodyPr/>
                    <a:lstStyle/>
                    <a:p>
                      <a:r>
                        <a:rPr lang="en-IN" sz="2000" dirty="0"/>
                        <a:t>Yes</a:t>
                      </a:r>
                    </a:p>
                  </a:txBody>
                  <a:tcPr/>
                </a:tc>
                <a:tc>
                  <a:txBody>
                    <a:bodyPr/>
                    <a:lstStyle/>
                    <a:p>
                      <a:r>
                        <a:rPr lang="en-IN" sz="2000" dirty="0"/>
                        <a:t>No</a:t>
                      </a:r>
                    </a:p>
                  </a:txBody>
                  <a:tcPr/>
                </a:tc>
                <a:extLst>
                  <a:ext uri="{0D108BD9-81ED-4DB2-BD59-A6C34878D82A}">
                    <a16:rowId xmlns:a16="http://schemas.microsoft.com/office/drawing/2014/main" val="1667758248"/>
                  </a:ext>
                </a:extLst>
              </a:tr>
              <a:tr h="370840">
                <a:tc>
                  <a:txBody>
                    <a:bodyPr/>
                    <a:lstStyle/>
                    <a:p>
                      <a:r>
                        <a:rPr lang="en-IN" sz="2000" dirty="0"/>
                        <a:t>Ready to use system variable</a:t>
                      </a:r>
                    </a:p>
                  </a:txBody>
                  <a:tcPr/>
                </a:tc>
                <a:tc>
                  <a:txBody>
                    <a:bodyPr/>
                    <a:lstStyle/>
                    <a:p>
                      <a:r>
                        <a:rPr lang="en-IN" sz="2000" dirty="0"/>
                        <a:t>Yes</a:t>
                      </a:r>
                    </a:p>
                  </a:txBody>
                  <a:tcPr/>
                </a:tc>
                <a:tc>
                  <a:txBody>
                    <a:bodyPr/>
                    <a:lstStyle/>
                    <a:p>
                      <a:r>
                        <a:rPr lang="en-IN" sz="2000" dirty="0"/>
                        <a:t>No</a:t>
                      </a:r>
                    </a:p>
                  </a:txBody>
                  <a:tcPr/>
                </a:tc>
                <a:extLst>
                  <a:ext uri="{0D108BD9-81ED-4DB2-BD59-A6C34878D82A}">
                    <a16:rowId xmlns:a16="http://schemas.microsoft.com/office/drawing/2014/main" val="2224227908"/>
                  </a:ext>
                </a:extLst>
              </a:tr>
              <a:tr h="370840">
                <a:tc>
                  <a:txBody>
                    <a:bodyPr/>
                    <a:lstStyle/>
                    <a:p>
                      <a:r>
                        <a:rPr lang="en-IN" sz="2000" dirty="0"/>
                        <a:t>Association </a:t>
                      </a:r>
                    </a:p>
                  </a:txBody>
                  <a:tcPr/>
                </a:tc>
                <a:tc>
                  <a:txBody>
                    <a:bodyPr/>
                    <a:lstStyle/>
                    <a:p>
                      <a:r>
                        <a:rPr lang="en-IN" sz="2000" dirty="0"/>
                        <a:t>Yes</a:t>
                      </a:r>
                    </a:p>
                  </a:txBody>
                  <a:tcPr/>
                </a:tc>
                <a:tc>
                  <a:txBody>
                    <a:bodyPr/>
                    <a:lstStyle/>
                    <a:p>
                      <a:r>
                        <a:rPr lang="en-IN" sz="2000" dirty="0"/>
                        <a:t>No</a:t>
                      </a:r>
                    </a:p>
                  </a:txBody>
                  <a:tcPr/>
                </a:tc>
                <a:extLst>
                  <a:ext uri="{0D108BD9-81ED-4DB2-BD59-A6C34878D82A}">
                    <a16:rowId xmlns:a16="http://schemas.microsoft.com/office/drawing/2014/main" val="3927419506"/>
                  </a:ext>
                </a:extLst>
              </a:tr>
              <a:tr h="370840">
                <a:tc>
                  <a:txBody>
                    <a:bodyPr/>
                    <a:lstStyle/>
                    <a:p>
                      <a:r>
                        <a:rPr lang="en-IN" sz="2000" dirty="0"/>
                        <a:t>S/4HANA Embedded analytics</a:t>
                      </a:r>
                    </a:p>
                  </a:txBody>
                  <a:tcPr/>
                </a:tc>
                <a:tc>
                  <a:txBody>
                    <a:bodyPr/>
                    <a:lstStyle/>
                    <a:p>
                      <a:r>
                        <a:rPr lang="en-IN" sz="2000" dirty="0"/>
                        <a:t>Yes</a:t>
                      </a:r>
                    </a:p>
                  </a:txBody>
                  <a:tcPr/>
                </a:tc>
                <a:tc>
                  <a:txBody>
                    <a:bodyPr/>
                    <a:lstStyle/>
                    <a:p>
                      <a:r>
                        <a:rPr lang="en-IN" sz="2000" dirty="0"/>
                        <a:t>No</a:t>
                      </a:r>
                    </a:p>
                  </a:txBody>
                  <a:tcPr/>
                </a:tc>
                <a:extLst>
                  <a:ext uri="{0D108BD9-81ED-4DB2-BD59-A6C34878D82A}">
                    <a16:rowId xmlns:a16="http://schemas.microsoft.com/office/drawing/2014/main" val="1060721202"/>
                  </a:ext>
                </a:extLst>
              </a:tr>
            </a:tbl>
          </a:graphicData>
        </a:graphic>
      </p:graphicFrame>
    </p:spTree>
    <p:extLst>
      <p:ext uri="{BB962C8B-B14F-4D97-AF65-F5344CB8AC3E}">
        <p14:creationId xmlns:p14="http://schemas.microsoft.com/office/powerpoint/2010/main" val="4282332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7299-B43C-54C9-FDB7-AEF7F474BBB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FC7E5CF-0C7F-4D32-DC57-041731ABDA84}"/>
              </a:ext>
            </a:extLst>
          </p:cNvPr>
          <p:cNvSpPr txBox="1">
            <a:spLocks/>
          </p:cNvSpPr>
          <p:nvPr/>
        </p:nvSpPr>
        <p:spPr>
          <a:xfrm>
            <a:off x="141079" y="141370"/>
            <a:ext cx="11137885" cy="513697"/>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99" dirty="0">
                <a:latin typeface="Cooper Black" panose="0208090404030B020404" pitchFamily="18" charset="0"/>
                <a:cs typeface="Times New Roman" panose="02020603050405020304" pitchFamily="18" charset="0"/>
              </a:rPr>
              <a:t>Engineering Graphics</a:t>
            </a:r>
            <a:endParaRPr lang="en-IN" sz="3199" dirty="0">
              <a:latin typeface="Cooper Black" panose="0208090404030B0204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F4567B9-B415-E3EA-74A3-BDE25E664564}"/>
              </a:ext>
            </a:extLst>
          </p:cNvPr>
          <p:cNvSpPr txBox="1"/>
          <p:nvPr/>
        </p:nvSpPr>
        <p:spPr>
          <a:xfrm>
            <a:off x="9547913" y="6408935"/>
            <a:ext cx="2524210" cy="276999"/>
          </a:xfrm>
          <a:prstGeom prst="rect">
            <a:avLst/>
          </a:prstGeom>
          <a:noFill/>
        </p:spPr>
        <p:txBody>
          <a:bodyPr wrap="square">
            <a:spAutoFit/>
          </a:bodyPr>
          <a:lstStyle/>
          <a:p>
            <a:r>
              <a:rPr lang="en-US" sz="1200" dirty="0">
                <a:solidFill>
                  <a:srgbClr val="002060"/>
                </a:solidFill>
                <a:latin typeface="Cooper Black" panose="0208090404030B020404" pitchFamily="18" charset="0"/>
              </a:rPr>
              <a:t>www.anubhavtrainings.com</a:t>
            </a:r>
            <a:endParaRPr lang="en-IN" sz="1200" dirty="0">
              <a:solidFill>
                <a:srgbClr val="002060"/>
              </a:solidFill>
              <a:latin typeface="Cooper Black" panose="0208090404030B020404" pitchFamily="18" charset="0"/>
            </a:endParaRPr>
          </a:p>
        </p:txBody>
      </p:sp>
      <p:pic>
        <p:nvPicPr>
          <p:cNvPr id="5" name="Picture 4">
            <a:extLst>
              <a:ext uri="{FF2B5EF4-FFF2-40B4-BE49-F238E27FC236}">
                <a16:creationId xmlns:a16="http://schemas.microsoft.com/office/drawing/2014/main" id="{0568914C-D196-17EA-360B-38C77AAB22DC}"/>
              </a:ext>
            </a:extLst>
          </p:cNvPr>
          <p:cNvPicPr>
            <a:picLocks noChangeAspect="1"/>
          </p:cNvPicPr>
          <p:nvPr/>
        </p:nvPicPr>
        <p:blipFill>
          <a:blip r:embed="rId2"/>
          <a:stretch>
            <a:fillRect/>
          </a:stretch>
        </p:blipFill>
        <p:spPr>
          <a:xfrm>
            <a:off x="11691526" y="71244"/>
            <a:ext cx="456414" cy="450803"/>
          </a:xfrm>
          <a:prstGeom prst="rect">
            <a:avLst/>
          </a:prstGeom>
        </p:spPr>
      </p:pic>
      <p:sp>
        <p:nvSpPr>
          <p:cNvPr id="6" name="TextBox 5">
            <a:extLst>
              <a:ext uri="{FF2B5EF4-FFF2-40B4-BE49-F238E27FC236}">
                <a16:creationId xmlns:a16="http://schemas.microsoft.com/office/drawing/2014/main" id="{B781EE5C-AE52-201C-5620-0408424ABFED}"/>
              </a:ext>
            </a:extLst>
          </p:cNvPr>
          <p:cNvSpPr txBox="1"/>
          <p:nvPr/>
        </p:nvSpPr>
        <p:spPr>
          <a:xfrm>
            <a:off x="116701" y="6559466"/>
            <a:ext cx="223678" cy="253916"/>
          </a:xfrm>
          <a:prstGeom prst="rect">
            <a:avLst/>
          </a:prstGeom>
          <a:noFill/>
        </p:spPr>
        <p:txBody>
          <a:bodyPr wrap="square" rtlCol="0">
            <a:spAutoFit/>
          </a:bodyPr>
          <a:lstStyle/>
          <a:p>
            <a:r>
              <a:rPr lang="en-US" sz="1050" dirty="0"/>
              <a:t>7</a:t>
            </a:r>
            <a:endParaRPr lang="en-IN" sz="1050" dirty="0"/>
          </a:p>
        </p:txBody>
      </p:sp>
      <p:pic>
        <p:nvPicPr>
          <p:cNvPr id="1026" name="Picture 2">
            <a:extLst>
              <a:ext uri="{FF2B5EF4-FFF2-40B4-BE49-F238E27FC236}">
                <a16:creationId xmlns:a16="http://schemas.microsoft.com/office/drawing/2014/main" id="{9BA10681-B118-E7D2-E90B-821E125C9D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7948" y="1196752"/>
            <a:ext cx="8568952" cy="4820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219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7299-B43C-54C9-FDB7-AEF7F474BBB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FC7E5CF-0C7F-4D32-DC57-041731ABDA84}"/>
              </a:ext>
            </a:extLst>
          </p:cNvPr>
          <p:cNvSpPr txBox="1">
            <a:spLocks/>
          </p:cNvSpPr>
          <p:nvPr/>
        </p:nvSpPr>
        <p:spPr>
          <a:xfrm>
            <a:off x="141079" y="141370"/>
            <a:ext cx="11137885" cy="513697"/>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99" dirty="0">
                <a:latin typeface="Cooper Black" panose="0208090404030B020404" pitchFamily="18" charset="0"/>
                <a:cs typeface="Times New Roman" panose="02020603050405020304" pitchFamily="18" charset="0"/>
              </a:rPr>
              <a:t>CDS view - projection</a:t>
            </a:r>
            <a:endParaRPr lang="en-IN" sz="3199" dirty="0">
              <a:latin typeface="Cooper Black" panose="0208090404030B0204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F4567B9-B415-E3EA-74A3-BDE25E664564}"/>
              </a:ext>
            </a:extLst>
          </p:cNvPr>
          <p:cNvSpPr txBox="1"/>
          <p:nvPr/>
        </p:nvSpPr>
        <p:spPr>
          <a:xfrm>
            <a:off x="9547913" y="6408935"/>
            <a:ext cx="2524210" cy="276999"/>
          </a:xfrm>
          <a:prstGeom prst="rect">
            <a:avLst/>
          </a:prstGeom>
          <a:noFill/>
        </p:spPr>
        <p:txBody>
          <a:bodyPr wrap="square">
            <a:spAutoFit/>
          </a:bodyPr>
          <a:lstStyle/>
          <a:p>
            <a:r>
              <a:rPr lang="en-US" sz="1200" dirty="0">
                <a:solidFill>
                  <a:schemeClr val="tx1"/>
                </a:solidFill>
                <a:latin typeface="Cooper Black" panose="0208090404030B020404" pitchFamily="18" charset="0"/>
              </a:rPr>
              <a:t>www.anubhavtrainings.com</a:t>
            </a:r>
            <a:endParaRPr lang="en-IN" sz="1200" dirty="0">
              <a:solidFill>
                <a:schemeClr val="tx1"/>
              </a:solidFill>
              <a:latin typeface="Cooper Black" panose="0208090404030B020404" pitchFamily="18" charset="0"/>
            </a:endParaRPr>
          </a:p>
        </p:txBody>
      </p:sp>
      <p:pic>
        <p:nvPicPr>
          <p:cNvPr id="5" name="Picture 4">
            <a:extLst>
              <a:ext uri="{FF2B5EF4-FFF2-40B4-BE49-F238E27FC236}">
                <a16:creationId xmlns:a16="http://schemas.microsoft.com/office/drawing/2014/main" id="{0568914C-D196-17EA-360B-38C77AAB22DC}"/>
              </a:ext>
            </a:extLst>
          </p:cNvPr>
          <p:cNvPicPr>
            <a:picLocks noChangeAspect="1"/>
          </p:cNvPicPr>
          <p:nvPr/>
        </p:nvPicPr>
        <p:blipFill>
          <a:blip r:embed="rId2"/>
          <a:stretch>
            <a:fillRect/>
          </a:stretch>
        </p:blipFill>
        <p:spPr>
          <a:xfrm>
            <a:off x="11691526" y="71244"/>
            <a:ext cx="456414" cy="450803"/>
          </a:xfrm>
          <a:prstGeom prst="rect">
            <a:avLst/>
          </a:prstGeom>
        </p:spPr>
      </p:pic>
      <p:sp>
        <p:nvSpPr>
          <p:cNvPr id="6" name="TextBox 5">
            <a:extLst>
              <a:ext uri="{FF2B5EF4-FFF2-40B4-BE49-F238E27FC236}">
                <a16:creationId xmlns:a16="http://schemas.microsoft.com/office/drawing/2014/main" id="{B781EE5C-AE52-201C-5620-0408424ABFED}"/>
              </a:ext>
            </a:extLst>
          </p:cNvPr>
          <p:cNvSpPr txBox="1"/>
          <p:nvPr/>
        </p:nvSpPr>
        <p:spPr>
          <a:xfrm>
            <a:off x="116701" y="6559466"/>
            <a:ext cx="223678" cy="253916"/>
          </a:xfrm>
          <a:prstGeom prst="rect">
            <a:avLst/>
          </a:prstGeom>
          <a:noFill/>
        </p:spPr>
        <p:txBody>
          <a:bodyPr wrap="square" rtlCol="0">
            <a:spAutoFit/>
          </a:bodyPr>
          <a:lstStyle/>
          <a:p>
            <a:r>
              <a:rPr lang="en-US" sz="1050" dirty="0"/>
              <a:t>7</a:t>
            </a:r>
            <a:endParaRPr lang="en-IN" sz="1050" dirty="0"/>
          </a:p>
        </p:txBody>
      </p:sp>
      <p:sp>
        <p:nvSpPr>
          <p:cNvPr id="7" name="Rectangle 6">
            <a:extLst>
              <a:ext uri="{FF2B5EF4-FFF2-40B4-BE49-F238E27FC236}">
                <a16:creationId xmlns:a16="http://schemas.microsoft.com/office/drawing/2014/main" id="{681B938B-B48E-AF9A-EC0A-0084A1F3EE8A}"/>
              </a:ext>
            </a:extLst>
          </p:cNvPr>
          <p:cNvSpPr/>
          <p:nvPr/>
        </p:nvSpPr>
        <p:spPr>
          <a:xfrm>
            <a:off x="621804" y="2672916"/>
            <a:ext cx="3240360" cy="1512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CDS entities</a:t>
            </a:r>
          </a:p>
        </p:txBody>
      </p:sp>
      <p:sp>
        <p:nvSpPr>
          <p:cNvPr id="9" name="Rectangle: Rounded Corners 8">
            <a:extLst>
              <a:ext uri="{FF2B5EF4-FFF2-40B4-BE49-F238E27FC236}">
                <a16:creationId xmlns:a16="http://schemas.microsoft.com/office/drawing/2014/main" id="{0DCA4314-0E55-4A2E-703A-ED8697527DDD}"/>
              </a:ext>
            </a:extLst>
          </p:cNvPr>
          <p:cNvSpPr/>
          <p:nvPr/>
        </p:nvSpPr>
        <p:spPr>
          <a:xfrm>
            <a:off x="8470676" y="924396"/>
            <a:ext cx="3312368" cy="660567"/>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b="1" dirty="0">
                <a:solidFill>
                  <a:schemeClr val="tx1"/>
                </a:solidFill>
                <a:latin typeface="72 Condensed" panose="020B0506030000000003" pitchFamily="34" charset="0"/>
                <a:cs typeface="72 Condensed" panose="020B0506030000000003" pitchFamily="34" charset="0"/>
              </a:rPr>
              <a:t>ABAP Program</a:t>
            </a:r>
          </a:p>
        </p:txBody>
      </p:sp>
      <p:sp>
        <p:nvSpPr>
          <p:cNvPr id="10" name="Rectangle: Rounded Corners 9">
            <a:extLst>
              <a:ext uri="{FF2B5EF4-FFF2-40B4-BE49-F238E27FC236}">
                <a16:creationId xmlns:a16="http://schemas.microsoft.com/office/drawing/2014/main" id="{D4CABA89-8B9B-2CF3-F995-9198E159604A}"/>
              </a:ext>
            </a:extLst>
          </p:cNvPr>
          <p:cNvSpPr/>
          <p:nvPr/>
        </p:nvSpPr>
        <p:spPr>
          <a:xfrm>
            <a:off x="8483205" y="1872995"/>
            <a:ext cx="3312368" cy="660567"/>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a:solidFill>
                  <a:schemeClr val="tx1"/>
                </a:solidFill>
                <a:latin typeface="Amasis MT Pro Black" panose="02040A04050005020304" pitchFamily="18" charset="0"/>
              </a:rPr>
              <a:t>Fiori Application</a:t>
            </a:r>
          </a:p>
        </p:txBody>
      </p:sp>
      <p:sp>
        <p:nvSpPr>
          <p:cNvPr id="11" name="Rectangle: Rounded Corners 10">
            <a:extLst>
              <a:ext uri="{FF2B5EF4-FFF2-40B4-BE49-F238E27FC236}">
                <a16:creationId xmlns:a16="http://schemas.microsoft.com/office/drawing/2014/main" id="{A4644E67-D027-7D43-74FC-A7DEDEDC810A}"/>
              </a:ext>
            </a:extLst>
          </p:cNvPr>
          <p:cNvSpPr/>
          <p:nvPr/>
        </p:nvSpPr>
        <p:spPr>
          <a:xfrm>
            <a:off x="8459379" y="2903601"/>
            <a:ext cx="3312368" cy="660567"/>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a:solidFill>
                  <a:schemeClr val="tx1"/>
                </a:solidFill>
                <a:latin typeface="Amasis MT Pro Black" panose="02040A04050005020304" pitchFamily="18" charset="0"/>
              </a:rPr>
              <a:t>Analytical Apps</a:t>
            </a:r>
          </a:p>
        </p:txBody>
      </p:sp>
      <p:sp>
        <p:nvSpPr>
          <p:cNvPr id="12" name="Rectangle: Rounded Corners 11">
            <a:extLst>
              <a:ext uri="{FF2B5EF4-FFF2-40B4-BE49-F238E27FC236}">
                <a16:creationId xmlns:a16="http://schemas.microsoft.com/office/drawing/2014/main" id="{A0FF55E7-D384-0F83-9CB8-0B9182163E5B}"/>
              </a:ext>
            </a:extLst>
          </p:cNvPr>
          <p:cNvSpPr/>
          <p:nvPr/>
        </p:nvSpPr>
        <p:spPr>
          <a:xfrm>
            <a:off x="8459379" y="3904366"/>
            <a:ext cx="3312368" cy="660567"/>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a:solidFill>
                  <a:schemeClr val="tx1"/>
                </a:solidFill>
                <a:latin typeface="Amasis MT Pro Black" panose="02040A04050005020304" pitchFamily="18" charset="0"/>
              </a:rPr>
              <a:t>Transactional App</a:t>
            </a:r>
          </a:p>
        </p:txBody>
      </p:sp>
      <p:sp>
        <p:nvSpPr>
          <p:cNvPr id="13" name="Rectangle: Rounded Corners 12">
            <a:extLst>
              <a:ext uri="{FF2B5EF4-FFF2-40B4-BE49-F238E27FC236}">
                <a16:creationId xmlns:a16="http://schemas.microsoft.com/office/drawing/2014/main" id="{29FFC089-8B54-D500-0B67-45EABA8DACBE}"/>
              </a:ext>
            </a:extLst>
          </p:cNvPr>
          <p:cNvSpPr/>
          <p:nvPr/>
        </p:nvSpPr>
        <p:spPr>
          <a:xfrm>
            <a:off x="8483205" y="4799769"/>
            <a:ext cx="3312368" cy="660567"/>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a:solidFill>
                  <a:schemeClr val="tx1"/>
                </a:solidFill>
                <a:latin typeface="Amasis MT Pro Black" panose="02040A04050005020304" pitchFamily="18" charset="0"/>
              </a:rPr>
              <a:t>Embedded analytics / SAC</a:t>
            </a:r>
          </a:p>
        </p:txBody>
      </p:sp>
      <p:sp>
        <p:nvSpPr>
          <p:cNvPr id="14" name="Rectangle: Rounded Corners 13">
            <a:extLst>
              <a:ext uri="{FF2B5EF4-FFF2-40B4-BE49-F238E27FC236}">
                <a16:creationId xmlns:a16="http://schemas.microsoft.com/office/drawing/2014/main" id="{4708395A-FD98-76F1-E5EF-D57C44552371}"/>
              </a:ext>
            </a:extLst>
          </p:cNvPr>
          <p:cNvSpPr/>
          <p:nvPr/>
        </p:nvSpPr>
        <p:spPr>
          <a:xfrm>
            <a:off x="8498920" y="5748368"/>
            <a:ext cx="3312368" cy="660567"/>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a:solidFill>
                  <a:schemeClr val="tx1"/>
                </a:solidFill>
                <a:latin typeface="Amasis MT Pro Black" panose="02040A04050005020304" pitchFamily="18" charset="0"/>
              </a:rPr>
              <a:t>Integration API</a:t>
            </a:r>
          </a:p>
        </p:txBody>
      </p:sp>
      <p:cxnSp>
        <p:nvCxnSpPr>
          <p:cNvPr id="16" name="Connector: Elbow 15">
            <a:extLst>
              <a:ext uri="{FF2B5EF4-FFF2-40B4-BE49-F238E27FC236}">
                <a16:creationId xmlns:a16="http://schemas.microsoft.com/office/drawing/2014/main" id="{4573723F-02EC-FDB2-5231-CD733B13DE8B}"/>
              </a:ext>
            </a:extLst>
          </p:cNvPr>
          <p:cNvCxnSpPr>
            <a:stCxn id="9" idx="1"/>
          </p:cNvCxnSpPr>
          <p:nvPr/>
        </p:nvCxnSpPr>
        <p:spPr>
          <a:xfrm rot="10800000" flipV="1">
            <a:off x="3934172" y="1254680"/>
            <a:ext cx="4536504" cy="152624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002CEDF9-63C6-FF3D-7874-3243D4660ACA}"/>
              </a:ext>
            </a:extLst>
          </p:cNvPr>
          <p:cNvCxnSpPr>
            <a:stCxn id="10" idx="1"/>
          </p:cNvCxnSpPr>
          <p:nvPr/>
        </p:nvCxnSpPr>
        <p:spPr>
          <a:xfrm rot="10800000" flipV="1">
            <a:off x="3892519" y="2203279"/>
            <a:ext cx="4590686" cy="767864"/>
          </a:xfrm>
          <a:prstGeom prst="bentConnector3">
            <a:avLst>
              <a:gd name="adj1" fmla="val 4358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D7364268-CD22-2DB7-3F0B-6C44FB0D2D6C}"/>
              </a:ext>
            </a:extLst>
          </p:cNvPr>
          <p:cNvCxnSpPr>
            <a:stCxn id="11" idx="1"/>
          </p:cNvCxnSpPr>
          <p:nvPr/>
        </p:nvCxnSpPr>
        <p:spPr>
          <a:xfrm rot="10800000">
            <a:off x="3934173" y="3233885"/>
            <a:ext cx="4525207"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2B0BA6E1-1A93-3880-915A-25D1AFA3D591}"/>
              </a:ext>
            </a:extLst>
          </p:cNvPr>
          <p:cNvCxnSpPr>
            <a:stCxn id="12" idx="1"/>
          </p:cNvCxnSpPr>
          <p:nvPr/>
        </p:nvCxnSpPr>
        <p:spPr>
          <a:xfrm rot="10800000">
            <a:off x="3934173" y="3481252"/>
            <a:ext cx="4525207" cy="75339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124EAE96-6910-4583-E844-2BA0A26EF4C7}"/>
              </a:ext>
            </a:extLst>
          </p:cNvPr>
          <p:cNvCxnSpPr>
            <a:stCxn id="13" idx="1"/>
          </p:cNvCxnSpPr>
          <p:nvPr/>
        </p:nvCxnSpPr>
        <p:spPr>
          <a:xfrm rot="10800000">
            <a:off x="3913347" y="3729527"/>
            <a:ext cx="4569859" cy="1400526"/>
          </a:xfrm>
          <a:prstGeom prst="bentConnector3">
            <a:avLst>
              <a:gd name="adj1" fmla="val 5376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8EDBF013-50B9-46CB-7AF6-B5262C8A045C}"/>
              </a:ext>
            </a:extLst>
          </p:cNvPr>
          <p:cNvCxnSpPr>
            <a:stCxn id="14" idx="1"/>
          </p:cNvCxnSpPr>
          <p:nvPr/>
        </p:nvCxnSpPr>
        <p:spPr>
          <a:xfrm rot="10800000">
            <a:off x="3934172" y="4016530"/>
            <a:ext cx="4564748" cy="2062123"/>
          </a:xfrm>
          <a:prstGeom prst="bentConnector3">
            <a:avLst>
              <a:gd name="adj1" fmla="val 62100"/>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A07F4818-764C-1BDE-1579-D637D4EBC255}"/>
              </a:ext>
            </a:extLst>
          </p:cNvPr>
          <p:cNvSpPr txBox="1"/>
          <p:nvPr/>
        </p:nvSpPr>
        <p:spPr>
          <a:xfrm>
            <a:off x="5590356" y="927960"/>
            <a:ext cx="3168352" cy="307777"/>
          </a:xfrm>
          <a:prstGeom prst="rect">
            <a:avLst/>
          </a:prstGeom>
          <a:noFill/>
        </p:spPr>
        <p:txBody>
          <a:bodyPr wrap="square" rtlCol="0">
            <a:spAutoFit/>
          </a:bodyPr>
          <a:lstStyle/>
          <a:p>
            <a:r>
              <a:rPr lang="en-IN" sz="1400" b="1" dirty="0">
                <a:latin typeface="72 Monospace" panose="020B0509030603020204" pitchFamily="49" charset="0"/>
                <a:cs typeface="72 Monospace" panose="020B0509030603020204" pitchFamily="49" charset="0"/>
              </a:rPr>
              <a:t>No special annotations</a:t>
            </a:r>
          </a:p>
        </p:txBody>
      </p:sp>
      <p:sp>
        <p:nvSpPr>
          <p:cNvPr id="31" name="TextBox 30">
            <a:extLst>
              <a:ext uri="{FF2B5EF4-FFF2-40B4-BE49-F238E27FC236}">
                <a16:creationId xmlns:a16="http://schemas.microsoft.com/office/drawing/2014/main" id="{8549AC77-DD72-1306-9BC8-8789089E6026}"/>
              </a:ext>
            </a:extLst>
          </p:cNvPr>
          <p:cNvSpPr txBox="1"/>
          <p:nvPr/>
        </p:nvSpPr>
        <p:spPr>
          <a:xfrm>
            <a:off x="6454452" y="1915246"/>
            <a:ext cx="2592288" cy="307777"/>
          </a:xfrm>
          <a:prstGeom prst="rect">
            <a:avLst/>
          </a:prstGeom>
          <a:noFill/>
        </p:spPr>
        <p:txBody>
          <a:bodyPr wrap="square" rtlCol="0">
            <a:spAutoFit/>
          </a:bodyPr>
          <a:lstStyle/>
          <a:p>
            <a:r>
              <a:rPr lang="en-IN" sz="1400" b="1" dirty="0">
                <a:latin typeface="72 Monospace" panose="020B0509030603020204" pitchFamily="49" charset="0"/>
                <a:cs typeface="72 Monospace" panose="020B0509030603020204" pitchFamily="49" charset="0"/>
              </a:rPr>
              <a:t>@OData.publish</a:t>
            </a:r>
          </a:p>
        </p:txBody>
      </p:sp>
      <p:sp>
        <p:nvSpPr>
          <p:cNvPr id="32" name="TextBox 31">
            <a:extLst>
              <a:ext uri="{FF2B5EF4-FFF2-40B4-BE49-F238E27FC236}">
                <a16:creationId xmlns:a16="http://schemas.microsoft.com/office/drawing/2014/main" id="{B1A33A53-D7C4-7079-53E1-CD449C699075}"/>
              </a:ext>
            </a:extLst>
          </p:cNvPr>
          <p:cNvSpPr txBox="1"/>
          <p:nvPr/>
        </p:nvSpPr>
        <p:spPr>
          <a:xfrm>
            <a:off x="6427945" y="2916131"/>
            <a:ext cx="1898717" cy="523220"/>
          </a:xfrm>
          <a:prstGeom prst="rect">
            <a:avLst/>
          </a:prstGeom>
          <a:noFill/>
        </p:spPr>
        <p:txBody>
          <a:bodyPr wrap="square" rtlCol="0">
            <a:spAutoFit/>
          </a:bodyPr>
          <a:lstStyle/>
          <a:p>
            <a:r>
              <a:rPr lang="en-IN" sz="1400" b="1" dirty="0">
                <a:latin typeface="72 Monospace" panose="020B0509030603020204" pitchFamily="49" charset="0"/>
                <a:cs typeface="72 Monospace" panose="020B0509030603020204" pitchFamily="49" charset="0"/>
              </a:rPr>
              <a:t>@Analytics</a:t>
            </a:r>
          </a:p>
          <a:p>
            <a:r>
              <a:rPr lang="en-IN" sz="1400" b="1" dirty="0">
                <a:latin typeface="72 Monospace" panose="020B0509030603020204" pitchFamily="49" charset="0"/>
                <a:cs typeface="72 Monospace" panose="020B0509030603020204" pitchFamily="49" charset="0"/>
              </a:rPr>
              <a:t>@AnalyticDetails</a:t>
            </a:r>
          </a:p>
        </p:txBody>
      </p:sp>
      <p:sp>
        <p:nvSpPr>
          <p:cNvPr id="33" name="TextBox 32">
            <a:extLst>
              <a:ext uri="{FF2B5EF4-FFF2-40B4-BE49-F238E27FC236}">
                <a16:creationId xmlns:a16="http://schemas.microsoft.com/office/drawing/2014/main" id="{CAC81DDB-78C3-6C7B-A493-AC9957C86EA3}"/>
              </a:ext>
            </a:extLst>
          </p:cNvPr>
          <p:cNvSpPr txBox="1"/>
          <p:nvPr/>
        </p:nvSpPr>
        <p:spPr>
          <a:xfrm>
            <a:off x="6310436" y="3958797"/>
            <a:ext cx="1898717" cy="307777"/>
          </a:xfrm>
          <a:prstGeom prst="rect">
            <a:avLst/>
          </a:prstGeom>
          <a:noFill/>
        </p:spPr>
        <p:txBody>
          <a:bodyPr wrap="square" rtlCol="0">
            <a:spAutoFit/>
          </a:bodyPr>
          <a:lstStyle/>
          <a:p>
            <a:r>
              <a:rPr lang="en-IN" sz="1400" b="1" dirty="0">
                <a:latin typeface="72 Monospace" panose="020B0509030603020204" pitchFamily="49" charset="0"/>
                <a:cs typeface="72 Monospace" panose="020B0509030603020204" pitchFamily="49" charset="0"/>
              </a:rPr>
              <a:t>@ObjectModel</a:t>
            </a:r>
          </a:p>
        </p:txBody>
      </p:sp>
      <p:sp>
        <p:nvSpPr>
          <p:cNvPr id="34" name="TextBox 33">
            <a:extLst>
              <a:ext uri="{FF2B5EF4-FFF2-40B4-BE49-F238E27FC236}">
                <a16:creationId xmlns:a16="http://schemas.microsoft.com/office/drawing/2014/main" id="{D1061895-F727-2CD7-3259-16DF74E94A84}"/>
              </a:ext>
            </a:extLst>
          </p:cNvPr>
          <p:cNvSpPr txBox="1"/>
          <p:nvPr/>
        </p:nvSpPr>
        <p:spPr>
          <a:xfrm>
            <a:off x="6094412" y="4650245"/>
            <a:ext cx="2880320" cy="954107"/>
          </a:xfrm>
          <a:prstGeom prst="rect">
            <a:avLst/>
          </a:prstGeom>
          <a:noFill/>
        </p:spPr>
        <p:txBody>
          <a:bodyPr wrap="square" rtlCol="0">
            <a:spAutoFit/>
          </a:bodyPr>
          <a:lstStyle/>
          <a:p>
            <a:r>
              <a:rPr lang="en-IN" sz="1400" b="1" dirty="0">
                <a:latin typeface="72 Monospace" panose="020B0509030603020204" pitchFamily="49" charset="0"/>
                <a:cs typeface="72 Monospace" panose="020B0509030603020204" pitchFamily="49" charset="0"/>
              </a:rPr>
              <a:t>@VDM</a:t>
            </a:r>
          </a:p>
          <a:p>
            <a:r>
              <a:rPr lang="en-IN" sz="1400" b="1" dirty="0">
                <a:latin typeface="72 Monospace" panose="020B0509030603020204" pitchFamily="49" charset="0"/>
                <a:cs typeface="72 Monospace" panose="020B0509030603020204" pitchFamily="49" charset="0"/>
              </a:rPr>
              <a:t>@Analytics</a:t>
            </a:r>
          </a:p>
          <a:p>
            <a:r>
              <a:rPr lang="en-IN" sz="1400" b="1" dirty="0">
                <a:latin typeface="72 Monospace" panose="020B0509030603020204" pitchFamily="49" charset="0"/>
                <a:cs typeface="72 Monospace" panose="020B0509030603020204" pitchFamily="49" charset="0"/>
              </a:rPr>
              <a:t>@Odata</a:t>
            </a:r>
          </a:p>
          <a:p>
            <a:r>
              <a:rPr lang="en-IN" sz="1400" b="1" dirty="0">
                <a:latin typeface="72 Monospace" panose="020B0509030603020204" pitchFamily="49" charset="0"/>
                <a:cs typeface="72 Monospace" panose="020B0509030603020204" pitchFamily="49" charset="0"/>
              </a:rPr>
              <a:t>@DefaultAggregation</a:t>
            </a:r>
          </a:p>
        </p:txBody>
      </p:sp>
      <p:sp>
        <p:nvSpPr>
          <p:cNvPr id="35" name="TextBox 34">
            <a:extLst>
              <a:ext uri="{FF2B5EF4-FFF2-40B4-BE49-F238E27FC236}">
                <a16:creationId xmlns:a16="http://schemas.microsoft.com/office/drawing/2014/main" id="{93A08E39-E834-8EBC-DE5D-5118F77C9AD2}"/>
              </a:ext>
            </a:extLst>
          </p:cNvPr>
          <p:cNvSpPr txBox="1"/>
          <p:nvPr/>
        </p:nvSpPr>
        <p:spPr>
          <a:xfrm>
            <a:off x="6216546" y="5829989"/>
            <a:ext cx="1898717" cy="307777"/>
          </a:xfrm>
          <a:prstGeom prst="rect">
            <a:avLst/>
          </a:prstGeom>
          <a:noFill/>
        </p:spPr>
        <p:txBody>
          <a:bodyPr wrap="square" rtlCol="0">
            <a:spAutoFit/>
          </a:bodyPr>
          <a:lstStyle/>
          <a:p>
            <a:r>
              <a:rPr lang="en-IN" sz="1400" b="1" dirty="0">
                <a:latin typeface="72 Monospace" panose="020B0509030603020204" pitchFamily="49" charset="0"/>
                <a:cs typeface="72 Monospace" panose="020B0509030603020204" pitchFamily="49" charset="0"/>
              </a:rPr>
              <a:t>@Odata</a:t>
            </a:r>
          </a:p>
        </p:txBody>
      </p:sp>
    </p:spTree>
    <p:extLst>
      <p:ext uri="{BB962C8B-B14F-4D97-AF65-F5344CB8AC3E}">
        <p14:creationId xmlns:p14="http://schemas.microsoft.com/office/powerpoint/2010/main" val="1946654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7299-B43C-54C9-FDB7-AEF7F474BBB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FC7E5CF-0C7F-4D32-DC57-041731ABDA84}"/>
              </a:ext>
            </a:extLst>
          </p:cNvPr>
          <p:cNvSpPr txBox="1">
            <a:spLocks/>
          </p:cNvSpPr>
          <p:nvPr/>
        </p:nvSpPr>
        <p:spPr>
          <a:xfrm>
            <a:off x="141079" y="141370"/>
            <a:ext cx="11137885" cy="513697"/>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99" dirty="0">
                <a:latin typeface="Cooper Black" panose="0208090404030B020404" pitchFamily="18" charset="0"/>
                <a:cs typeface="Times New Roman" panose="02020603050405020304" pitchFamily="18" charset="0"/>
              </a:rPr>
              <a:t>VDM – Virtual data modeling</a:t>
            </a:r>
            <a:endParaRPr lang="en-IN" sz="3199"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94C7866-CF15-2EFE-7A0F-2A702B795F6D}"/>
              </a:ext>
            </a:extLst>
          </p:cNvPr>
          <p:cNvSpPr txBox="1"/>
          <p:nvPr/>
        </p:nvSpPr>
        <p:spPr>
          <a:xfrm>
            <a:off x="177646" y="655067"/>
            <a:ext cx="11486844" cy="3416320"/>
          </a:xfrm>
          <a:prstGeom prst="rect">
            <a:avLst/>
          </a:prstGeom>
          <a:noFill/>
        </p:spPr>
        <p:txBody>
          <a:bodyPr wrap="square" rtlCol="0">
            <a:spAutoFit/>
          </a:bodyPr>
          <a:lstStyle/>
          <a:p>
            <a:r>
              <a:rPr lang="en-IN" sz="1800" dirty="0"/>
              <a:t>VDM is not mandatory, even if you skip VDM, your view/entities are just fine. This is a </a:t>
            </a:r>
            <a:r>
              <a:rPr lang="en-IN" sz="1800" b="1" dirty="0"/>
              <a:t>gold standard or Best Practice </a:t>
            </a:r>
            <a:r>
              <a:rPr lang="en-IN" sz="1800" dirty="0"/>
              <a:t>to create </a:t>
            </a:r>
            <a:r>
              <a:rPr lang="en-IN" sz="1800" dirty="0" err="1"/>
              <a:t>cds</a:t>
            </a:r>
            <a:r>
              <a:rPr lang="en-IN" sz="1800" dirty="0"/>
              <a:t> entities in SAP S/4HANA solution. It brings the standardization to our CDS development and increase reusability of our views.</a:t>
            </a:r>
          </a:p>
          <a:p>
            <a:pPr marL="285750" indent="-285750">
              <a:buFont typeface="Arial" panose="020B0604020202020204" pitchFamily="34" charset="0"/>
              <a:buChar char="•"/>
            </a:pPr>
            <a:r>
              <a:rPr lang="en-IN" sz="1800" dirty="0"/>
              <a:t>If a colleague build </a:t>
            </a:r>
            <a:r>
              <a:rPr lang="en-IN" sz="1800" dirty="0" err="1"/>
              <a:t>cds</a:t>
            </a:r>
            <a:r>
              <a:rPr lang="en-IN" sz="1800" dirty="0"/>
              <a:t> views in a company and take holiday or leave the company, how would we know the purpose this view?</a:t>
            </a:r>
          </a:p>
          <a:p>
            <a:pPr marL="285750" indent="-285750">
              <a:buFont typeface="Arial" panose="020B0604020202020204" pitchFamily="34" charset="0"/>
              <a:buChar char="•"/>
            </a:pPr>
            <a:r>
              <a:rPr lang="en-IN" sz="1800" dirty="0"/>
              <a:t>When SAP deliver standard CDS views to us, SAP do not provide the mobile number of their developers, so how you know whether you can reuse their view or not?</a:t>
            </a:r>
          </a:p>
          <a:p>
            <a:pPr marL="285750" indent="-285750">
              <a:buFont typeface="Arial" panose="020B0604020202020204" pitchFamily="34" charset="0"/>
              <a:buChar char="•"/>
            </a:pPr>
            <a:r>
              <a:rPr lang="en-IN" sz="1800" dirty="0"/>
              <a:t>We need to follow common naming convention in a project as a best practice.</a:t>
            </a:r>
          </a:p>
          <a:p>
            <a:pPr marL="285750" indent="-285750">
              <a:buFont typeface="Arial" panose="020B0604020202020204" pitchFamily="34" charset="0"/>
              <a:buChar char="•"/>
            </a:pPr>
            <a:r>
              <a:rPr lang="en-IN" sz="1800" dirty="0"/>
              <a:t>We need to avoid creating duplicate views for same purpose.</a:t>
            </a:r>
          </a:p>
          <a:p>
            <a:pPr marL="285750" indent="-285750">
              <a:buFont typeface="Arial" panose="020B0604020202020204" pitchFamily="34" charset="0"/>
              <a:buChar char="•"/>
            </a:pPr>
            <a:r>
              <a:rPr lang="en-IN" sz="1800" dirty="0"/>
              <a:t>VDM is a technical guidance for S/4HANA CDS developers</a:t>
            </a:r>
          </a:p>
          <a:p>
            <a:pPr marL="285750" indent="-285750">
              <a:buFont typeface="Arial" panose="020B0604020202020204" pitchFamily="34" charset="0"/>
              <a:buChar char="•"/>
            </a:pPr>
            <a:r>
              <a:rPr lang="en-IN" sz="1800" dirty="0"/>
              <a:t>It is represented by annotation </a:t>
            </a:r>
            <a:r>
              <a:rPr lang="en-IN" sz="1800" b="1" dirty="0"/>
              <a:t>@VDM</a:t>
            </a:r>
            <a:r>
              <a:rPr lang="en-IN" sz="1800" dirty="0"/>
              <a:t> which is kept at the top of the view</a:t>
            </a:r>
          </a:p>
          <a:p>
            <a:pPr marL="285750" indent="-285750">
              <a:buFont typeface="Arial" panose="020B0604020202020204" pitchFamily="34" charset="0"/>
              <a:buChar char="•"/>
            </a:pPr>
            <a:r>
              <a:rPr lang="en-IN" sz="1800" dirty="0"/>
              <a:t>VDM classify our views in different categories as explained in next slide.</a:t>
            </a:r>
          </a:p>
        </p:txBody>
      </p:sp>
      <p:sp>
        <p:nvSpPr>
          <p:cNvPr id="4" name="TextBox 3">
            <a:extLst>
              <a:ext uri="{FF2B5EF4-FFF2-40B4-BE49-F238E27FC236}">
                <a16:creationId xmlns:a16="http://schemas.microsoft.com/office/drawing/2014/main" id="{FF4567B9-B415-E3EA-74A3-BDE25E664564}"/>
              </a:ext>
            </a:extLst>
          </p:cNvPr>
          <p:cNvSpPr txBox="1"/>
          <p:nvPr/>
        </p:nvSpPr>
        <p:spPr>
          <a:xfrm>
            <a:off x="9547913" y="6408935"/>
            <a:ext cx="2524210" cy="276999"/>
          </a:xfrm>
          <a:prstGeom prst="rect">
            <a:avLst/>
          </a:prstGeom>
          <a:noFill/>
        </p:spPr>
        <p:txBody>
          <a:bodyPr wrap="square">
            <a:spAutoFit/>
          </a:bodyPr>
          <a:lstStyle/>
          <a:p>
            <a:r>
              <a:rPr lang="en-US" sz="1200" dirty="0">
                <a:solidFill>
                  <a:srgbClr val="002060"/>
                </a:solidFill>
                <a:latin typeface="Cooper Black" panose="0208090404030B020404" pitchFamily="18" charset="0"/>
              </a:rPr>
              <a:t>www.anubhavtrainings.com</a:t>
            </a:r>
            <a:endParaRPr lang="en-IN" sz="1200" dirty="0">
              <a:solidFill>
                <a:srgbClr val="002060"/>
              </a:solidFill>
              <a:latin typeface="Cooper Black" panose="0208090404030B020404" pitchFamily="18" charset="0"/>
            </a:endParaRPr>
          </a:p>
        </p:txBody>
      </p:sp>
      <p:pic>
        <p:nvPicPr>
          <p:cNvPr id="5" name="Picture 4">
            <a:extLst>
              <a:ext uri="{FF2B5EF4-FFF2-40B4-BE49-F238E27FC236}">
                <a16:creationId xmlns:a16="http://schemas.microsoft.com/office/drawing/2014/main" id="{0568914C-D196-17EA-360B-38C77AAB22DC}"/>
              </a:ext>
            </a:extLst>
          </p:cNvPr>
          <p:cNvPicPr>
            <a:picLocks noChangeAspect="1"/>
          </p:cNvPicPr>
          <p:nvPr/>
        </p:nvPicPr>
        <p:blipFill>
          <a:blip r:embed="rId2"/>
          <a:stretch>
            <a:fillRect/>
          </a:stretch>
        </p:blipFill>
        <p:spPr>
          <a:xfrm>
            <a:off x="11691526" y="71244"/>
            <a:ext cx="456414" cy="450803"/>
          </a:xfrm>
          <a:prstGeom prst="rect">
            <a:avLst/>
          </a:prstGeom>
        </p:spPr>
      </p:pic>
      <p:sp>
        <p:nvSpPr>
          <p:cNvPr id="6" name="TextBox 5">
            <a:extLst>
              <a:ext uri="{FF2B5EF4-FFF2-40B4-BE49-F238E27FC236}">
                <a16:creationId xmlns:a16="http://schemas.microsoft.com/office/drawing/2014/main" id="{B781EE5C-AE52-201C-5620-0408424ABFED}"/>
              </a:ext>
            </a:extLst>
          </p:cNvPr>
          <p:cNvSpPr txBox="1"/>
          <p:nvPr/>
        </p:nvSpPr>
        <p:spPr>
          <a:xfrm>
            <a:off x="116701" y="6559466"/>
            <a:ext cx="223678" cy="253916"/>
          </a:xfrm>
          <a:prstGeom prst="rect">
            <a:avLst/>
          </a:prstGeom>
          <a:noFill/>
        </p:spPr>
        <p:txBody>
          <a:bodyPr wrap="square" rtlCol="0">
            <a:spAutoFit/>
          </a:bodyPr>
          <a:lstStyle/>
          <a:p>
            <a:r>
              <a:rPr lang="en-US" sz="1050" dirty="0"/>
              <a:t>7</a:t>
            </a:r>
            <a:endParaRPr lang="en-IN" sz="1050" dirty="0"/>
          </a:p>
        </p:txBody>
      </p:sp>
    </p:spTree>
    <p:extLst>
      <p:ext uri="{BB962C8B-B14F-4D97-AF65-F5344CB8AC3E}">
        <p14:creationId xmlns:p14="http://schemas.microsoft.com/office/powerpoint/2010/main" val="12106260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7299-B43C-54C9-FDB7-AEF7F474BBB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FC7E5CF-0C7F-4D32-DC57-041731ABDA84}"/>
              </a:ext>
            </a:extLst>
          </p:cNvPr>
          <p:cNvSpPr txBox="1">
            <a:spLocks/>
          </p:cNvSpPr>
          <p:nvPr/>
        </p:nvSpPr>
        <p:spPr>
          <a:xfrm>
            <a:off x="141079" y="141370"/>
            <a:ext cx="11137885" cy="513697"/>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99" dirty="0">
                <a:latin typeface="Cooper Black" panose="0208090404030B020404" pitchFamily="18" charset="0"/>
                <a:cs typeface="Times New Roman" panose="02020603050405020304" pitchFamily="18" charset="0"/>
              </a:rPr>
              <a:t>VDM</a:t>
            </a:r>
            <a:endParaRPr lang="en-IN" sz="3199" dirty="0">
              <a:latin typeface="Cooper Black" panose="0208090404030B0204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F4567B9-B415-E3EA-74A3-BDE25E664564}"/>
              </a:ext>
            </a:extLst>
          </p:cNvPr>
          <p:cNvSpPr txBox="1"/>
          <p:nvPr/>
        </p:nvSpPr>
        <p:spPr>
          <a:xfrm>
            <a:off x="9547913" y="6408935"/>
            <a:ext cx="2524210" cy="276999"/>
          </a:xfrm>
          <a:prstGeom prst="rect">
            <a:avLst/>
          </a:prstGeom>
          <a:noFill/>
        </p:spPr>
        <p:txBody>
          <a:bodyPr wrap="square">
            <a:spAutoFit/>
          </a:bodyPr>
          <a:lstStyle/>
          <a:p>
            <a:r>
              <a:rPr lang="en-US" sz="1200" dirty="0">
                <a:solidFill>
                  <a:srgbClr val="002060"/>
                </a:solidFill>
                <a:latin typeface="Cooper Black" panose="0208090404030B020404" pitchFamily="18" charset="0"/>
              </a:rPr>
              <a:t>www.anubhavtrainings.com</a:t>
            </a:r>
            <a:endParaRPr lang="en-IN" sz="1200" dirty="0">
              <a:solidFill>
                <a:srgbClr val="002060"/>
              </a:solidFill>
              <a:latin typeface="Cooper Black" panose="0208090404030B020404" pitchFamily="18" charset="0"/>
            </a:endParaRPr>
          </a:p>
        </p:txBody>
      </p:sp>
      <p:pic>
        <p:nvPicPr>
          <p:cNvPr id="5" name="Picture 4">
            <a:extLst>
              <a:ext uri="{FF2B5EF4-FFF2-40B4-BE49-F238E27FC236}">
                <a16:creationId xmlns:a16="http://schemas.microsoft.com/office/drawing/2014/main" id="{0568914C-D196-17EA-360B-38C77AAB22DC}"/>
              </a:ext>
            </a:extLst>
          </p:cNvPr>
          <p:cNvPicPr>
            <a:picLocks noChangeAspect="1"/>
          </p:cNvPicPr>
          <p:nvPr/>
        </p:nvPicPr>
        <p:blipFill>
          <a:blip r:embed="rId2"/>
          <a:stretch>
            <a:fillRect/>
          </a:stretch>
        </p:blipFill>
        <p:spPr>
          <a:xfrm>
            <a:off x="11691526" y="71244"/>
            <a:ext cx="456414" cy="450803"/>
          </a:xfrm>
          <a:prstGeom prst="rect">
            <a:avLst/>
          </a:prstGeom>
        </p:spPr>
      </p:pic>
      <p:sp>
        <p:nvSpPr>
          <p:cNvPr id="7" name="Rectangle 6">
            <a:extLst>
              <a:ext uri="{FF2B5EF4-FFF2-40B4-BE49-F238E27FC236}">
                <a16:creationId xmlns:a16="http://schemas.microsoft.com/office/drawing/2014/main" id="{A0DB6BD9-BE3B-053B-5191-03883CF68151}"/>
              </a:ext>
            </a:extLst>
          </p:cNvPr>
          <p:cNvSpPr/>
          <p:nvPr/>
        </p:nvSpPr>
        <p:spPr>
          <a:xfrm>
            <a:off x="189756" y="764704"/>
            <a:ext cx="3168352" cy="86409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a:solidFill>
                  <a:schemeClr val="tx1"/>
                </a:solidFill>
                <a:latin typeface="Amasis MT Pro Black" panose="02040A04050005020304" pitchFamily="18" charset="0"/>
              </a:rPr>
              <a:t>Private Views</a:t>
            </a:r>
          </a:p>
        </p:txBody>
      </p:sp>
      <p:sp>
        <p:nvSpPr>
          <p:cNvPr id="8" name="Rectangle 7">
            <a:extLst>
              <a:ext uri="{FF2B5EF4-FFF2-40B4-BE49-F238E27FC236}">
                <a16:creationId xmlns:a16="http://schemas.microsoft.com/office/drawing/2014/main" id="{108E6E7C-A657-E0DD-886B-ED9BED4443C7}"/>
              </a:ext>
            </a:extLst>
          </p:cNvPr>
          <p:cNvSpPr/>
          <p:nvPr/>
        </p:nvSpPr>
        <p:spPr>
          <a:xfrm>
            <a:off x="4258208" y="135454"/>
            <a:ext cx="3168352" cy="86409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a:solidFill>
                  <a:schemeClr val="tx1"/>
                </a:solidFill>
                <a:latin typeface="Amasis MT Pro Black" panose="02040A04050005020304" pitchFamily="18" charset="0"/>
              </a:rPr>
              <a:t>Interface Views</a:t>
            </a:r>
          </a:p>
        </p:txBody>
      </p:sp>
      <p:sp>
        <p:nvSpPr>
          <p:cNvPr id="9" name="Rectangle 8">
            <a:extLst>
              <a:ext uri="{FF2B5EF4-FFF2-40B4-BE49-F238E27FC236}">
                <a16:creationId xmlns:a16="http://schemas.microsoft.com/office/drawing/2014/main" id="{08361255-4363-05E7-4B3C-4752D1717DDA}"/>
              </a:ext>
            </a:extLst>
          </p:cNvPr>
          <p:cNvSpPr/>
          <p:nvPr/>
        </p:nvSpPr>
        <p:spPr>
          <a:xfrm>
            <a:off x="8326660" y="764704"/>
            <a:ext cx="3168352" cy="86409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a:solidFill>
                  <a:schemeClr val="tx1"/>
                </a:solidFill>
                <a:latin typeface="Amasis MT Pro Black" panose="02040A04050005020304" pitchFamily="18" charset="0"/>
              </a:rPr>
              <a:t>Consumption views</a:t>
            </a:r>
          </a:p>
        </p:txBody>
      </p:sp>
      <p:sp>
        <p:nvSpPr>
          <p:cNvPr id="10" name="Rectangle 9">
            <a:extLst>
              <a:ext uri="{FF2B5EF4-FFF2-40B4-BE49-F238E27FC236}">
                <a16:creationId xmlns:a16="http://schemas.microsoft.com/office/drawing/2014/main" id="{65E24374-BD22-F1E6-5607-0773BB1BE073}"/>
              </a:ext>
            </a:extLst>
          </p:cNvPr>
          <p:cNvSpPr/>
          <p:nvPr/>
        </p:nvSpPr>
        <p:spPr>
          <a:xfrm>
            <a:off x="4030759" y="1194767"/>
            <a:ext cx="1584176" cy="58010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a:solidFill>
                  <a:schemeClr val="tx1"/>
                </a:solidFill>
                <a:latin typeface="Amasis MT Pro Black" panose="02040A04050005020304" pitchFamily="18" charset="0"/>
              </a:rPr>
              <a:t>Basic</a:t>
            </a:r>
          </a:p>
        </p:txBody>
      </p:sp>
      <p:sp>
        <p:nvSpPr>
          <p:cNvPr id="11" name="Rectangle 10">
            <a:extLst>
              <a:ext uri="{FF2B5EF4-FFF2-40B4-BE49-F238E27FC236}">
                <a16:creationId xmlns:a16="http://schemas.microsoft.com/office/drawing/2014/main" id="{2E1BF836-A9C7-7623-3E54-42B2901E52B7}"/>
              </a:ext>
            </a:extLst>
          </p:cNvPr>
          <p:cNvSpPr/>
          <p:nvPr/>
        </p:nvSpPr>
        <p:spPr>
          <a:xfrm>
            <a:off x="5847344" y="1194767"/>
            <a:ext cx="1872208" cy="58010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a:solidFill>
                  <a:schemeClr val="tx1"/>
                </a:solidFill>
                <a:latin typeface="Amasis MT Pro Black" panose="02040A04050005020304" pitchFamily="18" charset="0"/>
              </a:rPr>
              <a:t>Composite</a:t>
            </a:r>
          </a:p>
        </p:txBody>
      </p:sp>
      <p:cxnSp>
        <p:nvCxnSpPr>
          <p:cNvPr id="13" name="Straight Connector 12">
            <a:extLst>
              <a:ext uri="{FF2B5EF4-FFF2-40B4-BE49-F238E27FC236}">
                <a16:creationId xmlns:a16="http://schemas.microsoft.com/office/drawing/2014/main" id="{4FEC33BE-B901-F3C1-638F-905CF9127679}"/>
              </a:ext>
            </a:extLst>
          </p:cNvPr>
          <p:cNvCxnSpPr/>
          <p:nvPr/>
        </p:nvCxnSpPr>
        <p:spPr>
          <a:xfrm>
            <a:off x="3718148" y="386186"/>
            <a:ext cx="0" cy="6161248"/>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Straight Connector 13">
            <a:extLst>
              <a:ext uri="{FF2B5EF4-FFF2-40B4-BE49-F238E27FC236}">
                <a16:creationId xmlns:a16="http://schemas.microsoft.com/office/drawing/2014/main" id="{187E8293-0B0B-7C52-166D-A21A69784627}"/>
              </a:ext>
            </a:extLst>
          </p:cNvPr>
          <p:cNvCxnSpPr/>
          <p:nvPr/>
        </p:nvCxnSpPr>
        <p:spPr>
          <a:xfrm>
            <a:off x="8038628" y="247687"/>
            <a:ext cx="0" cy="6161248"/>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5" name="TextBox 14">
            <a:extLst>
              <a:ext uri="{FF2B5EF4-FFF2-40B4-BE49-F238E27FC236}">
                <a16:creationId xmlns:a16="http://schemas.microsoft.com/office/drawing/2014/main" id="{55FF4776-3CB7-22D7-7B98-ACFF5B632D7B}"/>
              </a:ext>
            </a:extLst>
          </p:cNvPr>
          <p:cNvSpPr txBox="1"/>
          <p:nvPr/>
        </p:nvSpPr>
        <p:spPr>
          <a:xfrm>
            <a:off x="189756" y="1916832"/>
            <a:ext cx="3312368" cy="3046988"/>
          </a:xfrm>
          <a:prstGeom prst="rect">
            <a:avLst/>
          </a:prstGeom>
          <a:noFill/>
        </p:spPr>
        <p:txBody>
          <a:bodyPr wrap="square" rtlCol="0">
            <a:spAutoFit/>
          </a:bodyPr>
          <a:lstStyle/>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Starts with P_</a:t>
            </a:r>
          </a:p>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We should never use this view to build a View on View</a:t>
            </a:r>
          </a:p>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We should never reuse this view</a:t>
            </a:r>
          </a:p>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Because a developer who created is trying to convey that, this view contract can change anytime</a:t>
            </a:r>
          </a:p>
          <a:p>
            <a:pPr marL="342900" indent="-342900">
              <a:buFont typeface="Arial" panose="020B0604020202020204" pitchFamily="34" charset="0"/>
              <a:buChar char="•"/>
            </a:pPr>
            <a:r>
              <a:rPr lang="en-IN" sz="1600" b="1" dirty="0">
                <a:latin typeface="72 Monospace" panose="020B0509030603020204" pitchFamily="49" charset="0"/>
                <a:cs typeface="72 Monospace" panose="020B0509030603020204" pitchFamily="49" charset="0"/>
              </a:rPr>
              <a:t>@VDM.private: true</a:t>
            </a:r>
          </a:p>
        </p:txBody>
      </p:sp>
      <p:sp>
        <p:nvSpPr>
          <p:cNvPr id="91" name="TextBox 90">
            <a:extLst>
              <a:ext uri="{FF2B5EF4-FFF2-40B4-BE49-F238E27FC236}">
                <a16:creationId xmlns:a16="http://schemas.microsoft.com/office/drawing/2014/main" id="{5ED5404F-FBFB-1127-A447-C5BB1D73190A}"/>
              </a:ext>
            </a:extLst>
          </p:cNvPr>
          <p:cNvSpPr txBox="1"/>
          <p:nvPr/>
        </p:nvSpPr>
        <p:spPr>
          <a:xfrm>
            <a:off x="3876267" y="1968548"/>
            <a:ext cx="4018341" cy="4278094"/>
          </a:xfrm>
          <a:prstGeom prst="rect">
            <a:avLst/>
          </a:prstGeom>
          <a:noFill/>
        </p:spPr>
        <p:txBody>
          <a:bodyPr wrap="square" rtlCol="0">
            <a:spAutoFit/>
          </a:bodyPr>
          <a:lstStyle/>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Starts with I_</a:t>
            </a:r>
          </a:p>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They are actually used for Reuse purpose. You can freely use them in your own views.</a:t>
            </a:r>
          </a:p>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SAP delivers standard Interface views</a:t>
            </a:r>
          </a:p>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These views are built on top of I, P, or tables</a:t>
            </a:r>
          </a:p>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Basic interface view is solely created using Pure master, Pure Transaction data, </a:t>
            </a:r>
            <a:r>
              <a:rPr lang="en-IN" sz="1600" b="1" dirty="0">
                <a:latin typeface="72 Monospace" panose="020B0509030603020204" pitchFamily="49" charset="0"/>
                <a:cs typeface="72 Monospace" panose="020B0509030603020204" pitchFamily="49" charset="0"/>
              </a:rPr>
              <a:t>@VDM.viewType: #BASIC</a:t>
            </a:r>
            <a:endParaRPr lang="en-IN" sz="1600" dirty="0">
              <a:latin typeface="72 Monospace" panose="020B0509030603020204" pitchFamily="49" charset="0"/>
              <a:cs typeface="72 Monospace" panose="020B0509030603020204" pitchFamily="49" charset="0"/>
            </a:endParaRPr>
          </a:p>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Composite view is combination of master and transaction data</a:t>
            </a:r>
          </a:p>
          <a:p>
            <a:r>
              <a:rPr lang="en-IN" sz="1600" b="1" dirty="0">
                <a:latin typeface="72 Monospace" panose="020B0509030603020204" pitchFamily="49" charset="0"/>
                <a:cs typeface="72 Monospace" panose="020B0509030603020204" pitchFamily="49" charset="0"/>
              </a:rPr>
              <a:t>   @VDM.viewType: #COMPOSITE</a:t>
            </a:r>
            <a:endParaRPr lang="en-IN" sz="1600" dirty="0">
              <a:latin typeface="72 Monospace" panose="020B0509030603020204" pitchFamily="49" charset="0"/>
              <a:cs typeface="72 Monospace" panose="020B0509030603020204" pitchFamily="49" charset="0"/>
            </a:endParaRPr>
          </a:p>
        </p:txBody>
      </p:sp>
      <p:sp>
        <p:nvSpPr>
          <p:cNvPr id="92" name="TextBox 91">
            <a:extLst>
              <a:ext uri="{FF2B5EF4-FFF2-40B4-BE49-F238E27FC236}">
                <a16:creationId xmlns:a16="http://schemas.microsoft.com/office/drawing/2014/main" id="{C126234D-60B3-00B9-BDDE-ECF62B746D4A}"/>
              </a:ext>
            </a:extLst>
          </p:cNvPr>
          <p:cNvSpPr txBox="1"/>
          <p:nvPr/>
        </p:nvSpPr>
        <p:spPr>
          <a:xfrm>
            <a:off x="8170484" y="1818618"/>
            <a:ext cx="4018341" cy="3293209"/>
          </a:xfrm>
          <a:prstGeom prst="rect">
            <a:avLst/>
          </a:prstGeom>
          <a:noFill/>
        </p:spPr>
        <p:txBody>
          <a:bodyPr wrap="square" rtlCol="0">
            <a:spAutoFit/>
          </a:bodyPr>
          <a:lstStyle/>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Starts with C_</a:t>
            </a:r>
          </a:p>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Are mainly used for final consumption in Analytic tools, or Apps</a:t>
            </a:r>
          </a:p>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SAP deliver 100s of consumption views which become the backbone for S/4HANA embedded analytics</a:t>
            </a:r>
          </a:p>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Consumption view is built on top of I views</a:t>
            </a:r>
          </a:p>
          <a:p>
            <a:pPr marL="342900" indent="-342900">
              <a:buFont typeface="Arial" panose="020B0604020202020204" pitchFamily="34" charset="0"/>
              <a:buChar char="•"/>
            </a:pPr>
            <a:r>
              <a:rPr lang="en-IN" sz="1600" dirty="0">
                <a:latin typeface="72 Monospace" panose="020B0509030603020204" pitchFamily="49" charset="0"/>
                <a:cs typeface="72 Monospace" panose="020B0509030603020204" pitchFamily="49" charset="0"/>
              </a:rPr>
              <a:t>We also control authorization or </a:t>
            </a:r>
            <a:r>
              <a:rPr lang="en-IN" sz="1600" dirty="0" err="1">
                <a:latin typeface="72 Monospace" panose="020B0509030603020204" pitchFamily="49" charset="0"/>
                <a:cs typeface="72 Monospace" panose="020B0509030603020204" pitchFamily="49" charset="0"/>
              </a:rPr>
              <a:t>odata</a:t>
            </a:r>
            <a:endParaRPr lang="en-IN" sz="1600" dirty="0">
              <a:latin typeface="72 Monospace" panose="020B0509030603020204" pitchFamily="49" charset="0"/>
              <a:cs typeface="72 Monospace" panose="020B0509030603020204" pitchFamily="49" charset="0"/>
            </a:endParaRPr>
          </a:p>
          <a:p>
            <a:pPr marL="342900" indent="-342900">
              <a:buFont typeface="Arial" panose="020B0604020202020204" pitchFamily="34" charset="0"/>
              <a:buChar char="•"/>
            </a:pPr>
            <a:r>
              <a:rPr lang="en-IN" sz="1600" b="1" dirty="0">
                <a:latin typeface="72 Monospace" panose="020B0509030603020204" pitchFamily="49" charset="0"/>
                <a:cs typeface="72 Monospace" panose="020B0509030603020204" pitchFamily="49" charset="0"/>
              </a:rPr>
              <a:t>@VDM.viewType: #CONSUMPTION</a:t>
            </a:r>
          </a:p>
        </p:txBody>
      </p:sp>
    </p:spTree>
    <p:extLst>
      <p:ext uri="{BB962C8B-B14F-4D97-AF65-F5344CB8AC3E}">
        <p14:creationId xmlns:p14="http://schemas.microsoft.com/office/powerpoint/2010/main" val="377700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7299-B43C-54C9-FDB7-AEF7F474BBB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FC7E5CF-0C7F-4D32-DC57-041731ABDA84}"/>
              </a:ext>
            </a:extLst>
          </p:cNvPr>
          <p:cNvSpPr txBox="1">
            <a:spLocks/>
          </p:cNvSpPr>
          <p:nvPr/>
        </p:nvSpPr>
        <p:spPr>
          <a:xfrm>
            <a:off x="141079" y="141370"/>
            <a:ext cx="11137885" cy="513697"/>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99" dirty="0">
                <a:latin typeface="Cooper Black" panose="0208090404030B020404" pitchFamily="18" charset="0"/>
                <a:cs typeface="Times New Roman" panose="02020603050405020304" pitchFamily="18" charset="0"/>
              </a:rPr>
              <a:t>Design process</a:t>
            </a:r>
            <a:endParaRPr lang="en-IN" sz="3199" dirty="0">
              <a:latin typeface="Cooper Black" panose="0208090404030B0204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F4567B9-B415-E3EA-74A3-BDE25E664564}"/>
              </a:ext>
            </a:extLst>
          </p:cNvPr>
          <p:cNvSpPr txBox="1"/>
          <p:nvPr/>
        </p:nvSpPr>
        <p:spPr>
          <a:xfrm>
            <a:off x="9547913" y="6408935"/>
            <a:ext cx="2524210" cy="276999"/>
          </a:xfrm>
          <a:prstGeom prst="rect">
            <a:avLst/>
          </a:prstGeom>
          <a:noFill/>
        </p:spPr>
        <p:txBody>
          <a:bodyPr wrap="square">
            <a:spAutoFit/>
          </a:bodyPr>
          <a:lstStyle/>
          <a:p>
            <a:r>
              <a:rPr lang="en-US" sz="1200" dirty="0">
                <a:solidFill>
                  <a:srgbClr val="002060"/>
                </a:solidFill>
                <a:latin typeface="Cooper Black" panose="0208090404030B020404" pitchFamily="18" charset="0"/>
              </a:rPr>
              <a:t>www.anubhavtrainings.com</a:t>
            </a:r>
            <a:endParaRPr lang="en-IN" sz="1200" dirty="0">
              <a:solidFill>
                <a:srgbClr val="002060"/>
              </a:solidFill>
              <a:latin typeface="Cooper Black" panose="0208090404030B020404" pitchFamily="18" charset="0"/>
            </a:endParaRPr>
          </a:p>
        </p:txBody>
      </p:sp>
      <p:pic>
        <p:nvPicPr>
          <p:cNvPr id="5" name="Picture 4">
            <a:extLst>
              <a:ext uri="{FF2B5EF4-FFF2-40B4-BE49-F238E27FC236}">
                <a16:creationId xmlns:a16="http://schemas.microsoft.com/office/drawing/2014/main" id="{0568914C-D196-17EA-360B-38C77AAB22DC}"/>
              </a:ext>
            </a:extLst>
          </p:cNvPr>
          <p:cNvPicPr>
            <a:picLocks noChangeAspect="1"/>
          </p:cNvPicPr>
          <p:nvPr/>
        </p:nvPicPr>
        <p:blipFill>
          <a:blip r:embed="rId2"/>
          <a:stretch>
            <a:fillRect/>
          </a:stretch>
        </p:blipFill>
        <p:spPr>
          <a:xfrm>
            <a:off x="11691526" y="71244"/>
            <a:ext cx="456414" cy="450803"/>
          </a:xfrm>
          <a:prstGeom prst="rect">
            <a:avLst/>
          </a:prstGeom>
        </p:spPr>
      </p:pic>
      <p:sp>
        <p:nvSpPr>
          <p:cNvPr id="6" name="TextBox 5">
            <a:extLst>
              <a:ext uri="{FF2B5EF4-FFF2-40B4-BE49-F238E27FC236}">
                <a16:creationId xmlns:a16="http://schemas.microsoft.com/office/drawing/2014/main" id="{B781EE5C-AE52-201C-5620-0408424ABFED}"/>
              </a:ext>
            </a:extLst>
          </p:cNvPr>
          <p:cNvSpPr txBox="1"/>
          <p:nvPr/>
        </p:nvSpPr>
        <p:spPr>
          <a:xfrm>
            <a:off x="116701" y="6559466"/>
            <a:ext cx="223678" cy="253916"/>
          </a:xfrm>
          <a:prstGeom prst="rect">
            <a:avLst/>
          </a:prstGeom>
          <a:noFill/>
        </p:spPr>
        <p:txBody>
          <a:bodyPr wrap="square" rtlCol="0">
            <a:spAutoFit/>
          </a:bodyPr>
          <a:lstStyle/>
          <a:p>
            <a:r>
              <a:rPr lang="en-US" sz="1050" dirty="0"/>
              <a:t>7</a:t>
            </a:r>
            <a:endParaRPr lang="en-IN" sz="1050" dirty="0"/>
          </a:p>
        </p:txBody>
      </p:sp>
      <p:sp>
        <p:nvSpPr>
          <p:cNvPr id="7" name="Rectangle: Rounded Corners 6">
            <a:extLst>
              <a:ext uri="{FF2B5EF4-FFF2-40B4-BE49-F238E27FC236}">
                <a16:creationId xmlns:a16="http://schemas.microsoft.com/office/drawing/2014/main" id="{67D170BF-EF01-68A3-C1EE-F1108F2E6D0E}"/>
              </a:ext>
            </a:extLst>
          </p:cNvPr>
          <p:cNvSpPr/>
          <p:nvPr/>
        </p:nvSpPr>
        <p:spPr>
          <a:xfrm>
            <a:off x="189756" y="5877272"/>
            <a:ext cx="1800200" cy="531663"/>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sz="1600" dirty="0">
                <a:latin typeface="72 Monospace" panose="020B0509030603020204" pitchFamily="49" charset="0"/>
                <a:cs typeface="72 Monospace" panose="020B0509030603020204" pitchFamily="49" charset="0"/>
              </a:rPr>
              <a:t>Table</a:t>
            </a:r>
          </a:p>
        </p:txBody>
      </p:sp>
      <p:sp>
        <p:nvSpPr>
          <p:cNvPr id="8" name="Rectangle: Rounded Corners 7">
            <a:extLst>
              <a:ext uri="{FF2B5EF4-FFF2-40B4-BE49-F238E27FC236}">
                <a16:creationId xmlns:a16="http://schemas.microsoft.com/office/drawing/2014/main" id="{FF1B3CE3-5B97-D5D5-4577-23B04ABFDAFE}"/>
              </a:ext>
            </a:extLst>
          </p:cNvPr>
          <p:cNvSpPr/>
          <p:nvPr/>
        </p:nvSpPr>
        <p:spPr>
          <a:xfrm>
            <a:off x="2212340" y="5877272"/>
            <a:ext cx="1800200" cy="531663"/>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sz="1600" dirty="0">
                <a:latin typeface="72 Monospace" panose="020B0509030603020204" pitchFamily="49" charset="0"/>
                <a:cs typeface="72 Monospace" panose="020B0509030603020204" pitchFamily="49" charset="0"/>
              </a:rPr>
              <a:t>Table</a:t>
            </a:r>
          </a:p>
        </p:txBody>
      </p:sp>
      <p:sp>
        <p:nvSpPr>
          <p:cNvPr id="9" name="Rectangle: Rounded Corners 8">
            <a:extLst>
              <a:ext uri="{FF2B5EF4-FFF2-40B4-BE49-F238E27FC236}">
                <a16:creationId xmlns:a16="http://schemas.microsoft.com/office/drawing/2014/main" id="{161B7DD9-E70C-5CC7-5E75-1CCEB1E8E89A}"/>
              </a:ext>
            </a:extLst>
          </p:cNvPr>
          <p:cNvSpPr/>
          <p:nvPr/>
        </p:nvSpPr>
        <p:spPr>
          <a:xfrm>
            <a:off x="4234924" y="5877271"/>
            <a:ext cx="1800200" cy="531663"/>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sz="1600" dirty="0">
                <a:latin typeface="72 Monospace" panose="020B0509030603020204" pitchFamily="49" charset="0"/>
                <a:cs typeface="72 Monospace" panose="020B0509030603020204" pitchFamily="49" charset="0"/>
              </a:rPr>
              <a:t>Table</a:t>
            </a:r>
          </a:p>
        </p:txBody>
      </p:sp>
      <p:sp>
        <p:nvSpPr>
          <p:cNvPr id="10" name="Rectangle: Rounded Corners 9">
            <a:extLst>
              <a:ext uri="{FF2B5EF4-FFF2-40B4-BE49-F238E27FC236}">
                <a16:creationId xmlns:a16="http://schemas.microsoft.com/office/drawing/2014/main" id="{FAD60461-9804-710F-D9B9-E2D96DB66C2C}"/>
              </a:ext>
            </a:extLst>
          </p:cNvPr>
          <p:cNvSpPr/>
          <p:nvPr/>
        </p:nvSpPr>
        <p:spPr>
          <a:xfrm>
            <a:off x="6169207" y="5877270"/>
            <a:ext cx="1800200" cy="531663"/>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sz="1600" dirty="0">
                <a:latin typeface="72 Monospace" panose="020B0509030603020204" pitchFamily="49" charset="0"/>
                <a:cs typeface="72 Monospace" panose="020B0509030603020204" pitchFamily="49" charset="0"/>
              </a:rPr>
              <a:t>Table</a:t>
            </a:r>
          </a:p>
        </p:txBody>
      </p:sp>
      <p:sp>
        <p:nvSpPr>
          <p:cNvPr id="11" name="Rectangle: Rounded Corners 10">
            <a:extLst>
              <a:ext uri="{FF2B5EF4-FFF2-40B4-BE49-F238E27FC236}">
                <a16:creationId xmlns:a16="http://schemas.microsoft.com/office/drawing/2014/main" id="{3A554175-FF0F-3E3A-C5EF-4548EF788A08}"/>
              </a:ext>
            </a:extLst>
          </p:cNvPr>
          <p:cNvSpPr/>
          <p:nvPr/>
        </p:nvSpPr>
        <p:spPr>
          <a:xfrm>
            <a:off x="8167608" y="5877269"/>
            <a:ext cx="1800200" cy="531663"/>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sz="1600" dirty="0">
                <a:latin typeface="72 Monospace" panose="020B0509030603020204" pitchFamily="49" charset="0"/>
                <a:cs typeface="72 Monospace" panose="020B0509030603020204" pitchFamily="49" charset="0"/>
              </a:rPr>
              <a:t>Table</a:t>
            </a:r>
          </a:p>
        </p:txBody>
      </p:sp>
      <p:sp>
        <p:nvSpPr>
          <p:cNvPr id="12" name="Rectangle: Rounded Corners 11">
            <a:extLst>
              <a:ext uri="{FF2B5EF4-FFF2-40B4-BE49-F238E27FC236}">
                <a16:creationId xmlns:a16="http://schemas.microsoft.com/office/drawing/2014/main" id="{700BF7F0-809C-977C-B02F-2130AB617250}"/>
              </a:ext>
            </a:extLst>
          </p:cNvPr>
          <p:cNvSpPr/>
          <p:nvPr/>
        </p:nvSpPr>
        <p:spPr>
          <a:xfrm>
            <a:off x="10198869" y="5877269"/>
            <a:ext cx="1800200" cy="531663"/>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sz="1600" dirty="0">
                <a:latin typeface="72 Monospace" panose="020B0509030603020204" pitchFamily="49" charset="0"/>
                <a:cs typeface="72 Monospace" panose="020B0509030603020204" pitchFamily="49" charset="0"/>
              </a:rPr>
              <a:t>Table</a:t>
            </a:r>
          </a:p>
        </p:txBody>
      </p:sp>
      <p:sp>
        <p:nvSpPr>
          <p:cNvPr id="13" name="Rectangle: Rounded Corners 12">
            <a:extLst>
              <a:ext uri="{FF2B5EF4-FFF2-40B4-BE49-F238E27FC236}">
                <a16:creationId xmlns:a16="http://schemas.microsoft.com/office/drawing/2014/main" id="{492A1D7A-1C30-0F25-CA99-41A8C911ACCB}"/>
              </a:ext>
            </a:extLst>
          </p:cNvPr>
          <p:cNvSpPr/>
          <p:nvPr/>
        </p:nvSpPr>
        <p:spPr>
          <a:xfrm>
            <a:off x="772179" y="4964909"/>
            <a:ext cx="2340260" cy="531663"/>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Private views</a:t>
            </a:r>
          </a:p>
        </p:txBody>
      </p:sp>
      <p:sp>
        <p:nvSpPr>
          <p:cNvPr id="14" name="Rectangle: Rounded Corners 13">
            <a:extLst>
              <a:ext uri="{FF2B5EF4-FFF2-40B4-BE49-F238E27FC236}">
                <a16:creationId xmlns:a16="http://schemas.microsoft.com/office/drawing/2014/main" id="{A2210CBC-D8DE-0211-38AD-E6FCDB52DDB8}"/>
              </a:ext>
            </a:extLst>
          </p:cNvPr>
          <p:cNvSpPr/>
          <p:nvPr/>
        </p:nvSpPr>
        <p:spPr>
          <a:xfrm>
            <a:off x="4438228" y="5013176"/>
            <a:ext cx="2340260" cy="531663"/>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Private views</a:t>
            </a:r>
          </a:p>
        </p:txBody>
      </p:sp>
      <p:sp>
        <p:nvSpPr>
          <p:cNvPr id="15" name="Rectangle: Rounded Corners 14">
            <a:extLst>
              <a:ext uri="{FF2B5EF4-FFF2-40B4-BE49-F238E27FC236}">
                <a16:creationId xmlns:a16="http://schemas.microsoft.com/office/drawing/2014/main" id="{FEE7ACD4-7CAF-7D6B-0744-C78D38851968}"/>
              </a:ext>
            </a:extLst>
          </p:cNvPr>
          <p:cNvSpPr/>
          <p:nvPr/>
        </p:nvSpPr>
        <p:spPr>
          <a:xfrm>
            <a:off x="819826" y="4043999"/>
            <a:ext cx="2340260" cy="531663"/>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Basic Inf.</a:t>
            </a:r>
          </a:p>
        </p:txBody>
      </p:sp>
      <p:sp>
        <p:nvSpPr>
          <p:cNvPr id="16" name="Rectangle: Rounded Corners 15">
            <a:extLst>
              <a:ext uri="{FF2B5EF4-FFF2-40B4-BE49-F238E27FC236}">
                <a16:creationId xmlns:a16="http://schemas.microsoft.com/office/drawing/2014/main" id="{78D00330-D0B9-9612-09D9-8E970FE45059}"/>
              </a:ext>
            </a:extLst>
          </p:cNvPr>
          <p:cNvSpPr/>
          <p:nvPr/>
        </p:nvSpPr>
        <p:spPr>
          <a:xfrm>
            <a:off x="3803159" y="4043998"/>
            <a:ext cx="2340260" cy="531663"/>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Basic Inf.</a:t>
            </a:r>
          </a:p>
        </p:txBody>
      </p:sp>
      <p:sp>
        <p:nvSpPr>
          <p:cNvPr id="17" name="Rectangle: Rounded Corners 16">
            <a:extLst>
              <a:ext uri="{FF2B5EF4-FFF2-40B4-BE49-F238E27FC236}">
                <a16:creationId xmlns:a16="http://schemas.microsoft.com/office/drawing/2014/main" id="{D3DAE51E-5E10-9666-1809-60C07EA78D03}"/>
              </a:ext>
            </a:extLst>
          </p:cNvPr>
          <p:cNvSpPr/>
          <p:nvPr/>
        </p:nvSpPr>
        <p:spPr>
          <a:xfrm>
            <a:off x="6701660" y="4043997"/>
            <a:ext cx="2340260" cy="531663"/>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Basic Inf.</a:t>
            </a:r>
          </a:p>
        </p:txBody>
      </p:sp>
      <p:sp>
        <p:nvSpPr>
          <p:cNvPr id="18" name="Rectangle: Rounded Corners 17">
            <a:extLst>
              <a:ext uri="{FF2B5EF4-FFF2-40B4-BE49-F238E27FC236}">
                <a16:creationId xmlns:a16="http://schemas.microsoft.com/office/drawing/2014/main" id="{A6B3A37B-9C24-5984-747E-AE1A3F4833A7}"/>
              </a:ext>
            </a:extLst>
          </p:cNvPr>
          <p:cNvSpPr/>
          <p:nvPr/>
        </p:nvSpPr>
        <p:spPr>
          <a:xfrm>
            <a:off x="819826" y="4052546"/>
            <a:ext cx="2340260" cy="531663"/>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Basic Inf.</a:t>
            </a:r>
          </a:p>
        </p:txBody>
      </p:sp>
      <p:sp>
        <p:nvSpPr>
          <p:cNvPr id="19" name="Rectangle: Rounded Corners 18">
            <a:extLst>
              <a:ext uri="{FF2B5EF4-FFF2-40B4-BE49-F238E27FC236}">
                <a16:creationId xmlns:a16="http://schemas.microsoft.com/office/drawing/2014/main" id="{2B60528A-FDED-028E-EBBC-976F03C6C2C6}"/>
              </a:ext>
            </a:extLst>
          </p:cNvPr>
          <p:cNvSpPr/>
          <p:nvPr/>
        </p:nvSpPr>
        <p:spPr>
          <a:xfrm>
            <a:off x="3803159" y="4052545"/>
            <a:ext cx="2340260" cy="531663"/>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Basic Inf.</a:t>
            </a:r>
          </a:p>
        </p:txBody>
      </p:sp>
      <p:sp>
        <p:nvSpPr>
          <p:cNvPr id="20" name="Rectangle: Rounded Corners 19">
            <a:extLst>
              <a:ext uri="{FF2B5EF4-FFF2-40B4-BE49-F238E27FC236}">
                <a16:creationId xmlns:a16="http://schemas.microsoft.com/office/drawing/2014/main" id="{362B60F5-EB94-1E29-C60B-72185732E8A2}"/>
              </a:ext>
            </a:extLst>
          </p:cNvPr>
          <p:cNvSpPr/>
          <p:nvPr/>
        </p:nvSpPr>
        <p:spPr>
          <a:xfrm>
            <a:off x="3502124" y="2870076"/>
            <a:ext cx="2340260" cy="531663"/>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Composite Inf.</a:t>
            </a:r>
          </a:p>
        </p:txBody>
      </p:sp>
      <p:sp>
        <p:nvSpPr>
          <p:cNvPr id="21" name="Rectangle: Rounded Corners 20">
            <a:extLst>
              <a:ext uri="{FF2B5EF4-FFF2-40B4-BE49-F238E27FC236}">
                <a16:creationId xmlns:a16="http://schemas.microsoft.com/office/drawing/2014/main" id="{200C0F91-ECD9-F40F-96DC-43D0B938D5A3}"/>
              </a:ext>
            </a:extLst>
          </p:cNvPr>
          <p:cNvSpPr/>
          <p:nvPr/>
        </p:nvSpPr>
        <p:spPr>
          <a:xfrm>
            <a:off x="6485457" y="2870075"/>
            <a:ext cx="2340260" cy="531663"/>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Composite Inf.</a:t>
            </a:r>
          </a:p>
        </p:txBody>
      </p:sp>
      <p:sp>
        <p:nvSpPr>
          <p:cNvPr id="22" name="Rectangle: Rounded Corners 21">
            <a:extLst>
              <a:ext uri="{FF2B5EF4-FFF2-40B4-BE49-F238E27FC236}">
                <a16:creationId xmlns:a16="http://schemas.microsoft.com/office/drawing/2014/main" id="{70A71289-2AF8-CE00-9D2D-25231DD544F7}"/>
              </a:ext>
            </a:extLst>
          </p:cNvPr>
          <p:cNvSpPr/>
          <p:nvPr/>
        </p:nvSpPr>
        <p:spPr>
          <a:xfrm>
            <a:off x="9325478" y="4043997"/>
            <a:ext cx="2340260" cy="531663"/>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Basic Inf.</a:t>
            </a:r>
          </a:p>
        </p:txBody>
      </p:sp>
      <p:sp>
        <p:nvSpPr>
          <p:cNvPr id="24" name="Rectangle: Rounded Corners 23">
            <a:extLst>
              <a:ext uri="{FF2B5EF4-FFF2-40B4-BE49-F238E27FC236}">
                <a16:creationId xmlns:a16="http://schemas.microsoft.com/office/drawing/2014/main" id="{387D0254-0135-ED04-2D04-45CA8F6E8CB6}"/>
              </a:ext>
            </a:extLst>
          </p:cNvPr>
          <p:cNvSpPr/>
          <p:nvPr/>
        </p:nvSpPr>
        <p:spPr>
          <a:xfrm>
            <a:off x="1942310" y="1961985"/>
            <a:ext cx="2340260" cy="531663"/>
          </a:xfrm>
          <a:prstGeom prst="roundRect">
            <a:avLst/>
          </a:prstGeom>
          <a:solidFill>
            <a:schemeClr val="accent5">
              <a:lumMod val="60000"/>
              <a:lumOff val="40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sz="1600" dirty="0"/>
              <a:t>Consumption View</a:t>
            </a:r>
          </a:p>
        </p:txBody>
      </p:sp>
      <p:sp>
        <p:nvSpPr>
          <p:cNvPr id="25" name="Rectangle: Rounded Corners 24">
            <a:extLst>
              <a:ext uri="{FF2B5EF4-FFF2-40B4-BE49-F238E27FC236}">
                <a16:creationId xmlns:a16="http://schemas.microsoft.com/office/drawing/2014/main" id="{DC296509-F55E-129A-DB81-479D3D83D2EA}"/>
              </a:ext>
            </a:extLst>
          </p:cNvPr>
          <p:cNvSpPr/>
          <p:nvPr/>
        </p:nvSpPr>
        <p:spPr>
          <a:xfrm>
            <a:off x="4864994" y="1961985"/>
            <a:ext cx="2340260" cy="531663"/>
          </a:xfrm>
          <a:prstGeom prst="roundRect">
            <a:avLst/>
          </a:prstGeom>
          <a:solidFill>
            <a:schemeClr val="accent5">
              <a:lumMod val="60000"/>
              <a:lumOff val="40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sz="1600" dirty="0"/>
              <a:t>Consumption View</a:t>
            </a:r>
          </a:p>
        </p:txBody>
      </p:sp>
      <p:sp>
        <p:nvSpPr>
          <p:cNvPr id="26" name="Rectangle: Rounded Corners 25">
            <a:extLst>
              <a:ext uri="{FF2B5EF4-FFF2-40B4-BE49-F238E27FC236}">
                <a16:creationId xmlns:a16="http://schemas.microsoft.com/office/drawing/2014/main" id="{9C08F43E-8091-9003-E708-5B07C42F3CE9}"/>
              </a:ext>
            </a:extLst>
          </p:cNvPr>
          <p:cNvSpPr/>
          <p:nvPr/>
        </p:nvSpPr>
        <p:spPr>
          <a:xfrm>
            <a:off x="7969407" y="1961985"/>
            <a:ext cx="2340260" cy="531663"/>
          </a:xfrm>
          <a:prstGeom prst="roundRect">
            <a:avLst/>
          </a:prstGeom>
          <a:solidFill>
            <a:schemeClr val="accent5">
              <a:lumMod val="60000"/>
              <a:lumOff val="40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sz="1600" dirty="0"/>
              <a:t>Consumption View</a:t>
            </a:r>
          </a:p>
        </p:txBody>
      </p:sp>
      <p:cxnSp>
        <p:nvCxnSpPr>
          <p:cNvPr id="28" name="Connector: Elbow 27">
            <a:extLst>
              <a:ext uri="{FF2B5EF4-FFF2-40B4-BE49-F238E27FC236}">
                <a16:creationId xmlns:a16="http://schemas.microsoft.com/office/drawing/2014/main" id="{252FCD06-BAF7-117D-F854-CF8D1045F109}"/>
              </a:ext>
            </a:extLst>
          </p:cNvPr>
          <p:cNvCxnSpPr>
            <a:stCxn id="7" idx="0"/>
            <a:endCxn id="13" idx="2"/>
          </p:cNvCxnSpPr>
          <p:nvPr/>
        </p:nvCxnSpPr>
        <p:spPr>
          <a:xfrm rot="5400000" flipH="1" flipV="1">
            <a:off x="1325732" y="5260696"/>
            <a:ext cx="380700" cy="8524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E411191D-3EEE-1CCF-BE05-CD5DAC326B7D}"/>
              </a:ext>
            </a:extLst>
          </p:cNvPr>
          <p:cNvCxnSpPr>
            <a:stCxn id="8" idx="0"/>
            <a:endCxn id="13" idx="2"/>
          </p:cNvCxnSpPr>
          <p:nvPr/>
        </p:nvCxnSpPr>
        <p:spPr>
          <a:xfrm rot="16200000" flipV="1">
            <a:off x="2337025" y="5101856"/>
            <a:ext cx="380700" cy="117013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C9E2E4B7-C611-E764-F6AF-FC1B11DE3EF1}"/>
              </a:ext>
            </a:extLst>
          </p:cNvPr>
          <p:cNvCxnSpPr>
            <a:stCxn id="9" idx="0"/>
            <a:endCxn id="14" idx="2"/>
          </p:cNvCxnSpPr>
          <p:nvPr/>
        </p:nvCxnSpPr>
        <p:spPr>
          <a:xfrm rot="5400000" flipH="1" flipV="1">
            <a:off x="5205475" y="5474388"/>
            <a:ext cx="332432" cy="47333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680417A6-7FCA-BAC0-5D34-F7B0593D85B8}"/>
              </a:ext>
            </a:extLst>
          </p:cNvPr>
          <p:cNvCxnSpPr>
            <a:stCxn id="10" idx="0"/>
            <a:endCxn id="14" idx="2"/>
          </p:cNvCxnSpPr>
          <p:nvPr/>
        </p:nvCxnSpPr>
        <p:spPr>
          <a:xfrm rot="16200000" flipV="1">
            <a:off x="6172618" y="4980580"/>
            <a:ext cx="332431" cy="146094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65B08745-896E-DA83-FEEC-9C72F924E820}"/>
              </a:ext>
            </a:extLst>
          </p:cNvPr>
          <p:cNvCxnSpPr>
            <a:stCxn id="11" idx="0"/>
            <a:endCxn id="22" idx="2"/>
          </p:cNvCxnSpPr>
          <p:nvPr/>
        </p:nvCxnSpPr>
        <p:spPr>
          <a:xfrm rot="5400000" flipH="1" flipV="1">
            <a:off x="9130854" y="4512515"/>
            <a:ext cx="1301609" cy="14279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9B370343-A897-958C-4ECA-C015F15BCE80}"/>
              </a:ext>
            </a:extLst>
          </p:cNvPr>
          <p:cNvCxnSpPr>
            <a:stCxn id="12" idx="0"/>
            <a:endCxn id="22" idx="2"/>
          </p:cNvCxnSpPr>
          <p:nvPr/>
        </p:nvCxnSpPr>
        <p:spPr>
          <a:xfrm rot="16200000" flipV="1">
            <a:off x="10146485" y="4924784"/>
            <a:ext cx="1301609" cy="60336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B1028FDB-D040-AABD-DB8F-C15A2FA23416}"/>
              </a:ext>
            </a:extLst>
          </p:cNvPr>
          <p:cNvCxnSpPr>
            <a:stCxn id="11" idx="0"/>
            <a:endCxn id="17" idx="2"/>
          </p:cNvCxnSpPr>
          <p:nvPr/>
        </p:nvCxnSpPr>
        <p:spPr>
          <a:xfrm flipH="1" flipV="1">
            <a:off x="7871790" y="4575660"/>
            <a:ext cx="1195918" cy="13016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C83685FA-0EAA-910F-057D-23A35FFA94C0}"/>
              </a:ext>
            </a:extLst>
          </p:cNvPr>
          <p:cNvCxnSpPr>
            <a:stCxn id="13" idx="0"/>
            <a:endCxn id="18" idx="2"/>
          </p:cNvCxnSpPr>
          <p:nvPr/>
        </p:nvCxnSpPr>
        <p:spPr>
          <a:xfrm flipV="1">
            <a:off x="1942309" y="4584209"/>
            <a:ext cx="47647" cy="380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74754C15-370C-E64F-4CC0-8B84F25E0182}"/>
              </a:ext>
            </a:extLst>
          </p:cNvPr>
          <p:cNvCxnSpPr>
            <a:cxnSpLocks/>
            <a:stCxn id="14" idx="0"/>
            <a:endCxn id="19" idx="2"/>
          </p:cNvCxnSpPr>
          <p:nvPr/>
        </p:nvCxnSpPr>
        <p:spPr>
          <a:xfrm rot="16200000" flipV="1">
            <a:off x="5076340" y="4481157"/>
            <a:ext cx="428968" cy="63506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BA434732-F0C3-B168-B70B-014E9CB2A3DA}"/>
              </a:ext>
            </a:extLst>
          </p:cNvPr>
          <p:cNvCxnSpPr>
            <a:stCxn id="8" idx="0"/>
            <a:endCxn id="19" idx="2"/>
          </p:cNvCxnSpPr>
          <p:nvPr/>
        </p:nvCxnSpPr>
        <p:spPr>
          <a:xfrm rot="5400000" flipH="1" flipV="1">
            <a:off x="3396332" y="4300316"/>
            <a:ext cx="1293064" cy="1860849"/>
          </a:xfrm>
          <a:prstGeom prst="bentConnector3">
            <a:avLst>
              <a:gd name="adj1" fmla="val 8322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EAB41CB5-4C73-2017-C417-5F3706B47B51}"/>
              </a:ext>
            </a:extLst>
          </p:cNvPr>
          <p:cNvCxnSpPr>
            <a:cxnSpLocks/>
            <a:stCxn id="18" idx="0"/>
            <a:endCxn id="20" idx="2"/>
          </p:cNvCxnSpPr>
          <p:nvPr/>
        </p:nvCxnSpPr>
        <p:spPr>
          <a:xfrm rot="5400000" flipH="1" flipV="1">
            <a:off x="3005702" y="2385994"/>
            <a:ext cx="650807" cy="268229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89457B84-B43D-2748-5ACB-3081C49AF5E7}"/>
              </a:ext>
            </a:extLst>
          </p:cNvPr>
          <p:cNvCxnSpPr>
            <a:stCxn id="19" idx="0"/>
            <a:endCxn id="20" idx="2"/>
          </p:cNvCxnSpPr>
          <p:nvPr/>
        </p:nvCxnSpPr>
        <p:spPr>
          <a:xfrm rot="16200000" flipV="1">
            <a:off x="4497369" y="3576624"/>
            <a:ext cx="650806" cy="30103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Connector: Elbow 54">
            <a:extLst>
              <a:ext uri="{FF2B5EF4-FFF2-40B4-BE49-F238E27FC236}">
                <a16:creationId xmlns:a16="http://schemas.microsoft.com/office/drawing/2014/main" id="{443A831C-E04B-86D5-9121-A60BE0730E24}"/>
              </a:ext>
            </a:extLst>
          </p:cNvPr>
          <p:cNvCxnSpPr>
            <a:stCxn id="17" idx="0"/>
            <a:endCxn id="20" idx="2"/>
          </p:cNvCxnSpPr>
          <p:nvPr/>
        </p:nvCxnSpPr>
        <p:spPr>
          <a:xfrm rot="16200000" flipV="1">
            <a:off x="5950893" y="2123100"/>
            <a:ext cx="642258" cy="319953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6FC0D80E-AEFA-42AB-6B97-9A5EB66DC959}"/>
              </a:ext>
            </a:extLst>
          </p:cNvPr>
          <p:cNvCxnSpPr>
            <a:stCxn id="17" idx="0"/>
            <a:endCxn id="21" idx="2"/>
          </p:cNvCxnSpPr>
          <p:nvPr/>
        </p:nvCxnSpPr>
        <p:spPr>
          <a:xfrm rot="16200000" flipV="1">
            <a:off x="7442560" y="3614766"/>
            <a:ext cx="642259" cy="21620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58">
            <a:extLst>
              <a:ext uri="{FF2B5EF4-FFF2-40B4-BE49-F238E27FC236}">
                <a16:creationId xmlns:a16="http://schemas.microsoft.com/office/drawing/2014/main" id="{46710312-86F8-FA29-2880-08F1D20438A8}"/>
              </a:ext>
            </a:extLst>
          </p:cNvPr>
          <p:cNvCxnSpPr>
            <a:stCxn id="22" idx="0"/>
            <a:endCxn id="21" idx="2"/>
          </p:cNvCxnSpPr>
          <p:nvPr/>
        </p:nvCxnSpPr>
        <p:spPr>
          <a:xfrm rot="16200000" flipV="1">
            <a:off x="8754469" y="2302857"/>
            <a:ext cx="642259" cy="284002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60">
            <a:extLst>
              <a:ext uri="{FF2B5EF4-FFF2-40B4-BE49-F238E27FC236}">
                <a16:creationId xmlns:a16="http://schemas.microsoft.com/office/drawing/2014/main" id="{397433AA-91A0-BEBE-4D23-7C3C71CED90B}"/>
              </a:ext>
            </a:extLst>
          </p:cNvPr>
          <p:cNvCxnSpPr>
            <a:stCxn id="20" idx="0"/>
            <a:endCxn id="25" idx="2"/>
          </p:cNvCxnSpPr>
          <p:nvPr/>
        </p:nvCxnSpPr>
        <p:spPr>
          <a:xfrm rot="5400000" flipH="1" flipV="1">
            <a:off x="5165475" y="2000427"/>
            <a:ext cx="376428" cy="136287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Connector: Elbow 62">
            <a:extLst>
              <a:ext uri="{FF2B5EF4-FFF2-40B4-BE49-F238E27FC236}">
                <a16:creationId xmlns:a16="http://schemas.microsoft.com/office/drawing/2014/main" id="{5F61B0E1-1B0E-81BB-746D-15ADC08902A5}"/>
              </a:ext>
            </a:extLst>
          </p:cNvPr>
          <p:cNvCxnSpPr>
            <a:stCxn id="21" idx="0"/>
            <a:endCxn id="25" idx="2"/>
          </p:cNvCxnSpPr>
          <p:nvPr/>
        </p:nvCxnSpPr>
        <p:spPr>
          <a:xfrm rot="16200000" flipV="1">
            <a:off x="6657143" y="1871630"/>
            <a:ext cx="376427" cy="162046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5209042E-7959-986D-A2D9-F5D37CBFB296}"/>
              </a:ext>
            </a:extLst>
          </p:cNvPr>
          <p:cNvCxnSpPr/>
          <p:nvPr/>
        </p:nvCxnSpPr>
        <p:spPr>
          <a:xfrm>
            <a:off x="116701" y="1772816"/>
            <a:ext cx="11666343" cy="72008"/>
          </a:xfrm>
          <a:prstGeom prst="line">
            <a:avLst/>
          </a:prstGeom>
        </p:spPr>
        <p:style>
          <a:lnRef idx="1">
            <a:schemeClr val="accent1"/>
          </a:lnRef>
          <a:fillRef idx="0">
            <a:schemeClr val="accent1"/>
          </a:fillRef>
          <a:effectRef idx="0">
            <a:schemeClr val="accent1"/>
          </a:effectRef>
          <a:fontRef idx="minor">
            <a:schemeClr val="tx1"/>
          </a:fontRef>
        </p:style>
      </p:cxnSp>
      <p:sp>
        <p:nvSpPr>
          <p:cNvPr id="66" name="Rectangle: Rounded Corners 65">
            <a:extLst>
              <a:ext uri="{FF2B5EF4-FFF2-40B4-BE49-F238E27FC236}">
                <a16:creationId xmlns:a16="http://schemas.microsoft.com/office/drawing/2014/main" id="{711F7A15-1EC9-D507-B8AB-F4616BAF9A9B}"/>
              </a:ext>
            </a:extLst>
          </p:cNvPr>
          <p:cNvSpPr/>
          <p:nvPr/>
        </p:nvSpPr>
        <p:spPr>
          <a:xfrm>
            <a:off x="261764" y="688122"/>
            <a:ext cx="1800200" cy="927575"/>
          </a:xfrm>
          <a:prstGeom prst="roundRect">
            <a:avLst/>
          </a:prstGeom>
          <a:solidFill>
            <a:srgbClr val="92D050"/>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en-IN" sz="2800" b="1" dirty="0">
                <a:latin typeface="Aptos Display" panose="020B0004020202020204" pitchFamily="34" charset="0"/>
              </a:rPr>
              <a:t>Fiori App</a:t>
            </a:r>
          </a:p>
        </p:txBody>
      </p:sp>
      <p:sp>
        <p:nvSpPr>
          <p:cNvPr id="67" name="Rectangle: Rounded Corners 66">
            <a:extLst>
              <a:ext uri="{FF2B5EF4-FFF2-40B4-BE49-F238E27FC236}">
                <a16:creationId xmlns:a16="http://schemas.microsoft.com/office/drawing/2014/main" id="{4E8D6CB3-57BB-94C7-BA73-EEF7055CE6C7}"/>
              </a:ext>
            </a:extLst>
          </p:cNvPr>
          <p:cNvSpPr/>
          <p:nvPr/>
        </p:nvSpPr>
        <p:spPr>
          <a:xfrm>
            <a:off x="2431005" y="676315"/>
            <a:ext cx="1800200" cy="927575"/>
          </a:xfrm>
          <a:prstGeom prst="roundRect">
            <a:avLst/>
          </a:prstGeom>
          <a:solidFill>
            <a:srgbClr val="92D050"/>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en-IN" sz="2800" b="1" dirty="0">
                <a:latin typeface="Aptos Display" panose="020B0004020202020204" pitchFamily="34" charset="0"/>
              </a:rPr>
              <a:t>SAC</a:t>
            </a:r>
          </a:p>
        </p:txBody>
      </p:sp>
      <p:sp>
        <p:nvSpPr>
          <p:cNvPr id="68" name="Rectangle: Rounded Corners 67">
            <a:extLst>
              <a:ext uri="{FF2B5EF4-FFF2-40B4-BE49-F238E27FC236}">
                <a16:creationId xmlns:a16="http://schemas.microsoft.com/office/drawing/2014/main" id="{C229A89D-40D8-9DD9-E9CA-A782AD7D4D27}"/>
              </a:ext>
            </a:extLst>
          </p:cNvPr>
          <p:cNvSpPr/>
          <p:nvPr/>
        </p:nvSpPr>
        <p:spPr>
          <a:xfrm>
            <a:off x="4708258" y="682195"/>
            <a:ext cx="1800200" cy="927575"/>
          </a:xfrm>
          <a:prstGeom prst="roundRect">
            <a:avLst/>
          </a:prstGeom>
          <a:solidFill>
            <a:srgbClr val="92D050"/>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en-IN" sz="1600" b="1" dirty="0">
                <a:latin typeface="Aptos Display" panose="020B0004020202020204" pitchFamily="34" charset="0"/>
              </a:rPr>
              <a:t>S4 Embedded Analytics</a:t>
            </a:r>
          </a:p>
        </p:txBody>
      </p:sp>
      <p:sp>
        <p:nvSpPr>
          <p:cNvPr id="69" name="Rectangle: Rounded Corners 68">
            <a:extLst>
              <a:ext uri="{FF2B5EF4-FFF2-40B4-BE49-F238E27FC236}">
                <a16:creationId xmlns:a16="http://schemas.microsoft.com/office/drawing/2014/main" id="{2045A8B8-552C-5E61-C2EA-3B54100000D0}"/>
              </a:ext>
            </a:extLst>
          </p:cNvPr>
          <p:cNvSpPr/>
          <p:nvPr/>
        </p:nvSpPr>
        <p:spPr>
          <a:xfrm>
            <a:off x="7025517" y="666769"/>
            <a:ext cx="1800200" cy="927575"/>
          </a:xfrm>
          <a:prstGeom prst="roundRect">
            <a:avLst/>
          </a:prstGeom>
          <a:solidFill>
            <a:srgbClr val="92D050"/>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en-IN" sz="1600" b="1" dirty="0">
                <a:latin typeface="Aptos Display" panose="020B0004020202020204" pitchFamily="34" charset="0"/>
              </a:rPr>
              <a:t>APIs</a:t>
            </a:r>
          </a:p>
        </p:txBody>
      </p:sp>
      <p:sp>
        <p:nvSpPr>
          <p:cNvPr id="70" name="Rectangle: Rounded Corners 69">
            <a:extLst>
              <a:ext uri="{FF2B5EF4-FFF2-40B4-BE49-F238E27FC236}">
                <a16:creationId xmlns:a16="http://schemas.microsoft.com/office/drawing/2014/main" id="{0570F400-0D56-2EC1-3684-D744511FA100}"/>
              </a:ext>
            </a:extLst>
          </p:cNvPr>
          <p:cNvSpPr/>
          <p:nvPr/>
        </p:nvSpPr>
        <p:spPr>
          <a:xfrm>
            <a:off x="9342776" y="644658"/>
            <a:ext cx="1800200" cy="927575"/>
          </a:xfrm>
          <a:prstGeom prst="roundRect">
            <a:avLst/>
          </a:prstGeom>
          <a:solidFill>
            <a:srgbClr val="92D050"/>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en-IN" sz="1600" b="1" dirty="0">
                <a:latin typeface="Aptos Display" panose="020B0004020202020204" pitchFamily="34" charset="0"/>
              </a:rPr>
              <a:t>Third Party</a:t>
            </a:r>
          </a:p>
        </p:txBody>
      </p:sp>
    </p:spTree>
    <p:extLst>
      <p:ext uri="{BB962C8B-B14F-4D97-AF65-F5344CB8AC3E}">
        <p14:creationId xmlns:p14="http://schemas.microsoft.com/office/powerpoint/2010/main" val="26413361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5</a:t>
            </a:r>
            <a:endPar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2257</TotalTime>
  <Words>1053</Words>
  <Application>Microsoft Office PowerPoint</Application>
  <PresentationFormat>Custom</PresentationFormat>
  <Paragraphs>191</Paragraphs>
  <Slides>14</Slides>
  <Notes>3</Notes>
  <HiddenSlides>0</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14</vt:i4>
      </vt:variant>
    </vt:vector>
  </HeadingPairs>
  <TitlesOfParts>
    <vt:vector size="31" baseType="lpstr">
      <vt:lpstr>Aptos Display</vt:lpstr>
      <vt:lpstr>Arial Black</vt:lpstr>
      <vt:lpstr>Amasis MT Pro Black</vt:lpstr>
      <vt:lpstr>Corben</vt:lpstr>
      <vt:lpstr>Quattrocento Sans</vt:lpstr>
      <vt:lpstr>Cambria</vt:lpstr>
      <vt:lpstr>Arial</vt:lpstr>
      <vt:lpstr>Cooper Black</vt:lpstr>
      <vt:lpstr>Segoe UI Light</vt:lpstr>
      <vt:lpstr>72 Monospace</vt:lpstr>
      <vt:lpstr>Calibri</vt:lpstr>
      <vt:lpstr>Segoe UI</vt:lpstr>
      <vt:lpstr>Open Sans</vt:lpstr>
      <vt:lpstr>72 Condensed</vt:lpstr>
      <vt:lpstr>Office Theme</vt:lpstr>
      <vt:lpstr>2_Office Theme</vt:lpstr>
      <vt:lpstr>3_Office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55</cp:revision>
  <dcterms:created xsi:type="dcterms:W3CDTF">2023-10-03T21:33:12Z</dcterms:created>
  <dcterms:modified xsi:type="dcterms:W3CDTF">2026-02-12T08:02:53Z</dcterms:modified>
</cp:coreProperties>
</file>