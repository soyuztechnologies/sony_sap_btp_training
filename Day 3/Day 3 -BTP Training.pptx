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6" r:id="rId2"/>
    <p:sldId id="4122" r:id="rId3"/>
    <p:sldId id="277" r:id="rId4"/>
    <p:sldId id="4728" r:id="rId5"/>
    <p:sldId id="4729" r:id="rId6"/>
    <p:sldId id="4730" r:id="rId7"/>
    <p:sldId id="4775" r:id="rId8"/>
    <p:sldId id="4776" r:id="rId9"/>
    <p:sldId id="4755" r:id="rId10"/>
    <p:sldId id="4777" r:id="rId11"/>
    <p:sldId id="4774" r:id="rId12"/>
    <p:sldId id="4778" r:id="rId13"/>
    <p:sldId id="4779" r:id="rId14"/>
    <p:sldId id="4780" r:id="rId15"/>
    <p:sldId id="4781" r:id="rId16"/>
    <p:sldId id="4753" r:id="rId17"/>
    <p:sldId id="4754" r:id="rId18"/>
    <p:sldId id="4756" r:id="rId19"/>
    <p:sldId id="4757" r:id="rId20"/>
    <p:sldId id="282" r:id="rId21"/>
    <p:sldId id="280" r:id="rId22"/>
    <p:sldId id="4711" r:id="rId2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06" autoAdjust="0"/>
    <p:restoredTop sz="95250" autoAdjust="0"/>
  </p:normalViewPr>
  <p:slideViewPr>
    <p:cSldViewPr>
      <p:cViewPr varScale="1">
        <p:scale>
          <a:sx n="97" d="100"/>
          <a:sy n="97" d="100"/>
        </p:scale>
        <p:origin x="808" y="436"/>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1/13/2026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1/13/2026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1/13/2026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1.png"/><Relationship Id="rId4" Type="http://schemas.openxmlformats.org/officeDocument/2006/relationships/hyperlink" Target="http://www.dribbble.com/"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image" Target="../media/image12.jpeg"/><Relationship Id="rId7" Type="http://schemas.openxmlformats.org/officeDocument/2006/relationships/image" Target="../media/image16.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3</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257403" y="1320729"/>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257403" y="307645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257403" y="483217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3922089" y="1573742"/>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Working with Microservices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3922089" y="3329461"/>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5"/>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Scaling</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3922089" y="5085184"/>
            <a:ext cx="4344645" cy="922336"/>
            <a:chOff x="1395616" y="871285"/>
            <a:chExt cx="4206175"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243563"/>
              <a:ext cx="2617371" cy="319585"/>
            </a:xfrm>
            <a:prstGeom prst="rect">
              <a:avLst/>
            </a:prstGeom>
            <a:noFill/>
          </p:spPr>
          <p:txBody>
            <a:bodyPr wrap="square" lIns="0" tIns="0" rIns="0" bIns="0" rtlCol="0" anchor="ctr">
              <a:spAutoFit/>
            </a:bodyPr>
            <a:lstStyle/>
            <a:p>
              <a:r>
                <a:rPr lang="en-US" sz="1800" kern="0">
                  <a:solidFill>
                    <a:schemeClr val="bg1"/>
                  </a:solidFill>
                  <a:latin typeface="Segoe UI" panose="020B0502040204020203" pitchFamily="34" charset="0"/>
                  <a:ea typeface="Calibri Light" charset="0"/>
                  <a:cs typeface="Segoe UI" panose="020B0502040204020203" pitchFamily="34" charset="0"/>
                </a:rPr>
                <a:t>Basics of Node JS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a:t>
            </a:r>
            <a:r>
              <a:rPr lang="en-US">
                <a:solidFill>
                  <a:schemeClr val="bg1"/>
                </a:solidFill>
                <a:latin typeface="Cooper Black" panose="0208090404030B020404" pitchFamily="18" charset="0"/>
              </a:rPr>
              <a:t>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Under the hood</a:t>
            </a:r>
          </a:p>
        </p:txBody>
      </p:sp>
      <p:pic>
        <p:nvPicPr>
          <p:cNvPr id="3" name="Picture 2">
            <a:extLst>
              <a:ext uri="{FF2B5EF4-FFF2-40B4-BE49-F238E27FC236}">
                <a16:creationId xmlns:a16="http://schemas.microsoft.com/office/drawing/2014/main" id="{684A4760-C74E-7126-049D-F0F0F5F0E17D}"/>
              </a:ext>
            </a:extLst>
          </p:cNvPr>
          <p:cNvPicPr>
            <a:picLocks noChangeAspect="1"/>
          </p:cNvPicPr>
          <p:nvPr/>
        </p:nvPicPr>
        <p:blipFill>
          <a:blip r:embed="rId2"/>
          <a:stretch>
            <a:fillRect/>
          </a:stretch>
        </p:blipFill>
        <p:spPr>
          <a:xfrm>
            <a:off x="693812" y="1196752"/>
            <a:ext cx="10230393" cy="5005294"/>
          </a:xfrm>
          <a:prstGeom prst="rect">
            <a:avLst/>
          </a:prstGeom>
        </p:spPr>
      </p:pic>
    </p:spTree>
    <p:extLst>
      <p:ext uri="{BB962C8B-B14F-4D97-AF65-F5344CB8AC3E}">
        <p14:creationId xmlns:p14="http://schemas.microsoft.com/office/powerpoint/2010/main" val="728551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73892-BFBF-1246-FAED-C2E35B2DA51F}"/>
              </a:ext>
            </a:extLst>
          </p:cNvPr>
          <p:cNvSpPr>
            <a:spLocks noGrp="1"/>
          </p:cNvSpPr>
          <p:nvPr>
            <p:ph type="title"/>
          </p:nvPr>
        </p:nvSpPr>
        <p:spPr/>
        <p:txBody>
          <a:bodyPr/>
          <a:lstStyle/>
          <a:p>
            <a:r>
              <a:rPr lang="en-IN" dirty="0"/>
              <a:t>Uber</a:t>
            </a:r>
          </a:p>
        </p:txBody>
      </p:sp>
    </p:spTree>
    <p:extLst>
      <p:ext uri="{BB962C8B-B14F-4D97-AF65-F5344CB8AC3E}">
        <p14:creationId xmlns:p14="http://schemas.microsoft.com/office/powerpoint/2010/main" val="79856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4BB9B2-4EF3-B2B6-C3A6-E08AA8127834}"/>
              </a:ext>
            </a:extLst>
          </p:cNvPr>
          <p:cNvSpPr>
            <a:spLocks noGrp="1"/>
          </p:cNvSpPr>
          <p:nvPr>
            <p:ph type="title"/>
          </p:nvPr>
        </p:nvSpPr>
        <p:spPr/>
        <p:txBody>
          <a:bodyPr/>
          <a:lstStyle/>
          <a:p>
            <a:r>
              <a:rPr lang="en-IN" dirty="0"/>
              <a:t>Scalability</a:t>
            </a:r>
          </a:p>
        </p:txBody>
      </p:sp>
    </p:spTree>
    <p:extLst>
      <p:ext uri="{BB962C8B-B14F-4D97-AF65-F5344CB8AC3E}">
        <p14:creationId xmlns:p14="http://schemas.microsoft.com/office/powerpoint/2010/main" val="3137560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34D36-31BF-2ECB-EB78-9799DB170824}"/>
              </a:ext>
            </a:extLst>
          </p:cNvPr>
          <p:cNvSpPr>
            <a:spLocks noGrp="1"/>
          </p:cNvSpPr>
          <p:nvPr>
            <p:ph type="title"/>
          </p:nvPr>
        </p:nvSpPr>
        <p:spPr/>
        <p:txBody>
          <a:bodyPr/>
          <a:lstStyle/>
          <a:p>
            <a:r>
              <a:rPr lang="en-IN" dirty="0"/>
              <a:t>Java Script</a:t>
            </a:r>
          </a:p>
        </p:txBody>
      </p:sp>
      <p:sp>
        <p:nvSpPr>
          <p:cNvPr id="3" name="TextBox 2">
            <a:extLst>
              <a:ext uri="{FF2B5EF4-FFF2-40B4-BE49-F238E27FC236}">
                <a16:creationId xmlns:a16="http://schemas.microsoft.com/office/drawing/2014/main" id="{151B8ED7-4997-1A78-1CA8-8F53F8E527C5}"/>
              </a:ext>
            </a:extLst>
          </p:cNvPr>
          <p:cNvSpPr txBox="1"/>
          <p:nvPr/>
        </p:nvSpPr>
        <p:spPr>
          <a:xfrm>
            <a:off x="189756" y="784925"/>
            <a:ext cx="11809313" cy="3477875"/>
          </a:xfrm>
          <a:prstGeom prst="rect">
            <a:avLst/>
          </a:prstGeom>
          <a:noFill/>
        </p:spPr>
        <p:txBody>
          <a:bodyPr wrap="square" rtlCol="0">
            <a:spAutoFit/>
          </a:bodyPr>
          <a:lstStyle/>
          <a:p>
            <a:pPr marL="342900" indent="-342900">
              <a:buFont typeface="Arial" panose="020B0604020202020204" pitchFamily="34" charset="0"/>
              <a:buChar char="•"/>
            </a:pPr>
            <a:r>
              <a:rPr lang="en-IN" sz="2000" dirty="0">
                <a:solidFill>
                  <a:srgbClr val="FFFF00"/>
                </a:solidFill>
              </a:rPr>
              <a:t>JS is a case-sensitive programming language e.g. </a:t>
            </a:r>
            <a:r>
              <a:rPr lang="en-IN" sz="2000" dirty="0" err="1">
                <a:solidFill>
                  <a:srgbClr val="FFFF00"/>
                </a:solidFill>
              </a:rPr>
              <a:t>iloveindia</a:t>
            </a:r>
            <a:r>
              <a:rPr lang="en-IN" sz="2000" dirty="0">
                <a:solidFill>
                  <a:srgbClr val="FFFF00"/>
                </a:solidFill>
              </a:rPr>
              <a:t> is different from </a:t>
            </a:r>
            <a:r>
              <a:rPr lang="en-IN" sz="2000" dirty="0" err="1">
                <a:solidFill>
                  <a:srgbClr val="FFFF00"/>
                </a:solidFill>
              </a:rPr>
              <a:t>iLoveIndia</a:t>
            </a:r>
            <a:endParaRPr lang="en-IN" sz="2000" dirty="0">
              <a:solidFill>
                <a:srgbClr val="FFFF00"/>
              </a:solidFill>
            </a:endParaRPr>
          </a:p>
          <a:p>
            <a:pPr marL="342900" indent="-342900">
              <a:buFont typeface="Arial" panose="020B0604020202020204" pitchFamily="34" charset="0"/>
              <a:buChar char="•"/>
            </a:pPr>
            <a:r>
              <a:rPr lang="en-IN" sz="2000" dirty="0">
                <a:solidFill>
                  <a:srgbClr val="FFFF00"/>
                </a:solidFill>
              </a:rPr>
              <a:t>Every statement in JS ends with Semi-colon</a:t>
            </a:r>
          </a:p>
          <a:p>
            <a:pPr marL="342900" indent="-342900">
              <a:buFont typeface="Arial" panose="020B0604020202020204" pitchFamily="34" charset="0"/>
              <a:buChar char="•"/>
            </a:pPr>
            <a:r>
              <a:rPr lang="en-IN" sz="2000" dirty="0">
                <a:solidFill>
                  <a:srgbClr val="FFFF00"/>
                </a:solidFill>
              </a:rPr>
              <a:t>When we create a variable or function, we follow camel-case naming convention.</a:t>
            </a:r>
          </a:p>
          <a:p>
            <a:r>
              <a:rPr lang="en-IN" sz="2000" dirty="0" err="1">
                <a:solidFill>
                  <a:srgbClr val="FFFF00"/>
                </a:solidFill>
              </a:rPr>
              <a:t>Iloveindia</a:t>
            </a:r>
            <a:r>
              <a:rPr lang="en-IN" sz="2000" dirty="0">
                <a:solidFill>
                  <a:srgbClr val="FFFF00"/>
                </a:solidFill>
              </a:rPr>
              <a:t> </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iLoveIndia</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wearelearningJS</a:t>
            </a:r>
            <a:r>
              <a:rPr lang="en-IN" sz="2000" dirty="0">
                <a:solidFill>
                  <a:srgbClr val="FFFF00"/>
                </a:solidFill>
                <a:sym typeface="Wingdings" panose="05000000000000000000" pitchFamily="2" charset="2"/>
              </a:rPr>
              <a:t>  </a:t>
            </a:r>
            <a:r>
              <a:rPr lang="en-IN" sz="2000" dirty="0" err="1">
                <a:solidFill>
                  <a:srgbClr val="FFFF00"/>
                </a:solidFill>
                <a:sym typeface="Wingdings" panose="05000000000000000000" pitchFamily="2" charset="2"/>
              </a:rPr>
              <a:t>weAreLearningJS</a:t>
            </a:r>
            <a:endParaRPr lang="en-IN" sz="2000" dirty="0">
              <a:solidFill>
                <a:srgbClr val="FFFF00"/>
              </a:solidFill>
              <a:sym typeface="Wingdings" panose="05000000000000000000" pitchFamily="2" charset="2"/>
            </a:endParaRPr>
          </a:p>
          <a:p>
            <a:pPr marL="342900" indent="-342900">
              <a:buFont typeface="Arial" panose="020B0604020202020204" pitchFamily="34" charset="0"/>
              <a:buChar char="•"/>
            </a:pPr>
            <a:r>
              <a:rPr lang="en-IN" sz="2000" dirty="0">
                <a:solidFill>
                  <a:srgbClr val="FFFF00"/>
                </a:solidFill>
                <a:sym typeface="Wingdings" panose="05000000000000000000" pitchFamily="2" charset="2"/>
              </a:rPr>
              <a:t>If you create a variable and do not assign a value to it, it becomes NULL, any operation with NULL becomes NULL</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When we create variables, we don’t need to assign data types, based on the value, the data type will be assigned automatically.</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The = is an assignment operator and ==, === are comparison operator  IF(a===b)</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Java Script is a </a:t>
            </a:r>
            <a:r>
              <a:rPr lang="en-IN" sz="2000" u="sng" dirty="0">
                <a:solidFill>
                  <a:srgbClr val="FFFF00"/>
                </a:solidFill>
                <a:sym typeface="Wingdings" panose="05000000000000000000" pitchFamily="2" charset="2"/>
              </a:rPr>
              <a:t>Asynchronous Non Blocking IO </a:t>
            </a:r>
            <a:r>
              <a:rPr lang="en-IN" sz="2000" dirty="0">
                <a:solidFill>
                  <a:srgbClr val="FFFF00"/>
                </a:solidFill>
                <a:sym typeface="Wingdings" panose="05000000000000000000" pitchFamily="2" charset="2"/>
              </a:rPr>
              <a:t>programming language</a:t>
            </a:r>
          </a:p>
          <a:p>
            <a:pPr marL="342900" indent="-342900">
              <a:buFont typeface="Arial" panose="020B0604020202020204" pitchFamily="34" charset="0"/>
              <a:buChar char="•"/>
            </a:pPr>
            <a:endParaRPr lang="en-IN" sz="2000" dirty="0">
              <a:solidFill>
                <a:srgbClr val="FFFF00"/>
              </a:solidFill>
            </a:endParaRPr>
          </a:p>
        </p:txBody>
      </p:sp>
    </p:spTree>
    <p:extLst>
      <p:ext uri="{BB962C8B-B14F-4D97-AF65-F5344CB8AC3E}">
        <p14:creationId xmlns:p14="http://schemas.microsoft.com/office/powerpoint/2010/main" val="419470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256EF-8058-9348-D163-F9CF8D8E55B6}"/>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1F25AA40-EABB-2E21-9646-99394B3CFEA6}"/>
              </a:ext>
            </a:extLst>
          </p:cNvPr>
          <p:cNvSpPr/>
          <p:nvPr/>
        </p:nvSpPr>
        <p:spPr>
          <a:xfrm>
            <a:off x="765820" y="1124744"/>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Scalar Variables</a:t>
            </a:r>
          </a:p>
        </p:txBody>
      </p:sp>
      <p:sp>
        <p:nvSpPr>
          <p:cNvPr id="4" name="Rectangle 3">
            <a:extLst>
              <a:ext uri="{FF2B5EF4-FFF2-40B4-BE49-F238E27FC236}">
                <a16:creationId xmlns:a16="http://schemas.microsoft.com/office/drawing/2014/main" id="{E0867525-E43F-E549-F2C3-4B70A9760A10}"/>
              </a:ext>
            </a:extLst>
          </p:cNvPr>
          <p:cNvSpPr/>
          <p:nvPr/>
        </p:nvSpPr>
        <p:spPr>
          <a:xfrm>
            <a:off x="494228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Array</a:t>
            </a:r>
          </a:p>
        </p:txBody>
      </p:sp>
      <p:sp>
        <p:nvSpPr>
          <p:cNvPr id="5" name="Rectangle 4">
            <a:extLst>
              <a:ext uri="{FF2B5EF4-FFF2-40B4-BE49-F238E27FC236}">
                <a16:creationId xmlns:a16="http://schemas.microsoft.com/office/drawing/2014/main" id="{B028E0A2-58FF-DF31-76A3-A64FD7942A7F}"/>
              </a:ext>
            </a:extLst>
          </p:cNvPr>
          <p:cNvSpPr/>
          <p:nvPr/>
        </p:nvSpPr>
        <p:spPr>
          <a:xfrm>
            <a:off x="890272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Objects</a:t>
            </a:r>
          </a:p>
        </p:txBody>
      </p:sp>
    </p:spTree>
    <p:extLst>
      <p:ext uri="{BB962C8B-B14F-4D97-AF65-F5344CB8AC3E}">
        <p14:creationId xmlns:p14="http://schemas.microsoft.com/office/powerpoint/2010/main" val="12468190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350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441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Variables in JS</a:t>
            </a:r>
          </a:p>
        </p:txBody>
      </p:sp>
    </p:spTree>
    <p:extLst>
      <p:ext uri="{BB962C8B-B14F-4D97-AF65-F5344CB8AC3E}">
        <p14:creationId xmlns:p14="http://schemas.microsoft.com/office/powerpoint/2010/main" val="35997140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57671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Functions in JS</a:t>
            </a:r>
          </a:p>
        </p:txBody>
      </p:sp>
      <p:sp>
        <p:nvSpPr>
          <p:cNvPr id="3" name="TextBox 2">
            <a:extLst>
              <a:ext uri="{FF2B5EF4-FFF2-40B4-BE49-F238E27FC236}">
                <a16:creationId xmlns:a16="http://schemas.microsoft.com/office/drawing/2014/main" id="{2111179D-922B-7E43-FC30-4F9FD5B4683D}"/>
              </a:ext>
            </a:extLst>
          </p:cNvPr>
          <p:cNvSpPr txBox="1"/>
          <p:nvPr/>
        </p:nvSpPr>
        <p:spPr>
          <a:xfrm>
            <a:off x="333772" y="980728"/>
            <a:ext cx="11521280" cy="1569660"/>
          </a:xfrm>
          <a:prstGeom prst="rect">
            <a:avLst/>
          </a:prstGeom>
          <a:noFill/>
        </p:spPr>
        <p:txBody>
          <a:bodyPr wrap="square" rtlCol="0">
            <a:spAutoFit/>
          </a:bodyPr>
          <a:lstStyle/>
          <a:p>
            <a:pPr marL="457200" indent="-457200">
              <a:buAutoNum type="arabicPeriod"/>
            </a:pPr>
            <a:r>
              <a:rPr lang="en-IN" dirty="0">
                <a:solidFill>
                  <a:schemeClr val="bg1"/>
                </a:solidFill>
              </a:rPr>
              <a:t>Named Function</a:t>
            </a:r>
          </a:p>
          <a:p>
            <a:pPr marL="1066693" lvl="1" indent="-457200">
              <a:buAutoNum type="arabicPeriod"/>
            </a:pPr>
            <a:r>
              <a:rPr lang="en-IN" dirty="0">
                <a:solidFill>
                  <a:schemeClr val="bg1"/>
                </a:solidFill>
              </a:rPr>
              <a:t>Simple name</a:t>
            </a:r>
          </a:p>
          <a:p>
            <a:pPr marL="1066693" lvl="1" indent="-457200">
              <a:buAutoNum type="arabicPeriod"/>
            </a:pPr>
            <a:r>
              <a:rPr lang="en-IN" dirty="0">
                <a:solidFill>
                  <a:schemeClr val="bg1"/>
                </a:solidFill>
              </a:rPr>
              <a:t>Arrow function</a:t>
            </a:r>
          </a:p>
          <a:p>
            <a:pPr marL="457200" indent="-457200">
              <a:buAutoNum type="arabicPeriod"/>
            </a:pPr>
            <a:r>
              <a:rPr lang="en-IN" dirty="0">
                <a:solidFill>
                  <a:schemeClr val="bg1"/>
                </a:solidFill>
              </a:rPr>
              <a:t>Anonymous function</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7309</TotalTime>
  <Words>1103</Words>
  <Application>Microsoft Office PowerPoint</Application>
  <PresentationFormat>Custom</PresentationFormat>
  <Paragraphs>143</Paragraphs>
  <Slides>22</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Amasis MT Pro Black</vt:lpstr>
      <vt:lpstr>Arial</vt:lpstr>
      <vt:lpstr>Arial Black</vt:lpstr>
      <vt:lpstr>Arial-ItalicMT</vt:lpstr>
      <vt:lpstr>Calibri</vt:lpstr>
      <vt:lpstr>Cooper Black</vt:lpstr>
      <vt:lpstr>Segoe UI</vt:lpstr>
      <vt:lpstr>Segoe UI Light</vt:lpstr>
      <vt:lpstr>Wingdings</vt:lpstr>
      <vt:lpstr>Office Theme</vt:lpstr>
      <vt:lpstr>SAP BTP Extension Suite Training</vt:lpstr>
      <vt:lpstr>PowerPoint Presentation</vt:lpstr>
      <vt:lpstr>Agenda – Day 3</vt:lpstr>
      <vt:lpstr>Under the hood</vt:lpstr>
      <vt:lpstr>Micro Service Architecture</vt:lpstr>
      <vt:lpstr>Advantage of Microservices</vt:lpstr>
      <vt:lpstr>Uber</vt:lpstr>
      <vt:lpstr>Scalability</vt:lpstr>
      <vt:lpstr>What is Node JS</vt:lpstr>
      <vt:lpstr>Java Script</vt:lpstr>
      <vt:lpstr>Variables</vt:lpstr>
      <vt:lpstr>NPM – Node Package manager</vt:lpstr>
      <vt:lpstr>Hands on: Node JS</vt:lpstr>
      <vt:lpstr>Variables in JS</vt:lpstr>
      <vt:lpstr>Asynchronous Non Blocking IO</vt:lpstr>
      <vt:lpstr>Functions in JS</vt:lpstr>
      <vt:lpstr>Asynchronous Non Blocking IO</vt:lpstr>
      <vt:lpstr>NPM – Node Package manager</vt:lpstr>
      <vt:lpstr>Hands on: Node JS</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212</cp:revision>
  <dcterms:created xsi:type="dcterms:W3CDTF">2013-09-12T13:05:01Z</dcterms:created>
  <dcterms:modified xsi:type="dcterms:W3CDTF">2026-01-13T12:37:55Z</dcterms:modified>
</cp:coreProperties>
</file>