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4122" r:id="rId3"/>
    <p:sldId id="277" r:id="rId4"/>
    <p:sldId id="4749" r:id="rId5"/>
    <p:sldId id="4817" r:id="rId6"/>
    <p:sldId id="4818" r:id="rId7"/>
    <p:sldId id="4825" r:id="rId8"/>
    <p:sldId id="4746" r:id="rId9"/>
    <p:sldId id="4750" r:id="rId10"/>
    <p:sldId id="4758" r:id="rId11"/>
    <p:sldId id="4819" r:id="rId12"/>
    <p:sldId id="4820" r:id="rId13"/>
    <p:sldId id="4821" r:id="rId14"/>
    <p:sldId id="4822" r:id="rId15"/>
    <p:sldId id="282" r:id="rId16"/>
    <p:sldId id="280" r:id="rId17"/>
    <p:sldId id="4711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28T14:23:08.6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18 24575,'0'-1'0,"0"1"0,0 0 0,0-1 0,0 1 0,0-1 0,0 1 0,1-1 0,-1 1 0,0-1 0,0 1 0,0-1 0,0 1 0,1 0 0,-1-1 0,0 1 0,0-1 0,1 1 0,-1 0 0,0-1 0,1 1 0,-1 0 0,0-1 0,1 1 0,0 0 0,-1 0 0,0 0 0,0 0 0,0 0 0,1 0 0,-1 0 0,0 0 0,0 0 0,1 0 0,-1 0 0,0 0 0,0 0 0,0 0 0,1 0 0,-1 0 0,0 0 0,0 0 0,0 1 0,1-1 0,-1 0 0,0 0 0,0 0 0,0 0 0,1 0 0,-1 1 0,0-1 0,0 0 0,0 0 0,0 0 0,0 1 0,0-1 0,0 0 0,0 0 0,1 1 0,-1-1 0,0 0 0,0 0 0,0 0 0,0 1 0,0-1 0,0 0 0,0 0 0,0 1 0,0-1 0,0 0 0,-1 0 0,1 1 0,1 0 0,-1 1 0,0 0 0,0-1 0,1 1 0,-1 0 0,-1 0 0,1-1 0,0 1 0,0 0 0,-1-1 0,1 1 0,0-1 0,-1 1 0,0 0 0,1-1 0,-1 1 0,0-1 0,0 1 0,0-1 0,0 0 0,0 1 0,0-1 0,0 0 0,0 0 0,-1 0 0,1 0 0,0 0 0,-1 0 0,1 0 0,-1 0 0,1 0 0,-1-1 0,0 1 0,1-1 0,-1 1 0,1-1 0,-1 1 0,-2-1 0,-2-2 0,13-2 0,15-3 0,21 9 0,-42-2 0,0 0 0,0 1 0,0-1 0,0 0 0,0 0 0,0 1 0,0-1 0,-1 1 0,1-1 0,0 1 0,0-1 0,0 1 0,-1-1 0,1 1 0,0 0 0,1 1 0,-2-2 0,0 1 0,0 0 0,0-1 0,0 1 0,0 0 0,0-1 0,-1 1 0,1 0 0,0-1 0,0 1 0,0 0 0,-1-1 0,1 1 0,0-1 0,-1 1 0,1-1 0,0 1 0,-1 0 0,1-1 0,-1 1 0,1-1 0,-1 0 0,1 1 0,-1-1 0,1 1 0,-1-1 0,0 0 0,0 1 0,-1 0 0,0 0 0,0 0 0,0 0 0,0 0 0,-1 0 0,1-1 0,0 1 0,0-1 0,-1 1 0,1-1 0,0 0 0,0 0 0,-1 0 0,1 0 0,0 0 0,-1-1 0,1 1 0,-4-2 0,5 2 0,0 0 0,0-1 0,0 1 0,1-1 0,-1 1 0,0 0 0,0-1 0,1 0 0,-1 1 0,0-1 0,1 1 0,-1-1 0,0 0 0,1 1 0,-1-1 0,1 0 0,-1 0 0,1 1 0,-1-1 0,1 0 0,0 0 0,-1 0 0,1 0 0,0 1 0,0-1 0,0 0 0,-1 0 0,1 0 0,0 0 0,0 0 0,0 0 0,1 0 0,-1 0 0,0 1 0,0-1 0,0 0 0,1 0 0,-1 0 0,0 0 0,1 0 0,-1 1 0,1-1 0,-1 0 0,1 0 0,-1 1 0,1-1 0,-1 0 0,1 1 0,1-2 0,-1 1 0,0-1 0,0 1 0,0 0 0,1-1 0,-1 1 0,0 0 0,1 0 0,-1 0 0,1 0 0,0 0 0,-1 0 0,1 0 0,0 1 0,0-1 0,-1 0 0,1 1 0,0 0 0,0-1 0,0 1 0,0 0 0,-1 0 0,1 0 0,0 0 0,0 0 0,0 0 0,0 1 0,-1-1 0,4 1 0,-5 0 0,1-1 0,0 0 0,-1 1 0,1-1 0,0 1 0,-1-1 0,1 1 0,0-1 0,-1 1 0,1-1 0,-1 1 0,1 0 0,-1-1 0,0 1 0,1 0 0,-1-1 0,1 1 0,-1 0 0,0 0 0,0-1 0,0 1 0,1 0 0,-1 0 0,0 1 0,0-1 0,-1 1 0,1 0 0,0-1 0,-1 1 0,0 0 0,1-1 0,-1 1 0,0-1 0,0 1 0,0-1 0,0 1 0,0-1 0,0 0 0,0 1 0,0-1 0,-2 2 0,-1-1 0,1 0 0,0 0 0,-1 0 0,1 0 0,-1 0 0,0-1 0,0 1 0,1-1 0,-1 0 0,0-1 0,0 1 0,0 0 0,0-1 0,0 0 0,0 0 0,0 0 0,0-1 0,-4 0 0,6 1 0,1-1 0,-1 1 0,1-1 0,-1 1 0,1-1 0,-1 1 0,1-1 0,0 0 0,-1 0 0,1 0 0,0 0 0,-1 0 0,1 0 0,0 0 0,0 0 0,0 0 0,0-1 0,-1-1 0,1 1 0,1 0 0,-1 0 0,1 0 0,0 1 0,0-1 0,-1 0 0,1 0 0,1 0 0,-1 0 0,0 1 0,0-1 0,1 0 0,-1 0 0,1 1 0,-1-1 0,1 0 0,0 0 0,0 1 0,0-1 0,1-1 0,0 0-68,-1 1 0,1 0-1,0-1 1,0 1 0,-1 0 0,1 0-1,1 0 1,-1 1 0,0-1 0,0 1-1,1-1 1,-1 1 0,0-1 0,1 1-1,0 0 1,-1 0 0,1 1-1,0-1 1,3 0 0,10 1-6758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/3.0/" TargetMode="External"/><Relationship Id="rId3" Type="http://schemas.openxmlformats.org/officeDocument/2006/relationships/hyperlink" Target="http://commons.wikimedia.org/wiki/File:User_icon_2.svg" TargetMode="External"/><Relationship Id="rId7" Type="http://schemas.openxmlformats.org/officeDocument/2006/relationships/hyperlink" Target="https://www.flickr.com/photos/jeepersmedia/14765960308/" TargetMode="External"/><Relationship Id="rId12" Type="http://schemas.openxmlformats.org/officeDocument/2006/relationships/image" Target="../media/image200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customXml" Target="../ink/ink1.xml"/><Relationship Id="rId5" Type="http://schemas.openxmlformats.org/officeDocument/2006/relationships/hyperlink" Target="https://pixabay.com/illustrations/icon-business-user-business-icons-1740415/" TargetMode="External"/><Relationship Id="rId10" Type="http://schemas.openxmlformats.org/officeDocument/2006/relationships/hyperlink" Target="https://openclipart.org/detail/22037/notes-by-agone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github.com/soyuztechnologies/BTP_Architect_Training/blob/master/Day%203/04approuter.zi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hyperlink" Target="http://www.dribbble.com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tiff"/><Relationship Id="rId5" Type="http://schemas.openxmlformats.org/officeDocument/2006/relationships/image" Target="../media/image13.tiff"/><Relationship Id="rId4" Type="http://schemas.openxmlformats.org/officeDocument/2006/relationships/image" Target="../media/image12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14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E791A1-2958-78B0-ECDD-F89DDE02F4B6}"/>
              </a:ext>
            </a:extLst>
          </p:cNvPr>
          <p:cNvSpPr/>
          <p:nvPr/>
        </p:nvSpPr>
        <p:spPr>
          <a:xfrm>
            <a:off x="3453886" y="131323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89E801-E285-EBED-06F5-7E2B1B8E1E7A}"/>
              </a:ext>
            </a:extLst>
          </p:cNvPr>
          <p:cNvSpPr/>
          <p:nvPr/>
        </p:nvSpPr>
        <p:spPr>
          <a:xfrm>
            <a:off x="3453886" y="30689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AB72EB-5FE6-B5CA-C654-D15CE54000E9}"/>
              </a:ext>
            </a:extLst>
          </p:cNvPr>
          <p:cNvSpPr/>
          <p:nvPr/>
        </p:nvSpPr>
        <p:spPr>
          <a:xfrm>
            <a:off x="3453886" y="482468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27EE0E-9853-D0E9-E5A8-87BE731920EA}"/>
              </a:ext>
            </a:extLst>
          </p:cNvPr>
          <p:cNvGrpSpPr/>
          <p:nvPr/>
        </p:nvGrpSpPr>
        <p:grpSpPr>
          <a:xfrm>
            <a:off x="4118571" y="1566251"/>
            <a:ext cx="4359562" cy="922336"/>
            <a:chOff x="1395616" y="871285"/>
            <a:chExt cx="3825734" cy="106413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429D3B-7C38-B33E-067B-835764291C87}"/>
                </a:ext>
              </a:extLst>
            </p:cNvPr>
            <p:cNvSpPr txBox="1"/>
            <p:nvPr/>
          </p:nvSpPr>
          <p:spPr>
            <a:xfrm>
              <a:off x="2984420" y="1243566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Test JWT Token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18C39A3-CA2B-146F-D772-D14998B4D672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73B0C-4C36-F5CF-6049-15A22D3353B9}"/>
              </a:ext>
            </a:extLst>
          </p:cNvPr>
          <p:cNvGrpSpPr/>
          <p:nvPr/>
        </p:nvGrpSpPr>
        <p:grpSpPr>
          <a:xfrm>
            <a:off x="4118571" y="3321970"/>
            <a:ext cx="4431570" cy="922336"/>
            <a:chOff x="1395616" y="871285"/>
            <a:chExt cx="3825734" cy="10641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8BB80F5-BF50-C0D2-25DF-59F695C7042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Adding App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24D9CE-F522-A342-1387-CC55E9C4494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D1B35-A18B-68D7-E07B-1A1A9AD2E859}"/>
              </a:ext>
            </a:extLst>
          </p:cNvPr>
          <p:cNvGrpSpPr/>
          <p:nvPr/>
        </p:nvGrpSpPr>
        <p:grpSpPr>
          <a:xfrm>
            <a:off x="4118571" y="5077693"/>
            <a:ext cx="4431570" cy="922336"/>
            <a:chOff x="1395616" y="871285"/>
            <a:chExt cx="4290329" cy="106413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BEC2032-A77D-A0B0-E149-A23467DC1CAA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60195D9-2B81-A5CA-17AA-E418FAD1D320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15C6-C2BC-F8B3-73CE-FEB48FB66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Microservice from postman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F1C54-8E03-60C7-9B24-9BC9CF50ED85}"/>
              </a:ext>
            </a:extLst>
          </p:cNvPr>
          <p:cNvSpPr txBox="1"/>
          <p:nvPr/>
        </p:nvSpPr>
        <p:spPr>
          <a:xfrm>
            <a:off x="160139" y="811178"/>
            <a:ext cx="11806237" cy="1630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063" indent="-457063">
              <a:buFontTx/>
              <a:buAutoNum type="arabicPeriod"/>
              <a:defRPr/>
            </a:pPr>
            <a:r>
              <a:rPr lang="en-US" sz="1999" kern="0" dirty="0">
                <a:solidFill>
                  <a:prstClr val="white"/>
                </a:solidFill>
                <a:latin typeface="Segoe UI"/>
              </a:rPr>
              <a:t>After the deployment, we open the postman tool and try to access resource with URL /vendor </a:t>
            </a:r>
            <a:r>
              <a:rPr lang="en-US" sz="1999" kern="0" dirty="0" err="1">
                <a:solidFill>
                  <a:prstClr val="white"/>
                </a:solidFill>
                <a:latin typeface="Segoe UI"/>
              </a:rPr>
              <a:t>url</a:t>
            </a:r>
            <a:r>
              <a:rPr lang="en-US" sz="1999" kern="0" dirty="0">
                <a:solidFill>
                  <a:prstClr val="white"/>
                </a:solidFill>
                <a:latin typeface="Segoe UI"/>
              </a:rPr>
              <a:t>, it gives unauthenticated.</a:t>
            </a:r>
          </a:p>
          <a:p>
            <a:pPr marL="457063" indent="-457063">
              <a:buFontTx/>
              <a:buAutoNum type="arabicPeriod"/>
              <a:defRPr/>
            </a:pPr>
            <a:r>
              <a:rPr lang="en-US" sz="1999" kern="0" dirty="0">
                <a:solidFill>
                  <a:prstClr val="white"/>
                </a:solidFill>
                <a:latin typeface="Segoe UI"/>
              </a:rPr>
              <a:t>We need to obtain access token so we went to authorization table and added the OAuth2.0 option and provided</a:t>
            </a:r>
          </a:p>
          <a:p>
            <a:pPr>
              <a:defRPr/>
            </a:pPr>
            <a:endParaRPr lang="en-IN" sz="1999" kern="0" dirty="0">
              <a:solidFill>
                <a:prstClr val="white"/>
              </a:solidFill>
              <a:latin typeface="Segoe UI"/>
            </a:endParaRP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A1C8B054-AC28-43FF-46FA-F411BBD3FD51}"/>
              </a:ext>
            </a:extLst>
          </p:cNvPr>
          <p:cNvGraphicFramePr>
            <a:graphicFrameLocks noGrp="1"/>
          </p:cNvGraphicFramePr>
          <p:nvPr/>
        </p:nvGraphicFramePr>
        <p:xfrm>
          <a:off x="180860" y="2236348"/>
          <a:ext cx="11644514" cy="2965944"/>
        </p:xfrm>
        <a:graphic>
          <a:graphicData uri="http://schemas.openxmlformats.org/drawingml/2006/table">
            <a:tbl>
              <a:tblPr firstRow="1" bandRow="1"/>
              <a:tblGrid>
                <a:gridCol w="3290785">
                  <a:extLst>
                    <a:ext uri="{9D8B030D-6E8A-4147-A177-3AD203B41FA5}">
                      <a16:colId xmlns:a16="http://schemas.microsoft.com/office/drawing/2014/main" val="686647361"/>
                    </a:ext>
                  </a:extLst>
                </a:gridCol>
                <a:gridCol w="8353729">
                  <a:extLst>
                    <a:ext uri="{9D8B030D-6E8A-4147-A177-3AD203B41FA5}">
                      <a16:colId xmlns:a16="http://schemas.microsoft.com/office/drawing/2014/main" val="2464886500"/>
                    </a:ext>
                  </a:extLst>
                </a:gridCol>
              </a:tblGrid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Properties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/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972069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Token Name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BTPJWTToken</a:t>
                      </a:r>
                      <a:endParaRPr lang="en-US" sz="1600" dirty="0"/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289465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Grant Type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Password credentials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3752812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Access Token URL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Service key of </a:t>
                      </a:r>
                      <a:r>
                        <a:rPr lang="en-US" sz="1600" dirty="0" err="1"/>
                        <a:t>xsuaa</a:t>
                      </a:r>
                      <a:r>
                        <a:rPr lang="en-US" sz="1600" dirty="0"/>
                        <a:t> – </a:t>
                      </a:r>
                      <a:r>
                        <a:rPr lang="en-US" sz="1600" dirty="0" err="1"/>
                        <a:t>url</a:t>
                      </a:r>
                      <a:r>
                        <a:rPr lang="en-US" sz="1600" dirty="0"/>
                        <a:t>, append </a:t>
                      </a: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oauth</a:t>
                      </a:r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/token</a:t>
                      </a:r>
                      <a:endParaRPr lang="en-US" sz="1600" b="1" dirty="0"/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87099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Client Id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Service key – </a:t>
                      </a:r>
                      <a:r>
                        <a:rPr lang="en-US" sz="1600" dirty="0" err="1"/>
                        <a:t>client_id</a:t>
                      </a:r>
                      <a:endParaRPr lang="en-US" sz="1600" dirty="0"/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269835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Client Secret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Service key – </a:t>
                      </a:r>
                      <a:r>
                        <a:rPr lang="en-US" sz="1600" dirty="0" err="1"/>
                        <a:t>client_secret</a:t>
                      </a:r>
                      <a:endParaRPr lang="en-US" sz="1600" dirty="0"/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203588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Username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Our BTP account user id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788176"/>
                  </a:ext>
                </a:extLst>
              </a:tr>
              <a:tr h="370743"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Password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1pPr>
                      <a:lvl2pPr marL="60949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2pPr>
                      <a:lvl3pPr marL="121898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3pPr>
                      <a:lvl4pPr marL="182848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4pPr>
                      <a:lvl5pPr marL="243797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5pPr>
                      <a:lvl6pPr marL="304746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6pPr>
                      <a:lvl7pPr marL="3656960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7pPr>
                      <a:lvl8pPr marL="4266453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8pPr>
                      <a:lvl9pPr marL="4875947" algn="l" defTabSz="1218987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Segoe UI"/>
                        </a:defRPr>
                      </a:lvl9pPr>
                    </a:lstStyle>
                    <a:p>
                      <a:r>
                        <a:rPr lang="en-US" sz="1600" dirty="0"/>
                        <a:t>Our BTP account password</a:t>
                      </a:r>
                    </a:p>
                  </a:txBody>
                  <a:tcPr marL="91416" marR="91416" marT="45708" marB="45708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2B5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584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B5595D-B4F0-BA65-4DAB-48724BA32027}"/>
              </a:ext>
            </a:extLst>
          </p:cNvPr>
          <p:cNvSpPr txBox="1"/>
          <p:nvPr/>
        </p:nvSpPr>
        <p:spPr>
          <a:xfrm>
            <a:off x="160139" y="5234036"/>
            <a:ext cx="11922315" cy="1569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3. Call get token and choose use token button once token was fetched.</a:t>
            </a:r>
          </a:p>
          <a:p>
            <a:pPr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4. Again make get request for /vendor, and we should get response.</a:t>
            </a:r>
          </a:p>
          <a:p>
            <a:pPr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5. If we try </a:t>
            </a:r>
            <a:r>
              <a:rPr lang="en-US" sz="1600" kern="0">
                <a:solidFill>
                  <a:prstClr val="white"/>
                </a:solidFill>
                <a:latin typeface="Segoe UI"/>
              </a:rPr>
              <a:t>/vendor/, </a:t>
            </a:r>
            <a:r>
              <a:rPr lang="en-US" sz="1600" kern="0" dirty="0">
                <a:solidFill>
                  <a:prstClr val="white"/>
                </a:solidFill>
                <a:latin typeface="Segoe UI"/>
              </a:rPr>
              <a:t>it will not work because, we are looking for Role. </a:t>
            </a:r>
          </a:p>
          <a:p>
            <a:pPr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6. Went to BTP subaccount and created a Role collection, added the role template and assign same to our user</a:t>
            </a:r>
          </a:p>
          <a:p>
            <a:pPr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7. Again get the token and try to access end point for OData, this time it works.</a:t>
            </a:r>
          </a:p>
          <a:p>
            <a:pPr>
              <a:defRPr/>
            </a:pPr>
            <a:endParaRPr lang="en-IN" sz="1600" kern="0" dirty="0">
              <a:solidFill>
                <a:prstClr val="white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3354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Current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96D8E-6200-6FFF-317A-54B3F37144BC}"/>
              </a:ext>
            </a:extLst>
          </p:cNvPr>
          <p:cNvSpPr txBox="1"/>
          <p:nvPr/>
        </p:nvSpPr>
        <p:spPr>
          <a:xfrm>
            <a:off x="191294" y="837387"/>
            <a:ext cx="118062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indent="-342797">
              <a:buFontTx/>
              <a:buChar char="-"/>
              <a:defRPr/>
            </a:pPr>
            <a:r>
              <a:rPr lang="en-US" sz="1800" kern="0" dirty="0">
                <a:solidFill>
                  <a:prstClr val="white"/>
                </a:solidFill>
                <a:latin typeface="Segoe UI"/>
              </a:rPr>
              <a:t>Did you notice, that we need to first pass lots of technical details from service key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Pass all the info in correct manner to postman to obtain token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Once the token expired, we need to reobtain again and again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Our </a:t>
            </a:r>
            <a:r>
              <a:rPr lang="en-IN" sz="1800" b="1" kern="0" dirty="0">
                <a:solidFill>
                  <a:prstClr val="white"/>
                </a:solidFill>
                <a:latin typeface="Segoe UI"/>
              </a:rPr>
              <a:t>end user 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do not know all this. Automate the XSUAA JWT token processing.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In our app, we will have multiple microservices, like java, sap ui5, node app, </a:t>
            </a:r>
            <a:r>
              <a:rPr lang="en-IN" sz="1800" kern="0" dirty="0" err="1">
                <a:solidFill>
                  <a:prstClr val="white"/>
                </a:solidFill>
                <a:latin typeface="Segoe UI"/>
              </a:rPr>
              <a:t>xsuaa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…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Each service produce one end point e.g. /vendors, /index.html, /customers, they all logically belongs to same app. Will you give 3 </a:t>
            </a:r>
            <a:r>
              <a:rPr lang="en-IN" sz="1800" kern="0" dirty="0" err="1">
                <a:solidFill>
                  <a:prstClr val="white"/>
                </a:solidFill>
                <a:latin typeface="Segoe UI"/>
              </a:rPr>
              <a:t>url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 to our user to access these apps?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These microservices also needs to communicate with each other. Provided we give a single end point to access our entire app to end user.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We want to complete redirect mechanism to let user go to login screen, authenticate on IDP and exchange of all the tokens should be seamless behind the scenes.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We need a </a:t>
            </a:r>
            <a:r>
              <a:rPr lang="en-IN" sz="1800" b="1" kern="0" dirty="0">
                <a:solidFill>
                  <a:prstClr val="white"/>
                </a:solidFill>
                <a:latin typeface="Segoe UI"/>
              </a:rPr>
              <a:t>single entry 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point for entire app, </a:t>
            </a:r>
            <a:r>
              <a:rPr lang="en-IN" sz="1800" kern="0" dirty="0" err="1">
                <a:solidFill>
                  <a:prstClr val="white"/>
                </a:solidFill>
                <a:latin typeface="Segoe UI"/>
              </a:rPr>
              <a:t>forwardAuth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 tokens should be done automatic.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0E049D-A442-373C-AC02-8012B77C7E77}"/>
              </a:ext>
            </a:extLst>
          </p:cNvPr>
          <p:cNvSpPr/>
          <p:nvPr/>
        </p:nvSpPr>
        <p:spPr>
          <a:xfrm>
            <a:off x="3070864" y="4569660"/>
            <a:ext cx="5327204" cy="863871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Application router</a:t>
            </a:r>
          </a:p>
          <a:p>
            <a:pPr algn="ctr"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(Provide single entry point, exchange auth token,</a:t>
            </a:r>
          </a:p>
          <a:p>
            <a:pPr algn="ctr"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Communicate between microservices, like a facade)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ED52A723-E120-C2D3-AF27-A7F5275D1592}"/>
              </a:ext>
            </a:extLst>
          </p:cNvPr>
          <p:cNvSpPr/>
          <p:nvPr/>
        </p:nvSpPr>
        <p:spPr>
          <a:xfrm>
            <a:off x="551240" y="4569660"/>
            <a:ext cx="575914" cy="503925"/>
          </a:xfrm>
          <a:prstGeom prst="smileyFace">
            <a:avLst/>
          </a:prstGeom>
          <a:solidFill>
            <a:srgbClr val="38C6C6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sz="2399" kern="0" dirty="0">
              <a:solidFill>
                <a:prstClr val="white"/>
              </a:solidFill>
              <a:latin typeface="Segoe UI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D211C58-732F-B6F2-EA91-BBD27364F9F8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1127154" y="4821622"/>
            <a:ext cx="1943710" cy="179973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08CAFA-0D77-5FB6-FFEA-74B15D948AC0}"/>
              </a:ext>
            </a:extLst>
          </p:cNvPr>
          <p:cNvSpPr txBox="1"/>
          <p:nvPr/>
        </p:nvSpPr>
        <p:spPr>
          <a:xfrm>
            <a:off x="1551735" y="4506861"/>
            <a:ext cx="1176870" cy="46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99" b="1" kern="0" dirty="0" err="1">
                <a:solidFill>
                  <a:prstClr val="white"/>
                </a:solidFill>
                <a:latin typeface="Segoe UI"/>
              </a:rPr>
              <a:t>url</a:t>
            </a:r>
            <a:endParaRPr lang="en-US" sz="2399" b="1" kern="0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27F3B-16BC-4EBD-1929-1FB9B9D8263A}"/>
              </a:ext>
            </a:extLst>
          </p:cNvPr>
          <p:cNvSpPr/>
          <p:nvPr/>
        </p:nvSpPr>
        <p:spPr>
          <a:xfrm>
            <a:off x="3070863" y="5865466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Java</a:t>
            </a:r>
          </a:p>
          <a:p>
            <a:pPr algn="ctr">
              <a:defRPr/>
            </a:pPr>
            <a:r>
              <a:rPr lang="en-US" sz="1800" kern="0" dirty="0">
                <a:solidFill>
                  <a:prstClr val="white"/>
                </a:solidFill>
                <a:latin typeface="Segoe UI"/>
              </a:rPr>
              <a:t>/</a:t>
            </a:r>
            <a:r>
              <a:rPr lang="en-US" sz="1800" kern="0" dirty="0" err="1">
                <a:solidFill>
                  <a:prstClr val="white"/>
                </a:solidFill>
                <a:latin typeface="Segoe UI"/>
              </a:rPr>
              <a:t>Anubhav.svc</a:t>
            </a:r>
            <a:endParaRPr lang="en-US" sz="1800" kern="0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7A687B-65C1-D483-3BDB-F2A80C69C337}"/>
              </a:ext>
            </a:extLst>
          </p:cNvPr>
          <p:cNvSpPr/>
          <p:nvPr/>
        </p:nvSpPr>
        <p:spPr>
          <a:xfrm>
            <a:off x="4918521" y="5877301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UI5 App</a:t>
            </a:r>
          </a:p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/index.html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5C6B4-D300-0754-D47C-612609044B7E}"/>
              </a:ext>
            </a:extLst>
          </p:cNvPr>
          <p:cNvSpPr/>
          <p:nvPr/>
        </p:nvSpPr>
        <p:spPr>
          <a:xfrm>
            <a:off x="6766179" y="5882708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Node</a:t>
            </a:r>
          </a:p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/customer</a:t>
            </a:r>
          </a:p>
        </p:txBody>
      </p:sp>
      <p:sp>
        <p:nvSpPr>
          <p:cNvPr id="11" name="Arrow: U-Turn 10">
            <a:extLst>
              <a:ext uri="{FF2B5EF4-FFF2-40B4-BE49-F238E27FC236}">
                <a16:creationId xmlns:a16="http://schemas.microsoft.com/office/drawing/2014/main" id="{E4B8BD5C-48FD-A35A-0B18-BD7062293ABD}"/>
              </a:ext>
            </a:extLst>
          </p:cNvPr>
          <p:cNvSpPr/>
          <p:nvPr/>
        </p:nvSpPr>
        <p:spPr>
          <a:xfrm>
            <a:off x="4357055" y="5454742"/>
            <a:ext cx="1403790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2000" kern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F56615D-E0AA-8001-F926-EFE113DA1DC8}"/>
              </a:ext>
            </a:extLst>
          </p:cNvPr>
          <p:cNvSpPr/>
          <p:nvPr/>
        </p:nvSpPr>
        <p:spPr>
          <a:xfrm>
            <a:off x="6394452" y="5458737"/>
            <a:ext cx="1403790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2000" kern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BB3AC61-254F-0D4F-D268-3CE08494DF47}"/>
              </a:ext>
            </a:extLst>
          </p:cNvPr>
          <p:cNvSpPr/>
          <p:nvPr/>
        </p:nvSpPr>
        <p:spPr>
          <a:xfrm flipH="1">
            <a:off x="3403197" y="5470725"/>
            <a:ext cx="1655753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2000" kern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0A3C6A81-904C-67EA-C3E0-196F54E4957F}"/>
              </a:ext>
            </a:extLst>
          </p:cNvPr>
          <p:cNvSpPr/>
          <p:nvPr/>
        </p:nvSpPr>
        <p:spPr>
          <a:xfrm flipH="1">
            <a:off x="5205592" y="5495173"/>
            <a:ext cx="2132065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2000" kern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F8EA13-DC47-5B7A-30A8-1765E352D908}"/>
              </a:ext>
            </a:extLst>
          </p:cNvPr>
          <p:cNvSpPr/>
          <p:nvPr/>
        </p:nvSpPr>
        <p:spPr>
          <a:xfrm>
            <a:off x="9909842" y="4876096"/>
            <a:ext cx="1727742" cy="594629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399" kern="0" dirty="0" err="1">
                <a:solidFill>
                  <a:prstClr val="white"/>
                </a:solidFill>
                <a:latin typeface="Segoe UI"/>
              </a:rPr>
              <a:t>xsuaa</a:t>
            </a:r>
            <a:endParaRPr lang="en-US" sz="2399" kern="0" dirty="0">
              <a:solidFill>
                <a:prstClr val="white"/>
              </a:solidFill>
              <a:latin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134498-0A01-D1F1-3812-5EB05D8E51B8}"/>
              </a:ext>
            </a:extLst>
          </p:cNvPr>
          <p:cNvCxnSpPr>
            <a:stCxn id="4" idx="3"/>
          </p:cNvCxnSpPr>
          <p:nvPr/>
        </p:nvCxnSpPr>
        <p:spPr>
          <a:xfrm>
            <a:off x="8398068" y="5001595"/>
            <a:ext cx="1511774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8F7DE8-70C0-0093-4FE0-0EB19E88027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421932" y="5173411"/>
            <a:ext cx="148791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6310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App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125C8-EE73-BED6-16B3-BB424E7483AB}"/>
              </a:ext>
            </a:extLst>
          </p:cNvPr>
          <p:cNvSpPr txBox="1"/>
          <p:nvPr/>
        </p:nvSpPr>
        <p:spPr>
          <a:xfrm>
            <a:off x="161034" y="909378"/>
            <a:ext cx="11806237" cy="452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It is a Node JS Application 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It is used to automate the process of authentication, authorization with XSUAA to do token exchange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It sits in the middle of IDP and XSUAA, it will redirect the request to our microservice to </a:t>
            </a:r>
            <a:r>
              <a:rPr lang="en-US" sz="2399" dirty="0" err="1">
                <a:solidFill>
                  <a:prstClr val="white"/>
                </a:solidFill>
                <a:latin typeface="Segoe UI"/>
              </a:rPr>
              <a:t>xsuaa</a:t>
            </a:r>
            <a:r>
              <a:rPr lang="en-US" sz="2399" dirty="0">
                <a:solidFill>
                  <a:prstClr val="white"/>
                </a:solidFill>
                <a:latin typeface="Segoe UI"/>
              </a:rPr>
              <a:t>, and eventually to </a:t>
            </a:r>
            <a:r>
              <a:rPr lang="en-US" sz="2399" dirty="0" err="1">
                <a:solidFill>
                  <a:prstClr val="white"/>
                </a:solidFill>
                <a:latin typeface="Segoe UI"/>
              </a:rPr>
              <a:t>idp</a:t>
            </a:r>
            <a:endParaRPr lang="en-US" sz="2399" dirty="0">
              <a:solidFill>
                <a:prstClr val="white"/>
              </a:solidFill>
              <a:latin typeface="Segoe UI"/>
            </a:endParaRP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IDP sends the login screen to the user, user authenticates, which is taken to XSUAA, XSUAA issues JWT Token, this JWT token is presented to </a:t>
            </a:r>
            <a:r>
              <a:rPr lang="en-US" sz="2399" dirty="0" err="1">
                <a:solidFill>
                  <a:prstClr val="white"/>
                </a:solidFill>
                <a:latin typeface="Segoe UI"/>
              </a:rPr>
              <a:t>api</a:t>
            </a:r>
            <a:r>
              <a:rPr lang="en-US" sz="2399" dirty="0">
                <a:solidFill>
                  <a:prstClr val="white"/>
                </a:solidFill>
                <a:latin typeface="Segoe UI"/>
              </a:rPr>
              <a:t> end points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App Router takes the JWT token from XSUAA and gives it to our microservices and even exchange this token to multiple microservices inside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It Serves as a single entry point for the entire app.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IN" sz="2399" dirty="0">
                <a:solidFill>
                  <a:prstClr val="white"/>
                </a:solidFill>
                <a:latin typeface="Segoe UI"/>
              </a:rPr>
              <a:t>To tell app router about our multiple microservices so that it can re-direct, we need to create a configuration file named as </a:t>
            </a:r>
            <a:r>
              <a:rPr lang="en-IN" sz="2399" b="1" dirty="0" err="1">
                <a:solidFill>
                  <a:prstClr val="white"/>
                </a:solidFill>
                <a:latin typeface="Segoe UI"/>
              </a:rPr>
              <a:t>xs-app.json</a:t>
            </a:r>
            <a:r>
              <a:rPr lang="en-IN" sz="2399" dirty="0">
                <a:solidFill>
                  <a:prstClr val="white"/>
                </a:solidFill>
                <a:latin typeface="Segoe UI"/>
              </a:rPr>
              <a:t> which contains the details.</a:t>
            </a:r>
          </a:p>
        </p:txBody>
      </p:sp>
    </p:spTree>
    <p:extLst>
      <p:ext uri="{BB962C8B-B14F-4D97-AF65-F5344CB8AC3E}">
        <p14:creationId xmlns:p14="http://schemas.microsoft.com/office/powerpoint/2010/main" val="3319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Real World Example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EA533E-B375-495B-C297-1E34514386FD}"/>
              </a:ext>
            </a:extLst>
          </p:cNvPr>
          <p:cNvSpPr/>
          <p:nvPr/>
        </p:nvSpPr>
        <p:spPr>
          <a:xfrm>
            <a:off x="10028249" y="2829492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Loan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36DB1B-5BB2-1C6B-1C9A-FD527662AD3B}"/>
              </a:ext>
            </a:extLst>
          </p:cNvPr>
          <p:cNvSpPr/>
          <p:nvPr/>
        </p:nvSpPr>
        <p:spPr>
          <a:xfrm>
            <a:off x="10028249" y="346482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Credit Card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9C15EF-FC9E-DC26-ADB2-5A8A7913CF1E}"/>
              </a:ext>
            </a:extLst>
          </p:cNvPr>
          <p:cNvSpPr/>
          <p:nvPr/>
        </p:nvSpPr>
        <p:spPr>
          <a:xfrm>
            <a:off x="10028249" y="410015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Deposit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56AC6-451F-9EFC-F182-E64D4AF591B1}"/>
              </a:ext>
            </a:extLst>
          </p:cNvPr>
          <p:cNvSpPr/>
          <p:nvPr/>
        </p:nvSpPr>
        <p:spPr>
          <a:xfrm>
            <a:off x="10053820" y="4735484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Draft/Cheque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111B6E-46C2-C252-ED42-B0E715054D58}"/>
              </a:ext>
            </a:extLst>
          </p:cNvPr>
          <p:cNvSpPr/>
          <p:nvPr/>
        </p:nvSpPr>
        <p:spPr>
          <a:xfrm>
            <a:off x="10053964" y="5366291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FD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13BAD-A756-CE90-30A2-C455D59C0ACA}"/>
              </a:ext>
            </a:extLst>
          </p:cNvPr>
          <p:cNvSpPr/>
          <p:nvPr/>
        </p:nvSpPr>
        <p:spPr>
          <a:xfrm>
            <a:off x="10053820" y="6020613"/>
            <a:ext cx="1943710" cy="575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Locker</a:t>
            </a: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070111FB-6C2D-B285-7982-7544388F45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7645" y="1353879"/>
            <a:ext cx="1083615" cy="108361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C93980-FD63-3685-BA93-DA4037E2A56F}"/>
              </a:ext>
            </a:extLst>
          </p:cNvPr>
          <p:cNvSpPr txBox="1"/>
          <p:nvPr/>
        </p:nvSpPr>
        <p:spPr>
          <a:xfrm>
            <a:off x="335272" y="1032062"/>
            <a:ext cx="1295806" cy="30777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defTabSz="1218621"/>
            <a:r>
              <a:rPr lang="en-US" sz="1400" b="1" dirty="0">
                <a:solidFill>
                  <a:prstClr val="white"/>
                </a:solidFill>
                <a:latin typeface="Segoe UI"/>
              </a:rPr>
              <a:t>Customer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57B6AB-C7CA-2A1B-233F-9F9C7D532060}"/>
              </a:ext>
            </a:extLst>
          </p:cNvPr>
          <p:cNvCxnSpPr>
            <a:cxnSpLocks/>
          </p:cNvCxnSpPr>
          <p:nvPr/>
        </p:nvCxnSpPr>
        <p:spPr>
          <a:xfrm flipV="1">
            <a:off x="1455662" y="1629270"/>
            <a:ext cx="416922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4B0383D5-7DD1-02CF-EEBC-88D4D49862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5590487" y="1235015"/>
            <a:ext cx="1655753" cy="2289552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2548D8D-B1BC-D516-A585-B01B1881E525}"/>
              </a:ext>
            </a:extLst>
          </p:cNvPr>
          <p:cNvSpPr/>
          <p:nvPr/>
        </p:nvSpPr>
        <p:spPr>
          <a:xfrm>
            <a:off x="2710918" y="140746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39DA18-89FF-2842-5B78-64BDA3DF7C96}"/>
              </a:ext>
            </a:extLst>
          </p:cNvPr>
          <p:cNvCxnSpPr/>
          <p:nvPr/>
        </p:nvCxnSpPr>
        <p:spPr>
          <a:xfrm flipH="1">
            <a:off x="1455660" y="1773247"/>
            <a:ext cx="413482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picture containing text, parking, machine, meter&#10;&#10;Description automatically generated">
            <a:extLst>
              <a:ext uri="{FF2B5EF4-FFF2-40B4-BE49-F238E27FC236}">
                <a16:creationId xmlns:a16="http://schemas.microsoft.com/office/drawing/2014/main" id="{BBC0DADA-D9A2-DA21-95E2-18E03C3AFF1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3824" y="3730119"/>
            <a:ext cx="1711332" cy="123169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8F7EAB-F03E-4A39-6E1E-14A442C77DC0}"/>
              </a:ext>
            </a:extLst>
          </p:cNvPr>
          <p:cNvSpPr txBox="1"/>
          <p:nvPr/>
        </p:nvSpPr>
        <p:spPr>
          <a:xfrm>
            <a:off x="1331345" y="6857107"/>
            <a:ext cx="9526138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defTabSz="1218621"/>
            <a:r>
              <a:rPr lang="en-US" sz="800">
                <a:solidFill>
                  <a:prstClr val="black"/>
                </a:solidFill>
                <a:latin typeface="Segoe UI"/>
                <a:hlinkClick r:id="rId7" tooltip="https://www.flickr.com/photos/jeepersmedia/14765960308/"/>
              </a:rPr>
              <a:t>This Photo</a:t>
            </a:r>
            <a:r>
              <a:rPr lang="en-US" sz="800">
                <a:solidFill>
                  <a:prstClr val="black"/>
                </a:solidFill>
                <a:latin typeface="Segoe UI"/>
              </a:rPr>
              <a:t> by Unknown Author is licensed under </a:t>
            </a:r>
            <a:r>
              <a:rPr lang="en-US" sz="800">
                <a:solidFill>
                  <a:prstClr val="black"/>
                </a:solidFill>
                <a:latin typeface="Segoe UI"/>
                <a:hlinkClick r:id="rId8" tooltip="https://creativecommons.org/licenses/by/3.0/"/>
              </a:rPr>
              <a:t>CC BY</a:t>
            </a:r>
            <a:endParaRPr lang="en-US" sz="800">
              <a:solidFill>
                <a:prstClr val="black"/>
              </a:solidFill>
              <a:latin typeface="Segoe U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A2B9F5-841F-1EDB-859C-2C5C4A5C5C4D}"/>
              </a:ext>
            </a:extLst>
          </p:cNvPr>
          <p:cNvCxnSpPr>
            <a:stCxn id="9" idx="2"/>
            <a:endCxn id="15" idx="0"/>
          </p:cNvCxnSpPr>
          <p:nvPr/>
        </p:nvCxnSpPr>
        <p:spPr>
          <a:xfrm>
            <a:off x="879453" y="2437494"/>
            <a:ext cx="10038" cy="129262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985EF3C-623F-4F13-28C8-8E3CB3B1508E}"/>
              </a:ext>
            </a:extLst>
          </p:cNvPr>
          <p:cNvSpPr/>
          <p:nvPr/>
        </p:nvSpPr>
        <p:spPr>
          <a:xfrm>
            <a:off x="33824" y="5714346"/>
            <a:ext cx="1711332" cy="40374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*******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E0C267-9B09-10B0-9791-36B97BFC1EBE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>
            <a:off x="889490" y="4961810"/>
            <a:ext cx="0" cy="75253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1E8ADA-FBDB-0223-EDFA-0297C75D10B6}"/>
              </a:ext>
            </a:extLst>
          </p:cNvPr>
          <p:cNvCxnSpPr/>
          <p:nvPr/>
        </p:nvCxnSpPr>
        <p:spPr>
          <a:xfrm flipV="1">
            <a:off x="695218" y="4961811"/>
            <a:ext cx="0" cy="69243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C01570-9A95-69A1-4B28-816A639DDD18}"/>
              </a:ext>
            </a:extLst>
          </p:cNvPr>
          <p:cNvCxnSpPr/>
          <p:nvPr/>
        </p:nvCxnSpPr>
        <p:spPr>
          <a:xfrm flipV="1">
            <a:off x="695218" y="2379793"/>
            <a:ext cx="0" cy="135032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261E608-4361-CED8-02D4-02A054BCDE60}"/>
              </a:ext>
            </a:extLst>
          </p:cNvPr>
          <p:cNvSpPr/>
          <p:nvPr/>
        </p:nvSpPr>
        <p:spPr>
          <a:xfrm>
            <a:off x="767208" y="2822672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82C6420-EF79-3831-013D-B5E561219E1F}"/>
              </a:ext>
            </a:extLst>
          </p:cNvPr>
          <p:cNvSpPr/>
          <p:nvPr/>
        </p:nvSpPr>
        <p:spPr>
          <a:xfrm>
            <a:off x="767208" y="506962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FC0A25E-C437-DE46-D027-B5EEDF3E96D1}"/>
              </a:ext>
            </a:extLst>
          </p:cNvPr>
          <p:cNvSpPr/>
          <p:nvPr/>
        </p:nvSpPr>
        <p:spPr>
          <a:xfrm>
            <a:off x="353831" y="2497591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4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9305B0-C4D4-BBB5-2BA2-513DB9C20447}"/>
              </a:ext>
            </a:extLst>
          </p:cNvPr>
          <p:cNvCxnSpPr>
            <a:cxnSpLocks/>
          </p:cNvCxnSpPr>
          <p:nvPr/>
        </p:nvCxnSpPr>
        <p:spPr>
          <a:xfrm flipV="1">
            <a:off x="1455662" y="2157385"/>
            <a:ext cx="4169229" cy="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FEABC96-1E27-2553-2C0E-81F675867AD1}"/>
              </a:ext>
            </a:extLst>
          </p:cNvPr>
          <p:cNvSpPr/>
          <p:nvPr/>
        </p:nvSpPr>
        <p:spPr>
          <a:xfrm>
            <a:off x="2710918" y="1935578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5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E5881B-F0FD-D913-199F-D4A478F6245D}"/>
              </a:ext>
            </a:extLst>
          </p:cNvPr>
          <p:cNvCxnSpPr/>
          <p:nvPr/>
        </p:nvCxnSpPr>
        <p:spPr>
          <a:xfrm flipH="1">
            <a:off x="1455660" y="2301362"/>
            <a:ext cx="413482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iamond 27">
            <a:extLst>
              <a:ext uri="{FF2B5EF4-FFF2-40B4-BE49-F238E27FC236}">
                <a16:creationId xmlns:a16="http://schemas.microsoft.com/office/drawing/2014/main" id="{FA6C84D5-C8B3-EF20-9779-10988BAB0E5E}"/>
              </a:ext>
            </a:extLst>
          </p:cNvPr>
          <p:cNvSpPr/>
          <p:nvPr/>
        </p:nvSpPr>
        <p:spPr>
          <a:xfrm>
            <a:off x="3565018" y="4106792"/>
            <a:ext cx="503925" cy="441663"/>
          </a:xfrm>
          <a:prstGeom prst="diamond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000">
              <a:solidFill>
                <a:prstClr val="white"/>
              </a:solidFill>
              <a:latin typeface="Segoe UI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03073B4-532F-029D-E7D7-E8DC1BE72DA2}"/>
              </a:ext>
            </a:extLst>
          </p:cNvPr>
          <p:cNvCxnSpPr>
            <a:cxnSpLocks/>
          </p:cNvCxnSpPr>
          <p:nvPr/>
        </p:nvCxnSpPr>
        <p:spPr>
          <a:xfrm rot="5400000">
            <a:off x="3636952" y="1572099"/>
            <a:ext cx="821397" cy="4673208"/>
          </a:xfrm>
          <a:prstGeom prst="bentConnector2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 picture containing text&#10;&#10;Description automatically generated">
            <a:extLst>
              <a:ext uri="{FF2B5EF4-FFF2-40B4-BE49-F238E27FC236}">
                <a16:creationId xmlns:a16="http://schemas.microsoft.com/office/drawing/2014/main" id="{610ED705-5F91-9684-7A85-131C1315877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257768" y="1999585"/>
            <a:ext cx="431936" cy="55974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1" name="Picture 30" descr="A picture containing text&#10;&#10;Description automatically generated">
            <a:extLst>
              <a:ext uri="{FF2B5EF4-FFF2-40B4-BE49-F238E27FC236}">
                <a16:creationId xmlns:a16="http://schemas.microsoft.com/office/drawing/2014/main" id="{9D09D388-92C2-4B3D-2938-BA9ADE40A1D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3550" y="2799284"/>
            <a:ext cx="431936" cy="55974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D4978EF-301C-D1F9-60A5-32128B305C89}"/>
              </a:ext>
            </a:extLst>
          </p:cNvPr>
          <p:cNvSpPr txBox="1"/>
          <p:nvPr/>
        </p:nvSpPr>
        <p:spPr>
          <a:xfrm>
            <a:off x="4210611" y="4038269"/>
            <a:ext cx="260463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1218621"/>
            <a:r>
              <a:rPr lang="en-US" sz="1200" b="1" dirty="0">
                <a:solidFill>
                  <a:prstClr val="white"/>
                </a:solidFill>
                <a:latin typeface="Segoe UI"/>
              </a:rPr>
              <a:t>Validate, trust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BCB7C48-AB34-D89B-8A58-C1CFCFF03C7A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415111" y="2541519"/>
            <a:ext cx="8638710" cy="3767051"/>
          </a:xfrm>
          <a:prstGeom prst="bentConnector3">
            <a:avLst>
              <a:gd name="adj1" fmla="val 20302"/>
            </a:avLst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9ADEEA6-DAB4-08D6-6030-E0AC8755794A}"/>
              </a:ext>
            </a:extLst>
          </p:cNvPr>
          <p:cNvSpPr/>
          <p:nvPr/>
        </p:nvSpPr>
        <p:spPr>
          <a:xfrm>
            <a:off x="5698471" y="4035271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6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E616A7-4B52-402C-9497-6CF8B4621C2A}"/>
              </a:ext>
            </a:extLst>
          </p:cNvPr>
          <p:cNvSpPr/>
          <p:nvPr/>
        </p:nvSpPr>
        <p:spPr>
          <a:xfrm>
            <a:off x="6168285" y="6017074"/>
            <a:ext cx="431935" cy="42797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r>
              <a:rPr lang="en-US" sz="2000" dirty="0">
                <a:solidFill>
                  <a:prstClr val="white"/>
                </a:solidFill>
                <a:latin typeface="Segoe UI"/>
              </a:rPr>
              <a:t>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EBD12E5-9E62-431B-3017-422731D97512}"/>
                  </a:ext>
                </a:extLst>
              </p14:cNvPr>
              <p14:cNvContentPartPr/>
              <p14:nvPr/>
            </p14:nvContentPartPr>
            <p14:xfrm>
              <a:off x="5551848" y="1753881"/>
              <a:ext cx="43909" cy="33111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EBD12E5-9E62-431B-3017-422731D975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42923" y="1744883"/>
                <a:ext cx="61401" cy="5074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568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Current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796D8E-6200-6FFF-317A-54B3F37144BC}"/>
              </a:ext>
            </a:extLst>
          </p:cNvPr>
          <p:cNvSpPr txBox="1"/>
          <p:nvPr/>
        </p:nvSpPr>
        <p:spPr>
          <a:xfrm>
            <a:off x="191294" y="837387"/>
            <a:ext cx="118062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indent="-342797">
              <a:buFontTx/>
              <a:buChar char="-"/>
              <a:defRPr/>
            </a:pPr>
            <a:r>
              <a:rPr lang="en-US" sz="1800" kern="0" dirty="0">
                <a:solidFill>
                  <a:prstClr val="white"/>
                </a:solidFill>
                <a:latin typeface="Segoe UI"/>
              </a:rPr>
              <a:t>Did you notice, that we need to first pass lots of technical details from service key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Pass all the info in correct manner to postman to obtain token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Once the token expired, we need to reobtain again and again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Our </a:t>
            </a:r>
            <a:r>
              <a:rPr lang="en-IN" sz="1800" b="1" kern="0" dirty="0">
                <a:solidFill>
                  <a:prstClr val="white"/>
                </a:solidFill>
                <a:latin typeface="Segoe UI"/>
              </a:rPr>
              <a:t>end user 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do not know all this. Automate the XSUAA JWT token processing.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In our app, we will have multiple microservices, like java, sap ui5, node app, </a:t>
            </a:r>
            <a:r>
              <a:rPr lang="en-IN" sz="1800" kern="0" dirty="0" err="1">
                <a:solidFill>
                  <a:prstClr val="white"/>
                </a:solidFill>
                <a:latin typeface="Segoe UI"/>
              </a:rPr>
              <a:t>xsuaa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…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Each service produce one end point e.g. /vendors, /index.html, /customers, they all logically belongs to same app. Will you give 3 </a:t>
            </a:r>
            <a:r>
              <a:rPr lang="en-IN" sz="1800" kern="0" dirty="0" err="1">
                <a:solidFill>
                  <a:prstClr val="white"/>
                </a:solidFill>
                <a:latin typeface="Segoe UI"/>
              </a:rPr>
              <a:t>url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 to our user to access these apps?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These microservices also needs to communicate with each other. Provided we give a single end point to access our entire app to end user.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We want to complete redirect mechanism to let user go to login screen, authenticate on IDP and exchange of all the tokens should be seamless behind the scenes.</a:t>
            </a:r>
          </a:p>
          <a:p>
            <a:pPr marL="342797" indent="-342797">
              <a:buFontTx/>
              <a:buChar char="-"/>
              <a:defRPr/>
            </a:pPr>
            <a:r>
              <a:rPr lang="en-IN" sz="1800" kern="0" dirty="0">
                <a:solidFill>
                  <a:prstClr val="white"/>
                </a:solidFill>
                <a:latin typeface="Segoe UI"/>
              </a:rPr>
              <a:t>We need a </a:t>
            </a:r>
            <a:r>
              <a:rPr lang="en-IN" sz="1800" b="1" kern="0" dirty="0">
                <a:solidFill>
                  <a:prstClr val="white"/>
                </a:solidFill>
                <a:latin typeface="Segoe UI"/>
              </a:rPr>
              <a:t>single entry 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point for entire app, </a:t>
            </a:r>
            <a:r>
              <a:rPr lang="en-IN" sz="1800" kern="0" dirty="0" err="1">
                <a:solidFill>
                  <a:prstClr val="white"/>
                </a:solidFill>
                <a:latin typeface="Segoe UI"/>
              </a:rPr>
              <a:t>forwardAuth</a:t>
            </a:r>
            <a:r>
              <a:rPr lang="en-IN" sz="1800" kern="0" dirty="0">
                <a:solidFill>
                  <a:prstClr val="white"/>
                </a:solidFill>
                <a:latin typeface="Segoe UI"/>
              </a:rPr>
              <a:t> tokens should be done automatic.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0E049D-A442-373C-AC02-8012B77C7E77}"/>
              </a:ext>
            </a:extLst>
          </p:cNvPr>
          <p:cNvSpPr/>
          <p:nvPr/>
        </p:nvSpPr>
        <p:spPr>
          <a:xfrm>
            <a:off x="3070864" y="4569660"/>
            <a:ext cx="5327204" cy="863871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Application router</a:t>
            </a:r>
          </a:p>
          <a:p>
            <a:pPr algn="ctr"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(Provide single entry point, exchange auth token,</a:t>
            </a:r>
          </a:p>
          <a:p>
            <a:pPr algn="ctr">
              <a:defRPr/>
            </a:pPr>
            <a:r>
              <a:rPr lang="en-US" sz="1600" kern="0" dirty="0">
                <a:solidFill>
                  <a:prstClr val="white"/>
                </a:solidFill>
                <a:latin typeface="Segoe UI"/>
              </a:rPr>
              <a:t>Communicate between microservices, like a facade)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ED52A723-E120-C2D3-AF27-A7F5275D1592}"/>
              </a:ext>
            </a:extLst>
          </p:cNvPr>
          <p:cNvSpPr/>
          <p:nvPr/>
        </p:nvSpPr>
        <p:spPr>
          <a:xfrm>
            <a:off x="551240" y="4569660"/>
            <a:ext cx="575914" cy="503925"/>
          </a:xfrm>
          <a:prstGeom prst="smileyFace">
            <a:avLst/>
          </a:prstGeom>
          <a:solidFill>
            <a:srgbClr val="38C6C6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sz="2399" kern="0" dirty="0">
              <a:solidFill>
                <a:prstClr val="white"/>
              </a:solidFill>
              <a:latin typeface="Segoe UI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D211C58-732F-B6F2-EA91-BBD27364F9F8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1127154" y="4821622"/>
            <a:ext cx="1943710" cy="179973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508CAFA-0D77-5FB6-FFEA-74B15D948AC0}"/>
              </a:ext>
            </a:extLst>
          </p:cNvPr>
          <p:cNvSpPr txBox="1"/>
          <p:nvPr/>
        </p:nvSpPr>
        <p:spPr>
          <a:xfrm>
            <a:off x="1551735" y="4506861"/>
            <a:ext cx="1176870" cy="46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399" b="1" kern="0" dirty="0" err="1">
                <a:solidFill>
                  <a:prstClr val="white"/>
                </a:solidFill>
                <a:latin typeface="Segoe UI"/>
              </a:rPr>
              <a:t>url</a:t>
            </a:r>
            <a:endParaRPr lang="en-US" sz="2399" b="1" kern="0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027F3B-16BC-4EBD-1929-1FB9B9D8263A}"/>
              </a:ext>
            </a:extLst>
          </p:cNvPr>
          <p:cNvSpPr/>
          <p:nvPr/>
        </p:nvSpPr>
        <p:spPr>
          <a:xfrm>
            <a:off x="3070863" y="5865466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Java</a:t>
            </a:r>
          </a:p>
          <a:p>
            <a:pPr algn="ctr">
              <a:defRPr/>
            </a:pPr>
            <a:r>
              <a:rPr lang="en-US" sz="1800" kern="0" dirty="0">
                <a:solidFill>
                  <a:prstClr val="white"/>
                </a:solidFill>
                <a:latin typeface="Segoe UI"/>
              </a:rPr>
              <a:t>/</a:t>
            </a:r>
            <a:r>
              <a:rPr lang="en-US" sz="1800" kern="0" dirty="0" err="1">
                <a:solidFill>
                  <a:prstClr val="white"/>
                </a:solidFill>
                <a:latin typeface="Segoe UI"/>
              </a:rPr>
              <a:t>Anubhav.svc</a:t>
            </a:r>
            <a:endParaRPr lang="en-US" sz="1800" kern="0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7A687B-65C1-D483-3BDB-F2A80C69C337}"/>
              </a:ext>
            </a:extLst>
          </p:cNvPr>
          <p:cNvSpPr/>
          <p:nvPr/>
        </p:nvSpPr>
        <p:spPr>
          <a:xfrm>
            <a:off x="4918521" y="5877301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UI5 App</a:t>
            </a:r>
          </a:p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/index.html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35C6B4-D300-0754-D47C-612609044B7E}"/>
              </a:ext>
            </a:extLst>
          </p:cNvPr>
          <p:cNvSpPr/>
          <p:nvPr/>
        </p:nvSpPr>
        <p:spPr>
          <a:xfrm>
            <a:off x="6766179" y="5882708"/>
            <a:ext cx="1655753" cy="647903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Node</a:t>
            </a:r>
          </a:p>
          <a:p>
            <a:pPr algn="ctr">
              <a:defRPr/>
            </a:pPr>
            <a:r>
              <a:rPr lang="en-US" sz="2000" kern="0" dirty="0">
                <a:solidFill>
                  <a:prstClr val="white"/>
                </a:solidFill>
                <a:latin typeface="Segoe UI"/>
              </a:rPr>
              <a:t>/customer</a:t>
            </a:r>
          </a:p>
        </p:txBody>
      </p:sp>
      <p:sp>
        <p:nvSpPr>
          <p:cNvPr id="11" name="Arrow: U-Turn 10">
            <a:extLst>
              <a:ext uri="{FF2B5EF4-FFF2-40B4-BE49-F238E27FC236}">
                <a16:creationId xmlns:a16="http://schemas.microsoft.com/office/drawing/2014/main" id="{E4B8BD5C-48FD-A35A-0B18-BD7062293ABD}"/>
              </a:ext>
            </a:extLst>
          </p:cNvPr>
          <p:cNvSpPr/>
          <p:nvPr/>
        </p:nvSpPr>
        <p:spPr>
          <a:xfrm>
            <a:off x="4357055" y="5454742"/>
            <a:ext cx="1403790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2000" kern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2" name="Arrow: U-Turn 11">
            <a:extLst>
              <a:ext uri="{FF2B5EF4-FFF2-40B4-BE49-F238E27FC236}">
                <a16:creationId xmlns:a16="http://schemas.microsoft.com/office/drawing/2014/main" id="{EF56615D-E0AA-8001-F926-EFE113DA1DC8}"/>
              </a:ext>
            </a:extLst>
          </p:cNvPr>
          <p:cNvSpPr/>
          <p:nvPr/>
        </p:nvSpPr>
        <p:spPr>
          <a:xfrm>
            <a:off x="6394452" y="5458737"/>
            <a:ext cx="1403790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2000" kern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3" name="Arrow: U-Turn 12">
            <a:extLst>
              <a:ext uri="{FF2B5EF4-FFF2-40B4-BE49-F238E27FC236}">
                <a16:creationId xmlns:a16="http://schemas.microsoft.com/office/drawing/2014/main" id="{1BB3AC61-254F-0D4F-D268-3CE08494DF47}"/>
              </a:ext>
            </a:extLst>
          </p:cNvPr>
          <p:cNvSpPr/>
          <p:nvPr/>
        </p:nvSpPr>
        <p:spPr>
          <a:xfrm flipH="1">
            <a:off x="3403197" y="5470725"/>
            <a:ext cx="1655753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2000" kern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4" name="Arrow: U-Turn 13">
            <a:extLst>
              <a:ext uri="{FF2B5EF4-FFF2-40B4-BE49-F238E27FC236}">
                <a16:creationId xmlns:a16="http://schemas.microsoft.com/office/drawing/2014/main" id="{0A3C6A81-904C-67EA-C3E0-196F54E4957F}"/>
              </a:ext>
            </a:extLst>
          </p:cNvPr>
          <p:cNvSpPr/>
          <p:nvPr/>
        </p:nvSpPr>
        <p:spPr>
          <a:xfrm flipH="1">
            <a:off x="5205592" y="5495173"/>
            <a:ext cx="2132065" cy="431935"/>
          </a:xfrm>
          <a:prstGeom prst="uturnArrow">
            <a:avLst/>
          </a:prstGeom>
          <a:solidFill>
            <a:srgbClr val="E1E7F2">
              <a:lumMod val="90000"/>
            </a:srgbClr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en-US" sz="2000" kern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F8EA13-DC47-5B7A-30A8-1765E352D908}"/>
              </a:ext>
            </a:extLst>
          </p:cNvPr>
          <p:cNvSpPr/>
          <p:nvPr/>
        </p:nvSpPr>
        <p:spPr>
          <a:xfrm>
            <a:off x="9909842" y="4876096"/>
            <a:ext cx="1727742" cy="594629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rgbClr val="202B50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399" kern="0" dirty="0" err="1">
                <a:solidFill>
                  <a:prstClr val="white"/>
                </a:solidFill>
                <a:latin typeface="Segoe UI"/>
              </a:rPr>
              <a:t>xsuaa</a:t>
            </a:r>
            <a:endParaRPr lang="en-US" sz="2399" kern="0" dirty="0">
              <a:solidFill>
                <a:prstClr val="white"/>
              </a:solidFill>
              <a:latin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134498-0A01-D1F1-3812-5EB05D8E51B8}"/>
              </a:ext>
            </a:extLst>
          </p:cNvPr>
          <p:cNvCxnSpPr>
            <a:stCxn id="4" idx="3"/>
          </p:cNvCxnSpPr>
          <p:nvPr/>
        </p:nvCxnSpPr>
        <p:spPr>
          <a:xfrm>
            <a:off x="8398068" y="5001595"/>
            <a:ext cx="1511774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8F7DE8-70C0-0093-4FE0-0EB19E88027A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421932" y="5173411"/>
            <a:ext cx="1487910" cy="0"/>
          </a:xfrm>
          <a:prstGeom prst="straightConnector1">
            <a:avLst/>
          </a:prstGeom>
          <a:noFill/>
          <a:ln w="9525" cap="flat" cmpd="sng" algn="ctr">
            <a:solidFill>
              <a:schemeClr val="bg1"/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2729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App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125C8-EE73-BED6-16B3-BB424E7483AB}"/>
              </a:ext>
            </a:extLst>
          </p:cNvPr>
          <p:cNvSpPr txBox="1"/>
          <p:nvPr/>
        </p:nvSpPr>
        <p:spPr>
          <a:xfrm>
            <a:off x="161034" y="909378"/>
            <a:ext cx="11806237" cy="452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It is a Node JS Application 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It is used to automate the process of authentication, authorization with XSUAA to do token exchange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It sits in the middle of IDP and XSUAA, it will redirect the request to our microservice to </a:t>
            </a:r>
            <a:r>
              <a:rPr lang="en-US" sz="2399" dirty="0" err="1">
                <a:solidFill>
                  <a:prstClr val="white"/>
                </a:solidFill>
                <a:latin typeface="Segoe UI"/>
              </a:rPr>
              <a:t>xsuaa</a:t>
            </a:r>
            <a:r>
              <a:rPr lang="en-US" sz="2399" dirty="0">
                <a:solidFill>
                  <a:prstClr val="white"/>
                </a:solidFill>
                <a:latin typeface="Segoe UI"/>
              </a:rPr>
              <a:t>, and eventually to </a:t>
            </a:r>
            <a:r>
              <a:rPr lang="en-US" sz="2399" dirty="0" err="1">
                <a:solidFill>
                  <a:prstClr val="white"/>
                </a:solidFill>
                <a:latin typeface="Segoe UI"/>
              </a:rPr>
              <a:t>idp</a:t>
            </a:r>
            <a:endParaRPr lang="en-US" sz="2399" dirty="0">
              <a:solidFill>
                <a:prstClr val="white"/>
              </a:solidFill>
              <a:latin typeface="Segoe UI"/>
            </a:endParaRP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IDP sends the login screen to the user, user authenticates, which is taken to XSUAA, XSUAA issues JWT Token, this JWT token is presented to </a:t>
            </a:r>
            <a:r>
              <a:rPr lang="en-US" sz="2399" dirty="0" err="1">
                <a:solidFill>
                  <a:prstClr val="white"/>
                </a:solidFill>
                <a:latin typeface="Segoe UI"/>
              </a:rPr>
              <a:t>api</a:t>
            </a:r>
            <a:r>
              <a:rPr lang="en-US" sz="2399" dirty="0">
                <a:solidFill>
                  <a:prstClr val="white"/>
                </a:solidFill>
                <a:latin typeface="Segoe UI"/>
              </a:rPr>
              <a:t> end points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App Router takes the JWT token from XSUAA and gives it to our microservices and even exchange this token to multiple microservices inside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"/>
              </a:rPr>
              <a:t>It Serves as a single entry point for the entire app.</a:t>
            </a:r>
          </a:p>
          <a:p>
            <a:pPr marL="342797" indent="-342797" defTabSz="1218621">
              <a:buFont typeface="Arial" panose="020B0604020202020204" pitchFamily="34" charset="0"/>
              <a:buChar char="•"/>
            </a:pPr>
            <a:r>
              <a:rPr lang="en-IN" sz="2399" dirty="0">
                <a:solidFill>
                  <a:prstClr val="white"/>
                </a:solidFill>
                <a:latin typeface="Segoe UI"/>
              </a:rPr>
              <a:t>To tell app router about our multiple microservices so that it can re-direct, we need to create a configuration file named as </a:t>
            </a:r>
            <a:r>
              <a:rPr lang="en-IN" sz="2399" b="1" dirty="0" err="1">
                <a:solidFill>
                  <a:prstClr val="white"/>
                </a:solidFill>
                <a:latin typeface="Segoe UI"/>
              </a:rPr>
              <a:t>xs-app.json</a:t>
            </a:r>
            <a:r>
              <a:rPr lang="en-IN" sz="2399" dirty="0">
                <a:solidFill>
                  <a:prstClr val="white"/>
                </a:solidFill>
                <a:latin typeface="Segoe UI"/>
              </a:rPr>
              <a:t> which contains the details.</a:t>
            </a:r>
          </a:p>
        </p:txBody>
      </p:sp>
    </p:spTree>
    <p:extLst>
      <p:ext uri="{BB962C8B-B14F-4D97-AF65-F5344CB8AC3E}">
        <p14:creationId xmlns:p14="http://schemas.microsoft.com/office/powerpoint/2010/main" val="307056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F904-4406-686B-3203-C9A6C598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App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B9971-F9C7-F277-4BC3-F454E1F97CC9}"/>
              </a:ext>
            </a:extLst>
          </p:cNvPr>
          <p:cNvSpPr txBox="1"/>
          <p:nvPr/>
        </p:nvSpPr>
        <p:spPr>
          <a:xfrm>
            <a:off x="191294" y="1053357"/>
            <a:ext cx="11590269" cy="120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621"/>
            <a:r>
              <a:rPr lang="en-US" sz="2399" dirty="0">
                <a:solidFill>
                  <a:prstClr val="white"/>
                </a:solidFill>
                <a:latin typeface="Segoe UI"/>
              </a:rPr>
              <a:t>Solution</a:t>
            </a:r>
          </a:p>
          <a:p>
            <a:pPr defTabSz="1218621"/>
            <a:r>
              <a:rPr lang="en-US" sz="2399" dirty="0">
                <a:solidFill>
                  <a:prstClr val="black"/>
                </a:solidFill>
                <a:latin typeface="Segoe UI"/>
                <a:hlinkClick r:id="rId2"/>
              </a:rPr>
              <a:t>https://github.com/soyuztechnologies/BTP_Architect_Training/blob/master/Day%203/04approuter.zip</a:t>
            </a:r>
            <a:r>
              <a:rPr lang="en-US" sz="2399" dirty="0">
                <a:solidFill>
                  <a:prstClr val="black"/>
                </a:solidFill>
                <a:latin typeface="Segoe UI"/>
              </a:rPr>
              <a:t> </a:t>
            </a:r>
          </a:p>
        </p:txBody>
      </p:sp>
      <p:pic>
        <p:nvPicPr>
          <p:cNvPr id="3074" name="Picture 2" descr="SAP Cloud Platform Backend service: Tutorial [26]: App Router (3): route to  Backend service | SAP Blogs">
            <a:extLst>
              <a:ext uri="{FF2B5EF4-FFF2-40B4-BE49-F238E27FC236}">
                <a16:creationId xmlns:a16="http://schemas.microsoft.com/office/drawing/2014/main" id="{4B83CEFD-EBF6-A6F3-77E8-E6278356D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822" y="2506215"/>
            <a:ext cx="4942188" cy="380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993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69A4-C44A-E50D-C6AE-C5A543EB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43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69A4-C44A-E50D-C6AE-C5A543EB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73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69A4-C44A-E50D-C6AE-C5A543EB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86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69A4-C44A-E50D-C6AE-C5A543EB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185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6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8043</TotalTime>
  <Words>1165</Words>
  <Application>Microsoft Office PowerPoint</Application>
  <PresentationFormat>Custom</PresentationFormat>
  <Paragraphs>138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14</vt:lpstr>
      <vt:lpstr>Testing the Microservice from postman</vt:lpstr>
      <vt:lpstr>Challenges in Current Approach</vt:lpstr>
      <vt:lpstr>Introduction to App Router</vt:lpstr>
      <vt:lpstr>Real World Example</vt:lpstr>
      <vt:lpstr>Challenges in Current Approach</vt:lpstr>
      <vt:lpstr>Introduction to App Router</vt:lpstr>
      <vt:lpstr>Hands on: App Router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290</cp:revision>
  <dcterms:created xsi:type="dcterms:W3CDTF">2013-09-12T13:05:01Z</dcterms:created>
  <dcterms:modified xsi:type="dcterms:W3CDTF">2026-02-02T08:04:58Z</dcterms:modified>
</cp:coreProperties>
</file>