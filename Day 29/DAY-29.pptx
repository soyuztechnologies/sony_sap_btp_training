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45" r:id="rId4"/>
  </p:sldMasterIdLst>
  <p:notesMasterIdLst>
    <p:notesMasterId r:id="rId20"/>
  </p:notesMasterIdLst>
  <p:sldIdLst>
    <p:sldId id="256" r:id="rId5"/>
    <p:sldId id="402" r:id="rId6"/>
    <p:sldId id="276" r:id="rId7"/>
    <p:sldId id="358" r:id="rId8"/>
    <p:sldId id="359" r:id="rId9"/>
    <p:sldId id="360" r:id="rId10"/>
    <p:sldId id="361" r:id="rId11"/>
    <p:sldId id="362" r:id="rId12"/>
    <p:sldId id="420" r:id="rId13"/>
    <p:sldId id="421" r:id="rId14"/>
    <p:sldId id="365" r:id="rId15"/>
    <p:sldId id="367" r:id="rId16"/>
    <p:sldId id="368" r:id="rId17"/>
    <p:sldId id="419" r:id="rId18"/>
    <p:sldId id="409" r:id="rId19"/>
  </p:sldIdLst>
  <p:sldSz cx="12188825" cy="6858000"/>
  <p:notesSz cx="6858000" cy="9144000"/>
  <p:embeddedFontLst>
    <p:embeddedFont>
      <p:font typeface="72 Condensed" panose="020B0506030000000003" pitchFamily="34" charset="0"/>
      <p:regular r:id="rId21"/>
      <p:bold r:id="rId22"/>
    </p:embeddedFont>
    <p:embeddedFont>
      <p:font typeface="Arial Black" panose="020B0A04020102020204" pitchFamily="34" charset="0"/>
      <p:regular r:id="rId23"/>
      <p:bold r:id="rId24"/>
    </p:embeddedFont>
    <p:embeddedFont>
      <p:font typeface="Cambria" panose="02040503050406030204" pitchFamily="18" charset="0"/>
      <p:regular r:id="rId25"/>
      <p:bold r:id="rId26"/>
      <p:italic r:id="rId27"/>
      <p:boldItalic r:id="rId28"/>
    </p:embeddedFont>
    <p:embeddedFont>
      <p:font typeface="Cooper Black" panose="0208090404030B020404" pitchFamily="18" charset="0"/>
      <p:regular r:id="rId29"/>
    </p:embeddedFont>
    <p:embeddedFont>
      <p:font typeface="Corben" panose="020B0604020202020204" charset="0"/>
      <p:bold r:id="rId30"/>
    </p:embeddedFont>
    <p:embeddedFont>
      <p:font typeface="Open Sans" panose="020B0606030504020204" pitchFamily="34" charset="0"/>
      <p:regular r:id="rId31"/>
      <p:bold r:id="rId32"/>
      <p:italic r:id="rId33"/>
      <p:boldItalic r:id="rId34"/>
    </p:embeddedFont>
    <p:embeddedFont>
      <p:font typeface="Quattrocento Sans" panose="020B0502050000020003" pitchFamily="34" charset="0"/>
      <p:regular r:id="rId35"/>
      <p:bold r:id="rId36"/>
      <p:italic r:id="rId37"/>
      <p:boldItalic r:id="rId38"/>
    </p:embeddedFont>
    <p:embeddedFont>
      <p:font typeface="Segoe UI" panose="020B0502040204020203" pitchFamily="34" charset="0"/>
      <p:regular r:id="rId39"/>
      <p:bold r:id="rId40"/>
      <p:italic r:id="rId41"/>
      <p:boldItalic r:id="rId42"/>
    </p:embeddedFont>
    <p:embeddedFont>
      <p:font typeface="Segoe UI Light" panose="020B0502040204020203" pitchFamily="34" charset="0"/>
      <p:regular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9.fntdata"/><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1.fntdata"/><Relationship Id="rId44" Type="http://schemas.openxmlformats.org/officeDocument/2006/relationships/font" Target="fonts/font24.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font" Target="fonts/font23.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20" Type="http://schemas.openxmlformats.org/officeDocument/2006/relationships/notesMaster" Target="notesMasters/notesMaster1.xml"/><Relationship Id="rId41"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8:38:38.542"/>
    </inkml:context>
    <inkml:brush xml:id="br0">
      <inkml:brushProperty name="width" value="0.05" units="cm"/>
      <inkml:brushProperty name="height" value="0.05" units="cm"/>
    </inkml:brush>
  </inkml:definitions>
  <inkml:trace contextRef="#ctx0" brushRef="#br0">4 0 24575,'-3'3'0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4" name="Google Shape;1834;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4" name="Google Shape;1864;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4" name="Google Shape;1884;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5"/>
        <p:cNvGrpSpPr/>
        <p:nvPr/>
      </p:nvGrpSpPr>
      <p:grpSpPr>
        <a:xfrm>
          <a:off x="0" y="0"/>
          <a:ext cx="0" cy="0"/>
          <a:chOff x="0" y="0"/>
          <a:chExt cx="0" cy="0"/>
        </a:xfrm>
      </p:grpSpPr>
      <p:sp>
        <p:nvSpPr>
          <p:cNvPr id="1896" name="Google Shape;1896;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7" name="Google Shape;1897;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297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8053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p1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4" name="Google Shape;1924;p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6"/>
        <p:cNvGrpSpPr/>
        <p:nvPr/>
      </p:nvGrpSpPr>
      <p:grpSpPr>
        <a:xfrm>
          <a:off x="0" y="0"/>
          <a:ext cx="0" cy="0"/>
          <a:chOff x="0" y="0"/>
          <a:chExt cx="0" cy="0"/>
        </a:xfrm>
      </p:grpSpPr>
      <p:sp>
        <p:nvSpPr>
          <p:cNvPr id="1937" name="Google Shape;1937;p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8" name="Google Shape;1938;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p1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7" name="Google Shape;1947;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377224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extLst>
      <p:ext uri="{BB962C8B-B14F-4D97-AF65-F5344CB8AC3E}">
        <p14:creationId xmlns:p14="http://schemas.microsoft.com/office/powerpoint/2010/main" val="36235682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410813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197597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790368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231672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1498790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0037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2/26/2026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2842228"/>
      </p:ext>
    </p:extLst>
  </p:cSld>
  <p:clrMap bg1="lt1" tx1="dk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5.xml"/><Relationship Id="rId5" Type="http://schemas.openxmlformats.org/officeDocument/2006/relationships/image" Target="NULL"/><Relationship Id="rId4" Type="http://schemas.openxmlformats.org/officeDocument/2006/relationships/customXml" Target="../ink/ink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5.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5.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tiff"/><Relationship Id="rId2" Type="http://schemas.openxmlformats.org/officeDocument/2006/relationships/notesSlide" Target="../notesSlides/notesSlide13.xml"/><Relationship Id="rId1" Type="http://schemas.openxmlformats.org/officeDocument/2006/relationships/slideLayout" Target="../slideLayouts/slideLayout37.xml"/><Relationship Id="rId6" Type="http://schemas.openxmlformats.org/officeDocument/2006/relationships/image" Target="../media/image11.tiff"/><Relationship Id="rId5" Type="http://schemas.openxmlformats.org/officeDocument/2006/relationships/image" Target="../media/image10.tiff"/><Relationship Id="rId4" Type="http://schemas.openxmlformats.org/officeDocument/2006/relationships/image" Target="../media/image9.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DAY-29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Unmanaged Scenario</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Attachments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Custom Entity</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Extensibility</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33115" y="867968"/>
            <a:ext cx="11806237" cy="3139321"/>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Imagine in our company we had written all the business logic in the past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ourself</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SAP is providing a demo class for learning purpose viz. </a:t>
            </a:r>
            <a:r>
              <a:rPr kumimoji="0" lang="en-US" sz="1800" b="0" i="0" u="none" strike="noStrike" kern="0" cap="none" spc="0" normalizeH="0" baseline="0" noProof="0" dirty="0">
                <a:ln>
                  <a:noFill/>
                </a:ln>
                <a:solidFill>
                  <a:srgbClr val="000000"/>
                </a:solidFill>
                <a:effectLst/>
                <a:highlight>
                  <a:srgbClr val="F0D8A8"/>
                </a:highlight>
                <a:uLnTx/>
                <a:uFillTx/>
                <a:latin typeface="Arial"/>
                <a:ea typeface="Arial"/>
                <a:cs typeface="Arial"/>
                <a:sym typeface="Arial"/>
              </a:rPr>
              <a:t>/</a:t>
            </a:r>
            <a:r>
              <a:rPr kumimoji="0" lang="en-US" sz="1800" b="0" i="0" u="none" strike="noStrike" kern="0" cap="none" spc="0" normalizeH="0" baseline="0" noProof="0" dirty="0" err="1">
                <a:ln>
                  <a:noFill/>
                </a:ln>
                <a:solidFill>
                  <a:srgbClr val="000000"/>
                </a:solidFill>
                <a:effectLst/>
                <a:highlight>
                  <a:srgbClr val="F0D8A8"/>
                </a:highlight>
                <a:uLnTx/>
                <a:uFillTx/>
                <a:latin typeface="Arial"/>
                <a:ea typeface="Arial"/>
                <a:cs typeface="Arial"/>
                <a:sym typeface="Arial"/>
              </a:rPr>
              <a:t>dmo</a:t>
            </a:r>
            <a:r>
              <a:rPr kumimoji="0" lang="en-US" sz="1800" b="0" i="0" u="none" strike="noStrike" kern="0" cap="none" spc="0" normalizeH="0" baseline="0" noProof="0" dirty="0">
                <a:ln>
                  <a:noFill/>
                </a:ln>
                <a:solidFill>
                  <a:srgbClr val="000000"/>
                </a:solidFill>
                <a:effectLst/>
                <a:highlight>
                  <a:srgbClr val="F0D8A8"/>
                </a:highlight>
                <a:uLnTx/>
                <a:uFillTx/>
                <a:latin typeface="Arial"/>
                <a:ea typeface="Arial"/>
                <a:cs typeface="Arial"/>
                <a:sym typeface="Arial"/>
              </a:rPr>
              <a:t>/</a:t>
            </a:r>
            <a:r>
              <a:rPr kumimoji="0" lang="en-US" sz="1800" b="0" i="0" u="none" strike="noStrike" kern="0" cap="none" spc="0" normalizeH="0" baseline="0" noProof="0" dirty="0" err="1">
                <a:ln>
                  <a:noFill/>
                </a:ln>
                <a:solidFill>
                  <a:srgbClr val="000000"/>
                </a:solidFill>
                <a:effectLst/>
                <a:highlight>
                  <a:srgbClr val="F0D8A8"/>
                </a:highlight>
                <a:uLnTx/>
                <a:uFillTx/>
                <a:latin typeface="Arial"/>
                <a:ea typeface="Arial"/>
                <a:cs typeface="Arial"/>
                <a:sym typeface="Arial"/>
              </a:rPr>
              <a:t>cl_flight_legacy</a:t>
            </a:r>
            <a:endParaRPr kumimoji="0" sz="1800" b="0" i="0" u="none" strike="noStrike" kern="0" cap="none" spc="0" normalizeH="0" baseline="0" noProof="0" dirty="0">
              <a:ln>
                <a:noFill/>
              </a:ln>
              <a:solidFill>
                <a:srgbClr val="000000"/>
              </a:solidFill>
              <a:effectLst/>
              <a:highlight>
                <a:srgbClr val="F0D8A8"/>
              </a:highlight>
              <a:uLnTx/>
              <a:uFillTx/>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In this class we have our own old logic which contains the transaction buffer and business logic to maintain all the source code to interact with database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ourself</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The RAP framework allows us to implement the entire runtime of the BO</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Interaction Phase (code to interact and keep data inside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itab</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Transaction Buffer (like a internal table where we keep temporary data)</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Save Sequence (Commit work and Rollback)</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Reference Scenario – Unmanaged </a:t>
            </a:r>
            <a:r>
              <a:rPr kumimoji="0" lang="en-US" sz="3599" b="0" i="0" u="none" strike="noStrike" kern="0" cap="none" spc="0" normalizeH="0" baseline="0" noProof="0" dirty="0" err="1">
                <a:ln>
                  <a:noFill/>
                </a:ln>
                <a:solidFill>
                  <a:srgbClr val="FFC000"/>
                </a:solidFill>
                <a:effectLst/>
                <a:uLnTx/>
                <a:uFillTx/>
                <a:latin typeface="Cooper Black" panose="0208090404030B020404" pitchFamily="18" charset="0"/>
                <a:ea typeface="Corben"/>
                <a:cs typeface="Corben"/>
                <a:sym typeface="Corben"/>
              </a:rPr>
              <a:t>Impl</a:t>
            </a: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24" name="Google Shape;1824;p103"/>
          <p:cNvSpPr/>
          <p:nvPr/>
        </p:nvSpPr>
        <p:spPr>
          <a:xfrm>
            <a:off x="3674740" y="4228143"/>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UPDATE_BAPI</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(LUW)</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5" name="Google Shape;1825;p103"/>
          <p:cNvSpPr/>
          <p:nvPr/>
        </p:nvSpPr>
        <p:spPr>
          <a:xfrm>
            <a:off x="2954660" y="4380832"/>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26" name="Google Shape;1826;p103"/>
          <p:cNvSpPr/>
          <p:nvPr/>
        </p:nvSpPr>
        <p:spPr>
          <a:xfrm>
            <a:off x="7851204" y="4668864"/>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827" name="Google Shape;1827;p103"/>
          <p:cNvCxnSpPr>
            <a:endCxn id="1826" idx="2"/>
          </p:cNvCxnSpPr>
          <p:nvPr/>
        </p:nvCxnSpPr>
        <p:spPr>
          <a:xfrm>
            <a:off x="6555204" y="4524896"/>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2229408" y="5432568"/>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BAPI_TR_COMMIT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9" name="Google Shape;1829;p103"/>
          <p:cNvSpPr/>
          <p:nvPr/>
        </p:nvSpPr>
        <p:spPr>
          <a:xfrm>
            <a:off x="5450360" y="543806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BAPI_TR_ROLLBACK</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30" name="Google Shape;1830;p103"/>
          <p:cNvCxnSpPr>
            <a:stCxn id="1828" idx="2"/>
            <a:endCxn id="1826" idx="4"/>
          </p:cNvCxnSpPr>
          <p:nvPr/>
        </p:nvCxnSpPr>
        <p:spPr>
          <a:xfrm rot="-5400000">
            <a:off x="5720522" y="2941906"/>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7328374" y="4555105"/>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D2EC49A-4812-8B02-5684-5CD94DB4A79B}"/>
                  </a:ext>
                </a:extLst>
              </p14:cNvPr>
              <p14:cNvContentPartPr/>
              <p14:nvPr/>
            </p14:nvContentPartPr>
            <p14:xfrm>
              <a:off x="5761372" y="1920639"/>
              <a:ext cx="1440" cy="1440"/>
            </p14:xfrm>
          </p:contentPart>
        </mc:Choice>
        <mc:Fallback xmlns="">
          <p:pic>
            <p:nvPicPr>
              <p:cNvPr id="2" name="Ink 1">
                <a:extLst>
                  <a:ext uri="{FF2B5EF4-FFF2-40B4-BE49-F238E27FC236}">
                    <a16:creationId xmlns:a16="http://schemas.microsoft.com/office/drawing/2014/main" id="{5D2EC49A-4812-8B02-5684-5CD94DB4A79B}"/>
                  </a:ext>
                </a:extLst>
              </p:cNvPr>
              <p:cNvPicPr/>
              <p:nvPr/>
            </p:nvPicPr>
            <p:blipFill>
              <a:blip r:embed="rId5"/>
              <a:stretch>
                <a:fillRect/>
              </a:stretch>
            </p:blipFill>
            <p:spPr>
              <a:xfrm>
                <a:off x="5752732" y="1911639"/>
                <a:ext cx="19080" cy="1908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104"/>
          <p:cNvSpPr/>
          <p:nvPr/>
        </p:nvSpPr>
        <p:spPr>
          <a:xfrm>
            <a:off x="2069310" y="2052271"/>
            <a:ext cx="3060338" cy="1944216"/>
          </a:xfrm>
          <a:prstGeom prst="rect">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38" name="Google Shape;1838;p10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Development Flow</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41" name="Google Shape;1841;p104"/>
          <p:cNvSpPr/>
          <p:nvPr/>
        </p:nvSpPr>
        <p:spPr>
          <a:xfrm>
            <a:off x="1511247"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Agency</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2" name="Google Shape;1842;p104"/>
          <p:cNvSpPr/>
          <p:nvPr/>
        </p:nvSpPr>
        <p:spPr>
          <a:xfrm>
            <a:off x="4373566"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Calibri"/>
                <a:ea typeface="Calibri"/>
                <a:cs typeface="Calibri"/>
                <a:sym typeface="Calibri"/>
              </a:rPr>
              <a:t>Customer</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43" name="Google Shape;1843;p104"/>
          <p:cNvSpPr/>
          <p:nvPr/>
        </p:nvSpPr>
        <p:spPr>
          <a:xfrm>
            <a:off x="178127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FFFF"/>
                </a:solidFill>
                <a:effectLst/>
                <a:uLnTx/>
                <a:uFillTx/>
                <a:latin typeface="Calibri"/>
                <a:ea typeface="Calibri"/>
                <a:cs typeface="Calibri"/>
                <a:sym typeface="Calibri"/>
              </a:rPr>
              <a:t>agency</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44" name="Google Shape;1844;p104"/>
          <p:cNvSpPr/>
          <p:nvPr/>
        </p:nvSpPr>
        <p:spPr>
          <a:xfrm>
            <a:off x="466159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FFFF"/>
                </a:solidFill>
                <a:effectLst/>
                <a:uLnTx/>
                <a:uFillTx/>
                <a:latin typeface="Calibri"/>
                <a:ea typeface="Calibri"/>
                <a:cs typeface="Calibri"/>
                <a:sym typeface="Calibri"/>
              </a:rPr>
              <a:t>customer</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45" name="Google Shape;1845;p104"/>
          <p:cNvSpPr/>
          <p:nvPr/>
        </p:nvSpPr>
        <p:spPr>
          <a:xfrm>
            <a:off x="7541918" y="5607147"/>
            <a:ext cx="2150306"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FFFFFF"/>
                </a:solidFill>
                <a:effectLst/>
                <a:uLnTx/>
                <a:uFillTx/>
                <a:latin typeface="Calibri"/>
                <a:ea typeface="Calibri"/>
                <a:cs typeface="Calibri"/>
                <a:sym typeface="Calibri"/>
              </a:rPr>
              <a:t>/</a:t>
            </a:r>
            <a:r>
              <a:rPr kumimoji="0" lang="en-US" sz="1600" b="0" i="0" u="none" strike="noStrike" kern="0" cap="none" spc="0" normalizeH="0" baseline="0" noProof="0" dirty="0" err="1">
                <a:ln>
                  <a:noFill/>
                </a:ln>
                <a:solidFill>
                  <a:srgbClr val="FFFFFF"/>
                </a:solidFill>
                <a:effectLst/>
                <a:uLnTx/>
                <a:uFillTx/>
                <a:latin typeface="Calibri"/>
                <a:ea typeface="Calibri"/>
                <a:cs typeface="Calibri"/>
                <a:sym typeface="Calibri"/>
              </a:rPr>
              <a:t>dmo</a:t>
            </a:r>
            <a:r>
              <a:rPr kumimoji="0" lang="en-US" sz="1600" b="0" i="0" u="none" strike="noStrike" kern="0" cap="none" spc="0" normalizeH="0" baseline="0" noProof="0" dirty="0">
                <a:ln>
                  <a:noFill/>
                </a:ln>
                <a:solidFill>
                  <a:srgbClr val="FFFFFF"/>
                </a:solidFill>
                <a:effectLst/>
                <a:uLnTx/>
                <a:uFillTx/>
                <a:latin typeface="Calibri"/>
                <a:ea typeface="Calibri"/>
                <a:cs typeface="Calibri"/>
                <a:sym typeface="Calibri"/>
              </a:rPr>
              <a:t>/travel</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46" name="Google Shape;1846;p104"/>
          <p:cNvSpPr/>
          <p:nvPr/>
        </p:nvSpPr>
        <p:spPr>
          <a:xfrm>
            <a:off x="5616946" y="3348233"/>
            <a:ext cx="2088232" cy="52047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err="1">
                <a:ln>
                  <a:noFill/>
                </a:ln>
                <a:solidFill>
                  <a:srgbClr val="FFFFFF"/>
                </a:solidFill>
                <a:effectLst/>
                <a:uLnTx/>
                <a:uFillTx/>
                <a:latin typeface="Calibri"/>
                <a:ea typeface="Calibri"/>
                <a:cs typeface="Calibri"/>
                <a:sym typeface="Calibri"/>
              </a:rPr>
              <a:t>Travel_U</a:t>
            </a:r>
            <a:endParaRPr kumimoji="0" sz="24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cxnSp>
        <p:nvCxnSpPr>
          <p:cNvPr id="1847" name="Google Shape;1847;p104"/>
          <p:cNvCxnSpPr>
            <a:stCxn id="1844" idx="0"/>
            <a:endCxn id="1842" idx="2"/>
          </p:cNvCxnSpPr>
          <p:nvPr/>
        </p:nvCxnSpPr>
        <p:spPr>
          <a:xfrm rot="10800000">
            <a:off x="5417682" y="5309582"/>
            <a:ext cx="0" cy="3174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8" name="Google Shape;1848;p104"/>
          <p:cNvCxnSpPr>
            <a:stCxn id="1843" idx="0"/>
            <a:endCxn id="1841" idx="2"/>
          </p:cNvCxnSpPr>
          <p:nvPr/>
        </p:nvCxnSpPr>
        <p:spPr>
          <a:xfrm flipV="1">
            <a:off x="2537362" y="5309526"/>
            <a:ext cx="18001" cy="317456"/>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9" name="Google Shape;1849;p104"/>
          <p:cNvCxnSpPr>
            <a:stCxn id="1842" idx="0"/>
            <a:endCxn id="1846" idx="2"/>
          </p:cNvCxnSpPr>
          <p:nvPr/>
        </p:nvCxnSpPr>
        <p:spPr>
          <a:xfrm rot="-5400000">
            <a:off x="5715132" y="3571388"/>
            <a:ext cx="648600" cy="1243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0" name="Google Shape;1850;p104"/>
          <p:cNvCxnSpPr>
            <a:stCxn id="1841" idx="0"/>
            <a:endCxn id="1846" idx="2"/>
          </p:cNvCxnSpPr>
          <p:nvPr/>
        </p:nvCxnSpPr>
        <p:spPr>
          <a:xfrm rot="5400000" flipH="1" flipV="1">
            <a:off x="4283845" y="2140222"/>
            <a:ext cx="648734" cy="4105699"/>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1" name="Google Shape;1851;p104"/>
          <p:cNvCxnSpPr>
            <a:stCxn id="1845" idx="0"/>
          </p:cNvCxnSpPr>
          <p:nvPr/>
        </p:nvCxnSpPr>
        <p:spPr>
          <a:xfrm rot="10800000">
            <a:off x="7076271" y="3852447"/>
            <a:ext cx="1540800" cy="1754700"/>
          </a:xfrm>
          <a:prstGeom prst="straightConnector1">
            <a:avLst/>
          </a:prstGeom>
          <a:noFill/>
          <a:ln w="9525" cap="flat" cmpd="sng">
            <a:solidFill>
              <a:schemeClr val="accent1"/>
            </a:solidFill>
            <a:prstDash val="solid"/>
            <a:miter lim="800000"/>
            <a:headEnd type="none" w="sm" len="sm"/>
            <a:tailEnd type="triangle" w="med" len="med"/>
          </a:ln>
        </p:spPr>
      </p:cxnSp>
      <p:sp>
        <p:nvSpPr>
          <p:cNvPr id="1852" name="Google Shape;1852;p104"/>
          <p:cNvSpPr/>
          <p:nvPr/>
        </p:nvSpPr>
        <p:spPr>
          <a:xfrm>
            <a:off x="8334007" y="3368094"/>
            <a:ext cx="2376264" cy="50079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Travel_U_MDE</a:t>
            </a: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cxnSp>
        <p:nvCxnSpPr>
          <p:cNvPr id="1853" name="Google Shape;1853;p104"/>
          <p:cNvCxnSpPr>
            <a:stCxn id="1846" idx="3"/>
            <a:endCxn id="1852" idx="1"/>
          </p:cNvCxnSpPr>
          <p:nvPr/>
        </p:nvCxnSpPr>
        <p:spPr>
          <a:xfrm>
            <a:off x="7705178" y="3608469"/>
            <a:ext cx="628800" cy="9900"/>
          </a:xfrm>
          <a:prstGeom prst="straightConnector1">
            <a:avLst/>
          </a:prstGeom>
          <a:noFill/>
          <a:ln w="9525" cap="flat" cmpd="sng">
            <a:solidFill>
              <a:schemeClr val="accent1"/>
            </a:solidFill>
            <a:prstDash val="solid"/>
            <a:miter lim="800000"/>
            <a:headEnd type="none" w="sm" len="sm"/>
            <a:tailEnd type="none" w="sm" len="sm"/>
          </a:ln>
        </p:spPr>
      </p:cxnSp>
      <p:sp>
        <p:nvSpPr>
          <p:cNvPr id="1854" name="Google Shape;1854;p104"/>
          <p:cNvSpPr/>
          <p:nvPr/>
        </p:nvSpPr>
        <p:spPr>
          <a:xfrm>
            <a:off x="5544938" y="2154123"/>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Serv definition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55" name="Google Shape;1855;p104"/>
          <p:cNvCxnSpPr>
            <a:stCxn id="1846" idx="0"/>
            <a:endCxn id="1854" idx="2"/>
          </p:cNvCxnSpPr>
          <p:nvPr/>
        </p:nvCxnSpPr>
        <p:spPr>
          <a:xfrm rot="10800000">
            <a:off x="6661062" y="2874233"/>
            <a:ext cx="0" cy="474000"/>
          </a:xfrm>
          <a:prstGeom prst="straightConnector1">
            <a:avLst/>
          </a:prstGeom>
          <a:noFill/>
          <a:ln w="9525" cap="flat" cmpd="sng">
            <a:solidFill>
              <a:schemeClr val="accent1"/>
            </a:solidFill>
            <a:prstDash val="solid"/>
            <a:miter lim="800000"/>
            <a:headEnd type="none" w="sm" len="sm"/>
            <a:tailEnd type="triangle" w="med" len="med"/>
          </a:ln>
        </p:spPr>
      </p:cxnSp>
      <p:sp>
        <p:nvSpPr>
          <p:cNvPr id="1856" name="Google Shape;1856;p104"/>
          <p:cNvSpPr/>
          <p:nvPr/>
        </p:nvSpPr>
        <p:spPr>
          <a:xfrm>
            <a:off x="5544938" y="913572"/>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Serv Impl.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57" name="Google Shape;1857;p104"/>
          <p:cNvCxnSpPr>
            <a:stCxn id="1854" idx="0"/>
            <a:endCxn id="1856" idx="2"/>
          </p:cNvCxnSpPr>
          <p:nvPr/>
        </p:nvCxnSpPr>
        <p:spPr>
          <a:xfrm rot="10800000">
            <a:off x="6661062" y="1633623"/>
            <a:ext cx="0" cy="520500"/>
          </a:xfrm>
          <a:prstGeom prst="straightConnector1">
            <a:avLst/>
          </a:prstGeom>
          <a:noFill/>
          <a:ln w="9525" cap="flat" cmpd="sng">
            <a:solidFill>
              <a:schemeClr val="accent1"/>
            </a:solidFill>
            <a:prstDash val="solid"/>
            <a:miter lim="800000"/>
            <a:headEnd type="none" w="sm" len="sm"/>
            <a:tailEnd type="triangle" w="med" len="med"/>
          </a:ln>
        </p:spPr>
      </p:cxnSp>
      <p:sp>
        <p:nvSpPr>
          <p:cNvPr id="1858" name="Google Shape;1858;p104"/>
          <p:cNvSpPr/>
          <p:nvPr/>
        </p:nvSpPr>
        <p:spPr>
          <a:xfrm>
            <a:off x="2429351" y="3203737"/>
            <a:ext cx="2431510" cy="648734"/>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FFFFFF"/>
                </a:solidFill>
                <a:effectLst/>
                <a:uLnTx/>
                <a:uFillTx/>
                <a:latin typeface="Calibri"/>
                <a:ea typeface="Calibri"/>
                <a:cs typeface="Calibri"/>
                <a:sym typeface="Calibri"/>
              </a:rPr>
              <a:t>BDEF - unmanaged</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59" name="Google Shape;1859;p104"/>
          <p:cNvSpPr/>
          <p:nvPr/>
        </p:nvSpPr>
        <p:spPr>
          <a:xfrm>
            <a:off x="2429351" y="2237547"/>
            <a:ext cx="2431510" cy="648734"/>
          </a:xfrm>
          <a:prstGeom prst="rect">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BIMP-unmanaged</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60" name="Google Shape;1860;p104"/>
          <p:cNvCxnSpPr>
            <a:stCxn id="1858" idx="3"/>
            <a:endCxn id="1846" idx="1"/>
          </p:cNvCxnSpPr>
          <p:nvPr/>
        </p:nvCxnSpPr>
        <p:spPr>
          <a:xfrm>
            <a:off x="4860861" y="3528104"/>
            <a:ext cx="756000" cy="80400"/>
          </a:xfrm>
          <a:prstGeom prst="straightConnector1">
            <a:avLst/>
          </a:prstGeom>
          <a:noFill/>
          <a:ln w="9525" cap="flat" cmpd="sng">
            <a:solidFill>
              <a:schemeClr val="accent1"/>
            </a:solidFill>
            <a:prstDash val="solid"/>
            <a:miter lim="800000"/>
            <a:headEnd type="none" w="sm" len="sm"/>
            <a:tailEnd type="none" w="sm" len="sm"/>
          </a:ln>
        </p:spPr>
      </p:cxnSp>
      <p:cxnSp>
        <p:nvCxnSpPr>
          <p:cNvPr id="1861" name="Google Shape;1861;p104"/>
          <p:cNvCxnSpPr>
            <a:stCxn id="1859" idx="2"/>
            <a:endCxn id="1858" idx="0"/>
          </p:cNvCxnSpPr>
          <p:nvPr/>
        </p:nvCxnSpPr>
        <p:spPr>
          <a:xfrm>
            <a:off x="3645106" y="2886281"/>
            <a:ext cx="0" cy="317400"/>
          </a:xfrm>
          <a:prstGeom prst="straightConnector1">
            <a:avLst/>
          </a:prstGeom>
          <a:noFill/>
          <a:ln w="9525" cap="flat" cmpd="sng">
            <a:solidFill>
              <a:schemeClr val="accent1"/>
            </a:solidFill>
            <a:prstDash val="solid"/>
            <a:miter lim="800000"/>
            <a:headEnd type="none" w="sm" len="sm"/>
            <a:tailEnd type="none" w="sm" len="sm"/>
          </a:ln>
        </p:spPr>
      </p:cxnSp>
      <p:pic>
        <p:nvPicPr>
          <p:cNvPr id="2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7" name="Google Shape;1867;p105"/>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&lt;&gt;</a:t>
            </a: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p:txBody>
      </p:sp>
      <p:sp>
        <p:nvSpPr>
          <p:cNvPr id="1868" name="Google Shape;1868;p10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Title</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71" name="Google Shape;1871;p105"/>
          <p:cNvSpPr/>
          <p:nvPr/>
        </p:nvSpPr>
        <p:spPr>
          <a:xfrm>
            <a:off x="612471" y="1145484"/>
            <a:ext cx="5544616" cy="46805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72" name="Google Shape;1872;p105"/>
          <p:cNvSpPr/>
          <p:nvPr/>
        </p:nvSpPr>
        <p:spPr>
          <a:xfrm>
            <a:off x="981844" y="146883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73" name="Google Shape;1873;p105"/>
          <p:cNvSpPr/>
          <p:nvPr/>
        </p:nvSpPr>
        <p:spPr>
          <a:xfrm>
            <a:off x="991516" y="2046611"/>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433835"/>
              </a:solidFill>
              <a:effectLst/>
              <a:uLnTx/>
              <a:uFillTx/>
              <a:latin typeface="Arial"/>
              <a:cs typeface="Arial"/>
              <a:sym typeface="Arial"/>
            </a:endParaRPr>
          </a:p>
        </p:txBody>
      </p:sp>
      <p:sp>
        <p:nvSpPr>
          <p:cNvPr id="1874" name="Google Shape;1874;p105"/>
          <p:cNvSpPr/>
          <p:nvPr/>
        </p:nvSpPr>
        <p:spPr>
          <a:xfrm>
            <a:off x="981844" y="264191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75" name="Google Shape;1875;p105"/>
          <p:cNvSpPr/>
          <p:nvPr/>
        </p:nvSpPr>
        <p:spPr>
          <a:xfrm>
            <a:off x="981844" y="3379956"/>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433835"/>
              </a:solidFill>
              <a:effectLst/>
              <a:uLnTx/>
              <a:uFillTx/>
              <a:latin typeface="Arial"/>
              <a:cs typeface="Arial"/>
              <a:sym typeface="Arial"/>
            </a:endParaRPr>
          </a:p>
        </p:txBody>
      </p:sp>
      <p:sp>
        <p:nvSpPr>
          <p:cNvPr id="1876" name="Google Shape;1876;p105"/>
          <p:cNvSpPr/>
          <p:nvPr/>
        </p:nvSpPr>
        <p:spPr>
          <a:xfrm>
            <a:off x="3914242" y="1451672"/>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77" name="Google Shape;1877;p105"/>
          <p:cNvSpPr/>
          <p:nvPr/>
        </p:nvSpPr>
        <p:spPr>
          <a:xfrm>
            <a:off x="3888183" y="2060848"/>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78" name="Google Shape;1878;p105"/>
          <p:cNvSpPr/>
          <p:nvPr/>
        </p:nvSpPr>
        <p:spPr>
          <a:xfrm>
            <a:off x="3898168" y="2714704"/>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a:t>
            </a:r>
            <a:endParaRPr kumimoji="0" sz="1400" b="0" i="0" u="none" strike="noStrike" kern="0" cap="none" spc="0" normalizeH="0" baseline="0" noProof="0" dirty="0">
              <a:ln>
                <a:noFill/>
              </a:ln>
              <a:solidFill>
                <a:srgbClr val="433835"/>
              </a:solidFill>
              <a:effectLst/>
              <a:uLnTx/>
              <a:uFillTx/>
              <a:latin typeface="Arial"/>
              <a:cs typeface="Arial"/>
              <a:sym typeface="Arial"/>
            </a:endParaRPr>
          </a:p>
        </p:txBody>
      </p:sp>
      <p:sp>
        <p:nvSpPr>
          <p:cNvPr id="1879" name="Google Shape;1879;p105"/>
          <p:cNvSpPr/>
          <p:nvPr/>
        </p:nvSpPr>
        <p:spPr>
          <a:xfrm>
            <a:off x="3881622" y="3323880"/>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highlight>
                <a:srgbClr val="FFFF00"/>
              </a:highlight>
              <a:uLnTx/>
              <a:uFillTx/>
              <a:latin typeface="Calibri"/>
              <a:ea typeface="Calibri"/>
              <a:cs typeface="Calibri"/>
              <a:sym typeface="Calibri"/>
            </a:endParaRPr>
          </a:p>
        </p:txBody>
      </p:sp>
      <p:sp>
        <p:nvSpPr>
          <p:cNvPr id="1880" name="Google Shape;1880;p105"/>
          <p:cNvSpPr/>
          <p:nvPr/>
        </p:nvSpPr>
        <p:spPr>
          <a:xfrm>
            <a:off x="6310436" y="2204864"/>
            <a:ext cx="1224136" cy="2160240"/>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24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81" name="Google Shape;1881;p105"/>
          <p:cNvSpPr txBox="1"/>
          <p:nvPr/>
        </p:nvSpPr>
        <p:spPr>
          <a:xfrm>
            <a:off x="7534572" y="1124744"/>
            <a:ext cx="4166530" cy="489364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How you know in the code which fields are changed on the screen by the user.</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So accordingly we can update the data into the database only for the changed fields??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RAP provides a compiler structure called %control which will tell us what fields were changed on UI. </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433835"/>
                </a:solidFill>
                <a:effectLst/>
                <a:uLnTx/>
                <a:uFillTx/>
                <a:latin typeface="Calibri"/>
                <a:ea typeface="Calibri"/>
                <a:cs typeface="Calibri"/>
                <a:sym typeface="Calibri"/>
              </a:rPr>
              <a:t>We need to tell the RAP, what will be the datatype for the control structure.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1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7" name="Google Shape;1887;p106"/>
          <p:cNvSpPr txBox="1"/>
          <p:nvPr/>
        </p:nvSpPr>
        <p:spPr>
          <a:xfrm>
            <a:off x="224979" y="788088"/>
            <a:ext cx="11806237" cy="156966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Starring SAP ABAP on Cloud release 2208 SAP started direct support for attachments (PDF, Excel, Images, TXT, Word) including binary files. We must need to create a database table with </a:t>
            </a:r>
            <a:r>
              <a:rPr kumimoji="0" lang="en-US" sz="1600" b="0" i="0" u="none" strike="noStrike" kern="0" cap="none" spc="0" normalizeH="0" baseline="0" noProof="0" dirty="0" err="1">
                <a:ln>
                  <a:noFill/>
                </a:ln>
                <a:solidFill>
                  <a:srgbClr val="433835"/>
                </a:solidFill>
                <a:effectLst/>
                <a:uLnTx/>
                <a:uFillTx/>
                <a:latin typeface="Calibri"/>
                <a:ea typeface="Calibri"/>
                <a:cs typeface="Calibri"/>
                <a:sym typeface="Calibri"/>
              </a:rPr>
              <a:t>atleast</a:t>
            </a: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 following columns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Attachment (Data type: RAWSTRING length 0)</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err="1">
                <a:ln>
                  <a:noFill/>
                </a:ln>
                <a:solidFill>
                  <a:srgbClr val="433835"/>
                </a:solidFill>
                <a:effectLst/>
                <a:uLnTx/>
                <a:uFillTx/>
                <a:latin typeface="Calibri"/>
                <a:ea typeface="Calibri"/>
                <a:cs typeface="Calibri"/>
                <a:sym typeface="Calibri"/>
              </a:rPr>
              <a:t>Mimetype</a:t>
            </a: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 (Document type, String128)</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Filename (Document Name, String128)</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888" name="Google Shape;1888;p10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Attachments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91" name="Google Shape;1891;p106"/>
          <p:cNvSpPr/>
          <p:nvPr/>
        </p:nvSpPr>
        <p:spPr>
          <a:xfrm>
            <a:off x="1773932" y="2852936"/>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Travel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2" name="Google Shape;1892;p106"/>
          <p:cNvSpPr/>
          <p:nvPr/>
        </p:nvSpPr>
        <p:spPr>
          <a:xfrm>
            <a:off x="7894612" y="2832711"/>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Attachments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93" name="Google Shape;1893;p106"/>
          <p:cNvCxnSpPr>
            <a:stCxn id="1891" idx="3"/>
            <a:endCxn id="1892" idx="1"/>
          </p:cNvCxnSpPr>
          <p:nvPr/>
        </p:nvCxnSpPr>
        <p:spPr>
          <a:xfrm rot="10800000" flipH="1">
            <a:off x="4222204" y="3692499"/>
            <a:ext cx="3672300" cy="20100"/>
          </a:xfrm>
          <a:prstGeom prst="straightConnector1">
            <a:avLst/>
          </a:prstGeom>
          <a:noFill/>
          <a:ln w="9525" cap="flat" cmpd="sng">
            <a:solidFill>
              <a:schemeClr val="accent1"/>
            </a:solidFill>
            <a:prstDash val="solid"/>
            <a:miter lim="800000"/>
            <a:headEnd type="none" w="sm" len="sm"/>
            <a:tailEnd type="none" w="sm" len="sm"/>
          </a:ln>
        </p:spPr>
      </p:cxnSp>
      <p:sp>
        <p:nvSpPr>
          <p:cNvPr id="1894" name="Google Shape;1894;p106"/>
          <p:cNvSpPr txBox="1"/>
          <p:nvPr/>
        </p:nvSpPr>
        <p:spPr>
          <a:xfrm>
            <a:off x="4366220" y="3140968"/>
            <a:ext cx="3456384"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433835"/>
                </a:solidFill>
                <a:effectLst/>
                <a:uLnTx/>
                <a:uFillTx/>
                <a:latin typeface="Calibri"/>
                <a:ea typeface="Calibri"/>
                <a:cs typeface="Calibri"/>
                <a:sym typeface="Calibri"/>
              </a:rPr>
              <a:t>1		        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1"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8"/>
        <p:cNvGrpSpPr/>
        <p:nvPr/>
      </p:nvGrpSpPr>
      <p:grpSpPr>
        <a:xfrm>
          <a:off x="0" y="0"/>
          <a:ext cx="0" cy="0"/>
          <a:chOff x="0" y="0"/>
          <a:chExt cx="0" cy="0"/>
        </a:xfrm>
      </p:grpSpPr>
      <p:sp>
        <p:nvSpPr>
          <p:cNvPr id="1900" name="Google Shape;1900;p107"/>
          <p:cNvSpPr txBox="1"/>
          <p:nvPr/>
        </p:nvSpPr>
        <p:spPr>
          <a:xfrm>
            <a:off x="224979" y="788088"/>
            <a:ext cx="11806237" cy="3693319"/>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new attachment table according to need and design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Interface Entity for the attachment table and mark our attachment field with special attachment annotation, So the RAP framework can treat it as an attachment accordingly.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Add annotations for admin fields, and user labels.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composition of our attachment table with travel entity like we had the composition of booking with travel entity.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projection view for attachment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Relationship between Travel processor view with attachment processor view entity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Enhance the BDEF with attachment like booking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Also expose the attachment functionality with draft to processor in behavior projection for processor</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Expose the entity of attachment processor in service definition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Republish the OData V4 binding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Add the metadata extension for attachment scenario and link a new facet in travel for attachment table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Testing</a:t>
            </a:r>
            <a:endParaRPr kumimoji="0" sz="18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901" name="Google Shape;1901;p10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Steps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24491"/>
            <a:ext cx="11806237" cy="175428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 CDS custom entity allows developers to implement their own data retrieval using ABAP. A CDS custom entity is linked with an ABAP class and the data retrieval is executed on the application server. At the CDS level, only an interface is defined. Custom entities are used when data can't be accessed using SQL and the available CDS feature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The following image exemplifies the runtime of a CDS custom entity. It shows that the data retrieval is implemented by an ABAP class and the data source does not have to be a database table.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Custom Entities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4" name="Picture 3">
            <a:extLst>
              <a:ext uri="{FF2B5EF4-FFF2-40B4-BE49-F238E27FC236}">
                <a16:creationId xmlns:a16="http://schemas.microsoft.com/office/drawing/2014/main" id="{357208DC-5D4F-2555-08F8-5C27A4DFC69F}"/>
              </a:ext>
            </a:extLst>
          </p:cNvPr>
          <p:cNvPicPr>
            <a:picLocks noChangeAspect="1"/>
          </p:cNvPicPr>
          <p:nvPr/>
        </p:nvPicPr>
        <p:blipFill>
          <a:blip r:embed="rId4"/>
          <a:stretch>
            <a:fillRect/>
          </a:stretch>
        </p:blipFill>
        <p:spPr>
          <a:xfrm>
            <a:off x="3576102" y="2697036"/>
            <a:ext cx="4826248" cy="3683189"/>
          </a:xfrm>
          <a:prstGeom prst="rect">
            <a:avLst/>
          </a:prstGeom>
        </p:spPr>
      </p:pic>
    </p:spTree>
    <p:extLst>
      <p:ext uri="{BB962C8B-B14F-4D97-AF65-F5344CB8AC3E}">
        <p14:creationId xmlns:p14="http://schemas.microsoft.com/office/powerpoint/2010/main" val="1911806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88575"/>
            <a:ext cx="11806237" cy="33547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433835"/>
                </a:solidFill>
                <a:effectLst/>
                <a:uLnTx/>
                <a:uFillTx/>
                <a:latin typeface="-apple-system"/>
                <a:cs typeface="Arial"/>
                <a:sym typeface="Arial"/>
              </a:rPr>
              <a:t>In this exercise, we want to replace the travel agencies data of our managed travel app with the results of the remote OData service that provides different set of travel agencies from other system altogether. For this use case, we shall leverage the concept of a custom entity. In contrast to "normal" CDS views that read data from the database tables or other CDS views, the so-called custom entities act as a wrapper for a code-based implementation that provides the data instead. This use case involves following steps.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433835"/>
              </a:solidFill>
              <a:effectLst/>
              <a:uLnTx/>
              <a:uFillTx/>
              <a:latin typeface="-apple-system"/>
              <a:cs typeface="Arial"/>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Creating the Service Consumption Model</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Defining the Custom CDS Entity</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Create a class that implements the query for the custom entity</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Integrate the custom entity in MDE</a:t>
            </a:r>
            <a:br>
              <a:rPr kumimoji="0" lang="en-US" sz="2000" b="0" i="0" u="none" strike="noStrike" kern="0" cap="none" spc="0" normalizeH="0" baseline="0" noProof="0" dirty="0">
                <a:ln>
                  <a:noFill/>
                </a:ln>
                <a:solidFill>
                  <a:srgbClr val="433835"/>
                </a:solidFill>
                <a:effectLst/>
                <a:uLnTx/>
                <a:uFillTx/>
                <a:latin typeface="-apple-system"/>
                <a:cs typeface="Arial"/>
                <a:sym typeface="Arial"/>
              </a:rPr>
            </a:br>
            <a:endParaRPr kumimoji="0" sz="1200" b="0" i="0" u="none" strike="noStrike" kern="0" cap="none" spc="0" normalizeH="0" baseline="0" noProof="0" dirty="0">
              <a:ln>
                <a:noFill/>
              </a:ln>
              <a:solidFill>
                <a:srgbClr val="433835"/>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Reference Scenario – Custom Entity</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041010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7" name="Google Shape;1927;p110"/>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&lt;&gt;</a:t>
            </a: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p:txBody>
      </p:sp>
      <p:sp>
        <p:nvSpPr>
          <p:cNvPr id="1928" name="Google Shape;1928;p110"/>
          <p:cNvSpPr txBox="1"/>
          <p:nvPr/>
        </p:nvSpPr>
        <p:spPr>
          <a:xfrm>
            <a:off x="191294" y="895"/>
            <a:ext cx="11231710" cy="120007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From classic ABAP extensions to ABAP Cloud development</a:t>
            </a:r>
            <a:endParaRPr kumimoji="0" sz="1400" b="0" i="0" u="none" strike="noStrike" kern="0" cap="none" spc="0" normalizeH="0" baseline="0" noProof="0" dirty="0">
              <a:ln>
                <a:noFill/>
              </a:ln>
              <a:solidFill>
                <a:srgbClr val="FFC000"/>
              </a:solidFill>
              <a:effectLst/>
              <a:uLnTx/>
              <a:uFillTx/>
              <a:latin typeface="Cooper Black" panose="0208090404030B020404" pitchFamily="18" charset="0"/>
              <a:cs typeface="Arial"/>
              <a:sym typeface="Arial"/>
            </a:endParaRPr>
          </a:p>
        </p:txBody>
      </p:sp>
      <p:pic>
        <p:nvPicPr>
          <p:cNvPr id="1931" name="Google Shape;1931;p110"/>
          <p:cNvPicPr preferRelativeResize="0"/>
          <p:nvPr/>
        </p:nvPicPr>
        <p:blipFill rotWithShape="1">
          <a:blip r:embed="rId3">
            <a:alphaModFix/>
          </a:blip>
          <a:srcRect/>
          <a:stretch/>
        </p:blipFill>
        <p:spPr>
          <a:xfrm>
            <a:off x="333772" y="1412776"/>
            <a:ext cx="7772400" cy="3971925"/>
          </a:xfrm>
          <a:prstGeom prst="rect">
            <a:avLst/>
          </a:prstGeom>
          <a:noFill/>
          <a:ln>
            <a:noFill/>
          </a:ln>
        </p:spPr>
      </p:pic>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9"/>
        <p:cNvGrpSpPr/>
        <p:nvPr/>
      </p:nvGrpSpPr>
      <p:grpSpPr>
        <a:xfrm>
          <a:off x="0" y="0"/>
          <a:ext cx="0" cy="0"/>
          <a:chOff x="0" y="0"/>
          <a:chExt cx="0" cy="0"/>
        </a:xfrm>
      </p:grpSpPr>
      <p:sp>
        <p:nvSpPr>
          <p:cNvPr id="1941" name="Google Shape;1941;p112"/>
          <p:cNvSpPr txBox="1"/>
          <p:nvPr/>
        </p:nvSpPr>
        <p:spPr>
          <a:xfrm>
            <a:off x="191294" y="1279407"/>
            <a:ext cx="11806237" cy="1754326"/>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public SAP APIs (local or remote) released by SAP to access SAP functionality and SAP data</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public SAP extension points released by SAP to extend SAP objects. Modifications to SAP standard objects are not supported (applies to S/4HANA Cloud system)</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of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Adt</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(ABAP development tools) on eclipse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Steampunk (RAP – Restful Application Programming model) to build Fiori Applications and services. SAP technologies like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Dynpro</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and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webdynpro</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are not released for cloud development.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942" name="Google Shape;1942;p112"/>
          <p:cNvSpPr txBox="1"/>
          <p:nvPr/>
        </p:nvSpPr>
        <p:spPr>
          <a:xfrm>
            <a:off x="191294" y="219259"/>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What is ABAP Cloud Development Means: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50" name="Google Shape;1950;p113"/>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we are using SAP BTP to develop side by side extensions, full stack SAP applications in BTP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we are using In-app Developer extensibility with released objects in S/4HANA (all editions) with RAP (Embedded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433835"/>
              </a:buClr>
              <a:buSzPts val="1800"/>
              <a:buFont typeface="Arial"/>
              <a:buNone/>
              <a:tabLst/>
              <a:defRPr/>
            </a:pP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you using RAP and enhancing your Standard SAP Applications delivered by SAP in S/4HANA system, the recommended approach is Embedded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Every Customer using S/4HANA can decide whether they want to use new approach (embedded Steampunk) or classic extension approach (BADI) @ Object level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This can be done by switching a setting @ object level.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1" name="Google Shape;1951;p11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What is Embedded Steampunk</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29</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err="1">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3818</TotalTime>
  <Words>1177</Words>
  <Application>Microsoft Office PowerPoint</Application>
  <PresentationFormat>Custom</PresentationFormat>
  <Paragraphs>128</Paragraphs>
  <Slides>15</Slides>
  <Notes>13</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15</vt:i4>
      </vt:variant>
    </vt:vector>
  </HeadingPairs>
  <TitlesOfParts>
    <vt:vector size="31" baseType="lpstr">
      <vt:lpstr>Quattrocento Sans</vt:lpstr>
      <vt:lpstr>Segoe UI Light</vt:lpstr>
      <vt:lpstr>Cambria</vt:lpstr>
      <vt:lpstr>72 Condensed</vt:lpstr>
      <vt:lpstr>-apple-system</vt:lpstr>
      <vt:lpstr>Calibri</vt:lpstr>
      <vt:lpstr>Arial</vt:lpstr>
      <vt:lpstr>Open Sans</vt:lpstr>
      <vt:lpstr>Cooper Black</vt:lpstr>
      <vt:lpstr>Arial Black</vt:lpstr>
      <vt:lpstr>Corben</vt:lpstr>
      <vt:lpstr>Segoe UI</vt:lpstr>
      <vt:lpstr>Office Theme</vt:lpstr>
      <vt:lpstr>2_Office Theme</vt:lpstr>
      <vt:lpstr>3_Office Theme</vt:lpstr>
      <vt:lpstr>1_Office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136</cp:revision>
  <dcterms:created xsi:type="dcterms:W3CDTF">2023-10-03T21:33:12Z</dcterms:created>
  <dcterms:modified xsi:type="dcterms:W3CDTF">2026-02-26T08:20:25Z</dcterms:modified>
</cp:coreProperties>
</file>