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18"/>
  </p:notesMasterIdLst>
  <p:sldIdLst>
    <p:sldId id="276" r:id="rId3"/>
    <p:sldId id="4122" r:id="rId4"/>
    <p:sldId id="277" r:id="rId5"/>
    <p:sldId id="506" r:id="rId6"/>
    <p:sldId id="508" r:id="rId7"/>
    <p:sldId id="510" r:id="rId8"/>
    <p:sldId id="535" r:id="rId9"/>
    <p:sldId id="507" r:id="rId10"/>
    <p:sldId id="511" r:id="rId11"/>
    <p:sldId id="512" r:id="rId12"/>
    <p:sldId id="518" r:id="rId13"/>
    <p:sldId id="519" r:id="rId14"/>
    <p:sldId id="282" r:id="rId15"/>
    <p:sldId id="280" r:id="rId16"/>
    <p:sldId id="4711" r:id="rId17"/>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40" autoAdjust="0"/>
    <p:restoredTop sz="95033" autoAdjust="0"/>
  </p:normalViewPr>
  <p:slideViewPr>
    <p:cSldViewPr>
      <p:cViewPr varScale="1">
        <p:scale>
          <a:sx n="102" d="100"/>
          <a:sy n="102" d="100"/>
        </p:scale>
        <p:origin x="640" y="2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5/23/2025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2.xml"/><Relationship Id="rId1" Type="http://schemas.openxmlformats.org/officeDocument/2006/relationships/themeOverride" Target="../theme/themeOverride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5/23/2025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5/23/2025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5/23/2025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5/23/2025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67662" y="1498600"/>
            <a:ext cx="7008574" cy="711200"/>
          </a:xfrm>
          <a:prstGeom prst="rect">
            <a:avLst/>
          </a:prstGeom>
        </p:spPr>
        <p:txBody>
          <a:bodyPr vert="horz" lIns="91440" tIns="45720" rIns="91440" bIns="45720" rtlCol="0" anchor="ctr">
            <a:noAutofit/>
          </a:bodyPr>
          <a:lstStyle>
            <a:lvl1pPr algn="r">
              <a:defRPr lang="en-US" sz="4799" dirty="0"/>
            </a:lvl1pPr>
          </a:lstStyle>
          <a:p>
            <a:pPr lvl="0"/>
            <a:r>
              <a:rPr lang="en-US" dirty="0"/>
              <a:t>Click to edit title</a:t>
            </a:r>
          </a:p>
        </p:txBody>
      </p:sp>
      <p:sp>
        <p:nvSpPr>
          <p:cNvPr id="3" name="Subtitle 2"/>
          <p:cNvSpPr>
            <a:spLocks noGrp="1"/>
          </p:cNvSpPr>
          <p:nvPr>
            <p:ph type="subTitle" idx="1"/>
          </p:nvPr>
        </p:nvSpPr>
        <p:spPr>
          <a:xfrm>
            <a:off x="4367662" y="2209800"/>
            <a:ext cx="7008574" cy="1219200"/>
          </a:xfrm>
        </p:spPr>
        <p:txBody>
          <a:bodyPr/>
          <a:lstStyle>
            <a:lvl1pPr marL="0" indent="0" algn="r">
              <a:buNone/>
              <a:defRPr>
                <a:solidFill>
                  <a:schemeClr val="bg1">
                    <a:lumMod val="50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525244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609441" y="6356351"/>
            <a:ext cx="2844059" cy="365125"/>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4619795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2833" y="4406901"/>
            <a:ext cx="10360501" cy="1362075"/>
          </a:xfrm>
          <a:prstGeom prst="rect">
            <a:avLst/>
          </a:prstGeom>
        </p:spPr>
        <p:txBody>
          <a:bodyPr anchor="t"/>
          <a:lstStyle>
            <a:lvl1pPr algn="l">
              <a:defRPr sz="4266" b="1" cap="none"/>
            </a:lvl1pPr>
          </a:lstStyle>
          <a:p>
            <a:r>
              <a:rPr lang="en-US"/>
              <a:t>Click to edit title style</a:t>
            </a:r>
            <a:endParaRPr lang="en-US" dirty="0"/>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666">
                <a:solidFill>
                  <a:schemeClr val="tx1">
                    <a:tint val="75000"/>
                  </a:schemeClr>
                </a:solidFill>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304721" y="6356351"/>
            <a:ext cx="2844059" cy="365125"/>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652699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76201"/>
            <a:ext cx="10969943" cy="8128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5383398"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6195986" y="1295400"/>
            <a:ext cx="5383398" cy="4876800"/>
          </a:xfrm>
        </p:spPr>
        <p:txBody>
          <a:bodyPr>
            <a:normAutofit/>
          </a:bodyPr>
          <a:lstStyle>
            <a:lvl1pPr marL="0" inden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196421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8024310"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74661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0461964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203147" y="6375400"/>
            <a:ext cx="2844059" cy="365125"/>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222045" y="279401"/>
            <a:ext cx="10969943" cy="711201"/>
          </a:xfrm>
          <a:prstGeom prst="rect">
            <a:avLst/>
          </a:prstGeom>
        </p:spPr>
        <p:txBody>
          <a:bodyPr/>
          <a:lstStyle>
            <a:lvl1pPr>
              <a:defRPr sz="3466">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77810" y="76201"/>
            <a:ext cx="658210" cy="650287"/>
          </a:xfrm>
          <a:prstGeom prst="rect">
            <a:avLst/>
          </a:prstGeom>
        </p:spPr>
      </p:pic>
    </p:spTree>
    <p:extLst>
      <p:ext uri="{BB962C8B-B14F-4D97-AF65-F5344CB8AC3E}">
        <p14:creationId xmlns:p14="http://schemas.microsoft.com/office/powerpoint/2010/main" val="8626525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203147" y="6356351"/>
            <a:ext cx="2844059" cy="365125"/>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6365134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1092200"/>
            <a:ext cx="4010039" cy="1162051"/>
          </a:xfrm>
          <a:prstGeom prst="rect">
            <a:avLst/>
          </a:prstGeom>
        </p:spPr>
        <p:txBody>
          <a:bodyPr anchor="b"/>
          <a:lstStyle>
            <a:lvl1pPr algn="l">
              <a:defRPr sz="2666" b="1"/>
            </a:lvl1pPr>
          </a:lstStyle>
          <a:p>
            <a:r>
              <a:rPr lang="en-US"/>
              <a:t>Click to edit Master title style</a:t>
            </a:r>
          </a:p>
        </p:txBody>
      </p:sp>
      <p:sp>
        <p:nvSpPr>
          <p:cNvPr id="3" name="Content Placeholder 2"/>
          <p:cNvSpPr>
            <a:spLocks noGrp="1"/>
          </p:cNvSpPr>
          <p:nvPr>
            <p:ph idx="1"/>
          </p:nvPr>
        </p:nvSpPr>
        <p:spPr>
          <a:xfrm>
            <a:off x="4765492" y="1092201"/>
            <a:ext cx="6813892" cy="5033964"/>
          </a:xfrm>
        </p:spPr>
        <p:txBody>
          <a:bodyPr>
            <a:normAutofit/>
          </a:bodyPr>
          <a:lstStyle>
            <a:lvl1pPr>
              <a:defRPr sz="3199"/>
            </a:lvl1pPr>
            <a:lvl2pPr>
              <a:defRPr sz="2666"/>
            </a:lvl2pPr>
            <a:lvl3pPr>
              <a:defRPr sz="2399"/>
            </a:lvl3pPr>
            <a:lvl4pPr>
              <a:defRPr sz="2133"/>
            </a:lvl4pPr>
            <a:lvl5pPr>
              <a:defRPr sz="2133"/>
            </a:lvl5pPr>
            <a:lvl6pPr>
              <a:defRPr sz="2666"/>
            </a:lvl6pPr>
            <a:lvl7pPr>
              <a:defRPr sz="2666"/>
            </a:lvl7pPr>
            <a:lvl8pPr>
              <a:defRPr sz="2666"/>
            </a:lvl8pPr>
            <a:lvl9pPr>
              <a:defRPr sz="266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443" y="2311401"/>
            <a:ext cx="4010039" cy="3814764"/>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9712732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a:prstGeom prst="rect">
            <a:avLst/>
          </a:prstGeom>
        </p:spPr>
        <p:txBody>
          <a:bodyPr anchor="b"/>
          <a:lstStyle>
            <a:lvl1pPr algn="l">
              <a:defRPr sz="2666" b="1"/>
            </a:lvl1pPr>
          </a:lstStyle>
          <a:p>
            <a:r>
              <a:rPr lang="en-US"/>
              <a:t>Click to edit Master title style</a:t>
            </a:r>
          </a:p>
        </p:txBody>
      </p:sp>
      <p:sp>
        <p:nvSpPr>
          <p:cNvPr id="3" name="Picture Placeholder 2"/>
          <p:cNvSpPr>
            <a:spLocks noGrp="1"/>
          </p:cNvSpPr>
          <p:nvPr>
            <p:ph type="pic" idx="1"/>
          </p:nvPr>
        </p:nvSpPr>
        <p:spPr>
          <a:xfrm>
            <a:off x="2389095" y="1193799"/>
            <a:ext cx="7313295" cy="3533775"/>
          </a:xfrm>
        </p:spPr>
        <p:txBody>
          <a:bodyPr/>
          <a:lstStyle>
            <a:lvl1pPr marL="0" indent="0">
              <a:buNone/>
              <a:defRPr sz="4266"/>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endParaRPr lang="en-US"/>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3111484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4600282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6898" y="1396999"/>
            <a:ext cx="2742486" cy="4729164"/>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609441" y="1396999"/>
            <a:ext cx="8024310" cy="47291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4851510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441" y="1803400"/>
            <a:ext cx="10969943" cy="1727200"/>
          </a:xfrm>
          <a:prstGeom prst="rect">
            <a:avLst/>
          </a:prstGeom>
        </p:spPr>
        <p:txBody>
          <a:bodyPr/>
          <a:lstStyle>
            <a:lvl1pPr algn="l">
              <a:defRPr sz="7998"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609441" y="3530600"/>
            <a:ext cx="10969943" cy="1219200"/>
          </a:xfrm>
        </p:spPr>
        <p:txBody>
          <a:bodyPr/>
          <a:lstStyle>
            <a:lvl1pPr marL="0" indent="0" algn="l">
              <a:buNone/>
              <a:defRPr>
                <a:solidFill>
                  <a:schemeClr val="tx1">
                    <a:lumMod val="85000"/>
                    <a:lumOff val="15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31811354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5/23/2025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441" y="1295401"/>
            <a:ext cx="10969943" cy="483076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940CB006-912F-44E1-9560-9CBFEBE946EF}" type="datetime4">
              <a:rPr lang="en-US" smtClean="0"/>
              <a:t>May 23, 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2657815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hdr="0"/>
  <p:txStyles>
    <p:titleStyle>
      <a:lvl1pPr algn="l" defTabSz="1218895" rtl="0" eaLnBrk="1" latinLnBrk="0" hangingPunct="1">
        <a:spcBef>
          <a:spcPct val="0"/>
        </a:spcBef>
        <a:buNone/>
        <a:defRPr lang="en-US" sz="3732"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457086" indent="-457086" algn="l" defTabSz="1218895" rtl="0" eaLnBrk="1" latinLnBrk="0" hangingPunct="1">
        <a:spcBef>
          <a:spcPct val="20000"/>
        </a:spcBef>
        <a:buFont typeface="Arial" pitchFamily="34" charset="0"/>
        <a:buChar char="•"/>
        <a:defRPr sz="3199" kern="1200">
          <a:solidFill>
            <a:schemeClr val="tx1"/>
          </a:solidFill>
          <a:latin typeface="+mn-lt"/>
          <a:ea typeface="+mn-ea"/>
          <a:cs typeface="+mn-cs"/>
        </a:defRPr>
      </a:lvl1pPr>
      <a:lvl2pPr marL="990352" indent="-380905"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2pPr>
      <a:lvl3pPr marL="1523619" indent="-304724" algn="l" defTabSz="1218895"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2133067"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4pPr>
      <a:lvl5pPr marL="2742514"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5pPr>
      <a:lvl6pPr marL="3351962"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409"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85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305"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hyperlink" Target="https://world.openfoodfacts.net/api/0/product/8904004400083?fields=product_name,nutriments,image_front_url" TargetMode="Externa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hyperlink" Target="https://ui5.sap.com/test-resources/sap/m/demokit/cart/webapp/localService/mockdata/images/HT-1020.jpg" TargetMode="External"/><Relationship Id="rId2" Type="http://schemas.openxmlformats.org/officeDocument/2006/relationships/hyperlink" Target="https://orderscapapp.cfapps.eu10.hana.ondemand.com/service/OrderManagement" TargetMode="Externa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4.png"/><Relationship Id="rId4" Type="http://schemas.openxmlformats.org/officeDocument/2006/relationships/hyperlink" Target="http://www.dribbble.com/"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jpeg"/><Relationship Id="rId7" Type="http://schemas.openxmlformats.org/officeDocument/2006/relationships/image" Target="../media/image19.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8.tiff"/><Relationship Id="rId5" Type="http://schemas.openxmlformats.org/officeDocument/2006/relationships/image" Target="../media/image17.tiff"/><Relationship Id="rId4" Type="http://schemas.openxmlformats.org/officeDocument/2006/relationships/image" Target="../media/image16.tiff"/><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22</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22</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243566"/>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Scanner use case</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dirty="0">
                  <a:solidFill>
                    <a:srgbClr val="FFFFFF"/>
                  </a:solidFill>
                  <a:latin typeface="Segoe UI" panose="020B0502040204020203" pitchFamily="34" charset="0"/>
                  <a:ea typeface="Calibri Light" panose="020F0302020204030204" pitchFamily="34" charset="0"/>
                  <a:cs typeface="Segoe UI" panose="020B0502040204020203" pitchFamily="34" charset="0"/>
                </a:rPr>
                <a:t>Variables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Create SO App</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52AFA-C446-5BE7-B83D-63482A5E941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A43DAE-E2E0-F6CD-71C7-BA610274A331}"/>
              </a:ext>
            </a:extLst>
          </p:cNvPr>
          <p:cNvSpPr>
            <a:spLocks noGrp="1"/>
          </p:cNvSpPr>
          <p:nvPr>
            <p:ph type="ftr" sz="quarter" idx="11"/>
          </p:nvPr>
        </p:nvSpPr>
        <p:spPr/>
        <p: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tint val="75000"/>
                  </a:prstClr>
                </a:solidFill>
                <a:effectLst/>
                <a:uLnTx/>
                <a:uFillTx/>
                <a:latin typeface="Calibri"/>
                <a:ea typeface="+mn-ea"/>
                <a:cs typeface="+mn-cs"/>
              </a:rPr>
              <a:t>www.anubhavtrainings.com</a:t>
            </a:r>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9CDEEF8E-8674-9FBE-8BF0-31B85F285D21}"/>
              </a:ext>
            </a:extLst>
          </p:cNvPr>
          <p:cNvSpPr>
            <a:spLocks noGrp="1"/>
          </p:cNvSpPr>
          <p:nvPr>
            <p:ph type="sldNum" sz="quarter" idx="12"/>
          </p:nvPr>
        </p:nvSpPr>
        <p:spPr>
          <a:xfrm>
            <a:off x="203147" y="6374633"/>
            <a:ext cx="609441" cy="365030"/>
          </a:xfrm>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1218987"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113EC6B7-FB16-FBE4-53BD-3AB03F949086}"/>
              </a:ext>
            </a:extLst>
          </p:cNvPr>
          <p:cNvSpPr>
            <a:spLocks noGrp="1"/>
          </p:cNvSpPr>
          <p:nvPr>
            <p:ph type="title"/>
          </p:nvPr>
        </p:nvSpPr>
        <p:spPr>
          <a:xfrm>
            <a:off x="101573" y="178647"/>
            <a:ext cx="10969943" cy="711016"/>
          </a:xfrm>
        </p:spPr>
        <p:txBody>
          <a:bodyPr/>
          <a:lstStyle/>
          <a:p>
            <a:r>
              <a:rPr lang="en-IN" sz="3333" dirty="0"/>
              <a:t>Use case 2</a:t>
            </a:r>
          </a:p>
        </p:txBody>
      </p:sp>
      <p:sp>
        <p:nvSpPr>
          <p:cNvPr id="2" name="TextBox 1">
            <a:extLst>
              <a:ext uri="{FF2B5EF4-FFF2-40B4-BE49-F238E27FC236}">
                <a16:creationId xmlns:a16="http://schemas.microsoft.com/office/drawing/2014/main" id="{BB01AD9F-6B2B-4DC0-66B7-5603F71A2C94}"/>
              </a:ext>
            </a:extLst>
          </p:cNvPr>
          <p:cNvSpPr txBox="1"/>
          <p:nvPr/>
        </p:nvSpPr>
        <p:spPr>
          <a:xfrm>
            <a:off x="101573" y="991236"/>
            <a:ext cx="7618016" cy="5424663"/>
          </a:xfrm>
          <a:prstGeom prst="rect">
            <a:avLst/>
          </a:prstGeom>
        </p:spPr>
        <p:txBody>
          <a:bodyPr vert="horz" lIns="121888" tIns="60944" rIns="121888" bIns="60944" rtlCol="0">
            <a:normAutofit fontScale="85000" lnSpcReduction="20000"/>
          </a:bodyPr>
          <a:lstStyle/>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1" i="0" u="none" strike="noStrike" kern="1200" cap="none" spc="0" normalizeH="0" baseline="0" noProof="0">
                <a:ln>
                  <a:noFill/>
                </a:ln>
                <a:solidFill>
                  <a:prstClr val="black"/>
                </a:solidFill>
                <a:effectLst/>
                <a:uLnTx/>
                <a:uFillTx/>
                <a:latin typeface="Calibri"/>
                <a:ea typeface="+mn-ea"/>
                <a:cs typeface="+mn-cs"/>
              </a:rPr>
              <a:t>Persona:  </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0" i="0" u="none" strike="noStrike" kern="1200" cap="none" spc="0" normalizeH="0" baseline="0" noProof="0">
                <a:ln>
                  <a:noFill/>
                </a:ln>
                <a:solidFill>
                  <a:prstClr val="black"/>
                </a:solidFill>
                <a:effectLst/>
                <a:uLnTx/>
                <a:uFillTx/>
                <a:latin typeface="Calibri"/>
                <a:ea typeface="+mn-ea"/>
                <a:cs typeface="+mn-cs"/>
              </a:rPr>
              <a:t>Name: Priya  </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0" i="0" u="none" strike="noStrike" kern="1200" cap="none" spc="0" normalizeH="0" baseline="0" noProof="0">
                <a:ln>
                  <a:noFill/>
                </a:ln>
                <a:solidFill>
                  <a:prstClr val="black"/>
                </a:solidFill>
                <a:effectLst/>
                <a:uLnTx/>
                <a:uFillTx/>
                <a:latin typeface="Calibri"/>
                <a:ea typeface="+mn-ea"/>
                <a:cs typeface="+mn-cs"/>
              </a:rPr>
              <a:t>Age: 32  </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0" i="0" u="none" strike="noStrike" kern="1200" cap="none" spc="0" normalizeH="0" baseline="0" noProof="0">
                <a:ln>
                  <a:noFill/>
                </a:ln>
                <a:solidFill>
                  <a:prstClr val="black"/>
                </a:solidFill>
                <a:effectLst/>
                <a:uLnTx/>
                <a:uFillTx/>
                <a:latin typeface="Calibri"/>
                <a:ea typeface="+mn-ea"/>
                <a:cs typeface="+mn-cs"/>
              </a:rPr>
              <a:t>Role: A health-conscious mother of a 6-year-old boy  </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0" i="0" u="none" strike="noStrike" kern="1200" cap="none" spc="0" normalizeH="0" baseline="0" noProof="0">
                <a:ln>
                  <a:noFill/>
                </a:ln>
                <a:solidFill>
                  <a:prstClr val="black"/>
                </a:solidFill>
                <a:effectLst/>
                <a:uLnTx/>
                <a:uFillTx/>
                <a:latin typeface="Calibri"/>
                <a:ea typeface="+mn-ea"/>
                <a:cs typeface="+mn-cs"/>
              </a:rPr>
              <a:t>Goal: To ensure her son eats healthy snacks, avoiding high sugar, additives, or allergens</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endParaRPr kumimoji="0" lang="en-US" sz="1866"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1" i="0" u="none" strike="noStrike" kern="1200" cap="none" spc="0" normalizeH="0" baseline="0" noProof="0">
                <a:ln>
                  <a:noFill/>
                </a:ln>
                <a:solidFill>
                  <a:prstClr val="black"/>
                </a:solidFill>
                <a:effectLst/>
                <a:uLnTx/>
                <a:uFillTx/>
                <a:latin typeface="Calibri"/>
                <a:ea typeface="+mn-ea"/>
                <a:cs typeface="+mn-cs"/>
              </a:rPr>
              <a:t>Scenario:  </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0" i="0" u="none" strike="noStrike" kern="1200" cap="none" spc="0" normalizeH="0" baseline="0" noProof="0">
                <a:ln>
                  <a:noFill/>
                </a:ln>
                <a:solidFill>
                  <a:prstClr val="black"/>
                </a:solidFill>
                <a:effectLst/>
                <a:uLnTx/>
                <a:uFillTx/>
                <a:latin typeface="Calibri"/>
                <a:ea typeface="+mn-ea"/>
                <a:cs typeface="+mn-cs"/>
              </a:rPr>
              <a:t>Priya is grocery shopping on a busy weekday afternoon. Her son loves trying new snacks, but Priya is always worried about hidden sugars, preservatives, and allergy-triggering ingredients. Reading tiny labels on packaging is time-consuming and frustrating.</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endParaRPr kumimoji="0" lang="en-US" sz="1866"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endParaRPr kumimoji="0" lang="en-US" sz="1866"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1" i="0" u="none" strike="noStrike" kern="1200" cap="none" spc="0" normalizeH="0" baseline="0" noProof="0">
                <a:ln>
                  <a:noFill/>
                </a:ln>
                <a:solidFill>
                  <a:prstClr val="black"/>
                </a:solidFill>
                <a:effectLst/>
                <a:uLnTx/>
                <a:uFillTx/>
                <a:latin typeface="Calibri"/>
                <a:ea typeface="+mn-ea"/>
                <a:cs typeface="+mn-cs"/>
              </a:rPr>
              <a:t>Key Features of the App:</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0" i="0" u="none" strike="noStrike" kern="1200" cap="none" spc="0" normalizeH="0" baseline="0" noProof="0">
                <a:ln>
                  <a:noFill/>
                </a:ln>
                <a:solidFill>
                  <a:prstClr val="black"/>
                </a:solidFill>
                <a:effectLst/>
                <a:uLnTx/>
                <a:uFillTx/>
                <a:latin typeface="Calibri"/>
                <a:ea typeface="+mn-ea"/>
                <a:cs typeface="+mn-cs"/>
              </a:rPr>
              <a:t>- Barcode scanning  </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0" i="0" u="none" strike="noStrike" kern="1200" cap="none" spc="0" normalizeH="0" baseline="0" noProof="0">
                <a:ln>
                  <a:noFill/>
                </a:ln>
                <a:solidFill>
                  <a:prstClr val="black"/>
                </a:solidFill>
                <a:effectLst/>
                <a:uLnTx/>
                <a:uFillTx/>
                <a:latin typeface="Calibri"/>
                <a:ea typeface="+mn-ea"/>
                <a:cs typeface="+mn-cs"/>
              </a:rPr>
              <a:t>- Instant nutrition info from Open Food Facts  </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0" i="0" u="none" strike="noStrike" kern="1200" cap="none" spc="0" normalizeH="0" baseline="0" noProof="0">
                <a:ln>
                  <a:noFill/>
                </a:ln>
                <a:solidFill>
                  <a:prstClr val="black"/>
                </a:solidFill>
                <a:effectLst/>
                <a:uLnTx/>
                <a:uFillTx/>
                <a:latin typeface="Calibri"/>
                <a:ea typeface="+mn-ea"/>
                <a:cs typeface="+mn-cs"/>
              </a:rPr>
              <a:t>- Allergen warnings  </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0" i="0" u="none" strike="noStrike" kern="1200" cap="none" spc="0" normalizeH="0" baseline="0" noProof="0">
                <a:ln>
                  <a:noFill/>
                </a:ln>
                <a:solidFill>
                  <a:prstClr val="black"/>
                </a:solidFill>
                <a:effectLst/>
                <a:uLnTx/>
                <a:uFillTx/>
                <a:latin typeface="Calibri"/>
                <a:ea typeface="+mn-ea"/>
                <a:cs typeface="+mn-cs"/>
              </a:rPr>
              <a:t>- Healthy alternatives  </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0" i="0" u="none" strike="noStrike" kern="1200" cap="none" spc="0" normalizeH="0" baseline="0" noProof="0">
                <a:ln>
                  <a:noFill/>
                </a:ln>
                <a:solidFill>
                  <a:prstClr val="black"/>
                </a:solidFill>
                <a:effectLst/>
                <a:uLnTx/>
                <a:uFillTx/>
                <a:latin typeface="Calibri"/>
                <a:ea typeface="+mn-ea"/>
                <a:cs typeface="+mn-cs"/>
              </a:rPr>
              <a:t>- Kid-focused nutritional grading</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endParaRPr kumimoji="0" lang="en-US" sz="1866"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1" i="0" u="none" strike="noStrike" kern="1200" cap="none" spc="0" normalizeH="0" baseline="0" noProof="0">
                <a:ln>
                  <a:noFill/>
                </a:ln>
                <a:solidFill>
                  <a:prstClr val="black"/>
                </a:solidFill>
                <a:effectLst/>
                <a:uLnTx/>
                <a:uFillTx/>
                <a:latin typeface="Calibri"/>
                <a:ea typeface="+mn-ea"/>
                <a:cs typeface="+mn-cs"/>
              </a:rPr>
              <a:t>Benefit:</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0" i="0" u="none" strike="noStrike" kern="1200" cap="none" spc="0" normalizeH="0" baseline="0" noProof="0">
                <a:ln>
                  <a:noFill/>
                </a:ln>
                <a:solidFill>
                  <a:prstClr val="black"/>
                </a:solidFill>
                <a:effectLst/>
                <a:uLnTx/>
                <a:uFillTx/>
                <a:latin typeface="Calibri"/>
                <a:ea typeface="+mn-ea"/>
                <a:cs typeface="+mn-cs"/>
              </a:rPr>
              <a:t>Priya saves time and makes informed decisions, ensuring her son enjoys tasty snacks without compromising health.</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endParaRPr kumimoji="0" lang="en-US" sz="1866" b="0" i="0" u="none" strike="noStrike" kern="1200" cap="none" spc="0" normalizeH="0" baseline="0" noProof="0" dirty="0">
              <a:ln>
                <a:noFill/>
              </a:ln>
              <a:solidFill>
                <a:prstClr val="black"/>
              </a:solidFill>
              <a:effectLst/>
              <a:uLnTx/>
              <a:uFillTx/>
              <a:latin typeface="Calibri"/>
              <a:ea typeface="+mn-ea"/>
              <a:cs typeface="+mn-cs"/>
            </a:endParaRPr>
          </a:p>
        </p:txBody>
      </p:sp>
      <p:pic>
        <p:nvPicPr>
          <p:cNvPr id="2063" name="Picture 15" descr="Father Daughter Shopping: Over 3,796 Royalty-Free Licensable Stock  Illustrations &amp; Drawings | Shutterstock">
            <a:extLst>
              <a:ext uri="{FF2B5EF4-FFF2-40B4-BE49-F238E27FC236}">
                <a16:creationId xmlns:a16="http://schemas.microsoft.com/office/drawing/2014/main" id="{31DA6A43-EB06-3D18-0442-D8D629F8CA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143"/>
          <a:stretch/>
        </p:blipFill>
        <p:spPr bwMode="auto">
          <a:xfrm>
            <a:off x="7719589" y="2052996"/>
            <a:ext cx="4354966" cy="3301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2003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48CC4-9692-1294-C1A1-6A75635E882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C2A108D-E504-1630-4E3F-CD877CA5BFD4}"/>
              </a:ext>
            </a:extLst>
          </p:cNvPr>
          <p:cNvSpPr>
            <a:spLocks noGrp="1"/>
          </p:cNvSpPr>
          <p:nvPr>
            <p:ph type="ftr" sz="quarter" idx="11"/>
          </p:nvPr>
        </p:nvSpPr>
        <p:spPr/>
        <p: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B180D053-857E-A921-C3BC-4313323F980C}"/>
              </a:ext>
            </a:extLst>
          </p:cNvPr>
          <p:cNvSpPr>
            <a:spLocks noGrp="1"/>
          </p:cNvSpPr>
          <p:nvPr>
            <p:ph type="sldNum" sz="quarter" idx="12"/>
          </p:nvPr>
        </p:nvSpPr>
        <p:spPr>
          <a:xfrm>
            <a:off x="203147" y="6374633"/>
            <a:ext cx="609441" cy="365030"/>
          </a:xfrm>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1218987"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A2BBE0C0-3517-1663-B2E4-10AA9E863417}"/>
              </a:ext>
            </a:extLst>
          </p:cNvPr>
          <p:cNvSpPr>
            <a:spLocks noGrp="1"/>
          </p:cNvSpPr>
          <p:nvPr>
            <p:ph type="title"/>
          </p:nvPr>
        </p:nvSpPr>
        <p:spPr>
          <a:xfrm>
            <a:off x="101573" y="178647"/>
            <a:ext cx="10969943" cy="711016"/>
          </a:xfrm>
        </p:spPr>
        <p:txBody>
          <a:bodyPr/>
          <a:lstStyle/>
          <a:p>
            <a:r>
              <a:rPr lang="en-IN" sz="3333" dirty="0"/>
              <a:t>Open APIs</a:t>
            </a:r>
          </a:p>
        </p:txBody>
      </p:sp>
      <p:sp>
        <p:nvSpPr>
          <p:cNvPr id="2" name="TextBox 1">
            <a:extLst>
              <a:ext uri="{FF2B5EF4-FFF2-40B4-BE49-F238E27FC236}">
                <a16:creationId xmlns:a16="http://schemas.microsoft.com/office/drawing/2014/main" id="{6A26D79C-4A6A-0BDA-3E3F-85AB5A86CD80}"/>
              </a:ext>
            </a:extLst>
          </p:cNvPr>
          <p:cNvSpPr txBox="1"/>
          <p:nvPr/>
        </p:nvSpPr>
        <p:spPr>
          <a:xfrm>
            <a:off x="125472" y="910294"/>
            <a:ext cx="11782531" cy="5424663"/>
          </a:xfrm>
          <a:prstGeom prst="rect">
            <a:avLst/>
          </a:prstGeom>
        </p:spPr>
        <p:txBody>
          <a:bodyPr vert="horz" lIns="121888" tIns="60944" rIns="121888" bIns="60944" rtlCol="0">
            <a:normAutofit/>
          </a:bodyPr>
          <a:lstStyle/>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Open Food Facts offers a comprehensive API that allows developers to access a vast database of food product information, including details such as ingredients, nutritional content, allergens, and labels. This open-source database is continually enriched by contributors worldwide, making it an invaluable resource for applications focused on health, diet tracking, food research, and consumer information. citeturn0search0</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Key Features of the Open Food Facts API:</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1218987" rtl="0" eaLnBrk="1" fontAlgn="auto" latinLnBrk="0" hangingPunct="1">
              <a:lnSpc>
                <a:spcPct val="100000"/>
              </a:lnSpc>
              <a:spcBef>
                <a:spcPts val="0"/>
              </a:spcBef>
              <a:spcAft>
                <a:spcPts val="0"/>
              </a:spcAft>
              <a:buClrTx/>
              <a:buSzTx/>
              <a:buFont typeface="Arial" pitchFamily="34" charset="0"/>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Extensive Data Access: Retrieve detailed information about food products, including ingredients, nutritional facts, allergens, and more.</a:t>
            </a:r>
          </a:p>
          <a:p>
            <a:pPr marL="0" marR="0" lvl="0" indent="0" algn="l" defTabSz="1218987" rtl="0" eaLnBrk="1" fontAlgn="auto" latinLnBrk="0" hangingPunct="1">
              <a:lnSpc>
                <a:spcPct val="100000"/>
              </a:lnSpc>
              <a:spcBef>
                <a:spcPts val="0"/>
              </a:spcBef>
              <a:spcAft>
                <a:spcPts val="0"/>
              </a:spcAft>
              <a:buClrTx/>
              <a:buSzTx/>
              <a:buFont typeface="Arial" pitchFamily="34" charset="0"/>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Global Coverage: Access data from a wide range of products sourced from various countries, providing a diverse and comprehensive dataset.</a:t>
            </a:r>
          </a:p>
          <a:p>
            <a:pPr marL="0" marR="0" lvl="0" indent="0" algn="l" defTabSz="1218987" rtl="0" eaLnBrk="1" fontAlgn="auto" latinLnBrk="0" hangingPunct="1">
              <a:lnSpc>
                <a:spcPct val="100000"/>
              </a:lnSpc>
              <a:spcBef>
                <a:spcPts val="0"/>
              </a:spcBef>
              <a:spcAft>
                <a:spcPts val="0"/>
              </a:spcAft>
              <a:buClrTx/>
              <a:buSzTx/>
              <a:buFont typeface="Arial" pitchFamily="34" charset="0"/>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User Contributions: Benefit from a continually growing database, as users worldwide contribute by adding new products and updating existing information.</a:t>
            </a:r>
          </a:p>
          <a:p>
            <a:pPr marL="0" marR="0" lvl="0" indent="0" algn="l" defTabSz="1218987" rtl="0" eaLnBrk="1" fontAlgn="auto" latinLnBrk="0" hangingPunct="1">
              <a:lnSpc>
                <a:spcPct val="100000"/>
              </a:lnSpc>
              <a:spcBef>
                <a:spcPts val="0"/>
              </a:spcBef>
              <a:spcAft>
                <a:spcPts val="0"/>
              </a:spcAft>
              <a:buClrTx/>
              <a:buSzTx/>
              <a:buFont typeface="Arial" pitchFamily="34" charset="0"/>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Integration Flexibility: Utilize the RESTful API to seamlessly integrate food product data into mobile apps, research projects, software, or diet-based web services.</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endParaRPr kumimoji="0" lang="en-US" sz="1866"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0" i="0" u="none" strike="noStrike" kern="1200" cap="none" spc="0" normalizeH="0" baseline="0" noProof="0" dirty="0">
                <a:ln>
                  <a:noFill/>
                </a:ln>
                <a:solidFill>
                  <a:prstClr val="black"/>
                </a:solidFill>
                <a:effectLst/>
                <a:uLnTx/>
                <a:uFillTx/>
                <a:latin typeface="Calibri"/>
                <a:ea typeface="+mn-ea"/>
                <a:cs typeface="+mn-cs"/>
                <a:hlinkClick r:id="rId2"/>
              </a:rPr>
              <a:t>https://world.openfoodfacts.net/api/0/product/</a:t>
            </a:r>
            <a:r>
              <a:rPr kumimoji="0" lang="en-US" sz="1866" b="0" i="0" u="none" strike="noStrike" kern="1200" cap="none" spc="0" normalizeH="0" baseline="0" noProof="0" dirty="0">
                <a:ln>
                  <a:noFill/>
                </a:ln>
                <a:solidFill>
                  <a:prstClr val="black"/>
                </a:solidFill>
                <a:effectLst/>
                <a:highlight>
                  <a:srgbClr val="FFFF00"/>
                </a:highlight>
                <a:uLnTx/>
                <a:uFillTx/>
                <a:latin typeface="Calibri"/>
                <a:ea typeface="+mn-ea"/>
                <a:cs typeface="+mn-cs"/>
                <a:hlinkClick r:id="rId2"/>
              </a:rPr>
              <a:t>8904004400083</a:t>
            </a:r>
            <a:r>
              <a:rPr kumimoji="0" lang="en-US" sz="1866" b="0" i="0" u="none" strike="noStrike" kern="1200" cap="none" spc="0" normalizeH="0" baseline="0" noProof="0" dirty="0">
                <a:ln>
                  <a:noFill/>
                </a:ln>
                <a:solidFill>
                  <a:prstClr val="black"/>
                </a:solidFill>
                <a:effectLst/>
                <a:uLnTx/>
                <a:uFillTx/>
                <a:latin typeface="Calibri"/>
                <a:ea typeface="+mn-ea"/>
                <a:cs typeface="+mn-cs"/>
                <a:hlinkClick r:id="rId2"/>
              </a:rPr>
              <a:t>?fields=product_name,nutriments,image_front_url</a:t>
            </a:r>
            <a:endParaRPr kumimoji="0" lang="en-US" sz="1866"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1866" b="0" i="0" u="none" strike="noStrike" kern="1200" cap="none" spc="0" normalizeH="0" baseline="0" noProof="0" dirty="0">
                <a:ln>
                  <a:noFill/>
                </a:ln>
                <a:solidFill>
                  <a:prstClr val="black"/>
                </a:solidFill>
                <a:effectLst/>
                <a:uLnTx/>
                <a:uFillTx/>
                <a:latin typeface="Calibri"/>
                <a:ea typeface="+mn-ea"/>
                <a:cs typeface="+mn-cs"/>
              </a:rPr>
              <a:t>Sample products – </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933" b="0" i="0" u="none" strike="noStrike" kern="1200" cap="none" spc="0" normalizeH="0" baseline="0" noProof="0" dirty="0">
                <a:ln>
                  <a:noFill/>
                </a:ln>
                <a:solidFill>
                  <a:prstClr val="black"/>
                </a:solidFill>
                <a:effectLst/>
                <a:uLnTx/>
                <a:uFillTx/>
                <a:latin typeface="Kristen ITC" panose="03050502040202030202" pitchFamily="66" charset="0"/>
                <a:ea typeface="+mn-ea"/>
                <a:cs typeface="+mn-cs"/>
              </a:rPr>
              <a:t>8901764061257</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933" b="0" i="0" u="none" strike="noStrike" kern="1200" cap="none" spc="0" normalizeH="0" baseline="0" noProof="0" dirty="0">
                <a:ln>
                  <a:noFill/>
                </a:ln>
                <a:solidFill>
                  <a:prstClr val="black"/>
                </a:solidFill>
                <a:effectLst/>
                <a:uLnTx/>
                <a:uFillTx/>
                <a:latin typeface="Kristen ITC" panose="03050502040202030202" pitchFamily="66" charset="0"/>
                <a:ea typeface="+mn-ea"/>
                <a:cs typeface="+mn-cs"/>
              </a:rPr>
              <a:t>8901262200189</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933" b="0" i="0" u="none" strike="noStrike" kern="1200" cap="none" spc="0" normalizeH="0" baseline="0" noProof="0" dirty="0">
                <a:ln>
                  <a:noFill/>
                </a:ln>
                <a:solidFill>
                  <a:prstClr val="black"/>
                </a:solidFill>
                <a:effectLst/>
                <a:uLnTx/>
                <a:uFillTx/>
                <a:latin typeface="Kristen ITC" panose="03050502040202030202" pitchFamily="66" charset="0"/>
                <a:ea typeface="+mn-ea"/>
                <a:cs typeface="+mn-cs"/>
              </a:rPr>
              <a:t>8901063029279</a:t>
            </a:r>
          </a:p>
          <a:p>
            <a:pPr marL="0" marR="0" lvl="0" indent="0" algn="l" defTabSz="1218987" rtl="0" eaLnBrk="1" fontAlgn="auto" latinLnBrk="0" hangingPunct="1">
              <a:lnSpc>
                <a:spcPct val="100000"/>
              </a:lnSpc>
              <a:spcBef>
                <a:spcPct val="20000"/>
              </a:spcBef>
              <a:spcAft>
                <a:spcPts val="0"/>
              </a:spcAft>
              <a:buClrTx/>
              <a:buSzTx/>
              <a:buFont typeface="Arial" pitchFamily="34" charset="0"/>
              <a:buNone/>
              <a:tabLst/>
              <a:defRPr/>
            </a:pPr>
            <a:r>
              <a:rPr kumimoji="0" lang="en-US" sz="933" b="0" i="0" u="none" strike="noStrike" kern="1200" cap="none" spc="0" normalizeH="0" baseline="0" noProof="0" dirty="0">
                <a:ln>
                  <a:noFill/>
                </a:ln>
                <a:solidFill>
                  <a:prstClr val="black"/>
                </a:solidFill>
                <a:effectLst/>
                <a:uLnTx/>
                <a:uFillTx/>
                <a:latin typeface="Kristen ITC" panose="03050502040202030202" pitchFamily="66" charset="0"/>
                <a:ea typeface="+mn-ea"/>
                <a:cs typeface="+mn-cs"/>
              </a:rPr>
              <a:t>8904004400083</a:t>
            </a:r>
          </a:p>
        </p:txBody>
      </p:sp>
    </p:spTree>
    <p:extLst>
      <p:ext uri="{BB962C8B-B14F-4D97-AF65-F5344CB8AC3E}">
        <p14:creationId xmlns:p14="http://schemas.microsoft.com/office/powerpoint/2010/main" val="1311840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F44CD-B86A-9140-70B1-8DF4FDEB8D3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3904CF2-7567-9A1E-4C94-AF6E35D7E866}"/>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C9796B93-1BE7-7B84-9250-4820B11A3ACE}"/>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6</a:t>
            </a:fld>
            <a:endParaRPr lang="en-US" dirty="0"/>
          </a:p>
        </p:txBody>
      </p:sp>
      <p:sp>
        <p:nvSpPr>
          <p:cNvPr id="5" name="Title 4">
            <a:extLst>
              <a:ext uri="{FF2B5EF4-FFF2-40B4-BE49-F238E27FC236}">
                <a16:creationId xmlns:a16="http://schemas.microsoft.com/office/drawing/2014/main" id="{3898BAAC-2777-322F-7E03-324D5BA71520}"/>
              </a:ext>
            </a:extLst>
          </p:cNvPr>
          <p:cNvSpPr>
            <a:spLocks noGrp="1"/>
          </p:cNvSpPr>
          <p:nvPr>
            <p:ph type="title"/>
          </p:nvPr>
        </p:nvSpPr>
        <p:spPr>
          <a:xfrm>
            <a:off x="101573" y="178647"/>
            <a:ext cx="10969943" cy="711016"/>
          </a:xfrm>
        </p:spPr>
        <p:txBody>
          <a:bodyPr/>
          <a:lstStyle/>
          <a:p>
            <a:r>
              <a:rPr lang="en-IN" sz="3333" dirty="0"/>
              <a:t>Integrations – REST API</a:t>
            </a:r>
          </a:p>
        </p:txBody>
      </p:sp>
      <p:sp>
        <p:nvSpPr>
          <p:cNvPr id="2" name="TextBox 1">
            <a:extLst>
              <a:ext uri="{FF2B5EF4-FFF2-40B4-BE49-F238E27FC236}">
                <a16:creationId xmlns:a16="http://schemas.microsoft.com/office/drawing/2014/main" id="{F63BD8A7-F1AB-4DE4-649C-6504E390D0C2}"/>
              </a:ext>
            </a:extLst>
          </p:cNvPr>
          <p:cNvSpPr txBox="1"/>
          <p:nvPr/>
        </p:nvSpPr>
        <p:spPr>
          <a:xfrm>
            <a:off x="149118" y="1132486"/>
            <a:ext cx="11782531" cy="5424663"/>
          </a:xfrm>
          <a:prstGeom prst="rect">
            <a:avLst/>
          </a:prstGeom>
        </p:spPr>
        <p:txBody>
          <a:bodyPr vert="horz" lIns="121888" tIns="60944" rIns="121888" bIns="60944" rtlCol="0">
            <a:normAutofit/>
          </a:bodyPr>
          <a:lstStyle/>
          <a:p>
            <a:pPr>
              <a:spcBef>
                <a:spcPct val="20000"/>
              </a:spcBef>
              <a:buFont typeface="Arial" pitchFamily="34" charset="0"/>
            </a:pPr>
            <a:r>
              <a:rPr lang="en-US" sz="1866" dirty="0">
                <a:solidFill>
                  <a:srgbClr val="333333"/>
                </a:solidFill>
                <a:latin typeface="72" panose="020B0503030000000003" pitchFamily="34" charset="0"/>
              </a:rPr>
              <a:t>A </a:t>
            </a:r>
            <a:r>
              <a:rPr lang="en-US" sz="1866" dirty="0"/>
              <a:t>REST</a:t>
            </a:r>
            <a:r>
              <a:rPr lang="en-US" sz="1866" dirty="0">
                <a:solidFill>
                  <a:srgbClr val="333333"/>
                </a:solidFill>
                <a:latin typeface="72" panose="020B0503030000000003" pitchFamily="34" charset="0"/>
              </a:rPr>
              <a:t> API direct integration type data resource essentially tells SAP Build Apps how a specific, JSON-format HTTP </a:t>
            </a:r>
            <a:r>
              <a:rPr lang="en-US" sz="1866" dirty="0"/>
              <a:t>REST</a:t>
            </a:r>
            <a:r>
              <a:rPr lang="en-US" sz="1866" dirty="0">
                <a:solidFill>
                  <a:srgbClr val="333333"/>
                </a:solidFill>
                <a:latin typeface="72" panose="020B0503030000000003" pitchFamily="34" charset="0"/>
              </a:rPr>
              <a:t> API can be accessed. It defines things like a base URL, headers, query parameters, available methods, schemas, and so on. You can create new external data resources and edit existing ones via the </a:t>
            </a:r>
            <a:r>
              <a:rPr lang="en-US" sz="1866" b="1" dirty="0">
                <a:solidFill>
                  <a:srgbClr val="333333"/>
                </a:solidFill>
                <a:latin typeface="72" panose="020B0503030000000003" pitchFamily="34" charset="0"/>
              </a:rPr>
              <a:t>Data</a:t>
            </a:r>
            <a:r>
              <a:rPr lang="en-US" sz="1866" dirty="0">
                <a:solidFill>
                  <a:srgbClr val="333333"/>
                </a:solidFill>
                <a:latin typeface="72" panose="020B0503030000000003" pitchFamily="34" charset="0"/>
              </a:rPr>
              <a:t> button in the top toolbar. The resource configuration is split into </a:t>
            </a:r>
            <a:r>
              <a:rPr lang="en-US" sz="1866" b="1" dirty="0">
                <a:solidFill>
                  <a:srgbClr val="333333"/>
                </a:solidFill>
                <a:latin typeface="72" panose="020B0503030000000003" pitchFamily="34" charset="0"/>
              </a:rPr>
              <a:t>base configuration</a:t>
            </a:r>
            <a:r>
              <a:rPr lang="en-US" sz="1866" dirty="0">
                <a:solidFill>
                  <a:srgbClr val="333333"/>
                </a:solidFill>
                <a:latin typeface="72" panose="020B0503030000000003" pitchFamily="34" charset="0"/>
              </a:rPr>
              <a:t> and </a:t>
            </a:r>
            <a:r>
              <a:rPr lang="en-US" sz="1866" b="1" dirty="0">
                <a:solidFill>
                  <a:srgbClr val="333333"/>
                </a:solidFill>
                <a:latin typeface="72" panose="020B0503030000000003" pitchFamily="34" charset="0"/>
              </a:rPr>
              <a:t>method configurations</a:t>
            </a:r>
            <a:r>
              <a:rPr lang="en-US" sz="1866" dirty="0">
                <a:solidFill>
                  <a:srgbClr val="333333"/>
                </a:solidFill>
                <a:latin typeface="72" panose="020B0503030000000003" pitchFamily="34" charset="0"/>
              </a:rPr>
              <a:t> for GET collection, GET record, POST, PUT/PATCH, and DELETE.</a:t>
            </a:r>
            <a:endParaRPr lang="en-US" sz="1866" dirty="0"/>
          </a:p>
        </p:txBody>
      </p:sp>
      <p:pic>
        <p:nvPicPr>
          <p:cNvPr id="5122" name="Picture 2" descr="Rest API direct integration">
            <a:extLst>
              <a:ext uri="{FF2B5EF4-FFF2-40B4-BE49-F238E27FC236}">
                <a16:creationId xmlns:a16="http://schemas.microsoft.com/office/drawing/2014/main" id="{A2E22225-412B-055C-2B84-404C0716933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7112" r="27500" b="12259"/>
          <a:stretch/>
        </p:blipFill>
        <p:spPr bwMode="auto">
          <a:xfrm>
            <a:off x="2844059" y="2921134"/>
            <a:ext cx="6392649" cy="3453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7004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107DAA-A604-4CA3-25E9-4A31518EA13A}"/>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E6F1078C-B81D-88CA-ECED-4646BEC63B2D}"/>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4" name="Title 3">
            <a:extLst>
              <a:ext uri="{FF2B5EF4-FFF2-40B4-BE49-F238E27FC236}">
                <a16:creationId xmlns:a16="http://schemas.microsoft.com/office/drawing/2014/main" id="{8B1464A0-AD07-82CA-5396-946C55AF2D7E}"/>
              </a:ext>
            </a:extLst>
          </p:cNvPr>
          <p:cNvSpPr>
            <a:spLocks noGrp="1"/>
          </p:cNvSpPr>
          <p:nvPr>
            <p:ph type="title"/>
          </p:nvPr>
        </p:nvSpPr>
        <p:spPr/>
        <p:txBody>
          <a:bodyPr/>
          <a:lstStyle/>
          <a:p>
            <a:r>
              <a:rPr lang="en-IN" dirty="0"/>
              <a:t>Parts</a:t>
            </a:r>
          </a:p>
        </p:txBody>
      </p:sp>
      <p:sp>
        <p:nvSpPr>
          <p:cNvPr id="6" name="TextBox 5">
            <a:extLst>
              <a:ext uri="{FF2B5EF4-FFF2-40B4-BE49-F238E27FC236}">
                <a16:creationId xmlns:a16="http://schemas.microsoft.com/office/drawing/2014/main" id="{13398EFE-8771-D284-97C8-787A12006F8F}"/>
              </a:ext>
            </a:extLst>
          </p:cNvPr>
          <p:cNvSpPr txBox="1"/>
          <p:nvPr/>
        </p:nvSpPr>
        <p:spPr>
          <a:xfrm>
            <a:off x="304720" y="1499103"/>
            <a:ext cx="11579384" cy="1076961"/>
          </a:xfrm>
          <a:prstGeom prst="rect">
            <a:avLst/>
          </a:prstGeom>
          <a:noFill/>
        </p:spPr>
        <p:txBody>
          <a:bodyPr wrap="square">
            <a:spAutoFit/>
          </a:bodyPr>
          <a:lstStyle/>
          <a:p>
            <a:r>
              <a:rPr lang="en-IN" sz="3199" dirty="0">
                <a:highlight>
                  <a:srgbClr val="FFFF00"/>
                </a:highlight>
              </a:rPr>
              <a:t>https://world.openfoodfacts.net/api/0</a:t>
            </a:r>
            <a:r>
              <a:rPr lang="en-IN" sz="3199" dirty="0">
                <a:highlight>
                  <a:srgbClr val="057CFF"/>
                </a:highlight>
              </a:rPr>
              <a:t>/product/</a:t>
            </a:r>
            <a:r>
              <a:rPr lang="en-IN" sz="3199" dirty="0">
                <a:highlight>
                  <a:srgbClr val="FF00FF"/>
                </a:highlight>
              </a:rPr>
              <a:t>8901063029279</a:t>
            </a:r>
            <a:r>
              <a:rPr lang="en-IN" sz="3199" dirty="0">
                <a:highlight>
                  <a:srgbClr val="057CFF"/>
                </a:highlight>
              </a:rPr>
              <a:t>?fields=product_name,nutriments,image_front_url</a:t>
            </a:r>
          </a:p>
        </p:txBody>
      </p:sp>
    </p:spTree>
    <p:extLst>
      <p:ext uri="{BB962C8B-B14F-4D97-AF65-F5344CB8AC3E}">
        <p14:creationId xmlns:p14="http://schemas.microsoft.com/office/powerpoint/2010/main" val="3693380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295B-D009-F32E-A01A-8A8CC18FEA2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B543E2-7625-ECE1-C46E-CFB3659168B8}"/>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7F90F182-D2C5-A02D-2F2A-729242AD767F}"/>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8</a:t>
            </a:fld>
            <a:endParaRPr lang="en-US" dirty="0"/>
          </a:p>
        </p:txBody>
      </p:sp>
      <p:sp>
        <p:nvSpPr>
          <p:cNvPr id="5" name="Title 4">
            <a:extLst>
              <a:ext uri="{FF2B5EF4-FFF2-40B4-BE49-F238E27FC236}">
                <a16:creationId xmlns:a16="http://schemas.microsoft.com/office/drawing/2014/main" id="{73CD0C1D-D299-3852-9908-404039141507}"/>
              </a:ext>
            </a:extLst>
          </p:cNvPr>
          <p:cNvSpPr>
            <a:spLocks noGrp="1"/>
          </p:cNvSpPr>
          <p:nvPr>
            <p:ph type="title"/>
          </p:nvPr>
        </p:nvSpPr>
        <p:spPr>
          <a:xfrm>
            <a:off x="101573" y="178647"/>
            <a:ext cx="10969943" cy="711016"/>
          </a:xfrm>
        </p:spPr>
        <p:txBody>
          <a:bodyPr/>
          <a:lstStyle/>
          <a:p>
            <a:r>
              <a:rPr lang="en-IN" sz="3333" dirty="0"/>
              <a:t>Test data</a:t>
            </a:r>
          </a:p>
        </p:txBody>
      </p:sp>
      <p:pic>
        <p:nvPicPr>
          <p:cNvPr id="7" name="Picture 6" descr="A bar code with numbers and letters&#10;&#10;AI-generated content may be incorrect.">
            <a:extLst>
              <a:ext uri="{FF2B5EF4-FFF2-40B4-BE49-F238E27FC236}">
                <a16:creationId xmlns:a16="http://schemas.microsoft.com/office/drawing/2014/main" id="{7556EEE3-534B-1B06-A14F-6B9FC16C60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8221" y="1092809"/>
            <a:ext cx="6107205" cy="5152499"/>
          </a:xfrm>
          <a:prstGeom prst="rect">
            <a:avLst/>
          </a:prstGeom>
        </p:spPr>
      </p:pic>
      <p:pic>
        <p:nvPicPr>
          <p:cNvPr id="9" name="Picture 8" descr="A yellow circle with black letters and a black background&#10;&#10;AI-generated content may be incorrect.">
            <a:extLst>
              <a:ext uri="{FF2B5EF4-FFF2-40B4-BE49-F238E27FC236}">
                <a16:creationId xmlns:a16="http://schemas.microsoft.com/office/drawing/2014/main" id="{31CCE318-4A30-F05D-613B-E2B8EC5C97C3}"/>
              </a:ext>
            </a:extLst>
          </p:cNvPr>
          <p:cNvPicPr>
            <a:picLocks noChangeAspect="1"/>
          </p:cNvPicPr>
          <p:nvPr/>
        </p:nvPicPr>
        <p:blipFill>
          <a:blip r:embed="rId3">
            <a:alphaModFix amt="31000"/>
            <a:extLst>
              <a:ext uri="{28A0092B-C50C-407E-A947-70E740481C1C}">
                <a14:useLocalDpi xmlns:a14="http://schemas.microsoft.com/office/drawing/2010/main" val="0"/>
              </a:ext>
            </a:extLst>
          </a:blip>
          <a:stretch>
            <a:fillRect/>
          </a:stretch>
        </p:blipFill>
        <p:spPr>
          <a:xfrm>
            <a:off x="4579641" y="2006971"/>
            <a:ext cx="3453500" cy="3411039"/>
          </a:xfrm>
          <a:prstGeom prst="rect">
            <a:avLst/>
          </a:prstGeom>
        </p:spPr>
      </p:pic>
    </p:spTree>
    <p:extLst>
      <p:ext uri="{BB962C8B-B14F-4D97-AF65-F5344CB8AC3E}">
        <p14:creationId xmlns:p14="http://schemas.microsoft.com/office/powerpoint/2010/main" val="854278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F9CBE-1956-CFCE-33A3-DF31514FAB9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BCBE29B-C6B5-8B28-4747-C180306A826D}"/>
              </a:ext>
            </a:extLst>
          </p:cNvPr>
          <p:cNvSpPr>
            <a:spLocks noGrp="1"/>
          </p:cNvSpPr>
          <p:nvPr>
            <p:ph type="ftr" sz="quarter" idx="11"/>
          </p:nvPr>
        </p:nvSpPr>
        <p:spPr/>
        <p:txBody>
          <a:bodyPr/>
          <a:lstStyle/>
          <a:p>
            <a:r>
              <a:rPr lang="en-US"/>
              <a:t>www.anubhavtrainings.com</a:t>
            </a:r>
            <a:endParaRPr lang="en-US" dirty="0"/>
          </a:p>
        </p:txBody>
      </p:sp>
      <p:sp>
        <p:nvSpPr>
          <p:cNvPr id="4" name="Slide Number Placeholder 3">
            <a:extLst>
              <a:ext uri="{FF2B5EF4-FFF2-40B4-BE49-F238E27FC236}">
                <a16:creationId xmlns:a16="http://schemas.microsoft.com/office/drawing/2014/main" id="{C22A6721-6777-9D9D-A918-5A6F50600445}"/>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9</a:t>
            </a:fld>
            <a:endParaRPr lang="en-US" dirty="0"/>
          </a:p>
        </p:txBody>
      </p:sp>
      <p:sp>
        <p:nvSpPr>
          <p:cNvPr id="5" name="Title 4">
            <a:extLst>
              <a:ext uri="{FF2B5EF4-FFF2-40B4-BE49-F238E27FC236}">
                <a16:creationId xmlns:a16="http://schemas.microsoft.com/office/drawing/2014/main" id="{23041EC8-7056-9002-BEEC-27ED8054030E}"/>
              </a:ext>
            </a:extLst>
          </p:cNvPr>
          <p:cNvSpPr>
            <a:spLocks noGrp="1"/>
          </p:cNvSpPr>
          <p:nvPr>
            <p:ph type="title"/>
          </p:nvPr>
        </p:nvSpPr>
        <p:spPr>
          <a:xfrm>
            <a:off x="101573" y="178647"/>
            <a:ext cx="10969943" cy="711016"/>
          </a:xfrm>
        </p:spPr>
        <p:txBody>
          <a:bodyPr/>
          <a:lstStyle/>
          <a:p>
            <a:r>
              <a:rPr lang="en-IN" sz="3333"/>
              <a:t>App State in SAP Build Apps</a:t>
            </a:r>
            <a:endParaRPr lang="en-IN" sz="3333" dirty="0"/>
          </a:p>
        </p:txBody>
      </p:sp>
      <p:sp>
        <p:nvSpPr>
          <p:cNvPr id="2" name="TextBox 1">
            <a:extLst>
              <a:ext uri="{FF2B5EF4-FFF2-40B4-BE49-F238E27FC236}">
                <a16:creationId xmlns:a16="http://schemas.microsoft.com/office/drawing/2014/main" id="{D3C1BA34-155C-B67F-C178-1A0262358121}"/>
              </a:ext>
            </a:extLst>
          </p:cNvPr>
          <p:cNvSpPr txBox="1"/>
          <p:nvPr/>
        </p:nvSpPr>
        <p:spPr>
          <a:xfrm>
            <a:off x="203147" y="1056009"/>
            <a:ext cx="11782531" cy="812590"/>
          </a:xfrm>
          <a:prstGeom prst="rect">
            <a:avLst/>
          </a:prstGeom>
        </p:spPr>
        <p:txBody>
          <a:bodyPr vert="horz" lIns="121888" tIns="60944" rIns="121888" bIns="60944" rtlCol="0">
            <a:normAutofit/>
          </a:bodyPr>
          <a:lstStyle/>
          <a:p>
            <a:pPr>
              <a:spcBef>
                <a:spcPct val="20000"/>
              </a:spcBef>
              <a:buFont typeface="Arial" pitchFamily="34" charset="0"/>
            </a:pPr>
            <a:r>
              <a:rPr lang="en-US" sz="1866" dirty="0">
                <a:solidFill>
                  <a:srgbClr val="333333"/>
                </a:solidFill>
                <a:latin typeface="72" panose="020B0503030000000003" pitchFamily="34" charset="0"/>
              </a:rPr>
              <a:t>Every SAP Build Apps app that is running has what is called </a:t>
            </a:r>
            <a:r>
              <a:rPr lang="en-US" sz="1866" b="1" dirty="0">
                <a:solidFill>
                  <a:srgbClr val="333333"/>
                </a:solidFill>
                <a:latin typeface="72" panose="020B0503030000000003" pitchFamily="34" charset="0"/>
              </a:rPr>
              <a:t>app state</a:t>
            </a:r>
            <a:r>
              <a:rPr lang="en-US" sz="1866" dirty="0">
                <a:solidFill>
                  <a:srgbClr val="333333"/>
                </a:solidFill>
                <a:latin typeface="72" panose="020B0503030000000003" pitchFamily="34" charset="0"/>
              </a:rPr>
              <a:t>. It consists of two interlinked concepts: </a:t>
            </a:r>
            <a:r>
              <a:rPr lang="en-US" sz="1866" b="1" dirty="0">
                <a:solidFill>
                  <a:srgbClr val="333333"/>
                </a:solidFill>
                <a:latin typeface="72" panose="020B0503030000000003" pitchFamily="34" charset="0"/>
              </a:rPr>
              <a:t>variables state</a:t>
            </a:r>
            <a:r>
              <a:rPr lang="en-US" sz="1866" dirty="0">
                <a:solidFill>
                  <a:srgbClr val="333333"/>
                </a:solidFill>
                <a:latin typeface="72" panose="020B0503030000000003" pitchFamily="34" charset="0"/>
              </a:rPr>
              <a:t> and </a:t>
            </a:r>
            <a:r>
              <a:rPr lang="en-US" sz="1866" b="1" dirty="0">
                <a:solidFill>
                  <a:srgbClr val="333333"/>
                </a:solidFill>
                <a:latin typeface="72" panose="020B0503030000000003" pitchFamily="34" charset="0"/>
              </a:rPr>
              <a:t>component state</a:t>
            </a:r>
            <a:r>
              <a:rPr lang="en-US" sz="1866" dirty="0">
                <a:solidFill>
                  <a:srgbClr val="333333"/>
                </a:solidFill>
                <a:latin typeface="72" panose="020B0503030000000003" pitchFamily="34" charset="0"/>
              </a:rPr>
              <a:t>.</a:t>
            </a:r>
            <a:endParaRPr lang="en-US" sz="1866" dirty="0"/>
          </a:p>
        </p:txBody>
      </p:sp>
      <p:pic>
        <p:nvPicPr>
          <p:cNvPr id="12" name="Picture 11">
            <a:extLst>
              <a:ext uri="{FF2B5EF4-FFF2-40B4-BE49-F238E27FC236}">
                <a16:creationId xmlns:a16="http://schemas.microsoft.com/office/drawing/2014/main" id="{CA2992CB-ACDB-9F1F-2D73-604DC967E8E6}"/>
              </a:ext>
            </a:extLst>
          </p:cNvPr>
          <p:cNvPicPr>
            <a:picLocks noChangeAspect="1"/>
          </p:cNvPicPr>
          <p:nvPr/>
        </p:nvPicPr>
        <p:blipFill>
          <a:blip r:embed="rId2"/>
          <a:stretch>
            <a:fillRect/>
          </a:stretch>
        </p:blipFill>
        <p:spPr>
          <a:xfrm>
            <a:off x="3312333" y="1751102"/>
            <a:ext cx="5564159" cy="4646990"/>
          </a:xfrm>
          <a:prstGeom prst="rect">
            <a:avLst/>
          </a:prstGeom>
        </p:spPr>
      </p:pic>
    </p:spTree>
    <p:extLst>
      <p:ext uri="{BB962C8B-B14F-4D97-AF65-F5344CB8AC3E}">
        <p14:creationId xmlns:p14="http://schemas.microsoft.com/office/powerpoint/2010/main" val="3814733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267E1-D0D6-2AEF-4CBD-3FB5C659320A}"/>
            </a:ext>
          </a:extLst>
        </p:cNvPr>
        <p:cNvGrpSpPr/>
        <p:nvPr/>
      </p:nvGrpSpPr>
      <p:grpSpPr>
        <a:xfrm>
          <a:off x="0" y="0"/>
          <a:ext cx="0" cy="0"/>
          <a:chOff x="0" y="0"/>
          <a:chExt cx="0" cy="0"/>
        </a:xfrm>
      </p:grpSpPr>
      <p:sp>
        <p:nvSpPr>
          <p:cNvPr id="219" name="TextBox 218">
            <a:extLst>
              <a:ext uri="{FF2B5EF4-FFF2-40B4-BE49-F238E27FC236}">
                <a16:creationId xmlns:a16="http://schemas.microsoft.com/office/drawing/2014/main" id="{5D8BD4D4-962A-698E-8ED0-DBB85695A5F3}"/>
              </a:ext>
            </a:extLst>
          </p:cNvPr>
          <p:cNvSpPr txBox="1"/>
          <p:nvPr/>
        </p:nvSpPr>
        <p:spPr>
          <a:xfrm>
            <a:off x="145105" y="3300518"/>
            <a:ext cx="7008574" cy="1035796"/>
          </a:xfrm>
          <a:prstGeom prst="rect">
            <a:avLst/>
          </a:prstGeom>
          <a:solidFill>
            <a:schemeClr val="bg2">
              <a:lumMod val="90000"/>
            </a:schemeClr>
          </a:solidFill>
        </p:spPr>
        <p:txBody>
          <a:bodyPr wrap="square" rtlCol="0">
            <a:spAutoFit/>
          </a:bodyPr>
          <a:lstStyle/>
          <a:p>
            <a:r>
              <a:rPr lang="en-US" sz="3199" b="1" dirty="0"/>
              <a:t>App variables</a:t>
            </a:r>
          </a:p>
          <a:p>
            <a:pPr algn="l">
              <a:buNone/>
            </a:pPr>
            <a:r>
              <a:rPr lang="en-US" sz="1466" dirty="0">
                <a:solidFill>
                  <a:srgbClr val="333333"/>
                </a:solidFill>
                <a:latin typeface="72" panose="020B0503030000000003" pitchFamily="34" charset="0"/>
              </a:rPr>
              <a:t>App variables exist in the global context of the app. When the app opens for the first time, or is closed and reopened, app variables are reset.</a:t>
            </a:r>
          </a:p>
        </p:txBody>
      </p:sp>
      <p:sp>
        <p:nvSpPr>
          <p:cNvPr id="221" name="TextBox 220">
            <a:extLst>
              <a:ext uri="{FF2B5EF4-FFF2-40B4-BE49-F238E27FC236}">
                <a16:creationId xmlns:a16="http://schemas.microsoft.com/office/drawing/2014/main" id="{6E3AF881-1C3F-04F3-653E-B00C19201D34}"/>
              </a:ext>
            </a:extLst>
          </p:cNvPr>
          <p:cNvSpPr txBox="1"/>
          <p:nvPr/>
        </p:nvSpPr>
        <p:spPr>
          <a:xfrm>
            <a:off x="145105" y="4816235"/>
            <a:ext cx="7008574" cy="1035796"/>
          </a:xfrm>
          <a:prstGeom prst="rect">
            <a:avLst/>
          </a:prstGeom>
          <a:solidFill>
            <a:schemeClr val="tx2">
              <a:lumMod val="20000"/>
              <a:lumOff val="80000"/>
            </a:schemeClr>
          </a:solidFill>
        </p:spPr>
        <p:txBody>
          <a:bodyPr wrap="square" rtlCol="0">
            <a:spAutoFit/>
          </a:bodyPr>
          <a:lstStyle/>
          <a:p>
            <a:r>
              <a:rPr lang="en-US" sz="3199" b="1" dirty="0"/>
              <a:t>Theme variables</a:t>
            </a:r>
          </a:p>
          <a:p>
            <a:pPr algn="l">
              <a:buNone/>
            </a:pPr>
            <a:r>
              <a:rPr lang="en-US" sz="1466" dirty="0">
                <a:solidFill>
                  <a:srgbClr val="333333"/>
                </a:solidFill>
                <a:latin typeface="72" panose="020B0503030000000003" pitchFamily="34" charset="0"/>
              </a:rPr>
              <a:t>Theme variables define how the various view components look, giving you an easy way to change the whole look-and-feel of your app.</a:t>
            </a:r>
          </a:p>
        </p:txBody>
      </p:sp>
      <p:sp>
        <p:nvSpPr>
          <p:cNvPr id="3" name="Footer Placeholder 2">
            <a:extLst>
              <a:ext uri="{FF2B5EF4-FFF2-40B4-BE49-F238E27FC236}">
                <a16:creationId xmlns:a16="http://schemas.microsoft.com/office/drawing/2014/main" id="{53DEF2BE-D5CA-8FF4-57F5-05FD0F8B6F80}"/>
              </a:ext>
            </a:extLst>
          </p:cNvPr>
          <p:cNvSpPr>
            <a:spLocks noGrp="1"/>
          </p:cNvSpPr>
          <p:nvPr>
            <p:ph type="ftr" sz="quarter" idx="11"/>
          </p:nvPr>
        </p:nvSpPr>
        <p:spPr>
          <a:xfrm>
            <a:off x="-42416" y="6376063"/>
            <a:ext cx="3859795" cy="365030"/>
          </a:xfrm>
        </p:spPr>
        <p:txBody>
          <a:bodyPr/>
          <a:lstStyle/>
          <a:p>
            <a:r>
              <a:rPr lang="en-US" dirty="0"/>
              <a:t>www.anubhavtrainings.com</a:t>
            </a:r>
          </a:p>
        </p:txBody>
      </p:sp>
      <p:sp>
        <p:nvSpPr>
          <p:cNvPr id="4" name="Slide Number Placeholder 3">
            <a:extLst>
              <a:ext uri="{FF2B5EF4-FFF2-40B4-BE49-F238E27FC236}">
                <a16:creationId xmlns:a16="http://schemas.microsoft.com/office/drawing/2014/main" id="{0621D399-FFA3-7B61-4F5E-9279553C9BD0}"/>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10</a:t>
            </a:fld>
            <a:endParaRPr lang="en-US" dirty="0"/>
          </a:p>
        </p:txBody>
      </p:sp>
      <p:sp>
        <p:nvSpPr>
          <p:cNvPr id="5" name="Title 4">
            <a:extLst>
              <a:ext uri="{FF2B5EF4-FFF2-40B4-BE49-F238E27FC236}">
                <a16:creationId xmlns:a16="http://schemas.microsoft.com/office/drawing/2014/main" id="{1F79BD5A-386D-C9E3-5CFB-40FA142B267D}"/>
              </a:ext>
            </a:extLst>
          </p:cNvPr>
          <p:cNvSpPr>
            <a:spLocks noGrp="1"/>
          </p:cNvSpPr>
          <p:nvPr>
            <p:ph type="title"/>
          </p:nvPr>
        </p:nvSpPr>
        <p:spPr>
          <a:xfrm>
            <a:off x="101573" y="178647"/>
            <a:ext cx="10969943" cy="711016"/>
          </a:xfrm>
        </p:spPr>
        <p:txBody>
          <a:bodyPr/>
          <a:lstStyle/>
          <a:p>
            <a:r>
              <a:rPr lang="en-IN" sz="3333" dirty="0"/>
              <a:t>Types of Dynamic variables</a:t>
            </a:r>
          </a:p>
        </p:txBody>
      </p:sp>
      <p:sp>
        <p:nvSpPr>
          <p:cNvPr id="2" name="TextBox 1">
            <a:extLst>
              <a:ext uri="{FF2B5EF4-FFF2-40B4-BE49-F238E27FC236}">
                <a16:creationId xmlns:a16="http://schemas.microsoft.com/office/drawing/2014/main" id="{4BAEC777-929F-7ADE-8D90-B437968ABBE2}"/>
              </a:ext>
            </a:extLst>
          </p:cNvPr>
          <p:cNvSpPr txBox="1"/>
          <p:nvPr/>
        </p:nvSpPr>
        <p:spPr>
          <a:xfrm>
            <a:off x="101573" y="898501"/>
            <a:ext cx="11782531" cy="711016"/>
          </a:xfrm>
          <a:prstGeom prst="rect">
            <a:avLst/>
          </a:prstGeom>
        </p:spPr>
        <p:txBody>
          <a:bodyPr vert="horz" lIns="121888" tIns="60944" rIns="121888" bIns="60944" rtlCol="0">
            <a:normAutofit/>
          </a:bodyPr>
          <a:lstStyle/>
          <a:p>
            <a:pPr algn="l">
              <a:buNone/>
            </a:pPr>
            <a:r>
              <a:rPr lang="en-US" sz="1866" dirty="0">
                <a:solidFill>
                  <a:srgbClr val="333333"/>
                </a:solidFill>
                <a:latin typeface="72" panose="020B0503030000000003" pitchFamily="34" charset="0"/>
              </a:rPr>
              <a:t>Dynamic variables are the backbone of your app logic. For the most part, the data they contain at any given time is determined by what flow functions have been called during the app runtime so far.</a:t>
            </a:r>
          </a:p>
        </p:txBody>
      </p:sp>
      <p:sp>
        <p:nvSpPr>
          <p:cNvPr id="216" name="TextBox 215">
            <a:extLst>
              <a:ext uri="{FF2B5EF4-FFF2-40B4-BE49-F238E27FC236}">
                <a16:creationId xmlns:a16="http://schemas.microsoft.com/office/drawing/2014/main" id="{AAA76539-235D-B265-10F6-4EF3E30DF09F}"/>
              </a:ext>
            </a:extLst>
          </p:cNvPr>
          <p:cNvSpPr txBox="1"/>
          <p:nvPr/>
        </p:nvSpPr>
        <p:spPr>
          <a:xfrm>
            <a:off x="101573" y="1618355"/>
            <a:ext cx="7008574" cy="1077090"/>
          </a:xfrm>
          <a:prstGeom prst="rect">
            <a:avLst/>
          </a:prstGeom>
          <a:solidFill>
            <a:schemeClr val="accent5">
              <a:lumMod val="40000"/>
              <a:lumOff val="60000"/>
            </a:schemeClr>
          </a:solidFill>
        </p:spPr>
        <p:txBody>
          <a:bodyPr wrap="square" rtlCol="0">
            <a:spAutoFit/>
          </a:bodyPr>
          <a:lstStyle/>
          <a:p>
            <a:r>
              <a:rPr lang="en-US" sz="3199" b="1" dirty="0"/>
              <a:t>Page variables</a:t>
            </a:r>
          </a:p>
          <a:p>
            <a:r>
              <a:rPr lang="en-US" sz="1600" dirty="0"/>
              <a:t>Page variables exist in the context of a single page. When a page is removed from the navigation stack, its page variables are reset.</a:t>
            </a:r>
            <a:endParaRPr lang="en-IN" sz="1600" dirty="0"/>
          </a:p>
        </p:txBody>
      </p:sp>
      <p:sp>
        <p:nvSpPr>
          <p:cNvPr id="218" name="TextBox 217">
            <a:extLst>
              <a:ext uri="{FF2B5EF4-FFF2-40B4-BE49-F238E27FC236}">
                <a16:creationId xmlns:a16="http://schemas.microsoft.com/office/drawing/2014/main" id="{1B710DCE-3F10-AE24-FB03-7AF150D7D4CA}"/>
              </a:ext>
            </a:extLst>
          </p:cNvPr>
          <p:cNvSpPr txBox="1"/>
          <p:nvPr/>
        </p:nvSpPr>
        <p:spPr>
          <a:xfrm>
            <a:off x="5281824" y="2553043"/>
            <a:ext cx="7008574" cy="1261371"/>
          </a:xfrm>
          <a:prstGeom prst="rect">
            <a:avLst/>
          </a:prstGeom>
          <a:solidFill>
            <a:schemeClr val="accent4">
              <a:lumMod val="40000"/>
              <a:lumOff val="60000"/>
            </a:schemeClr>
          </a:solidFill>
        </p:spPr>
        <p:txBody>
          <a:bodyPr wrap="square" rtlCol="0">
            <a:spAutoFit/>
          </a:bodyPr>
          <a:lstStyle/>
          <a:p>
            <a:r>
              <a:rPr lang="en-US" sz="3199" b="1" dirty="0"/>
              <a:t>Data variables</a:t>
            </a:r>
          </a:p>
          <a:p>
            <a:pPr algn="l">
              <a:buNone/>
            </a:pPr>
            <a:r>
              <a:rPr lang="en-US" sz="1466" dirty="0">
                <a:solidFill>
                  <a:srgbClr val="333333"/>
                </a:solidFill>
                <a:latin typeface="72" panose="020B0503030000000003" pitchFamily="34" charset="0"/>
              </a:rPr>
              <a:t>Data variables are like page variables, but their schema is defined by the data resource they are linked to. They also come with default logic that loads the associated data from the backend and stores it in the data variable.</a:t>
            </a:r>
          </a:p>
        </p:txBody>
      </p:sp>
      <p:sp>
        <p:nvSpPr>
          <p:cNvPr id="220" name="TextBox 219">
            <a:extLst>
              <a:ext uri="{FF2B5EF4-FFF2-40B4-BE49-F238E27FC236}">
                <a16:creationId xmlns:a16="http://schemas.microsoft.com/office/drawing/2014/main" id="{8B464AAF-CAB4-CA37-FFF7-A6FA5C9CF14D}"/>
              </a:ext>
            </a:extLst>
          </p:cNvPr>
          <p:cNvSpPr txBox="1"/>
          <p:nvPr/>
        </p:nvSpPr>
        <p:spPr>
          <a:xfrm>
            <a:off x="5281824" y="3978593"/>
            <a:ext cx="7008574" cy="1261371"/>
          </a:xfrm>
          <a:prstGeom prst="rect">
            <a:avLst/>
          </a:prstGeom>
          <a:solidFill>
            <a:schemeClr val="accent6">
              <a:lumMod val="40000"/>
              <a:lumOff val="60000"/>
            </a:schemeClr>
          </a:solidFill>
        </p:spPr>
        <p:txBody>
          <a:bodyPr wrap="square" rtlCol="0">
            <a:spAutoFit/>
          </a:bodyPr>
          <a:lstStyle/>
          <a:p>
            <a:r>
              <a:rPr lang="en-US" sz="3199" b="1" dirty="0"/>
              <a:t>Page Parameters</a:t>
            </a:r>
          </a:p>
          <a:p>
            <a:pPr algn="l">
              <a:buNone/>
            </a:pPr>
            <a:r>
              <a:rPr lang="en-US" sz="1466" dirty="0">
                <a:solidFill>
                  <a:srgbClr val="333333"/>
                </a:solidFill>
                <a:latin typeface="72" panose="020B0503030000000003" pitchFamily="34" charset="0"/>
              </a:rPr>
              <a:t>Page parameters can only be of the </a:t>
            </a:r>
            <a:r>
              <a:rPr lang="en-US" sz="1466" b="1" dirty="0">
                <a:solidFill>
                  <a:srgbClr val="333333"/>
                </a:solidFill>
                <a:latin typeface="72" panose="020B0503030000000003" pitchFamily="34" charset="0"/>
              </a:rPr>
              <a:t>text</a:t>
            </a:r>
            <a:r>
              <a:rPr lang="en-US" sz="1466" dirty="0">
                <a:solidFill>
                  <a:srgbClr val="333333"/>
                </a:solidFill>
                <a:latin typeface="72" panose="020B0503030000000003" pitchFamily="34" charset="0"/>
              </a:rPr>
              <a:t> type. Page parameters are read-only variables that can be set with the </a:t>
            </a:r>
            <a:r>
              <a:rPr lang="en-US" sz="1466" b="1" dirty="0">
                <a:solidFill>
                  <a:srgbClr val="333333"/>
                </a:solidFill>
                <a:latin typeface="72" panose="020B0503030000000003" pitchFamily="34" charset="0"/>
              </a:rPr>
              <a:t>Open page</a:t>
            </a:r>
            <a:r>
              <a:rPr lang="en-US" sz="1466" dirty="0">
                <a:solidFill>
                  <a:srgbClr val="333333"/>
                </a:solidFill>
                <a:latin typeface="72" panose="020B0503030000000003" pitchFamily="34" charset="0"/>
              </a:rPr>
              <a:t> flow function for the new page, e.g. ID of a product for a product details page. </a:t>
            </a:r>
          </a:p>
        </p:txBody>
      </p:sp>
      <p:sp>
        <p:nvSpPr>
          <p:cNvPr id="222" name="TextBox 221">
            <a:extLst>
              <a:ext uri="{FF2B5EF4-FFF2-40B4-BE49-F238E27FC236}">
                <a16:creationId xmlns:a16="http://schemas.microsoft.com/office/drawing/2014/main" id="{0FED470A-4F22-0AD0-96C7-A6E8B0E0589E}"/>
              </a:ext>
            </a:extLst>
          </p:cNvPr>
          <p:cNvSpPr txBox="1"/>
          <p:nvPr/>
        </p:nvSpPr>
        <p:spPr>
          <a:xfrm>
            <a:off x="5180250" y="5583201"/>
            <a:ext cx="7008574" cy="1261371"/>
          </a:xfrm>
          <a:prstGeom prst="rect">
            <a:avLst/>
          </a:prstGeom>
          <a:solidFill>
            <a:schemeClr val="accent4">
              <a:lumMod val="40000"/>
              <a:lumOff val="60000"/>
            </a:schemeClr>
          </a:solidFill>
        </p:spPr>
        <p:txBody>
          <a:bodyPr wrap="square" rtlCol="0">
            <a:spAutoFit/>
          </a:bodyPr>
          <a:lstStyle/>
          <a:p>
            <a:r>
              <a:rPr lang="en-US" sz="3199" b="1" dirty="0"/>
              <a:t>System variables</a:t>
            </a:r>
          </a:p>
          <a:p>
            <a:pPr algn="l">
              <a:buNone/>
            </a:pPr>
            <a:r>
              <a:rPr lang="en-US" sz="1466" dirty="0">
                <a:solidFill>
                  <a:srgbClr val="333333"/>
                </a:solidFill>
                <a:latin typeface="72" panose="020B0503030000000003" pitchFamily="34" charset="0"/>
              </a:rPr>
              <a:t>System variables define properties of the current app and the device its running on. They cannot be affected by the user directly, but change when the underlying property changes.</a:t>
            </a:r>
          </a:p>
        </p:txBody>
      </p:sp>
    </p:spTree>
    <p:extLst>
      <p:ext uri="{BB962C8B-B14F-4D97-AF65-F5344CB8AC3E}">
        <p14:creationId xmlns:p14="http://schemas.microsoft.com/office/powerpoint/2010/main" val="840941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0DC5E-1566-E826-C33E-B4CA0F39484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BAC4DF9-ACFD-D3D2-4F56-996E5762CF56}"/>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B6FA06D6-8319-957F-0D04-E0324493B6B1}"/>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11</a:t>
            </a:fld>
            <a:endParaRPr lang="en-US" dirty="0"/>
          </a:p>
        </p:txBody>
      </p:sp>
      <p:sp>
        <p:nvSpPr>
          <p:cNvPr id="5" name="Title 4">
            <a:extLst>
              <a:ext uri="{FF2B5EF4-FFF2-40B4-BE49-F238E27FC236}">
                <a16:creationId xmlns:a16="http://schemas.microsoft.com/office/drawing/2014/main" id="{B0FF04E6-98FF-21E1-876D-205651B06E0D}"/>
              </a:ext>
            </a:extLst>
          </p:cNvPr>
          <p:cNvSpPr>
            <a:spLocks noGrp="1"/>
          </p:cNvSpPr>
          <p:nvPr>
            <p:ph type="title"/>
          </p:nvPr>
        </p:nvSpPr>
        <p:spPr>
          <a:xfrm>
            <a:off x="101573" y="178647"/>
            <a:ext cx="10969943" cy="711016"/>
          </a:xfrm>
        </p:spPr>
        <p:txBody>
          <a:bodyPr/>
          <a:lstStyle/>
          <a:p>
            <a:r>
              <a:rPr lang="en-US" sz="3333" dirty="0"/>
              <a:t>Create destination to simple OData Service</a:t>
            </a:r>
            <a:endParaRPr lang="en-IN" sz="3333" dirty="0"/>
          </a:p>
        </p:txBody>
      </p:sp>
      <p:sp>
        <p:nvSpPr>
          <p:cNvPr id="2" name="TextBox 1">
            <a:extLst>
              <a:ext uri="{FF2B5EF4-FFF2-40B4-BE49-F238E27FC236}">
                <a16:creationId xmlns:a16="http://schemas.microsoft.com/office/drawing/2014/main" id="{92C3212D-7655-2215-3B4A-636791EA27F0}"/>
              </a:ext>
            </a:extLst>
          </p:cNvPr>
          <p:cNvSpPr txBox="1"/>
          <p:nvPr/>
        </p:nvSpPr>
        <p:spPr>
          <a:xfrm>
            <a:off x="203147" y="1295955"/>
            <a:ext cx="11782531" cy="5424663"/>
          </a:xfrm>
          <a:prstGeom prst="rect">
            <a:avLst/>
          </a:prstGeom>
        </p:spPr>
        <p:txBody>
          <a:bodyPr vert="horz" lIns="121888" tIns="60944" rIns="121888" bIns="60944" rtlCol="0">
            <a:normAutofit/>
          </a:bodyPr>
          <a:lstStyle/>
          <a:p>
            <a:pPr>
              <a:spcBef>
                <a:spcPct val="20000"/>
              </a:spcBef>
              <a:buFont typeface="Arial" pitchFamily="34" charset="0"/>
            </a:pPr>
            <a:r>
              <a:rPr lang="en-US" sz="1866" dirty="0"/>
              <a:t>Type=HTTP</a:t>
            </a:r>
          </a:p>
          <a:p>
            <a:pPr>
              <a:spcBef>
                <a:spcPct val="20000"/>
              </a:spcBef>
              <a:buFont typeface="Arial" pitchFamily="34" charset="0"/>
            </a:pPr>
            <a:r>
              <a:rPr lang="en-US" sz="1866" dirty="0"/>
              <a:t>HTML5.DynamicDestination=true</a:t>
            </a:r>
          </a:p>
          <a:p>
            <a:pPr>
              <a:spcBef>
                <a:spcPct val="20000"/>
              </a:spcBef>
              <a:buFont typeface="Arial" pitchFamily="34" charset="0"/>
            </a:pPr>
            <a:r>
              <a:rPr lang="en-US" sz="1866" dirty="0"/>
              <a:t>Authentication=</a:t>
            </a:r>
            <a:r>
              <a:rPr lang="en-US" sz="1866" dirty="0" err="1"/>
              <a:t>NoAuthentication</a:t>
            </a:r>
            <a:endParaRPr lang="en-US" sz="1866" dirty="0"/>
          </a:p>
          <a:p>
            <a:pPr>
              <a:spcBef>
                <a:spcPct val="20000"/>
              </a:spcBef>
              <a:buFont typeface="Arial" pitchFamily="34" charset="0"/>
            </a:pPr>
            <a:r>
              <a:rPr lang="en-US" sz="1866" dirty="0"/>
              <a:t>Name=</a:t>
            </a:r>
            <a:r>
              <a:rPr lang="en-US" sz="1866" dirty="0" err="1"/>
              <a:t>AnubhavOData</a:t>
            </a:r>
            <a:endParaRPr lang="en-US" sz="1866" dirty="0"/>
          </a:p>
          <a:p>
            <a:pPr>
              <a:spcBef>
                <a:spcPct val="20000"/>
              </a:spcBef>
              <a:buFont typeface="Arial" pitchFamily="34" charset="0"/>
            </a:pPr>
            <a:r>
              <a:rPr lang="en-US" sz="1866" dirty="0" err="1"/>
              <a:t>WebIDEEnabled</a:t>
            </a:r>
            <a:r>
              <a:rPr lang="en-US" sz="1866" dirty="0"/>
              <a:t>=true</a:t>
            </a:r>
          </a:p>
          <a:p>
            <a:pPr>
              <a:spcBef>
                <a:spcPct val="20000"/>
              </a:spcBef>
              <a:buFont typeface="Arial" pitchFamily="34" charset="0"/>
            </a:pPr>
            <a:r>
              <a:rPr lang="en-US" sz="1866" dirty="0" err="1"/>
              <a:t>sap.processautomation.enabled</a:t>
            </a:r>
            <a:r>
              <a:rPr lang="en-US" sz="1866" dirty="0"/>
              <a:t>=true</a:t>
            </a:r>
          </a:p>
          <a:p>
            <a:pPr>
              <a:spcBef>
                <a:spcPct val="20000"/>
              </a:spcBef>
              <a:buFont typeface="Arial" pitchFamily="34" charset="0"/>
            </a:pPr>
            <a:r>
              <a:rPr lang="en-US" sz="1866" dirty="0" err="1"/>
              <a:t>sap.build.usage</a:t>
            </a:r>
            <a:r>
              <a:rPr lang="en-US" sz="1866" dirty="0"/>
              <a:t>=</a:t>
            </a:r>
            <a:r>
              <a:rPr lang="en-US" sz="1866" dirty="0" err="1"/>
              <a:t>odata_gen</a:t>
            </a:r>
            <a:endParaRPr lang="en-US" sz="1866" dirty="0"/>
          </a:p>
          <a:p>
            <a:pPr>
              <a:spcBef>
                <a:spcPct val="20000"/>
              </a:spcBef>
              <a:buFont typeface="Arial" pitchFamily="34" charset="0"/>
            </a:pPr>
            <a:r>
              <a:rPr lang="en-US" sz="1866" dirty="0" err="1"/>
              <a:t>ProxyType</a:t>
            </a:r>
            <a:r>
              <a:rPr lang="en-US" sz="1866" dirty="0"/>
              <a:t>=Internet</a:t>
            </a:r>
          </a:p>
          <a:p>
            <a:pPr>
              <a:spcBef>
                <a:spcPct val="20000"/>
              </a:spcBef>
              <a:buFont typeface="Arial" pitchFamily="34" charset="0"/>
            </a:pPr>
            <a:r>
              <a:rPr lang="en-US" sz="1866" dirty="0"/>
              <a:t>URL=</a:t>
            </a:r>
            <a:r>
              <a:rPr lang="en-US" sz="1866" dirty="0">
                <a:hlinkClick r:id="rId2"/>
              </a:rPr>
              <a:t>https://orderscapapp.cfapps.eu10.hana.ondemand.com/service/OrderManagement</a:t>
            </a:r>
            <a:endParaRPr lang="en-US" sz="1866" dirty="0"/>
          </a:p>
          <a:p>
            <a:pPr>
              <a:spcBef>
                <a:spcPct val="20000"/>
              </a:spcBef>
              <a:buFont typeface="Arial" pitchFamily="34" charset="0"/>
            </a:pPr>
            <a:r>
              <a:rPr lang="en-US" sz="1866" dirty="0" err="1"/>
              <a:t>Appgyver.Enabled</a:t>
            </a:r>
            <a:r>
              <a:rPr lang="en-US" sz="1866" dirty="0"/>
              <a:t>=true</a:t>
            </a:r>
          </a:p>
          <a:p>
            <a:pPr>
              <a:spcBef>
                <a:spcPct val="20000"/>
              </a:spcBef>
              <a:buFont typeface="Arial" pitchFamily="34" charset="0"/>
            </a:pPr>
            <a:r>
              <a:rPr lang="en-US" sz="1866" dirty="0" err="1"/>
              <a:t>sap.applicationdevelopment.actions.enabled</a:t>
            </a:r>
            <a:r>
              <a:rPr lang="en-US" sz="1866" dirty="0"/>
              <a:t>=true</a:t>
            </a:r>
          </a:p>
          <a:p>
            <a:pPr>
              <a:spcBef>
                <a:spcPct val="20000"/>
              </a:spcBef>
              <a:buFont typeface="Arial" pitchFamily="34" charset="0"/>
            </a:pPr>
            <a:endParaRPr lang="en-US" sz="1866" dirty="0"/>
          </a:p>
          <a:p>
            <a:pPr>
              <a:spcBef>
                <a:spcPct val="20000"/>
              </a:spcBef>
              <a:buFont typeface="Arial" pitchFamily="34" charset="0"/>
            </a:pPr>
            <a:r>
              <a:rPr lang="en-US" sz="1866" dirty="0"/>
              <a:t>Images:</a:t>
            </a:r>
          </a:p>
          <a:p>
            <a:pPr>
              <a:spcBef>
                <a:spcPct val="20000"/>
              </a:spcBef>
              <a:buFont typeface="Arial" pitchFamily="34" charset="0"/>
            </a:pPr>
            <a:r>
              <a:rPr lang="en-US" sz="1866" dirty="0">
                <a:hlinkClick r:id="rId3"/>
              </a:rPr>
              <a:t>https://ui5.sap.com/test-resources/sap/m/demokit/cart/webapp/localService/mockdata/images/HT-1020.jpg</a:t>
            </a:r>
            <a:endParaRPr lang="en-US" sz="1866" dirty="0"/>
          </a:p>
          <a:p>
            <a:pPr>
              <a:spcBef>
                <a:spcPct val="20000"/>
              </a:spcBef>
              <a:buFont typeface="Arial" pitchFamily="34" charset="0"/>
            </a:pPr>
            <a:endParaRPr lang="en-US" sz="1866" dirty="0"/>
          </a:p>
        </p:txBody>
      </p:sp>
    </p:spTree>
    <p:extLst>
      <p:ext uri="{BB962C8B-B14F-4D97-AF65-F5344CB8AC3E}">
        <p14:creationId xmlns:p14="http://schemas.microsoft.com/office/powerpoint/2010/main" val="207855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63B7F-D73C-B314-685F-FE5912A656F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15BAD24-F3AE-4B53-2ADD-4DAA336403D9}"/>
              </a:ext>
            </a:extLst>
          </p:cNvPr>
          <p:cNvSpPr>
            <a:spLocks noGrp="1"/>
          </p:cNvSpPr>
          <p:nvPr>
            <p:ph type="ftr" sz="quarter" idx="11"/>
          </p:nvPr>
        </p:nvSpPr>
        <p:spPr/>
        <p:txBody>
          <a:bodyPr/>
          <a:lstStyle/>
          <a:p>
            <a:r>
              <a:rPr lang="en-US"/>
              <a:t>www.anubhavtrainings.com</a:t>
            </a:r>
            <a:endParaRPr lang="en-US" dirty="0"/>
          </a:p>
        </p:txBody>
      </p:sp>
      <p:sp>
        <p:nvSpPr>
          <p:cNvPr id="4" name="Slide Number Placeholder 3">
            <a:extLst>
              <a:ext uri="{FF2B5EF4-FFF2-40B4-BE49-F238E27FC236}">
                <a16:creationId xmlns:a16="http://schemas.microsoft.com/office/drawing/2014/main" id="{53F6C8C1-160D-9728-CAB8-063F64A79E1E}"/>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12</a:t>
            </a:fld>
            <a:endParaRPr lang="en-US" dirty="0"/>
          </a:p>
        </p:txBody>
      </p:sp>
      <p:sp>
        <p:nvSpPr>
          <p:cNvPr id="5" name="Title 4">
            <a:extLst>
              <a:ext uri="{FF2B5EF4-FFF2-40B4-BE49-F238E27FC236}">
                <a16:creationId xmlns:a16="http://schemas.microsoft.com/office/drawing/2014/main" id="{CF9AD0A5-FBCE-4FE0-50ED-4BD18899F096}"/>
              </a:ext>
            </a:extLst>
          </p:cNvPr>
          <p:cNvSpPr>
            <a:spLocks noGrp="1"/>
          </p:cNvSpPr>
          <p:nvPr>
            <p:ph type="title"/>
          </p:nvPr>
        </p:nvSpPr>
        <p:spPr>
          <a:xfrm>
            <a:off x="101573" y="178647"/>
            <a:ext cx="10969943" cy="711016"/>
          </a:xfrm>
        </p:spPr>
        <p:txBody>
          <a:bodyPr/>
          <a:lstStyle/>
          <a:p>
            <a:r>
              <a:rPr lang="en-US" sz="3333"/>
              <a:t>Scenario – Shopping cart App</a:t>
            </a:r>
            <a:endParaRPr lang="en-IN" sz="3333" dirty="0"/>
          </a:p>
        </p:txBody>
      </p:sp>
      <p:sp>
        <p:nvSpPr>
          <p:cNvPr id="7" name="TextBox 6">
            <a:extLst>
              <a:ext uri="{FF2B5EF4-FFF2-40B4-BE49-F238E27FC236}">
                <a16:creationId xmlns:a16="http://schemas.microsoft.com/office/drawing/2014/main" id="{7F3CBDE5-5451-80AE-5C54-56D7560461F2}"/>
              </a:ext>
            </a:extLst>
          </p:cNvPr>
          <p:cNvSpPr txBox="1"/>
          <p:nvPr/>
        </p:nvSpPr>
        <p:spPr>
          <a:xfrm>
            <a:off x="203147" y="1438037"/>
            <a:ext cx="11680957" cy="2676502"/>
          </a:xfrm>
          <a:prstGeom prst="rect">
            <a:avLst/>
          </a:prstGeom>
          <a:noFill/>
        </p:spPr>
        <p:txBody>
          <a:bodyPr wrap="square">
            <a:spAutoFit/>
          </a:bodyPr>
          <a:lstStyle/>
          <a:p>
            <a:pPr>
              <a:buNone/>
            </a:pPr>
            <a:r>
              <a:rPr lang="en-US" sz="1866" b="1" dirty="0"/>
              <a:t>🧑‍💼 Persona: </a:t>
            </a:r>
            <a:r>
              <a:rPr lang="en-US" sz="1866" b="1"/>
              <a:t>Jack Dowson </a:t>
            </a:r>
            <a:r>
              <a:rPr lang="en-US" sz="1866" b="1" dirty="0"/>
              <a:t>– Procurement Manager</a:t>
            </a:r>
          </a:p>
          <a:p>
            <a:pPr>
              <a:buFont typeface="Arial" panose="020B0604020202020204" pitchFamily="34" charset="0"/>
              <a:buChar char="•"/>
            </a:pPr>
            <a:r>
              <a:rPr lang="en-US" sz="1866" b="1" dirty="0"/>
              <a:t> Age:</a:t>
            </a:r>
            <a:r>
              <a:rPr lang="en-US" sz="1866" dirty="0"/>
              <a:t> 34</a:t>
            </a:r>
          </a:p>
          <a:p>
            <a:pPr>
              <a:buFont typeface="Arial" panose="020B0604020202020204" pitchFamily="34" charset="0"/>
              <a:buChar char="•"/>
            </a:pPr>
            <a:r>
              <a:rPr lang="en-US" sz="1866" b="1" dirty="0"/>
              <a:t> Location:</a:t>
            </a:r>
            <a:r>
              <a:rPr lang="en-US" sz="1866" dirty="0"/>
              <a:t> Chicago, USA</a:t>
            </a:r>
          </a:p>
          <a:p>
            <a:pPr>
              <a:buFont typeface="Arial" panose="020B0604020202020204" pitchFamily="34" charset="0"/>
              <a:buChar char="•"/>
            </a:pPr>
            <a:r>
              <a:rPr lang="en-US" sz="1866" b="1" dirty="0"/>
              <a:t> Industry:</a:t>
            </a:r>
            <a:r>
              <a:rPr lang="en-US" sz="1866" dirty="0"/>
              <a:t> Manufacturing</a:t>
            </a:r>
          </a:p>
          <a:p>
            <a:pPr>
              <a:buFont typeface="Arial" panose="020B0604020202020204" pitchFamily="34" charset="0"/>
              <a:buChar char="•"/>
            </a:pPr>
            <a:r>
              <a:rPr lang="en-US" sz="1866" b="1" dirty="0"/>
              <a:t> Role:</a:t>
            </a:r>
            <a:r>
              <a:rPr lang="en-US" sz="1866" dirty="0"/>
              <a:t> Manages procurement for factory suppliers</a:t>
            </a:r>
          </a:p>
          <a:p>
            <a:pPr>
              <a:buFont typeface="Arial" panose="020B0604020202020204" pitchFamily="34" charset="0"/>
              <a:buChar char="•"/>
            </a:pPr>
            <a:r>
              <a:rPr lang="en-US" sz="1866" b="1" dirty="0"/>
              <a:t> Goals:</a:t>
            </a:r>
            <a:endParaRPr lang="en-US" sz="1866" dirty="0"/>
          </a:p>
          <a:p>
            <a:pPr marL="990352" lvl="1" indent="-380905">
              <a:buFont typeface="Arial" panose="020B0604020202020204" pitchFamily="34" charset="0"/>
              <a:buChar char="•"/>
            </a:pPr>
            <a:r>
              <a:rPr lang="en-US" sz="1866" dirty="0"/>
              <a:t>Quickly find suppliers</a:t>
            </a:r>
          </a:p>
          <a:p>
            <a:pPr marL="990352" lvl="1" indent="-380905">
              <a:buFont typeface="Arial" panose="020B0604020202020204" pitchFamily="34" charset="0"/>
              <a:buChar char="•"/>
            </a:pPr>
            <a:r>
              <a:rPr lang="en-US" sz="1866" dirty="0"/>
              <a:t>Ensure availability to take orders based on size</a:t>
            </a:r>
          </a:p>
          <a:p>
            <a:pPr marL="990352" lvl="1" indent="-380905">
              <a:buFont typeface="Arial" panose="020B0604020202020204" pitchFamily="34" charset="0"/>
              <a:buChar char="•"/>
            </a:pPr>
            <a:r>
              <a:rPr lang="en-US" sz="1866" dirty="0"/>
              <a:t>On-board new suppliers with approvals</a:t>
            </a:r>
          </a:p>
        </p:txBody>
      </p:sp>
      <p:sp>
        <p:nvSpPr>
          <p:cNvPr id="9" name="TextBox 8">
            <a:extLst>
              <a:ext uri="{FF2B5EF4-FFF2-40B4-BE49-F238E27FC236}">
                <a16:creationId xmlns:a16="http://schemas.microsoft.com/office/drawing/2014/main" id="{78D09F02-65AB-62F5-1542-AD95FB99E009}"/>
              </a:ext>
            </a:extLst>
          </p:cNvPr>
          <p:cNvSpPr txBox="1"/>
          <p:nvPr/>
        </p:nvSpPr>
        <p:spPr>
          <a:xfrm>
            <a:off x="203146" y="4347565"/>
            <a:ext cx="6094413" cy="1815112"/>
          </a:xfrm>
          <a:prstGeom prst="rect">
            <a:avLst/>
          </a:prstGeom>
          <a:noFill/>
        </p:spPr>
        <p:txBody>
          <a:bodyPr wrap="square">
            <a:spAutoFit/>
          </a:bodyPr>
          <a:lstStyle/>
          <a:p>
            <a:pPr>
              <a:buNone/>
            </a:pPr>
            <a:r>
              <a:rPr lang="en-US" sz="1866" b="1" dirty="0"/>
              <a:t>🎯 Objective</a:t>
            </a:r>
          </a:p>
          <a:p>
            <a:pPr>
              <a:buNone/>
            </a:pPr>
            <a:r>
              <a:rPr lang="en-US" sz="1866" dirty="0"/>
              <a:t>Design a user-friendly </a:t>
            </a:r>
            <a:r>
              <a:rPr lang="en-US" sz="1866" b="1" dirty="0"/>
              <a:t>mobile app</a:t>
            </a:r>
            <a:r>
              <a:rPr lang="en-US" sz="1866" dirty="0"/>
              <a:t> that allows Alex to:</a:t>
            </a:r>
          </a:p>
          <a:p>
            <a:pPr>
              <a:buFont typeface="Arial" panose="020B0604020202020204" pitchFamily="34" charset="0"/>
              <a:buChar char="•"/>
            </a:pPr>
            <a:r>
              <a:rPr lang="en-US" sz="1866" dirty="0"/>
              <a:t> Browse available suppliers</a:t>
            </a:r>
          </a:p>
          <a:p>
            <a:pPr>
              <a:buFont typeface="Arial" panose="020B0604020202020204" pitchFamily="34" charset="0"/>
              <a:buChar char="•"/>
            </a:pPr>
            <a:r>
              <a:rPr lang="en-US" sz="1866" dirty="0"/>
              <a:t> View detailed information</a:t>
            </a:r>
          </a:p>
          <a:p>
            <a:pPr>
              <a:buFont typeface="Arial" panose="020B0604020202020204" pitchFamily="34" charset="0"/>
              <a:buChar char="•"/>
            </a:pPr>
            <a:r>
              <a:rPr lang="en-US" sz="1866" dirty="0"/>
              <a:t> Add New suppliers</a:t>
            </a:r>
          </a:p>
          <a:p>
            <a:pPr>
              <a:buFont typeface="Arial" panose="020B0604020202020204" pitchFamily="34" charset="0"/>
              <a:buChar char="•"/>
            </a:pPr>
            <a:r>
              <a:rPr lang="en-US" sz="1866" dirty="0"/>
              <a:t> Edit Suppliers data</a:t>
            </a:r>
          </a:p>
        </p:txBody>
      </p:sp>
      <p:pic>
        <p:nvPicPr>
          <p:cNvPr id="1026" name="Picture 2" descr="Ceo Avatar PSD, High Quality Free PSD Templates for Download | Freepik">
            <a:extLst>
              <a:ext uri="{FF2B5EF4-FFF2-40B4-BE49-F238E27FC236}">
                <a16:creationId xmlns:a16="http://schemas.microsoft.com/office/drawing/2014/main" id="{8EDCFC9E-DCE1-FBC3-505A-A52327399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6580" y="2060848"/>
            <a:ext cx="3717032" cy="3717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181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20</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8324</TotalTime>
  <Words>1150</Words>
  <Application>Microsoft Office PowerPoint</Application>
  <PresentationFormat>Custom</PresentationFormat>
  <Paragraphs>141</Paragraphs>
  <Slides>15</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15</vt:i4>
      </vt:variant>
    </vt:vector>
  </HeadingPairs>
  <TitlesOfParts>
    <vt:vector size="26" baseType="lpstr">
      <vt:lpstr>72</vt:lpstr>
      <vt:lpstr>Amasis MT Pro Black</vt:lpstr>
      <vt:lpstr>Arial</vt:lpstr>
      <vt:lpstr>Arial Black</vt:lpstr>
      <vt:lpstr>Calibri</vt:lpstr>
      <vt:lpstr>Cooper Black</vt:lpstr>
      <vt:lpstr>Kristen ITC</vt:lpstr>
      <vt:lpstr>Segoe UI</vt:lpstr>
      <vt:lpstr>Segoe UI Light</vt:lpstr>
      <vt:lpstr>Office Theme</vt:lpstr>
      <vt:lpstr>1_Office Theme</vt:lpstr>
      <vt:lpstr>SAP BTP Extension Suite Training</vt:lpstr>
      <vt:lpstr>PowerPoint Presentation</vt:lpstr>
      <vt:lpstr>Agenda – Day 22</vt:lpstr>
      <vt:lpstr>Use case 2</vt:lpstr>
      <vt:lpstr>Open APIs</vt:lpstr>
      <vt:lpstr>Integrations – REST API</vt:lpstr>
      <vt:lpstr>Parts</vt:lpstr>
      <vt:lpstr>Test data</vt:lpstr>
      <vt:lpstr>App State in SAP Build Apps</vt:lpstr>
      <vt:lpstr>Types of Dynamic variables</vt:lpstr>
      <vt:lpstr>Create destination to simple OData Service</vt:lpstr>
      <vt:lpstr>Scenario – Shopping cart App</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329</cp:revision>
  <dcterms:created xsi:type="dcterms:W3CDTF">2013-09-12T13:05:01Z</dcterms:created>
  <dcterms:modified xsi:type="dcterms:W3CDTF">2025-05-23T04:37:59Z</dcterms:modified>
</cp:coreProperties>
</file>