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6"/>
  </p:notesMasterIdLst>
  <p:sldIdLst>
    <p:sldId id="256" r:id="rId4"/>
    <p:sldId id="402" r:id="rId5"/>
    <p:sldId id="276" r:id="rId6"/>
    <p:sldId id="4817" r:id="rId7"/>
    <p:sldId id="314" r:id="rId8"/>
    <p:sldId id="4820" r:id="rId9"/>
    <p:sldId id="4821" r:id="rId10"/>
    <p:sldId id="4822" r:id="rId11"/>
    <p:sldId id="4813" r:id="rId12"/>
    <p:sldId id="4816" r:id="rId13"/>
    <p:sldId id="419" r:id="rId14"/>
    <p:sldId id="409" r:id="rId15"/>
  </p:sldIdLst>
  <p:sldSz cx="12188825" cy="6858000"/>
  <p:notesSz cx="6858000" cy="9144000"/>
  <p:embeddedFontLst>
    <p:embeddedFont>
      <p:font typeface="Arial Black" panose="020B0A04020102020204" pitchFamily="34" charset="0"/>
      <p:regular r:id="rId17"/>
      <p:bold r:id="rId18"/>
    </p:embeddedFont>
    <p:embeddedFont>
      <p:font typeface="Cambria" panose="02040503050406030204" pitchFamily="18" charset="0"/>
      <p:regular r:id="rId19"/>
      <p:bold r:id="rId20"/>
      <p:italic r:id="rId21"/>
      <p:boldItalic r:id="rId22"/>
    </p:embeddedFont>
    <p:embeddedFont>
      <p:font typeface="Cooper Black" panose="0208090404030B020404" pitchFamily="18" charset="0"/>
      <p:regular r:id="rId23"/>
    </p:embeddedFont>
    <p:embeddedFont>
      <p:font typeface="Corben" panose="020B0604020202020204" charset="0"/>
      <p:bold r:id="rId24"/>
    </p:embeddedFont>
    <p:embeddedFont>
      <p:font typeface="Open Sans" panose="020B0606030504020204" pitchFamily="34" charset="0"/>
      <p:regular r:id="rId25"/>
      <p:bold r:id="rId26"/>
      <p:italic r:id="rId27"/>
      <p:boldItalic r:id="rId28"/>
    </p:embeddedFont>
    <p:embeddedFont>
      <p:font typeface="Quattrocento Sans" panose="020B0502050000020003" pitchFamily="34" charset="0"/>
      <p:regular r:id="rId29"/>
      <p:bold r:id="rId30"/>
      <p:italic r:id="rId31"/>
      <p:boldItalic r:id="rId32"/>
    </p:embeddedFont>
    <p:embeddedFont>
      <p:font typeface="Segoe UI" panose="020B0502040204020203" pitchFamily="34" charset="0"/>
      <p:regular r:id="rId33"/>
      <p:bold r:id="rId34"/>
      <p:italic r:id="rId35"/>
      <p:boldItalic r:id="rId36"/>
    </p:embeddedFont>
    <p:embeddedFont>
      <p:font typeface="Segoe UI Light" panose="020B0502040204020203" pitchFamily="34"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20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4" name="Google Shape;1834;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4" name="Google Shape;1864;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p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6" name="Google Shape;1906;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454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2/25/2026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eclipse.abapgit.org/updatesite/"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8.xml"/><Relationship Id="rId6" Type="http://schemas.openxmlformats.org/officeDocument/2006/relationships/image" Target="../media/image12.jpeg"/><Relationship Id="rId5" Type="http://schemas.openxmlformats.org/officeDocument/2006/relationships/image" Target="../media/image9.pn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tiff"/><Relationship Id="rId2" Type="http://schemas.openxmlformats.org/officeDocument/2006/relationships/notesSlide" Target="../notesSlides/notesSlide8.xml"/><Relationship Id="rId1" Type="http://schemas.openxmlformats.org/officeDocument/2006/relationships/slideLayout" Target="../slideLayouts/slideLayout38.xml"/><Relationship Id="rId6" Type="http://schemas.openxmlformats.org/officeDocument/2006/relationships/image" Target="../media/image16.tiff"/><Relationship Id="rId5" Type="http://schemas.openxmlformats.org/officeDocument/2006/relationships/image" Target="../media/image15.tiff"/><Relationship Id="rId4" Type="http://schemas.openxmlformats.org/officeDocument/2006/relationships/image" Target="../media/image14.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DAY-28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Generate Fiori App</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Structure of Fiori App</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CIS Service</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Build </a:t>
            </a:r>
            <a:r>
              <a:rPr lang="en-IN" sz="1800" b="1" dirty="0" err="1">
                <a:solidFill>
                  <a:schemeClr val="accent4"/>
                </a:solidFill>
                <a:latin typeface="Open Sans" panose="020B0606030504020204" pitchFamily="34" charset="0"/>
                <a:ea typeface="Open Sans" panose="020B0606030504020204" pitchFamily="34" charset="0"/>
                <a:cs typeface="Open Sans" panose="020B0606030504020204" pitchFamily="34" charset="0"/>
              </a:rPr>
              <a:t>Workzone</a:t>
            </a:r>
            <a:endPar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FF632-0B89-F39A-3973-4D2397F81772}"/>
            </a:ext>
          </a:extLst>
        </p:cNvPr>
        <p:cNvGrpSpPr/>
        <p:nvPr/>
      </p:nvGrpSpPr>
      <p:grpSpPr>
        <a:xfrm>
          <a:off x="0" y="0"/>
          <a:ext cx="0" cy="0"/>
          <a:chOff x="0" y="0"/>
          <a:chExt cx="0" cy="0"/>
        </a:xfrm>
      </p:grpSpPr>
      <p:pic>
        <p:nvPicPr>
          <p:cNvPr id="1026" name="Picture 2" descr="Male user avatar icon in flat design | Premium Vector">
            <a:extLst>
              <a:ext uri="{FF2B5EF4-FFF2-40B4-BE49-F238E27FC236}">
                <a16:creationId xmlns:a16="http://schemas.microsoft.com/office/drawing/2014/main" id="{937935F4-8CC6-B54E-ADCA-C919E6861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49" y="0"/>
            <a:ext cx="1492042" cy="14920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A04D779-33F7-5288-B20F-79D7F451017D}"/>
              </a:ext>
            </a:extLst>
          </p:cNvPr>
          <p:cNvSpPr txBox="1"/>
          <p:nvPr/>
        </p:nvSpPr>
        <p:spPr>
          <a:xfrm>
            <a:off x="509036" y="1492042"/>
            <a:ext cx="1266755" cy="523220"/>
          </a:xfrm>
          <a:prstGeom prst="rect">
            <a:avLst/>
          </a:prstGeom>
          <a:noFill/>
        </p:spPr>
        <p:txBody>
          <a:bodyPr wrap="square" rtlCol="0">
            <a:spAutoFit/>
          </a:bodyPr>
          <a:lstStyle/>
          <a:p>
            <a:pPr algn="ctr"/>
            <a:r>
              <a:rPr lang="en-IN" b="1" dirty="0"/>
              <a:t>BTP Admin</a:t>
            </a:r>
          </a:p>
          <a:p>
            <a:pPr algn="ctr"/>
            <a:r>
              <a:rPr lang="en-IN" b="1" dirty="0"/>
              <a:t>Anubhav</a:t>
            </a:r>
          </a:p>
        </p:txBody>
      </p:sp>
      <p:pic>
        <p:nvPicPr>
          <p:cNvPr id="1028" name="Picture 4" descr="Software developer - Free user icons">
            <a:extLst>
              <a:ext uri="{FF2B5EF4-FFF2-40B4-BE49-F238E27FC236}">
                <a16:creationId xmlns:a16="http://schemas.microsoft.com/office/drawing/2014/main" id="{83F29AB6-5D3E-F888-2D41-18B83AA0F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6657" y="119029"/>
            <a:ext cx="1394791" cy="13947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4B60D24-3AC2-50FE-D7AA-C73ED842F607}"/>
              </a:ext>
            </a:extLst>
          </p:cNvPr>
          <p:cNvSpPr txBox="1"/>
          <p:nvPr/>
        </p:nvSpPr>
        <p:spPr>
          <a:xfrm>
            <a:off x="3070674" y="1513820"/>
            <a:ext cx="1266755" cy="523220"/>
          </a:xfrm>
          <a:prstGeom prst="rect">
            <a:avLst/>
          </a:prstGeom>
          <a:noFill/>
        </p:spPr>
        <p:txBody>
          <a:bodyPr wrap="square" rtlCol="0">
            <a:spAutoFit/>
          </a:bodyPr>
          <a:lstStyle/>
          <a:p>
            <a:pPr algn="ctr"/>
            <a:r>
              <a:rPr lang="en-IN" b="1" dirty="0"/>
              <a:t>Developer</a:t>
            </a:r>
          </a:p>
          <a:p>
            <a:pPr algn="ctr"/>
            <a:r>
              <a:rPr lang="en-IN" b="1" dirty="0"/>
              <a:t>Raj Shetty</a:t>
            </a:r>
          </a:p>
        </p:txBody>
      </p:sp>
      <p:pic>
        <p:nvPicPr>
          <p:cNvPr id="1032" name="Picture 8" descr="Fitness, User, Computer Software, Skin, User Interface, User Profile, End  User, Purple transparent background PNG clipart | HiClipart">
            <a:extLst>
              <a:ext uri="{FF2B5EF4-FFF2-40B4-BE49-F238E27FC236}">
                <a16:creationId xmlns:a16="http://schemas.microsoft.com/office/drawing/2014/main" id="{EB236143-7B16-3A2A-B3BC-99908A1AA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1551" y="271668"/>
            <a:ext cx="1424609" cy="14246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99A3E4-0FFA-D455-2D47-DF5470E1D834}"/>
              </a:ext>
            </a:extLst>
          </p:cNvPr>
          <p:cNvSpPr txBox="1"/>
          <p:nvPr/>
        </p:nvSpPr>
        <p:spPr>
          <a:xfrm>
            <a:off x="10413034" y="1753652"/>
            <a:ext cx="1266755" cy="523220"/>
          </a:xfrm>
          <a:prstGeom prst="rect">
            <a:avLst/>
          </a:prstGeom>
          <a:noFill/>
        </p:spPr>
        <p:txBody>
          <a:bodyPr wrap="square" rtlCol="0">
            <a:spAutoFit/>
          </a:bodyPr>
          <a:lstStyle/>
          <a:p>
            <a:pPr algn="ctr"/>
            <a:r>
              <a:rPr lang="en-IN" b="1" dirty="0"/>
              <a:t>Developer</a:t>
            </a:r>
          </a:p>
          <a:p>
            <a:pPr algn="ctr"/>
            <a:r>
              <a:rPr lang="en-IN" b="1" dirty="0"/>
              <a:t>Uday Shetty</a:t>
            </a:r>
          </a:p>
        </p:txBody>
      </p:sp>
      <p:pic>
        <p:nvPicPr>
          <p:cNvPr id="1034" name="Picture 10" descr="End user Flaticons Flat icon | Freepik">
            <a:extLst>
              <a:ext uri="{FF2B5EF4-FFF2-40B4-BE49-F238E27FC236}">
                <a16:creationId xmlns:a16="http://schemas.microsoft.com/office/drawing/2014/main" id="{A60518E9-E895-2A00-1D70-A9331597FB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6657" y="67433"/>
            <a:ext cx="1424609" cy="14246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C8958F2-5E4E-B9C4-E18C-98956E938B1B}"/>
              </a:ext>
            </a:extLst>
          </p:cNvPr>
          <p:cNvSpPr txBox="1"/>
          <p:nvPr/>
        </p:nvSpPr>
        <p:spPr>
          <a:xfrm>
            <a:off x="6288157" y="1492042"/>
            <a:ext cx="2517913" cy="523220"/>
          </a:xfrm>
          <a:prstGeom prst="rect">
            <a:avLst/>
          </a:prstGeom>
          <a:noFill/>
        </p:spPr>
        <p:txBody>
          <a:bodyPr wrap="square" rtlCol="0">
            <a:spAutoFit/>
          </a:bodyPr>
          <a:lstStyle/>
          <a:p>
            <a:pPr algn="ctr"/>
            <a:r>
              <a:rPr lang="en-IN" b="1" dirty="0"/>
              <a:t>Security Admin</a:t>
            </a:r>
          </a:p>
          <a:p>
            <a:pPr algn="ctr"/>
            <a:r>
              <a:rPr lang="en-IN" b="1" dirty="0" err="1"/>
              <a:t>Subu</a:t>
            </a:r>
            <a:r>
              <a:rPr lang="en-IN" b="1" dirty="0"/>
              <a:t> Swamy</a:t>
            </a:r>
          </a:p>
        </p:txBody>
      </p:sp>
      <p:sp>
        <p:nvSpPr>
          <p:cNvPr id="9" name="Rectangle 8">
            <a:extLst>
              <a:ext uri="{FF2B5EF4-FFF2-40B4-BE49-F238E27FC236}">
                <a16:creationId xmlns:a16="http://schemas.microsoft.com/office/drawing/2014/main" id="{1C081E0A-78AE-81F6-331D-96AF69030AC1}"/>
              </a:ext>
            </a:extLst>
          </p:cNvPr>
          <p:cNvSpPr/>
          <p:nvPr/>
        </p:nvSpPr>
        <p:spPr>
          <a:xfrm>
            <a:off x="688924" y="5893841"/>
            <a:ext cx="11079990" cy="637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BTP</a:t>
            </a:r>
          </a:p>
        </p:txBody>
      </p:sp>
      <p:cxnSp>
        <p:nvCxnSpPr>
          <p:cNvPr id="11" name="Connector: Elbow 10">
            <a:extLst>
              <a:ext uri="{FF2B5EF4-FFF2-40B4-BE49-F238E27FC236}">
                <a16:creationId xmlns:a16="http://schemas.microsoft.com/office/drawing/2014/main" id="{5918A6BB-0950-32A8-F239-B0AF4A03FA68}"/>
              </a:ext>
            </a:extLst>
          </p:cNvPr>
          <p:cNvCxnSpPr/>
          <p:nvPr/>
        </p:nvCxnSpPr>
        <p:spPr>
          <a:xfrm rot="16200000" flipH="1">
            <a:off x="352598" y="2612094"/>
            <a:ext cx="2349430" cy="11993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C9E4520-9CFB-1DF7-02BE-46F4227A9F15}"/>
              </a:ext>
            </a:extLst>
          </p:cNvPr>
          <p:cNvSpPr/>
          <p:nvPr/>
        </p:nvSpPr>
        <p:spPr>
          <a:xfrm>
            <a:off x="688924" y="4408248"/>
            <a:ext cx="3048000" cy="829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Cloud Identity Service</a:t>
            </a:r>
          </a:p>
          <a:p>
            <a:pPr algn="ctr"/>
            <a:r>
              <a:rPr lang="en-IN" dirty="0"/>
              <a:t>IDP</a:t>
            </a:r>
          </a:p>
        </p:txBody>
      </p:sp>
      <p:cxnSp>
        <p:nvCxnSpPr>
          <p:cNvPr id="14" name="Connector: Elbow 13">
            <a:extLst>
              <a:ext uri="{FF2B5EF4-FFF2-40B4-BE49-F238E27FC236}">
                <a16:creationId xmlns:a16="http://schemas.microsoft.com/office/drawing/2014/main" id="{BAB294A6-0EB5-6736-5D1C-0E0C4FF94898}"/>
              </a:ext>
            </a:extLst>
          </p:cNvPr>
          <p:cNvCxnSpPr>
            <a:stCxn id="12" idx="3"/>
            <a:endCxn id="8" idx="2"/>
          </p:cNvCxnSpPr>
          <p:nvPr/>
        </p:nvCxnSpPr>
        <p:spPr>
          <a:xfrm flipV="1">
            <a:off x="3736924" y="2015262"/>
            <a:ext cx="3810190" cy="280770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866AE26-DC89-48F0-3697-21A2ED73BC7C}"/>
              </a:ext>
            </a:extLst>
          </p:cNvPr>
          <p:cNvSpPr txBox="1"/>
          <p:nvPr/>
        </p:nvSpPr>
        <p:spPr>
          <a:xfrm>
            <a:off x="3935895" y="4769712"/>
            <a:ext cx="2690191" cy="523220"/>
          </a:xfrm>
          <a:prstGeom prst="rect">
            <a:avLst/>
          </a:prstGeom>
          <a:noFill/>
        </p:spPr>
        <p:txBody>
          <a:bodyPr wrap="square" rtlCol="0">
            <a:spAutoFit/>
          </a:bodyPr>
          <a:lstStyle/>
          <a:p>
            <a:r>
              <a:rPr lang="en-IN" dirty="0"/>
              <a:t>Selects as Admin to manage users, roles, permissions</a:t>
            </a:r>
          </a:p>
        </p:txBody>
      </p:sp>
      <p:sp>
        <p:nvSpPr>
          <p:cNvPr id="16" name="TextBox 15">
            <a:extLst>
              <a:ext uri="{FF2B5EF4-FFF2-40B4-BE49-F238E27FC236}">
                <a16:creationId xmlns:a16="http://schemas.microsoft.com/office/drawing/2014/main" id="{1B733414-9E2B-FAE4-26AB-7AF4E2B05955}"/>
              </a:ext>
            </a:extLst>
          </p:cNvPr>
          <p:cNvSpPr txBox="1"/>
          <p:nvPr/>
        </p:nvSpPr>
        <p:spPr>
          <a:xfrm>
            <a:off x="717015" y="3199527"/>
            <a:ext cx="2690191" cy="307777"/>
          </a:xfrm>
          <a:prstGeom prst="rect">
            <a:avLst/>
          </a:prstGeom>
          <a:noFill/>
        </p:spPr>
        <p:txBody>
          <a:bodyPr wrap="square" rtlCol="0">
            <a:spAutoFit/>
          </a:bodyPr>
          <a:lstStyle/>
          <a:p>
            <a:r>
              <a:rPr lang="en-IN" dirty="0"/>
              <a:t>Create subscription</a:t>
            </a:r>
          </a:p>
        </p:txBody>
      </p:sp>
      <p:sp>
        <p:nvSpPr>
          <p:cNvPr id="19" name="Arrow: Left 18">
            <a:extLst>
              <a:ext uri="{FF2B5EF4-FFF2-40B4-BE49-F238E27FC236}">
                <a16:creationId xmlns:a16="http://schemas.microsoft.com/office/drawing/2014/main" id="{23CB2479-7146-F126-491E-145C6BD60557}"/>
              </a:ext>
            </a:extLst>
          </p:cNvPr>
          <p:cNvSpPr/>
          <p:nvPr/>
        </p:nvSpPr>
        <p:spPr>
          <a:xfrm>
            <a:off x="8514522" y="816424"/>
            <a:ext cx="1656521" cy="47566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register</a:t>
            </a:r>
          </a:p>
        </p:txBody>
      </p:sp>
      <p:cxnSp>
        <p:nvCxnSpPr>
          <p:cNvPr id="21" name="Connector: Elbow 20">
            <a:extLst>
              <a:ext uri="{FF2B5EF4-FFF2-40B4-BE49-F238E27FC236}">
                <a16:creationId xmlns:a16="http://schemas.microsoft.com/office/drawing/2014/main" id="{F82B9859-7B88-2E8E-DE73-1F5860D64F24}"/>
              </a:ext>
            </a:extLst>
          </p:cNvPr>
          <p:cNvCxnSpPr>
            <a:cxnSpLocks/>
          </p:cNvCxnSpPr>
          <p:nvPr/>
        </p:nvCxnSpPr>
        <p:spPr>
          <a:xfrm rot="5400000">
            <a:off x="4301463" y="1280604"/>
            <a:ext cx="2641823" cy="38131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13E1CFE-0807-3DD5-FE65-34AE5569F1B6}"/>
              </a:ext>
            </a:extLst>
          </p:cNvPr>
          <p:cNvSpPr txBox="1"/>
          <p:nvPr/>
        </p:nvSpPr>
        <p:spPr>
          <a:xfrm>
            <a:off x="3947561" y="4038135"/>
            <a:ext cx="2690191" cy="461665"/>
          </a:xfrm>
          <a:prstGeom prst="rect">
            <a:avLst/>
          </a:prstGeom>
          <a:noFill/>
        </p:spPr>
        <p:txBody>
          <a:bodyPr wrap="square" rtlCol="0">
            <a:spAutoFit/>
          </a:bodyPr>
          <a:lstStyle/>
          <a:p>
            <a:r>
              <a:rPr lang="en-IN" sz="1200" dirty="0"/>
              <a:t>Register business user </a:t>
            </a:r>
            <a:r>
              <a:rPr lang="en-IN" sz="1200" dirty="0" err="1"/>
              <a:t>uday</a:t>
            </a:r>
            <a:r>
              <a:rPr lang="en-IN" sz="1200" dirty="0"/>
              <a:t> Shetty - sasoy29360@creteanu.com</a:t>
            </a:r>
          </a:p>
        </p:txBody>
      </p:sp>
      <p:sp>
        <p:nvSpPr>
          <p:cNvPr id="26" name="TextBox 25">
            <a:extLst>
              <a:ext uri="{FF2B5EF4-FFF2-40B4-BE49-F238E27FC236}">
                <a16:creationId xmlns:a16="http://schemas.microsoft.com/office/drawing/2014/main" id="{0D3F1C84-5602-4A5D-FBED-14FEF6BFC209}"/>
              </a:ext>
            </a:extLst>
          </p:cNvPr>
          <p:cNvSpPr txBox="1"/>
          <p:nvPr/>
        </p:nvSpPr>
        <p:spPr>
          <a:xfrm>
            <a:off x="9520892" y="2180358"/>
            <a:ext cx="3125925" cy="307777"/>
          </a:xfrm>
          <a:prstGeom prst="rect">
            <a:avLst/>
          </a:prstGeom>
          <a:noFill/>
        </p:spPr>
        <p:txBody>
          <a:bodyPr wrap="square">
            <a:spAutoFit/>
          </a:bodyPr>
          <a:lstStyle/>
          <a:p>
            <a:r>
              <a:rPr lang="en-IN" dirty="0"/>
              <a:t>sasoy29360@creteanu.com</a:t>
            </a:r>
          </a:p>
        </p:txBody>
      </p:sp>
      <p:pic>
        <p:nvPicPr>
          <p:cNvPr id="28" name="Picture 27">
            <a:extLst>
              <a:ext uri="{FF2B5EF4-FFF2-40B4-BE49-F238E27FC236}">
                <a16:creationId xmlns:a16="http://schemas.microsoft.com/office/drawing/2014/main" id="{54139DF7-B1E8-EFF8-98DD-8F393A5054EA}"/>
              </a:ext>
            </a:extLst>
          </p:cNvPr>
          <p:cNvPicPr>
            <a:picLocks noChangeAspect="1"/>
          </p:cNvPicPr>
          <p:nvPr/>
        </p:nvPicPr>
        <p:blipFill>
          <a:blip r:embed="rId6"/>
          <a:stretch>
            <a:fillRect/>
          </a:stretch>
        </p:blipFill>
        <p:spPr>
          <a:xfrm>
            <a:off x="10413034" y="2504272"/>
            <a:ext cx="1497092" cy="1238601"/>
          </a:xfrm>
          <a:prstGeom prst="rect">
            <a:avLst/>
          </a:prstGeom>
        </p:spPr>
      </p:pic>
      <p:cxnSp>
        <p:nvCxnSpPr>
          <p:cNvPr id="30" name="Connector: Curved 29">
            <a:extLst>
              <a:ext uri="{FF2B5EF4-FFF2-40B4-BE49-F238E27FC236}">
                <a16:creationId xmlns:a16="http://schemas.microsoft.com/office/drawing/2014/main" id="{C5FBA3F7-918B-BC9D-7C49-4DFB7F1189BB}"/>
              </a:ext>
            </a:extLst>
          </p:cNvPr>
          <p:cNvCxnSpPr>
            <a:stCxn id="12" idx="2"/>
          </p:cNvCxnSpPr>
          <p:nvPr/>
        </p:nvCxnSpPr>
        <p:spPr>
          <a:xfrm rot="16200000" flipH="1">
            <a:off x="2153296" y="5297310"/>
            <a:ext cx="656159" cy="536902"/>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EC62DA9-B271-6498-1B13-EF49C6B83F7D}"/>
              </a:ext>
            </a:extLst>
          </p:cNvPr>
          <p:cNvSpPr txBox="1"/>
          <p:nvPr/>
        </p:nvSpPr>
        <p:spPr>
          <a:xfrm>
            <a:off x="1466902" y="5365958"/>
            <a:ext cx="1492043" cy="307777"/>
          </a:xfrm>
          <a:prstGeom prst="rect">
            <a:avLst/>
          </a:prstGeom>
          <a:noFill/>
        </p:spPr>
        <p:txBody>
          <a:bodyPr wrap="square" rtlCol="0">
            <a:spAutoFit/>
          </a:bodyPr>
          <a:lstStyle/>
          <a:p>
            <a:r>
              <a:rPr lang="en-IN" dirty="0"/>
              <a:t>Establish trust</a:t>
            </a:r>
          </a:p>
        </p:txBody>
      </p:sp>
      <p:cxnSp>
        <p:nvCxnSpPr>
          <p:cNvPr id="33" name="Connector: Elbow 32">
            <a:extLst>
              <a:ext uri="{FF2B5EF4-FFF2-40B4-BE49-F238E27FC236}">
                <a16:creationId xmlns:a16="http://schemas.microsoft.com/office/drawing/2014/main" id="{3F109CB8-DB12-D3F1-9126-CFADAE12903D}"/>
              </a:ext>
            </a:extLst>
          </p:cNvPr>
          <p:cNvCxnSpPr>
            <a:cxnSpLocks/>
            <a:stCxn id="1026" idx="1"/>
            <a:endCxn id="31" idx="1"/>
          </p:cNvCxnSpPr>
          <p:nvPr/>
        </p:nvCxnSpPr>
        <p:spPr>
          <a:xfrm rot="10800000" flipH="1" flipV="1">
            <a:off x="283748" y="746021"/>
            <a:ext cx="1183153" cy="4773826"/>
          </a:xfrm>
          <a:prstGeom prst="bentConnector3">
            <a:avLst>
              <a:gd name="adj1" fmla="val -1932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3854EF6B-3D01-B9DF-2EB8-5CF2033DCDB6}"/>
              </a:ext>
            </a:extLst>
          </p:cNvPr>
          <p:cNvSpPr/>
          <p:nvPr/>
        </p:nvSpPr>
        <p:spPr>
          <a:xfrm>
            <a:off x="3046412" y="3014283"/>
            <a:ext cx="3048000" cy="829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Build </a:t>
            </a:r>
            <a:r>
              <a:rPr lang="en-IN" dirty="0" err="1"/>
              <a:t>Workzone</a:t>
            </a:r>
            <a:endParaRPr lang="en-IN" dirty="0"/>
          </a:p>
        </p:txBody>
      </p:sp>
      <p:sp>
        <p:nvSpPr>
          <p:cNvPr id="42" name="TextBox 41">
            <a:extLst>
              <a:ext uri="{FF2B5EF4-FFF2-40B4-BE49-F238E27FC236}">
                <a16:creationId xmlns:a16="http://schemas.microsoft.com/office/drawing/2014/main" id="{8EBE8742-8B8D-E86D-B976-F42E4877315A}"/>
              </a:ext>
            </a:extLst>
          </p:cNvPr>
          <p:cNvSpPr txBox="1"/>
          <p:nvPr/>
        </p:nvSpPr>
        <p:spPr>
          <a:xfrm>
            <a:off x="1511317" y="2327686"/>
            <a:ext cx="2690191" cy="307777"/>
          </a:xfrm>
          <a:prstGeom prst="rect">
            <a:avLst/>
          </a:prstGeom>
          <a:noFill/>
        </p:spPr>
        <p:txBody>
          <a:bodyPr wrap="square" rtlCol="0">
            <a:spAutoFit/>
          </a:bodyPr>
          <a:lstStyle/>
          <a:p>
            <a:r>
              <a:rPr lang="en-IN" dirty="0"/>
              <a:t>Create subscription</a:t>
            </a:r>
          </a:p>
        </p:txBody>
      </p:sp>
      <p:cxnSp>
        <p:nvCxnSpPr>
          <p:cNvPr id="44" name="Connector: Elbow 43">
            <a:extLst>
              <a:ext uri="{FF2B5EF4-FFF2-40B4-BE49-F238E27FC236}">
                <a16:creationId xmlns:a16="http://schemas.microsoft.com/office/drawing/2014/main" id="{5C2C4454-BC23-1528-77B6-18C06F92C104}"/>
              </a:ext>
            </a:extLst>
          </p:cNvPr>
          <p:cNvCxnSpPr>
            <a:stCxn id="4" idx="2"/>
            <a:endCxn id="41" idx="0"/>
          </p:cNvCxnSpPr>
          <p:nvPr/>
        </p:nvCxnSpPr>
        <p:spPr>
          <a:xfrm rot="16200000" flipH="1">
            <a:off x="2356903" y="800773"/>
            <a:ext cx="999021" cy="34279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7D605AB-8450-8418-DE51-E01DE4133775}"/>
              </a:ext>
            </a:extLst>
          </p:cNvPr>
          <p:cNvCxnSpPr>
            <a:stCxn id="1026" idx="3"/>
          </p:cNvCxnSpPr>
          <p:nvPr/>
        </p:nvCxnSpPr>
        <p:spPr>
          <a:xfrm>
            <a:off x="1775791" y="746021"/>
            <a:ext cx="14444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A670E545-45E4-7459-0B54-F33382813D78}"/>
              </a:ext>
            </a:extLst>
          </p:cNvPr>
          <p:cNvSpPr txBox="1"/>
          <p:nvPr/>
        </p:nvSpPr>
        <p:spPr>
          <a:xfrm>
            <a:off x="1921564" y="437322"/>
            <a:ext cx="1298713" cy="738664"/>
          </a:xfrm>
          <a:prstGeom prst="rect">
            <a:avLst/>
          </a:prstGeom>
          <a:noFill/>
        </p:spPr>
        <p:txBody>
          <a:bodyPr wrap="square" rtlCol="0">
            <a:spAutoFit/>
          </a:bodyPr>
          <a:lstStyle/>
          <a:p>
            <a:r>
              <a:rPr lang="en-IN" dirty="0"/>
              <a:t>Grant access of Build </a:t>
            </a:r>
            <a:r>
              <a:rPr lang="en-IN" dirty="0" err="1"/>
              <a:t>Workzone</a:t>
            </a:r>
            <a:endParaRPr lang="en-IN" dirty="0"/>
          </a:p>
        </p:txBody>
      </p:sp>
    </p:spTree>
    <p:extLst>
      <p:ext uri="{BB962C8B-B14F-4D97-AF65-F5344CB8AC3E}">
        <p14:creationId xmlns:p14="http://schemas.microsoft.com/office/powerpoint/2010/main" val="1327572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approver Projection</a:t>
            </a:r>
            <a:endParaRPr dirty="0"/>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6" name="Google Shape;1332;p59" descr="A green circle with a white tick in it&#10;&#10;Description automatically generated">
            <a:extLst>
              <a:ext uri="{FF2B5EF4-FFF2-40B4-BE49-F238E27FC236}">
                <a16:creationId xmlns:a16="http://schemas.microsoft.com/office/drawing/2014/main" id="{74FA3B13-9907-233F-652F-0FFD3CFE4D3F}"/>
              </a:ext>
            </a:extLst>
          </p:cNvPr>
          <p:cNvPicPr preferRelativeResize="0"/>
          <p:nvPr/>
        </p:nvPicPr>
        <p:blipFill rotWithShape="1">
          <a:blip r:embed="rId3">
            <a:alphaModFix/>
          </a:blip>
          <a:srcRect/>
          <a:stretch/>
        </p:blipFill>
        <p:spPr>
          <a:xfrm>
            <a:off x="4209625" y="3355639"/>
            <a:ext cx="457206" cy="457206"/>
          </a:xfrm>
          <a:prstGeom prst="rect">
            <a:avLst/>
          </a:prstGeom>
          <a:noFill/>
          <a:ln>
            <a:noFill/>
          </a:ln>
        </p:spPr>
      </p:pic>
      <p:pic>
        <p:nvPicPr>
          <p:cNvPr id="7" name="Google Shape;1332;p59" descr="A green circle with a white tick in it&#10;&#10;Description automatically generated">
            <a:extLst>
              <a:ext uri="{FF2B5EF4-FFF2-40B4-BE49-F238E27FC236}">
                <a16:creationId xmlns:a16="http://schemas.microsoft.com/office/drawing/2014/main" id="{0B39C809-E3E3-66C0-BF73-D93A753A9933}"/>
              </a:ext>
            </a:extLst>
          </p:cNvPr>
          <p:cNvPicPr preferRelativeResize="0"/>
          <p:nvPr/>
        </p:nvPicPr>
        <p:blipFill rotWithShape="1">
          <a:blip r:embed="rId3">
            <a:alphaModFix/>
          </a:blip>
          <a:srcRect/>
          <a:stretch/>
        </p:blipFill>
        <p:spPr>
          <a:xfrm>
            <a:off x="227548" y="3355639"/>
            <a:ext cx="457206" cy="457206"/>
          </a:xfrm>
          <a:prstGeom prst="rect">
            <a:avLst/>
          </a:prstGeom>
          <a:noFill/>
          <a:ln>
            <a:noFill/>
          </a:ln>
        </p:spPr>
      </p:pic>
      <p:pic>
        <p:nvPicPr>
          <p:cNvPr id="10" name="Google Shape;1332;p59" descr="A green circle with a white tick in it&#10;&#10;Description automatically generated">
            <a:extLst>
              <a:ext uri="{FF2B5EF4-FFF2-40B4-BE49-F238E27FC236}">
                <a16:creationId xmlns:a16="http://schemas.microsoft.com/office/drawing/2014/main" id="{197197E8-0213-26B4-F1AA-BDBEE5248ED7}"/>
              </a:ext>
            </a:extLst>
          </p:cNvPr>
          <p:cNvPicPr preferRelativeResize="0"/>
          <p:nvPr/>
        </p:nvPicPr>
        <p:blipFill rotWithShape="1">
          <a:blip r:embed="rId3">
            <a:alphaModFix/>
          </a:blip>
          <a:srcRect/>
          <a:stretch/>
        </p:blipFill>
        <p:spPr>
          <a:xfrm>
            <a:off x="66713" y="534468"/>
            <a:ext cx="457206" cy="45720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1115640"/>
            <a:ext cx="11806237"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Imagine in our company we had written all the business logic in the past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in form of FM, Classes. Today we want to reuse our old code which has the business logic, validation, sequence, processing, along with transaction buffer. So if you want to manage all these codes yourself and integrate your legacy (old code written by you or your team), you will opt for unmanaged (here RAP is not managing the CURD operation) scenario.</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SAP is providing a demo class for learning purpose viz. </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dmo</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cl_flight_legacy</a:t>
            </a:r>
            <a:endParaRPr sz="1800" dirty="0">
              <a:solidFill>
                <a:srgbClr val="000000"/>
              </a:solidFill>
              <a:highlight>
                <a:srgbClr val="F0D8A8"/>
              </a:highlight>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 this class we have our own old logic which contains the transaction buffer and business logic to maintain all the source code to interact with database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allows us to implement the entire runtime of the BO</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Interaction Phase (code to interact and keep data inside </a:t>
            </a:r>
            <a:r>
              <a:rPr lang="en-US" sz="1800" dirty="0" err="1">
                <a:solidFill>
                  <a:schemeClr val="dk1"/>
                </a:solidFill>
                <a:latin typeface="Calibri"/>
                <a:ea typeface="Calibri"/>
                <a:cs typeface="Calibri"/>
                <a:sym typeface="Calibri"/>
              </a:rPr>
              <a:t>itab</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Transaction Buffer (like a internal table where we keep temporary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Save Sequence (Commit work and Rollback)</a:t>
            </a:r>
            <a:endParaRPr dirty="0"/>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Reference Scenario – Unmanaged </a:t>
            </a:r>
            <a:r>
              <a:rPr lang="en-US" sz="3599" dirty="0" err="1">
                <a:solidFill>
                  <a:srgbClr val="FFC000"/>
                </a:solidFill>
                <a:latin typeface="Cooper Black" panose="0208090404030B020404" pitchFamily="18" charset="0"/>
                <a:ea typeface="Corben"/>
                <a:cs typeface="Corben"/>
                <a:sym typeface="Corben"/>
              </a:rPr>
              <a:t>Impl</a:t>
            </a:r>
            <a:r>
              <a:rPr lang="en-US" sz="3599" dirty="0">
                <a:solidFill>
                  <a:srgbClr val="FFC000"/>
                </a:solidFill>
                <a:latin typeface="Cooper Black" panose="0208090404030B020404" pitchFamily="18" charset="0"/>
                <a:ea typeface="Corben"/>
                <a:cs typeface="Corben"/>
                <a:sym typeface="Corben"/>
              </a:rPr>
              <a:t>.</a:t>
            </a:r>
            <a:endParaRPr sz="3599" dirty="0">
              <a:solidFill>
                <a:srgbClr val="FFC000"/>
              </a:solidFill>
              <a:latin typeface="Cooper Black" panose="0208090404030B020404" pitchFamily="18" charset="0"/>
              <a:ea typeface="Corben"/>
              <a:cs typeface="Corben"/>
              <a:sym typeface="Corben"/>
            </a:endParaRPr>
          </a:p>
        </p:txBody>
      </p:sp>
      <p:sp>
        <p:nvSpPr>
          <p:cNvPr id="1824" name="Google Shape;1824;p103"/>
          <p:cNvSpPr/>
          <p:nvPr/>
        </p:nvSpPr>
        <p:spPr>
          <a:xfrm>
            <a:off x="1845940" y="4491487"/>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UPDATE_BAPI</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(LUW)</a:t>
            </a:r>
            <a:endParaRPr/>
          </a:p>
        </p:txBody>
      </p:sp>
      <p:sp>
        <p:nvSpPr>
          <p:cNvPr id="1825" name="Google Shape;1825;p103"/>
          <p:cNvSpPr/>
          <p:nvPr/>
        </p:nvSpPr>
        <p:spPr>
          <a:xfrm>
            <a:off x="1125860" y="4644176"/>
            <a:ext cx="576064" cy="504056"/>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26" name="Google Shape;1826;p103"/>
          <p:cNvSpPr/>
          <p:nvPr/>
        </p:nvSpPr>
        <p:spPr>
          <a:xfrm>
            <a:off x="6022404" y="4932208"/>
            <a:ext cx="1152128" cy="576064"/>
          </a:xfrm>
          <a:prstGeom prst="flowChartMagneticDisk">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1827" name="Google Shape;1827;p103"/>
          <p:cNvCxnSpPr>
            <a:endCxn id="1826" idx="2"/>
          </p:cNvCxnSpPr>
          <p:nvPr/>
        </p:nvCxnSpPr>
        <p:spPr>
          <a:xfrm>
            <a:off x="4726404" y="4788240"/>
            <a:ext cx="1296000" cy="432000"/>
          </a:xfrm>
          <a:prstGeom prst="straightConnector1">
            <a:avLst/>
          </a:prstGeom>
          <a:noFill/>
          <a:ln w="9525" cap="flat" cmpd="sng">
            <a:solidFill>
              <a:schemeClr val="accent1"/>
            </a:solidFill>
            <a:prstDash val="solid"/>
            <a:miter lim="800000"/>
            <a:headEnd type="none" w="sm" len="sm"/>
            <a:tailEnd type="triangle" w="med" len="med"/>
          </a:ln>
        </p:spPr>
      </p:cxnSp>
      <p:sp>
        <p:nvSpPr>
          <p:cNvPr id="1828" name="Google Shape;1828;p103"/>
          <p:cNvSpPr/>
          <p:nvPr/>
        </p:nvSpPr>
        <p:spPr>
          <a:xfrm>
            <a:off x="400608" y="5695912"/>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BAPI_TR_COMMIT</a:t>
            </a:r>
            <a:endParaRPr/>
          </a:p>
        </p:txBody>
      </p:sp>
      <p:sp>
        <p:nvSpPr>
          <p:cNvPr id="1829" name="Google Shape;1829;p103"/>
          <p:cNvSpPr/>
          <p:nvPr/>
        </p:nvSpPr>
        <p:spPr>
          <a:xfrm>
            <a:off x="3621560" y="5701411"/>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BAPI_TR_ROLLBACK</a:t>
            </a:r>
            <a:endParaRPr/>
          </a:p>
        </p:txBody>
      </p:sp>
      <p:cxnSp>
        <p:nvCxnSpPr>
          <p:cNvPr id="1830" name="Google Shape;1830;p103"/>
          <p:cNvCxnSpPr>
            <a:stCxn id="1828" idx="2"/>
            <a:endCxn id="1826" idx="4"/>
          </p:cNvCxnSpPr>
          <p:nvPr/>
        </p:nvCxnSpPr>
        <p:spPr>
          <a:xfrm rot="-5400000">
            <a:off x="3891722" y="3205250"/>
            <a:ext cx="1267800" cy="5297700"/>
          </a:xfrm>
          <a:prstGeom prst="bentConnector4">
            <a:avLst>
              <a:gd name="adj1" fmla="val -18031"/>
              <a:gd name="adj2" fmla="val 104316"/>
            </a:avLst>
          </a:prstGeom>
          <a:noFill/>
          <a:ln w="9525" cap="flat" cmpd="sng">
            <a:solidFill>
              <a:schemeClr val="accent1"/>
            </a:solidFill>
            <a:prstDash val="solid"/>
            <a:miter lim="800000"/>
            <a:headEnd type="none" w="sm" len="sm"/>
            <a:tailEnd type="triangle" w="med" len="med"/>
          </a:ln>
        </p:spPr>
      </p:cxnSp>
      <p:cxnSp>
        <p:nvCxnSpPr>
          <p:cNvPr id="1831" name="Google Shape;1831;p103"/>
          <p:cNvCxnSpPr>
            <a:stCxn id="1829" idx="2"/>
            <a:endCxn id="1826" idx="4"/>
          </p:cNvCxnSpPr>
          <p:nvPr/>
        </p:nvCxnSpPr>
        <p:spPr>
          <a:xfrm rot="-5400000">
            <a:off x="5499574" y="4818449"/>
            <a:ext cx="1273200" cy="2076900"/>
          </a:xfrm>
          <a:prstGeom prst="bentConnector4">
            <a:avLst>
              <a:gd name="adj1" fmla="val -17955"/>
              <a:gd name="adj2" fmla="val 111002"/>
            </a:avLst>
          </a:prstGeom>
          <a:noFill/>
          <a:ln w="9525" cap="flat" cmpd="sng">
            <a:solidFill>
              <a:schemeClr val="accent1"/>
            </a:solidFill>
            <a:prstDash val="solid"/>
            <a:miter lim="800000"/>
            <a:headEnd type="none" w="sm" len="sm"/>
            <a:tailEnd type="triangle" w="med" len="med"/>
          </a:ln>
        </p:spPr>
      </p:cxn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104"/>
          <p:cNvSpPr/>
          <p:nvPr/>
        </p:nvSpPr>
        <p:spPr>
          <a:xfrm>
            <a:off x="1197868" y="2708920"/>
            <a:ext cx="3060338" cy="1944216"/>
          </a:xfrm>
          <a:prstGeom prst="rect">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38" name="Google Shape;1838;p10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a:t>
            </a:r>
            <a:endParaRPr sz="3599" dirty="0">
              <a:solidFill>
                <a:srgbClr val="FFC000"/>
              </a:solidFill>
              <a:latin typeface="Cooper Black" panose="0208090404030B020404" pitchFamily="18" charset="0"/>
              <a:ea typeface="Corben"/>
              <a:cs typeface="Corben"/>
              <a:sym typeface="Corben"/>
            </a:endParaRPr>
          </a:p>
        </p:txBody>
      </p:sp>
      <p:sp>
        <p:nvSpPr>
          <p:cNvPr id="1841" name="Google Shape;1841;p104"/>
          <p:cNvSpPr/>
          <p:nvPr/>
        </p:nvSpPr>
        <p:spPr>
          <a:xfrm>
            <a:off x="639805" y="5174087"/>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Agency</a:t>
            </a:r>
            <a:endParaRPr/>
          </a:p>
        </p:txBody>
      </p:sp>
      <p:sp>
        <p:nvSpPr>
          <p:cNvPr id="1842" name="Google Shape;1842;p104"/>
          <p:cNvSpPr/>
          <p:nvPr/>
        </p:nvSpPr>
        <p:spPr>
          <a:xfrm>
            <a:off x="3502124" y="5174087"/>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Customer</a:t>
            </a:r>
            <a:endParaRPr dirty="0"/>
          </a:p>
        </p:txBody>
      </p:sp>
      <p:sp>
        <p:nvSpPr>
          <p:cNvPr id="1843" name="Google Shape;1843;p104"/>
          <p:cNvSpPr/>
          <p:nvPr/>
        </p:nvSpPr>
        <p:spPr>
          <a:xfrm>
            <a:off x="909836" y="6283631"/>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agency</a:t>
            </a:r>
            <a:endParaRPr dirty="0"/>
          </a:p>
        </p:txBody>
      </p:sp>
      <p:sp>
        <p:nvSpPr>
          <p:cNvPr id="1844" name="Google Shape;1844;p104"/>
          <p:cNvSpPr/>
          <p:nvPr/>
        </p:nvSpPr>
        <p:spPr>
          <a:xfrm>
            <a:off x="3790156" y="6283631"/>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customer</a:t>
            </a:r>
            <a:endParaRPr dirty="0"/>
          </a:p>
        </p:txBody>
      </p:sp>
      <p:sp>
        <p:nvSpPr>
          <p:cNvPr id="1845" name="Google Shape;1845;p104"/>
          <p:cNvSpPr/>
          <p:nvPr/>
        </p:nvSpPr>
        <p:spPr>
          <a:xfrm>
            <a:off x="6670476" y="6263796"/>
            <a:ext cx="2150306"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a:t>
            </a:r>
            <a:r>
              <a:rPr lang="en-US" sz="1600" dirty="0" err="1">
                <a:solidFill>
                  <a:schemeClr val="lt1"/>
                </a:solidFill>
                <a:latin typeface="Calibri"/>
                <a:ea typeface="Calibri"/>
                <a:cs typeface="Calibri"/>
                <a:sym typeface="Calibri"/>
              </a:rPr>
              <a:t>dmo</a:t>
            </a:r>
            <a:r>
              <a:rPr lang="en-US" sz="1600" dirty="0">
                <a:solidFill>
                  <a:schemeClr val="lt1"/>
                </a:solidFill>
                <a:latin typeface="Calibri"/>
                <a:ea typeface="Calibri"/>
                <a:cs typeface="Calibri"/>
                <a:sym typeface="Calibri"/>
              </a:rPr>
              <a:t>/travel</a:t>
            </a:r>
            <a:endParaRPr dirty="0"/>
          </a:p>
        </p:txBody>
      </p:sp>
      <p:sp>
        <p:nvSpPr>
          <p:cNvPr id="1846" name="Google Shape;1846;p104"/>
          <p:cNvSpPr/>
          <p:nvPr/>
        </p:nvSpPr>
        <p:spPr>
          <a:xfrm>
            <a:off x="4745504" y="4004882"/>
            <a:ext cx="2088232" cy="52047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err="1">
                <a:solidFill>
                  <a:schemeClr val="lt1"/>
                </a:solidFill>
                <a:latin typeface="Calibri"/>
                <a:ea typeface="Calibri"/>
                <a:cs typeface="Calibri"/>
                <a:sym typeface="Calibri"/>
              </a:rPr>
              <a:t>Travel_U</a:t>
            </a:r>
            <a:endParaRPr sz="2400" dirty="0">
              <a:solidFill>
                <a:schemeClr val="lt1"/>
              </a:solidFill>
              <a:latin typeface="Calibri"/>
              <a:ea typeface="Calibri"/>
              <a:cs typeface="Calibri"/>
              <a:sym typeface="Calibri"/>
            </a:endParaRPr>
          </a:p>
        </p:txBody>
      </p:sp>
      <p:cxnSp>
        <p:nvCxnSpPr>
          <p:cNvPr id="1847" name="Google Shape;1847;p104"/>
          <p:cNvCxnSpPr>
            <a:stCxn id="1844" idx="0"/>
            <a:endCxn id="1842" idx="2"/>
          </p:cNvCxnSpPr>
          <p:nvPr/>
        </p:nvCxnSpPr>
        <p:spPr>
          <a:xfrm rot="10800000">
            <a:off x="4546240" y="5966231"/>
            <a:ext cx="0" cy="3174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8" name="Google Shape;1848;p104"/>
          <p:cNvCxnSpPr>
            <a:stCxn id="1843" idx="0"/>
            <a:endCxn id="1841" idx="2"/>
          </p:cNvCxnSpPr>
          <p:nvPr/>
        </p:nvCxnSpPr>
        <p:spPr>
          <a:xfrm flipV="1">
            <a:off x="1665920" y="5966175"/>
            <a:ext cx="18001" cy="317456"/>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9" name="Google Shape;1849;p104"/>
          <p:cNvCxnSpPr>
            <a:stCxn id="1842" idx="0"/>
            <a:endCxn id="1846" idx="2"/>
          </p:cNvCxnSpPr>
          <p:nvPr/>
        </p:nvCxnSpPr>
        <p:spPr>
          <a:xfrm rot="-5400000">
            <a:off x="4843690" y="4228037"/>
            <a:ext cx="648600" cy="1243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0" name="Google Shape;1850;p104"/>
          <p:cNvCxnSpPr>
            <a:stCxn id="1841" idx="0"/>
            <a:endCxn id="1846" idx="2"/>
          </p:cNvCxnSpPr>
          <p:nvPr/>
        </p:nvCxnSpPr>
        <p:spPr>
          <a:xfrm rot="5400000" flipH="1" flipV="1">
            <a:off x="3412403" y="2796871"/>
            <a:ext cx="648734" cy="4105699"/>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1" name="Google Shape;1851;p104"/>
          <p:cNvCxnSpPr>
            <a:stCxn id="1845" idx="0"/>
          </p:cNvCxnSpPr>
          <p:nvPr/>
        </p:nvCxnSpPr>
        <p:spPr>
          <a:xfrm rot="10800000">
            <a:off x="6204829" y="4509096"/>
            <a:ext cx="1540800" cy="1754700"/>
          </a:xfrm>
          <a:prstGeom prst="straightConnector1">
            <a:avLst/>
          </a:prstGeom>
          <a:noFill/>
          <a:ln w="9525" cap="flat" cmpd="sng">
            <a:solidFill>
              <a:schemeClr val="accent1"/>
            </a:solidFill>
            <a:prstDash val="solid"/>
            <a:miter lim="800000"/>
            <a:headEnd type="none" w="sm" len="sm"/>
            <a:tailEnd type="triangle" w="med" len="med"/>
          </a:ln>
        </p:spPr>
      </p:cxnSp>
      <p:sp>
        <p:nvSpPr>
          <p:cNvPr id="1852" name="Google Shape;1852;p104"/>
          <p:cNvSpPr/>
          <p:nvPr/>
        </p:nvSpPr>
        <p:spPr>
          <a:xfrm>
            <a:off x="7462565" y="4024743"/>
            <a:ext cx="2376264" cy="50079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Travel_U_MDE</a:t>
            </a:r>
            <a:endParaRPr sz="2400">
              <a:solidFill>
                <a:schemeClr val="lt1"/>
              </a:solidFill>
              <a:latin typeface="Calibri"/>
              <a:ea typeface="Calibri"/>
              <a:cs typeface="Calibri"/>
              <a:sym typeface="Calibri"/>
            </a:endParaRPr>
          </a:p>
        </p:txBody>
      </p:sp>
      <p:cxnSp>
        <p:nvCxnSpPr>
          <p:cNvPr id="1853" name="Google Shape;1853;p104"/>
          <p:cNvCxnSpPr>
            <a:stCxn id="1846" idx="3"/>
            <a:endCxn id="1852" idx="1"/>
          </p:cNvCxnSpPr>
          <p:nvPr/>
        </p:nvCxnSpPr>
        <p:spPr>
          <a:xfrm>
            <a:off x="6833736" y="4265118"/>
            <a:ext cx="628800" cy="9900"/>
          </a:xfrm>
          <a:prstGeom prst="straightConnector1">
            <a:avLst/>
          </a:prstGeom>
          <a:noFill/>
          <a:ln w="9525" cap="flat" cmpd="sng">
            <a:solidFill>
              <a:schemeClr val="accent1"/>
            </a:solidFill>
            <a:prstDash val="solid"/>
            <a:miter lim="800000"/>
            <a:headEnd type="none" w="sm" len="sm"/>
            <a:tailEnd type="none" w="sm" len="sm"/>
          </a:ln>
        </p:spPr>
      </p:cxnSp>
      <p:sp>
        <p:nvSpPr>
          <p:cNvPr id="1854" name="Google Shape;1854;p104"/>
          <p:cNvSpPr/>
          <p:nvPr/>
        </p:nvSpPr>
        <p:spPr>
          <a:xfrm>
            <a:off x="4673496" y="2810772"/>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definition</a:t>
            </a:r>
            <a:endParaRPr/>
          </a:p>
        </p:txBody>
      </p:sp>
      <p:cxnSp>
        <p:nvCxnSpPr>
          <p:cNvPr id="1855" name="Google Shape;1855;p104"/>
          <p:cNvCxnSpPr>
            <a:stCxn id="1846" idx="0"/>
            <a:endCxn id="1854" idx="2"/>
          </p:cNvCxnSpPr>
          <p:nvPr/>
        </p:nvCxnSpPr>
        <p:spPr>
          <a:xfrm rot="10800000">
            <a:off x="5789620" y="3530882"/>
            <a:ext cx="0" cy="474000"/>
          </a:xfrm>
          <a:prstGeom prst="straightConnector1">
            <a:avLst/>
          </a:prstGeom>
          <a:noFill/>
          <a:ln w="9525" cap="flat" cmpd="sng">
            <a:solidFill>
              <a:schemeClr val="accent1"/>
            </a:solidFill>
            <a:prstDash val="solid"/>
            <a:miter lim="800000"/>
            <a:headEnd type="none" w="sm" len="sm"/>
            <a:tailEnd type="triangle" w="med" len="med"/>
          </a:ln>
        </p:spPr>
      </p:cxnSp>
      <p:sp>
        <p:nvSpPr>
          <p:cNvPr id="1856" name="Google Shape;1856;p104"/>
          <p:cNvSpPr/>
          <p:nvPr/>
        </p:nvSpPr>
        <p:spPr>
          <a:xfrm>
            <a:off x="4673496" y="1570221"/>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Impl.</a:t>
            </a:r>
            <a:endParaRPr/>
          </a:p>
        </p:txBody>
      </p:sp>
      <p:cxnSp>
        <p:nvCxnSpPr>
          <p:cNvPr id="1857" name="Google Shape;1857;p104"/>
          <p:cNvCxnSpPr>
            <a:stCxn id="1854" idx="0"/>
            <a:endCxn id="1856" idx="2"/>
          </p:cNvCxnSpPr>
          <p:nvPr/>
        </p:nvCxnSpPr>
        <p:spPr>
          <a:xfrm rot="10800000">
            <a:off x="5789620" y="2290272"/>
            <a:ext cx="0" cy="520500"/>
          </a:xfrm>
          <a:prstGeom prst="straightConnector1">
            <a:avLst/>
          </a:prstGeom>
          <a:noFill/>
          <a:ln w="9525" cap="flat" cmpd="sng">
            <a:solidFill>
              <a:schemeClr val="accent1"/>
            </a:solidFill>
            <a:prstDash val="solid"/>
            <a:miter lim="800000"/>
            <a:headEnd type="none" w="sm" len="sm"/>
            <a:tailEnd type="triangle" w="med" len="med"/>
          </a:ln>
        </p:spPr>
      </p:cxnSp>
      <p:sp>
        <p:nvSpPr>
          <p:cNvPr id="1858" name="Google Shape;1858;p104"/>
          <p:cNvSpPr/>
          <p:nvPr/>
        </p:nvSpPr>
        <p:spPr>
          <a:xfrm>
            <a:off x="1557909" y="3860386"/>
            <a:ext cx="2431510" cy="648734"/>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 unmanaged</a:t>
            </a:r>
            <a:endParaRPr dirty="0"/>
          </a:p>
        </p:txBody>
      </p:sp>
      <p:sp>
        <p:nvSpPr>
          <p:cNvPr id="1859" name="Google Shape;1859;p104"/>
          <p:cNvSpPr/>
          <p:nvPr/>
        </p:nvSpPr>
        <p:spPr>
          <a:xfrm>
            <a:off x="1557909" y="2894196"/>
            <a:ext cx="2431510" cy="648734"/>
          </a:xfrm>
          <a:prstGeom prst="rect">
            <a:avLst/>
          </a:prstGeom>
          <a:solidFill>
            <a:srgbClr val="FF0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BIMP-unmanaged</a:t>
            </a:r>
            <a:endParaRPr dirty="0"/>
          </a:p>
        </p:txBody>
      </p:sp>
      <p:cxnSp>
        <p:nvCxnSpPr>
          <p:cNvPr id="1860" name="Google Shape;1860;p104"/>
          <p:cNvCxnSpPr>
            <a:stCxn id="1858" idx="3"/>
            <a:endCxn id="1846" idx="1"/>
          </p:cNvCxnSpPr>
          <p:nvPr/>
        </p:nvCxnSpPr>
        <p:spPr>
          <a:xfrm>
            <a:off x="3989419" y="4184753"/>
            <a:ext cx="756000" cy="80400"/>
          </a:xfrm>
          <a:prstGeom prst="straightConnector1">
            <a:avLst/>
          </a:prstGeom>
          <a:noFill/>
          <a:ln w="9525" cap="flat" cmpd="sng">
            <a:solidFill>
              <a:schemeClr val="accent1"/>
            </a:solidFill>
            <a:prstDash val="solid"/>
            <a:miter lim="800000"/>
            <a:headEnd type="none" w="sm" len="sm"/>
            <a:tailEnd type="none" w="sm" len="sm"/>
          </a:ln>
        </p:spPr>
      </p:cxnSp>
      <p:cxnSp>
        <p:nvCxnSpPr>
          <p:cNvPr id="1861" name="Google Shape;1861;p104"/>
          <p:cNvCxnSpPr>
            <a:stCxn id="1859" idx="2"/>
            <a:endCxn id="1858" idx="0"/>
          </p:cNvCxnSpPr>
          <p:nvPr/>
        </p:nvCxnSpPr>
        <p:spPr>
          <a:xfrm>
            <a:off x="2773664" y="3542930"/>
            <a:ext cx="0" cy="317400"/>
          </a:xfrm>
          <a:prstGeom prst="straightConnector1">
            <a:avLst/>
          </a:prstGeom>
          <a:noFill/>
          <a:ln w="9525" cap="flat" cmpd="sng">
            <a:solidFill>
              <a:schemeClr val="accent1"/>
            </a:solidFill>
            <a:prstDash val="solid"/>
            <a:miter lim="800000"/>
            <a:headEnd type="none" w="sm" len="sm"/>
            <a:tailEnd type="none" w="sm" len="sm"/>
          </a:ln>
        </p:spPr>
      </p:cxnSp>
      <p:pic>
        <p:nvPicPr>
          <p:cNvPr id="2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7" name="Google Shape;1867;p105"/>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&lt;&gt;</a:t>
            </a:r>
            <a:endParaRPr sz="1800">
              <a:solidFill>
                <a:schemeClr val="dk1"/>
              </a:solidFill>
              <a:latin typeface="Calibri"/>
              <a:ea typeface="Calibri"/>
              <a:cs typeface="Calibri"/>
              <a:sym typeface="Calibri"/>
            </a:endParaRPr>
          </a:p>
        </p:txBody>
      </p:sp>
      <p:sp>
        <p:nvSpPr>
          <p:cNvPr id="1868" name="Google Shape;1868;p10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Title</a:t>
            </a:r>
            <a:endParaRPr sz="3599" dirty="0">
              <a:solidFill>
                <a:srgbClr val="FFC000"/>
              </a:solidFill>
              <a:latin typeface="Cooper Black" panose="0208090404030B020404" pitchFamily="18" charset="0"/>
              <a:ea typeface="Corben"/>
              <a:cs typeface="Corben"/>
              <a:sym typeface="Corben"/>
            </a:endParaRPr>
          </a:p>
        </p:txBody>
      </p:sp>
      <p:sp>
        <p:nvSpPr>
          <p:cNvPr id="1871" name="Google Shape;1871;p105"/>
          <p:cNvSpPr/>
          <p:nvPr/>
        </p:nvSpPr>
        <p:spPr>
          <a:xfrm>
            <a:off x="661566" y="1039696"/>
            <a:ext cx="5544616" cy="46805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72" name="Google Shape;1872;p105"/>
          <p:cNvSpPr/>
          <p:nvPr/>
        </p:nvSpPr>
        <p:spPr>
          <a:xfrm>
            <a:off x="981844" y="146883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3" name="Google Shape;1873;p105"/>
          <p:cNvSpPr/>
          <p:nvPr/>
        </p:nvSpPr>
        <p:spPr>
          <a:xfrm>
            <a:off x="991516" y="2046611"/>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4" name="Google Shape;1874;p105"/>
          <p:cNvSpPr/>
          <p:nvPr/>
        </p:nvSpPr>
        <p:spPr>
          <a:xfrm>
            <a:off x="981844" y="264191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5" name="Google Shape;1875;p105"/>
          <p:cNvSpPr/>
          <p:nvPr/>
        </p:nvSpPr>
        <p:spPr>
          <a:xfrm>
            <a:off x="991516" y="3379956"/>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6" name="Google Shape;1876;p105"/>
          <p:cNvSpPr/>
          <p:nvPr/>
        </p:nvSpPr>
        <p:spPr>
          <a:xfrm>
            <a:off x="3914242" y="1451672"/>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7" name="Google Shape;1877;p105"/>
          <p:cNvSpPr/>
          <p:nvPr/>
        </p:nvSpPr>
        <p:spPr>
          <a:xfrm>
            <a:off x="3888183" y="2060848"/>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8" name="Google Shape;1878;p105"/>
          <p:cNvSpPr/>
          <p:nvPr/>
        </p:nvSpPr>
        <p:spPr>
          <a:xfrm>
            <a:off x="3898168" y="2714704"/>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9" name="Google Shape;1879;p105"/>
          <p:cNvSpPr/>
          <p:nvPr/>
        </p:nvSpPr>
        <p:spPr>
          <a:xfrm>
            <a:off x="3881622" y="3323880"/>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80" name="Google Shape;1880;p105"/>
          <p:cNvSpPr/>
          <p:nvPr/>
        </p:nvSpPr>
        <p:spPr>
          <a:xfrm>
            <a:off x="6310436" y="2204864"/>
            <a:ext cx="1224136" cy="2160240"/>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81" name="Google Shape;1881;p105"/>
          <p:cNvSpPr txBox="1"/>
          <p:nvPr/>
        </p:nvSpPr>
        <p:spPr>
          <a:xfrm>
            <a:off x="7534572" y="1124744"/>
            <a:ext cx="4166530"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How you know in the code which fields are changed on the screen by the user.</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So accordingly we can update the data into the database only for the changed fields??</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RAP provides a compiler structure called %control which will tell us what fields were changed on UI. </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We need to tell the RAP, what will be the datatype for the control structure.</a:t>
            </a:r>
            <a:endParaRPr dirty="0"/>
          </a:p>
        </p:txBody>
      </p:sp>
      <p:pic>
        <p:nvPicPr>
          <p:cNvPr id="1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09" name="Google Shape;1909;p108"/>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Git is a source code repository management system, git hub is a repository on internet. We interact with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using git software. If I want to take a backup of all our code which we created in AOC system, git is a great choice. This way we can also export import our code between cloud and on-premise system.</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For cloud system, we use git plugin in eclipse which is provided by SAP. The installation was covered in 3</a:t>
            </a:r>
            <a:r>
              <a:rPr lang="en-US" sz="1800" baseline="30000" dirty="0">
                <a:solidFill>
                  <a:schemeClr val="dk1"/>
                </a:solidFill>
                <a:latin typeface="Calibri"/>
                <a:ea typeface="Calibri"/>
                <a:cs typeface="Calibri"/>
                <a:sym typeface="Calibri"/>
              </a:rPr>
              <a:t>rd</a:t>
            </a:r>
            <a:r>
              <a:rPr lang="en-US" sz="1800" dirty="0">
                <a:solidFill>
                  <a:schemeClr val="dk1"/>
                </a:solidFill>
                <a:latin typeface="Calibri"/>
                <a:ea typeface="Calibri"/>
                <a:cs typeface="Calibri"/>
                <a:sym typeface="Calibri"/>
              </a:rPr>
              <a:t> session.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We need to add the plugin for </a:t>
            </a:r>
            <a:r>
              <a:rPr lang="en-US" sz="1800" dirty="0" err="1">
                <a:solidFill>
                  <a:schemeClr val="dk1"/>
                </a:solidFill>
                <a:latin typeface="Calibri"/>
                <a:ea typeface="Calibri"/>
                <a:cs typeface="Calibri"/>
                <a:sym typeface="Calibri"/>
              </a:rPr>
              <a:t>abap</a:t>
            </a:r>
            <a:r>
              <a:rPr lang="en-US" sz="1800" dirty="0">
                <a:solidFill>
                  <a:schemeClr val="dk1"/>
                </a:solidFill>
                <a:latin typeface="Calibri"/>
                <a:ea typeface="Calibri"/>
                <a:cs typeface="Calibri"/>
                <a:sym typeface="Calibri"/>
              </a:rPr>
              <a:t> git in ADT - </a:t>
            </a:r>
            <a:r>
              <a:rPr lang="en-US" sz="1400" b="0" i="0" u="sng" dirty="0">
                <a:solidFill>
                  <a:srgbClr val="E6EDF3"/>
                </a:solidFill>
                <a:latin typeface="Arial"/>
                <a:ea typeface="Arial"/>
                <a:cs typeface="Arial"/>
                <a:sym typeface="Arial"/>
                <a:hlinkClick r:id="rId3">
                  <a:extLst>
                    <a:ext uri="{A12FA001-AC4F-418D-AE19-62706E023703}">
                      <ahyp:hlinkClr xmlns:ahyp="http://schemas.microsoft.com/office/drawing/2018/hyperlinkcolor" val="tx"/>
                    </a:ext>
                  </a:extLst>
                </a:hlinkClick>
              </a:rPr>
              <a:t>http://eclipse.abapgit.org/updatesite/</a:t>
            </a:r>
            <a:endParaRPr sz="1400" b="0" i="0" dirty="0">
              <a:solidFill>
                <a:srgbClr val="E6EDF3"/>
              </a:solidFill>
              <a:latin typeface="Arial"/>
              <a:ea typeface="Arial"/>
              <a:cs typeface="Arial"/>
              <a:sym typeface="Arial"/>
            </a:endParaRPr>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account and add a PAT token under developer setting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repository in git hub</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Click on Add to link a repository and paste </a:t>
            </a:r>
            <a:r>
              <a:rPr lang="en-US" sz="1800" dirty="0" err="1">
                <a:solidFill>
                  <a:schemeClr val="dk1"/>
                </a:solidFill>
                <a:latin typeface="Calibri"/>
                <a:ea typeface="Calibri"/>
                <a:cs typeface="Calibri"/>
                <a:sym typeface="Calibri"/>
              </a:rPr>
              <a:t>url</a:t>
            </a:r>
            <a:r>
              <a:rPr lang="en-US" sz="1800" dirty="0">
                <a:solidFill>
                  <a:schemeClr val="dk1"/>
                </a:solidFill>
                <a:latin typeface="Calibri"/>
                <a:ea typeface="Calibri"/>
                <a:cs typeface="Calibri"/>
                <a:sym typeface="Calibri"/>
              </a:rPr>
              <a:t> from step 3</a:t>
            </a:r>
            <a:endParaRPr dirty="0"/>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p:txBody>
      </p:sp>
      <p:sp>
        <p:nvSpPr>
          <p:cNvPr id="1910" name="Google Shape;1910;p10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err="1">
                <a:solidFill>
                  <a:srgbClr val="FFC000"/>
                </a:solidFill>
                <a:latin typeface="Cooper Black" panose="0208090404030B020404" pitchFamily="18" charset="0"/>
                <a:ea typeface="Corben"/>
                <a:cs typeface="Corben"/>
                <a:sym typeface="Corben"/>
              </a:rPr>
              <a:t>Git</a:t>
            </a:r>
            <a:r>
              <a:rPr lang="en-US" sz="3599" dirty="0">
                <a:solidFill>
                  <a:srgbClr val="FFC000"/>
                </a:solidFill>
                <a:latin typeface="Cooper Black" panose="0208090404030B020404" pitchFamily="18" charset="0"/>
                <a:ea typeface="Corben"/>
                <a:cs typeface="Corben"/>
                <a:sym typeface="Corben"/>
              </a:rPr>
              <a:t> and ABAP on </a:t>
            </a:r>
            <a:r>
              <a:rPr lang="en-US" sz="3599" dirty="0" err="1">
                <a:solidFill>
                  <a:srgbClr val="FFC000"/>
                </a:solidFill>
                <a:latin typeface="Cooper Black" panose="0208090404030B020404" pitchFamily="18" charset="0"/>
                <a:ea typeface="Corben"/>
                <a:cs typeface="Corben"/>
                <a:sym typeface="Corben"/>
              </a:rPr>
              <a:t>git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le user avatar icon in flat design | Premium Vector">
            <a:extLst>
              <a:ext uri="{FF2B5EF4-FFF2-40B4-BE49-F238E27FC236}">
                <a16:creationId xmlns:a16="http://schemas.microsoft.com/office/drawing/2014/main" id="{05090454-E17B-8177-89BC-94D8ED188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49" y="0"/>
            <a:ext cx="1492042" cy="14920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oftware developer - Free user icons">
            <a:extLst>
              <a:ext uri="{FF2B5EF4-FFF2-40B4-BE49-F238E27FC236}">
                <a16:creationId xmlns:a16="http://schemas.microsoft.com/office/drawing/2014/main" id="{EB6A4ECD-8991-8486-61AE-261566288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4829" y="67433"/>
            <a:ext cx="1394791" cy="139479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tness, User, Computer Software, Skin, User Interface, User Profile, End  User, Purple transparent background PNG clipart | HiClipart">
            <a:extLst>
              <a:ext uri="{FF2B5EF4-FFF2-40B4-BE49-F238E27FC236}">
                <a16:creationId xmlns:a16="http://schemas.microsoft.com/office/drawing/2014/main" id="{16C24B1D-473A-0C4E-8100-3709DAEF8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1551" y="271668"/>
            <a:ext cx="1424609" cy="14246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End user Flaticons Flat icon | Freepik">
            <a:extLst>
              <a:ext uri="{FF2B5EF4-FFF2-40B4-BE49-F238E27FC236}">
                <a16:creationId xmlns:a16="http://schemas.microsoft.com/office/drawing/2014/main" id="{F197390D-B334-4D01-DFFA-0462157F21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6657" y="67433"/>
            <a:ext cx="1424609" cy="142460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75988384-BA22-D56F-7747-CD1ECB088FE5}"/>
              </a:ext>
            </a:extLst>
          </p:cNvPr>
          <p:cNvSpPr txBox="1"/>
          <p:nvPr/>
        </p:nvSpPr>
        <p:spPr>
          <a:xfrm>
            <a:off x="155783" y="1434667"/>
            <a:ext cx="1643269" cy="523220"/>
          </a:xfrm>
          <a:prstGeom prst="rect">
            <a:avLst/>
          </a:prstGeom>
          <a:noFill/>
        </p:spPr>
        <p:txBody>
          <a:bodyPr wrap="square" rtlCol="0">
            <a:spAutoFit/>
          </a:bodyPr>
          <a:lstStyle/>
          <a:p>
            <a:pPr algn="ctr"/>
            <a:r>
              <a:rPr lang="en-IN" b="1" dirty="0"/>
              <a:t>BTP Admin</a:t>
            </a:r>
          </a:p>
          <a:p>
            <a:pPr algn="ctr"/>
            <a:r>
              <a:rPr lang="en-IN" b="1" dirty="0"/>
              <a:t>Anubhav</a:t>
            </a:r>
          </a:p>
        </p:txBody>
      </p:sp>
      <p:sp>
        <p:nvSpPr>
          <p:cNvPr id="49" name="TextBox 48">
            <a:extLst>
              <a:ext uri="{FF2B5EF4-FFF2-40B4-BE49-F238E27FC236}">
                <a16:creationId xmlns:a16="http://schemas.microsoft.com/office/drawing/2014/main" id="{FBECBFAA-0865-F9D6-DB31-4493DC910CA5}"/>
              </a:ext>
            </a:extLst>
          </p:cNvPr>
          <p:cNvSpPr txBox="1"/>
          <p:nvPr/>
        </p:nvSpPr>
        <p:spPr>
          <a:xfrm>
            <a:off x="3190529" y="1434667"/>
            <a:ext cx="1643269" cy="523220"/>
          </a:xfrm>
          <a:prstGeom prst="rect">
            <a:avLst/>
          </a:prstGeom>
          <a:noFill/>
        </p:spPr>
        <p:txBody>
          <a:bodyPr wrap="square" rtlCol="0">
            <a:spAutoFit/>
          </a:bodyPr>
          <a:lstStyle/>
          <a:p>
            <a:pPr algn="ctr"/>
            <a:r>
              <a:rPr lang="en-IN" b="1" dirty="0"/>
              <a:t>Developer</a:t>
            </a:r>
          </a:p>
          <a:p>
            <a:pPr algn="ctr"/>
            <a:r>
              <a:rPr lang="en-IN" b="1" dirty="0"/>
              <a:t>Raj Shetty</a:t>
            </a:r>
          </a:p>
        </p:txBody>
      </p:sp>
      <p:sp>
        <p:nvSpPr>
          <p:cNvPr id="50" name="TextBox 49">
            <a:extLst>
              <a:ext uri="{FF2B5EF4-FFF2-40B4-BE49-F238E27FC236}">
                <a16:creationId xmlns:a16="http://schemas.microsoft.com/office/drawing/2014/main" id="{54F89EEE-3A17-CB98-1617-94B617AD04BA}"/>
              </a:ext>
            </a:extLst>
          </p:cNvPr>
          <p:cNvSpPr txBox="1"/>
          <p:nvPr/>
        </p:nvSpPr>
        <p:spPr>
          <a:xfrm>
            <a:off x="10262220" y="1696277"/>
            <a:ext cx="1643269" cy="523220"/>
          </a:xfrm>
          <a:prstGeom prst="rect">
            <a:avLst/>
          </a:prstGeom>
          <a:noFill/>
        </p:spPr>
        <p:txBody>
          <a:bodyPr wrap="square" rtlCol="0">
            <a:spAutoFit/>
          </a:bodyPr>
          <a:lstStyle/>
          <a:p>
            <a:pPr algn="ctr"/>
            <a:r>
              <a:rPr lang="en-IN" b="1" dirty="0"/>
              <a:t>Business User</a:t>
            </a:r>
          </a:p>
          <a:p>
            <a:pPr algn="ctr"/>
            <a:r>
              <a:rPr lang="en-IN" b="1" dirty="0"/>
              <a:t>Uday Shetty</a:t>
            </a:r>
          </a:p>
        </p:txBody>
      </p:sp>
      <p:sp>
        <p:nvSpPr>
          <p:cNvPr id="51" name="TextBox 50">
            <a:extLst>
              <a:ext uri="{FF2B5EF4-FFF2-40B4-BE49-F238E27FC236}">
                <a16:creationId xmlns:a16="http://schemas.microsoft.com/office/drawing/2014/main" id="{9ED2DDD3-C1A5-B574-3FAB-6B263C538DB0}"/>
              </a:ext>
            </a:extLst>
          </p:cNvPr>
          <p:cNvSpPr txBox="1"/>
          <p:nvPr/>
        </p:nvSpPr>
        <p:spPr>
          <a:xfrm>
            <a:off x="6713951" y="1407921"/>
            <a:ext cx="1643269" cy="523220"/>
          </a:xfrm>
          <a:prstGeom prst="rect">
            <a:avLst/>
          </a:prstGeom>
          <a:noFill/>
        </p:spPr>
        <p:txBody>
          <a:bodyPr wrap="square" rtlCol="0">
            <a:spAutoFit/>
          </a:bodyPr>
          <a:lstStyle/>
          <a:p>
            <a:pPr algn="ctr"/>
            <a:r>
              <a:rPr lang="en-IN" b="1" dirty="0"/>
              <a:t>SAP Security</a:t>
            </a:r>
          </a:p>
          <a:p>
            <a:pPr algn="ctr"/>
            <a:r>
              <a:rPr lang="en-IN" b="1" dirty="0"/>
              <a:t>Subbu Swamy</a:t>
            </a:r>
          </a:p>
        </p:txBody>
      </p:sp>
      <p:sp>
        <p:nvSpPr>
          <p:cNvPr id="52" name="Rectangle 51">
            <a:extLst>
              <a:ext uri="{FF2B5EF4-FFF2-40B4-BE49-F238E27FC236}">
                <a16:creationId xmlns:a16="http://schemas.microsoft.com/office/drawing/2014/main" id="{43BB9F1A-FD42-929A-BDE9-D01DB7089DEE}"/>
              </a:ext>
            </a:extLst>
          </p:cNvPr>
          <p:cNvSpPr/>
          <p:nvPr/>
        </p:nvSpPr>
        <p:spPr>
          <a:xfrm>
            <a:off x="437322" y="6063112"/>
            <a:ext cx="11304104" cy="523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BTP</a:t>
            </a:r>
          </a:p>
        </p:txBody>
      </p:sp>
      <p:sp>
        <p:nvSpPr>
          <p:cNvPr id="53" name="Rectangle 52">
            <a:extLst>
              <a:ext uri="{FF2B5EF4-FFF2-40B4-BE49-F238E27FC236}">
                <a16:creationId xmlns:a16="http://schemas.microsoft.com/office/drawing/2014/main" id="{D02A5C9F-B1F0-B57B-7B0C-5ACC9F3F5F8A}"/>
              </a:ext>
            </a:extLst>
          </p:cNvPr>
          <p:cNvSpPr/>
          <p:nvPr/>
        </p:nvSpPr>
        <p:spPr>
          <a:xfrm>
            <a:off x="649357" y="4310027"/>
            <a:ext cx="3339548" cy="9807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Cloud Identity Service</a:t>
            </a:r>
          </a:p>
          <a:p>
            <a:pPr algn="ctr"/>
            <a:r>
              <a:rPr lang="en-IN" dirty="0"/>
              <a:t>IDP – Identity provider</a:t>
            </a:r>
          </a:p>
        </p:txBody>
      </p:sp>
      <p:cxnSp>
        <p:nvCxnSpPr>
          <p:cNvPr id="55" name="Connector: Elbow 54">
            <a:extLst>
              <a:ext uri="{FF2B5EF4-FFF2-40B4-BE49-F238E27FC236}">
                <a16:creationId xmlns:a16="http://schemas.microsoft.com/office/drawing/2014/main" id="{E8F68CEC-CB03-CB30-2F2E-097BAF6A2FCD}"/>
              </a:ext>
            </a:extLst>
          </p:cNvPr>
          <p:cNvCxnSpPr>
            <a:stCxn id="48" idx="2"/>
          </p:cNvCxnSpPr>
          <p:nvPr/>
        </p:nvCxnSpPr>
        <p:spPr>
          <a:xfrm rot="16200000" flipH="1">
            <a:off x="212165" y="2723140"/>
            <a:ext cx="2352140" cy="8216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D2F0609-F753-A647-40F7-9CE59CA80205}"/>
              </a:ext>
            </a:extLst>
          </p:cNvPr>
          <p:cNvSpPr txBox="1"/>
          <p:nvPr/>
        </p:nvSpPr>
        <p:spPr>
          <a:xfrm>
            <a:off x="649357" y="2849217"/>
            <a:ext cx="1868556" cy="830997"/>
          </a:xfrm>
          <a:prstGeom prst="rect">
            <a:avLst/>
          </a:prstGeom>
          <a:noFill/>
        </p:spPr>
        <p:txBody>
          <a:bodyPr wrap="square" rtlCol="0">
            <a:spAutoFit/>
          </a:bodyPr>
          <a:lstStyle/>
          <a:p>
            <a:r>
              <a:rPr lang="en-IN" sz="1200" b="1" i="1" dirty="0"/>
              <a:t>Subscribe to cloud identity service and appoint a administrator - Subbu</a:t>
            </a:r>
          </a:p>
        </p:txBody>
      </p:sp>
      <p:cxnSp>
        <p:nvCxnSpPr>
          <p:cNvPr id="57" name="Connector: Elbow 56">
            <a:extLst>
              <a:ext uri="{FF2B5EF4-FFF2-40B4-BE49-F238E27FC236}">
                <a16:creationId xmlns:a16="http://schemas.microsoft.com/office/drawing/2014/main" id="{8F5842D6-CF21-209A-13E2-712B89F9F900}"/>
              </a:ext>
            </a:extLst>
          </p:cNvPr>
          <p:cNvCxnSpPr>
            <a:cxnSpLocks/>
          </p:cNvCxnSpPr>
          <p:nvPr/>
        </p:nvCxnSpPr>
        <p:spPr>
          <a:xfrm rot="10800000" flipV="1">
            <a:off x="4002224" y="1931140"/>
            <a:ext cx="3533362" cy="2513859"/>
          </a:xfrm>
          <a:prstGeom prst="bentConnector3">
            <a:avLst>
              <a:gd name="adj1" fmla="val 219"/>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2F8FCCDF-38FE-BB0B-17D5-6A5756BA66BD}"/>
              </a:ext>
            </a:extLst>
          </p:cNvPr>
          <p:cNvSpPr txBox="1"/>
          <p:nvPr/>
        </p:nvSpPr>
        <p:spPr>
          <a:xfrm>
            <a:off x="4651580" y="4776893"/>
            <a:ext cx="3339547" cy="461665"/>
          </a:xfrm>
          <a:prstGeom prst="rect">
            <a:avLst/>
          </a:prstGeom>
          <a:noFill/>
        </p:spPr>
        <p:txBody>
          <a:bodyPr wrap="square" rtlCol="0">
            <a:spAutoFit/>
          </a:bodyPr>
          <a:lstStyle/>
          <a:p>
            <a:r>
              <a:rPr lang="en-IN" sz="1200" b="1" i="1" dirty="0"/>
              <a:t>Subbu needs to register the business user Uday </a:t>
            </a:r>
            <a:r>
              <a:rPr lang="en-IN" sz="1200" b="1" i="1" dirty="0" err="1"/>
              <a:t>shetty</a:t>
            </a:r>
            <a:endParaRPr lang="en-IN" sz="1200" b="1" i="1" dirty="0"/>
          </a:p>
        </p:txBody>
      </p:sp>
      <p:pic>
        <p:nvPicPr>
          <p:cNvPr id="1036" name="Picture 12" descr="The Vaccine War star, Nana Patekar finally reveals why he's not in Welcome  To The Jungle">
            <a:extLst>
              <a:ext uri="{FF2B5EF4-FFF2-40B4-BE49-F238E27FC236}">
                <a16:creationId xmlns:a16="http://schemas.microsoft.com/office/drawing/2014/main" id="{AAD5375F-7B24-94F6-8CB9-F01559E59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20299" y="2257115"/>
            <a:ext cx="1992313" cy="930954"/>
          </a:xfrm>
          <a:prstGeom prst="rect">
            <a:avLst/>
          </a:prstGeom>
          <a:noFill/>
          <a:extLst>
            <a:ext uri="{909E8E84-426E-40DD-AFC4-6F175D3DCCD1}">
              <a14:hiddenFill xmlns:a14="http://schemas.microsoft.com/office/drawing/2010/main">
                <a:solidFill>
                  <a:srgbClr val="FFFFFF"/>
                </a:solidFill>
              </a14:hiddenFill>
            </a:ext>
          </a:extLst>
        </p:spPr>
      </p:pic>
      <p:sp>
        <p:nvSpPr>
          <p:cNvPr id="61" name="Arrow: Left 60">
            <a:extLst>
              <a:ext uri="{FF2B5EF4-FFF2-40B4-BE49-F238E27FC236}">
                <a16:creationId xmlns:a16="http://schemas.microsoft.com/office/drawing/2014/main" id="{3C0E975E-2AB7-2A9B-780C-AE9D6D87881A}"/>
              </a:ext>
            </a:extLst>
          </p:cNvPr>
          <p:cNvSpPr/>
          <p:nvPr/>
        </p:nvSpPr>
        <p:spPr>
          <a:xfrm>
            <a:off x="8241266" y="172114"/>
            <a:ext cx="2071134" cy="74541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Request for a user in </a:t>
            </a:r>
            <a:r>
              <a:rPr lang="en-IN" dirty="0" err="1"/>
              <a:t>btp</a:t>
            </a:r>
            <a:endParaRPr lang="en-IN" dirty="0"/>
          </a:p>
        </p:txBody>
      </p:sp>
      <p:cxnSp>
        <p:nvCxnSpPr>
          <p:cNvPr id="63" name="Connector: Elbow 62">
            <a:extLst>
              <a:ext uri="{FF2B5EF4-FFF2-40B4-BE49-F238E27FC236}">
                <a16:creationId xmlns:a16="http://schemas.microsoft.com/office/drawing/2014/main" id="{E564363D-ED57-71CC-F457-E6EF52D35A1D}"/>
              </a:ext>
            </a:extLst>
          </p:cNvPr>
          <p:cNvCxnSpPr>
            <a:stCxn id="51" idx="3"/>
            <a:endCxn id="53" idx="3"/>
          </p:cNvCxnSpPr>
          <p:nvPr/>
        </p:nvCxnSpPr>
        <p:spPr>
          <a:xfrm flipH="1">
            <a:off x="3988905" y="1669531"/>
            <a:ext cx="4368315" cy="3130888"/>
          </a:xfrm>
          <a:prstGeom prst="bentConnector3">
            <a:avLst>
              <a:gd name="adj1" fmla="val -5233"/>
            </a:avLst>
          </a:prstGeom>
          <a:ln>
            <a:tailEnd type="triangle"/>
          </a:ln>
        </p:spPr>
        <p:style>
          <a:lnRef idx="1">
            <a:schemeClr val="accent1"/>
          </a:lnRef>
          <a:fillRef idx="0">
            <a:schemeClr val="accent1"/>
          </a:fillRef>
          <a:effectRef idx="0">
            <a:schemeClr val="accent1"/>
          </a:effectRef>
          <a:fontRef idx="minor">
            <a:schemeClr val="tx1"/>
          </a:fontRef>
        </p:style>
      </p:cxnSp>
      <p:sp>
        <p:nvSpPr>
          <p:cNvPr id="1024" name="TextBox 1023">
            <a:extLst>
              <a:ext uri="{FF2B5EF4-FFF2-40B4-BE49-F238E27FC236}">
                <a16:creationId xmlns:a16="http://schemas.microsoft.com/office/drawing/2014/main" id="{1958DC09-7990-BBBC-C520-AF739067B071}"/>
              </a:ext>
            </a:extLst>
          </p:cNvPr>
          <p:cNvSpPr txBox="1"/>
          <p:nvPr/>
        </p:nvSpPr>
        <p:spPr>
          <a:xfrm>
            <a:off x="4251530" y="4180794"/>
            <a:ext cx="3339547" cy="461665"/>
          </a:xfrm>
          <a:prstGeom prst="rect">
            <a:avLst/>
          </a:prstGeom>
          <a:noFill/>
        </p:spPr>
        <p:txBody>
          <a:bodyPr wrap="square" rtlCol="0">
            <a:spAutoFit/>
          </a:bodyPr>
          <a:lstStyle/>
          <a:p>
            <a:r>
              <a:rPr lang="en-IN" sz="1200" b="1" i="1" dirty="0"/>
              <a:t>Subbu on-board himself as Admin for the cloud identity service of our a/c</a:t>
            </a:r>
          </a:p>
        </p:txBody>
      </p:sp>
      <p:sp>
        <p:nvSpPr>
          <p:cNvPr id="1025" name="Arrow: Right 1024">
            <a:extLst>
              <a:ext uri="{FF2B5EF4-FFF2-40B4-BE49-F238E27FC236}">
                <a16:creationId xmlns:a16="http://schemas.microsoft.com/office/drawing/2014/main" id="{6D65F8C4-8CDC-2758-A5FC-8767D4418D2B}"/>
              </a:ext>
            </a:extLst>
          </p:cNvPr>
          <p:cNvSpPr/>
          <p:nvPr/>
        </p:nvSpPr>
        <p:spPr>
          <a:xfrm>
            <a:off x="8418508" y="803138"/>
            <a:ext cx="1898377" cy="4903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Whats</a:t>
            </a:r>
            <a:r>
              <a:rPr lang="en-IN" dirty="0"/>
              <a:t> the mail?</a:t>
            </a:r>
          </a:p>
        </p:txBody>
      </p:sp>
      <p:sp>
        <p:nvSpPr>
          <p:cNvPr id="1029" name="TextBox 1028">
            <a:extLst>
              <a:ext uri="{FF2B5EF4-FFF2-40B4-BE49-F238E27FC236}">
                <a16:creationId xmlns:a16="http://schemas.microsoft.com/office/drawing/2014/main" id="{FF926F29-13C9-C668-A85A-6941A0F9F6E5}"/>
              </a:ext>
            </a:extLst>
          </p:cNvPr>
          <p:cNvSpPr txBox="1"/>
          <p:nvPr/>
        </p:nvSpPr>
        <p:spPr>
          <a:xfrm>
            <a:off x="9828212" y="3195353"/>
            <a:ext cx="2444750" cy="307777"/>
          </a:xfrm>
          <a:prstGeom prst="rect">
            <a:avLst/>
          </a:prstGeom>
          <a:noFill/>
        </p:spPr>
        <p:txBody>
          <a:bodyPr wrap="square">
            <a:spAutoFit/>
          </a:bodyPr>
          <a:lstStyle/>
          <a:p>
            <a:r>
              <a:rPr lang="en-IN" dirty="0"/>
              <a:t>dimogo1504@netoiu.com</a:t>
            </a:r>
          </a:p>
        </p:txBody>
      </p:sp>
      <p:cxnSp>
        <p:nvCxnSpPr>
          <p:cNvPr id="1033" name="Connector: Curved 1032">
            <a:extLst>
              <a:ext uri="{FF2B5EF4-FFF2-40B4-BE49-F238E27FC236}">
                <a16:creationId xmlns:a16="http://schemas.microsoft.com/office/drawing/2014/main" id="{7009EFFC-F275-5A0A-82AE-A0BAA3E56F65}"/>
              </a:ext>
            </a:extLst>
          </p:cNvPr>
          <p:cNvCxnSpPr>
            <a:stCxn id="53" idx="2"/>
            <a:endCxn id="52" idx="0"/>
          </p:cNvCxnSpPr>
          <p:nvPr/>
        </p:nvCxnSpPr>
        <p:spPr>
          <a:xfrm rot="16200000" flipH="1">
            <a:off x="3818102" y="3791839"/>
            <a:ext cx="772301" cy="3770243"/>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5" name="TextBox 1034">
            <a:extLst>
              <a:ext uri="{FF2B5EF4-FFF2-40B4-BE49-F238E27FC236}">
                <a16:creationId xmlns:a16="http://schemas.microsoft.com/office/drawing/2014/main" id="{F2D517FF-12C0-6FE1-8FBA-244BBBF08DA0}"/>
              </a:ext>
            </a:extLst>
          </p:cNvPr>
          <p:cNvSpPr txBox="1"/>
          <p:nvPr/>
        </p:nvSpPr>
        <p:spPr>
          <a:xfrm>
            <a:off x="3717302" y="5364528"/>
            <a:ext cx="1868556" cy="646331"/>
          </a:xfrm>
          <a:prstGeom prst="rect">
            <a:avLst/>
          </a:prstGeom>
          <a:noFill/>
        </p:spPr>
        <p:txBody>
          <a:bodyPr wrap="square" rtlCol="0">
            <a:spAutoFit/>
          </a:bodyPr>
          <a:lstStyle/>
          <a:p>
            <a:r>
              <a:rPr lang="en-IN" sz="1200" b="1" i="1" dirty="0"/>
              <a:t>A trust needs to be established with CIS and our BTP</a:t>
            </a:r>
          </a:p>
        </p:txBody>
      </p:sp>
      <p:cxnSp>
        <p:nvCxnSpPr>
          <p:cNvPr id="1039" name="Connector: Curved 1038">
            <a:extLst>
              <a:ext uri="{FF2B5EF4-FFF2-40B4-BE49-F238E27FC236}">
                <a16:creationId xmlns:a16="http://schemas.microsoft.com/office/drawing/2014/main" id="{127F16E8-65D6-4BB5-583E-538E95E974D5}"/>
              </a:ext>
            </a:extLst>
          </p:cNvPr>
          <p:cNvCxnSpPr>
            <a:cxnSpLocks/>
          </p:cNvCxnSpPr>
          <p:nvPr/>
        </p:nvCxnSpPr>
        <p:spPr>
          <a:xfrm rot="16200000" flipH="1">
            <a:off x="1167057" y="2084227"/>
            <a:ext cx="3681093" cy="2960307"/>
          </a:xfrm>
          <a:prstGeom prst="curvedConnector3">
            <a:avLst>
              <a:gd name="adj1" fmla="val 89676"/>
            </a:avLst>
          </a:prstGeom>
          <a:ln>
            <a:tailEnd type="triangle"/>
          </a:ln>
        </p:spPr>
        <p:style>
          <a:lnRef idx="1">
            <a:schemeClr val="accent6"/>
          </a:lnRef>
          <a:fillRef idx="0">
            <a:schemeClr val="accent6"/>
          </a:fillRef>
          <a:effectRef idx="0">
            <a:schemeClr val="accent6"/>
          </a:effectRef>
          <a:fontRef idx="minor">
            <a:schemeClr val="tx1"/>
          </a:fontRef>
        </p:style>
      </p:cxnSp>
      <p:sp>
        <p:nvSpPr>
          <p:cNvPr id="1045" name="Rectangle: Rounded Corners 1044">
            <a:extLst>
              <a:ext uri="{FF2B5EF4-FFF2-40B4-BE49-F238E27FC236}">
                <a16:creationId xmlns:a16="http://schemas.microsoft.com/office/drawing/2014/main" id="{AFBBFC60-7E63-4158-82D9-791878DFFBE3}"/>
              </a:ext>
            </a:extLst>
          </p:cNvPr>
          <p:cNvSpPr/>
          <p:nvPr/>
        </p:nvSpPr>
        <p:spPr>
          <a:xfrm>
            <a:off x="2794000" y="2938668"/>
            <a:ext cx="3829050" cy="9332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Build </a:t>
            </a:r>
            <a:r>
              <a:rPr lang="en-IN" dirty="0" err="1"/>
              <a:t>Workzone</a:t>
            </a:r>
            <a:endParaRPr lang="en-IN" dirty="0"/>
          </a:p>
          <a:p>
            <a:pPr algn="ctr"/>
            <a:r>
              <a:rPr lang="en-IN" dirty="0" err="1"/>
              <a:t>cFLP</a:t>
            </a:r>
            <a:r>
              <a:rPr lang="en-IN" dirty="0"/>
              <a:t> – Single Entry point for end users to access apps</a:t>
            </a:r>
          </a:p>
        </p:txBody>
      </p:sp>
      <p:cxnSp>
        <p:nvCxnSpPr>
          <p:cNvPr id="1047" name="Connector: Elbow 1046">
            <a:extLst>
              <a:ext uri="{FF2B5EF4-FFF2-40B4-BE49-F238E27FC236}">
                <a16:creationId xmlns:a16="http://schemas.microsoft.com/office/drawing/2014/main" id="{18A1EB0C-141D-D1A8-1E10-2D897D582F61}"/>
              </a:ext>
            </a:extLst>
          </p:cNvPr>
          <p:cNvCxnSpPr>
            <a:cxnSpLocks/>
          </p:cNvCxnSpPr>
          <p:nvPr/>
        </p:nvCxnSpPr>
        <p:spPr>
          <a:xfrm>
            <a:off x="98130" y="1681068"/>
            <a:ext cx="2909473" cy="124239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48" name="TextBox 1047">
            <a:extLst>
              <a:ext uri="{FF2B5EF4-FFF2-40B4-BE49-F238E27FC236}">
                <a16:creationId xmlns:a16="http://schemas.microsoft.com/office/drawing/2014/main" id="{3FE7EC89-9AC1-3A3D-2265-D0B50621DA7F}"/>
              </a:ext>
            </a:extLst>
          </p:cNvPr>
          <p:cNvSpPr txBox="1"/>
          <p:nvPr/>
        </p:nvSpPr>
        <p:spPr>
          <a:xfrm>
            <a:off x="2017139" y="2149115"/>
            <a:ext cx="1868556" cy="461665"/>
          </a:xfrm>
          <a:prstGeom prst="rect">
            <a:avLst/>
          </a:prstGeom>
          <a:noFill/>
        </p:spPr>
        <p:txBody>
          <a:bodyPr wrap="square" rtlCol="0">
            <a:spAutoFit/>
          </a:bodyPr>
          <a:lstStyle/>
          <a:p>
            <a:r>
              <a:rPr lang="en-IN" sz="1200" b="1" i="1" dirty="0"/>
              <a:t>Subscribe to Build </a:t>
            </a:r>
            <a:r>
              <a:rPr lang="en-IN" sz="1200" b="1" i="1" dirty="0" err="1"/>
              <a:t>Workzone</a:t>
            </a:r>
            <a:endParaRPr lang="en-IN" sz="1200" b="1" i="1" dirty="0"/>
          </a:p>
        </p:txBody>
      </p:sp>
    </p:spTree>
    <p:extLst>
      <p:ext uri="{BB962C8B-B14F-4D97-AF65-F5344CB8AC3E}">
        <p14:creationId xmlns:p14="http://schemas.microsoft.com/office/powerpoint/2010/main" val="2477279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28</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err="1">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3535</TotalTime>
  <Words>926</Words>
  <Application>Microsoft Office PowerPoint</Application>
  <PresentationFormat>Custom</PresentationFormat>
  <Paragraphs>153</Paragraphs>
  <Slides>12</Slides>
  <Notes>8</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12</vt:i4>
      </vt:variant>
    </vt:vector>
  </HeadingPairs>
  <TitlesOfParts>
    <vt:vector size="25" baseType="lpstr">
      <vt:lpstr>Corben</vt:lpstr>
      <vt:lpstr>Cooper Black</vt:lpstr>
      <vt:lpstr>Arial Black</vt:lpstr>
      <vt:lpstr>Quattrocento Sans</vt:lpstr>
      <vt:lpstr>Segoe UI Light</vt:lpstr>
      <vt:lpstr>Segoe UI</vt:lpstr>
      <vt:lpstr>Calibri</vt:lpstr>
      <vt:lpstr>Arial</vt:lpstr>
      <vt:lpstr>Open Sans</vt:lpstr>
      <vt:lpstr>Cambria</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127</cp:revision>
  <dcterms:created xsi:type="dcterms:W3CDTF">2023-10-03T21:33:12Z</dcterms:created>
  <dcterms:modified xsi:type="dcterms:W3CDTF">2026-02-25T08:09:45Z</dcterms:modified>
</cp:coreProperties>
</file>